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://ADO.NET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2.svg"/><Relationship Id="rId4" Type="http://schemas.openxmlformats.org/officeDocument/2006/relationships/image" Target="../media/image-4-1.png"/><Relationship Id="rId5" Type="http://schemas.openxmlformats.org/officeDocument/2006/relationships/image" Target="../media/image-4-2.svg"/><Relationship Id="rId6" Type="http://schemas.openxmlformats.org/officeDocument/2006/relationships/image" Target="../media/image-4-5.png"/><Relationship Id="rId7" Type="http://schemas.openxmlformats.org/officeDocument/2006/relationships/image" Target="../media/image-4-6.svg"/><Relationship Id="rId8" Type="http://schemas.openxmlformats.org/officeDocument/2006/relationships/image" Target="../media/image-4-5.png"/><Relationship Id="rId9" Type="http://schemas.openxmlformats.org/officeDocument/2006/relationships/image" Target="../media/image-4-6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gamma.app/wv10dh1m4ui5x7m/9060efa8b1f94d3faf81e38b6c95a08f/file/ADO_NET_urok_01.pdf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0119"/>
            <a:ext cx="1292093" cy="702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7103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ADO.NET — Урок №1: Присоединённый режим работы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93580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Компьютерная академия TOP · Технология доступа к базам данных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386461"/>
            <a:ext cx="1904853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4436070"/>
            <a:ext cx="23160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УРОК 1 ИЗ СЕРИИ ADO.NET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48975" y="4386461"/>
            <a:ext cx="2020639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8191" y="4436070"/>
            <a:ext cx="243179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ПРИСОЕДИНЁННЫЙ РЕЖИМ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03052"/>
            <a:ext cx="3204983" cy="2936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641130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Что такое ADO.NET?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585178" y="4074021"/>
            <a:ext cx="5457788" cy="2180828"/>
          </a:xfrm>
          <a:prstGeom prst="roundRect">
            <a:avLst>
              <a:gd name="adj" fmla="val 729"/>
            </a:avLst>
          </a:prstGeom>
          <a:solidFill>
            <a:srgbClr val="2150FE"/>
          </a:solidFill>
          <a:ln/>
        </p:spPr>
      </p:sp>
      <p:sp>
        <p:nvSpPr>
          <p:cNvPr id="5" name="Text 2"/>
          <p:cNvSpPr/>
          <p:nvPr/>
        </p:nvSpPr>
        <p:spPr>
          <a:xfrm>
            <a:off x="691041" y="4141887"/>
            <a:ext cx="524606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Определение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1041" y="4375249"/>
            <a:ext cx="5246060" cy="429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ADO.NET</a:t>
            </a:r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фреймворк для работы с базами данных в .NET Framework. Представляет собой набор классов в пространстве имён </a:t>
            </a:r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System.Data</a:t>
            </a:r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обеспечивающих взаимодействие приложений с реляционными базами данных.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31377" y="4141887"/>
            <a:ext cx="53051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Поддерживаемые поставщики данных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31377" y="4383683"/>
            <a:ext cx="2618615" cy="584101"/>
          </a:xfrm>
          <a:prstGeom prst="roundRect">
            <a:avLst>
              <a:gd name="adj" fmla="val 2721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337241" y="4489549"/>
            <a:ext cx="240688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MS SQL Server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37241" y="4722912"/>
            <a:ext cx="240688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Основной поставщик для Microsoft SQL Server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917856" y="4383683"/>
            <a:ext cx="2618714" cy="584101"/>
          </a:xfrm>
          <a:prstGeom prst="roundRect">
            <a:avLst>
              <a:gd name="adj" fmla="val 2721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023720" y="4489549"/>
            <a:ext cx="240698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OLE DB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023720" y="4722912"/>
            <a:ext cx="240698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Универсальный поставщик OLE DB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31377" y="5035649"/>
            <a:ext cx="2618615" cy="584101"/>
          </a:xfrm>
          <a:prstGeom prst="roundRect">
            <a:avLst>
              <a:gd name="adj" fmla="val 2721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6337241" y="5141516"/>
            <a:ext cx="240688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ODBC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37241" y="5374878"/>
            <a:ext cx="240688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Стандартный интерфейс ODBC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8917856" y="5035649"/>
            <a:ext cx="2618714" cy="584101"/>
          </a:xfrm>
          <a:prstGeom prst="roundRect">
            <a:avLst>
              <a:gd name="adj" fmla="val 2721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9023720" y="5141516"/>
            <a:ext cx="240698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Oracle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23720" y="5374878"/>
            <a:ext cx="240698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Нативный поставщик Oracle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31377" y="5696049"/>
            <a:ext cx="53051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Две основные задачи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31377" y="5929412"/>
            <a:ext cx="5305193" cy="301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9000"/>
              </a:lnSpc>
              <a:buSzPct val="100000"/>
              <a:buChar char="•"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Доступ к БД</a:t>
            </a:r>
            <a:pPr algn="l" marL="162560" indent="-162560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подключение, выполнение запросов, чтение результатов</a:t>
            </a:r>
            <a:endParaRPr lang="en-US" sz="800" dirty="0"/>
          </a:p>
          <a:p>
            <a:pPr algn="l" marL="162560" indent="-162560">
              <a:lnSpc>
                <a:spcPct val="109000"/>
              </a:lnSpc>
              <a:buSzPct val="100000"/>
              <a:buChar char="•"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Хранение данных</a:t>
            </a:r>
            <a:pPr algn="l" marL="162560" indent="-162560">
              <a:lnSpc>
                <a:spcPct val="109000"/>
              </a:lnSpc>
              <a:buSzPct val="100000"/>
              <a:buChar char="•"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работа с таблицами и наборами данных в памяти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4443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Два режима работы с БД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73684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Присоединённый режим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788220"/>
            <a:ext cx="5235841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Приложение подключается к БД и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остаётся в подключённом состоянии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продолжительное время. Запросы выполняются быстрее, поскольку соединение уже установлено, однако сервер испытывает постоянную нагрузку на поддержание открытых соединений.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3260824"/>
            <a:ext cx="5235841" cy="886619"/>
          </a:xfrm>
          <a:prstGeom prst="roundRect">
            <a:avLst>
              <a:gd name="adj" fmla="val 2754"/>
            </a:avLst>
          </a:prstGeom>
          <a:solidFill>
            <a:srgbClr val="CCD7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190" y="3497163"/>
            <a:ext cx="203493" cy="1627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0397" y="3445669"/>
            <a:ext cx="454420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Тема данного урока — именно присоединённый режим работы.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300729" y="1373684"/>
            <a:ext cx="5235841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Отсоединённый режим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0729" y="1788220"/>
            <a:ext cx="5235841" cy="10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Приложение подключается к БД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только на время выполнения каждого запроса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затем сразу отключается. Нагрузка на сервер ниже, но каждый запрос требует нового установления соединения. Данные хранятся локально в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/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DataTable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508004"/>
          <a:ext cx="9143771" cy="914400"/>
        </p:xfrm>
        <a:graphic>
          <a:graphicData uri="http://schemas.openxmlformats.org/drawingml/2006/table">
            <a:tbl>
              <a:tblPr/>
              <a:tblGrid>
                <a:gridCol w="4347498"/>
                <a:gridCol w="3260624"/>
                <a:gridCol w="3260624"/>
              </a:tblGrid>
              <a:tr h="4666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Характеристика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Присоединённый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Отсоединённый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Скорость запросов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150F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Быстрее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Медленнее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Нагрузка на сервер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4318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Высокая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Низкая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6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Хранение данных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На сервере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Локально (DataSet / DataTable)</a:t>
                      </a:r>
                      <a:endParaRPr lang="en-US" sz="12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1331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Ключевые классы </a:t>
            </a:r>
            <a:pPr algn="l" indent="0" marL="0">
              <a:lnSpc>
                <a:spcPct val="104000"/>
              </a:lnSpc>
              <a:buNone/>
            </a:pPr>
            <a:r>
              <a:rPr lang="en-US" sz="3100" b="1" u="sng" dirty="0">
                <a:solidFill>
                  <a:srgbClr val="2150FE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ADO.NET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59495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Классы для доступа к данным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74726"/>
            <a:ext cx="2545889" cy="1242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278" y="1951335"/>
            <a:ext cx="211648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DbConnection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14278" y="2347813"/>
            <a:ext cx="211648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Установка и управление подключением к БД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7578" y="1774726"/>
            <a:ext cx="2545989" cy="1242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10381" y="1951335"/>
            <a:ext cx="211658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DbCommand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610381" y="2347813"/>
            <a:ext cx="211658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Создание и выполнение SQL-запросов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167162"/>
            <a:ext cx="2545889" cy="1488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278" y="3343771"/>
            <a:ext cx="211648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DbDataReader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14278" y="3740249"/>
            <a:ext cx="211648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Последовательное чтение результатов SELECT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57578" y="3167162"/>
            <a:ext cx="2545989" cy="1488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10381" y="3343771"/>
            <a:ext cx="211658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DbDataAdapter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3610381" y="3740249"/>
            <a:ext cx="2116581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Адаптер для отсоединённого режима работы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61475" y="4824611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Классы для хранения данных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661475" y="5239841"/>
            <a:ext cx="2545889" cy="957858"/>
          </a:xfrm>
          <a:prstGeom prst="roundRect">
            <a:avLst>
              <a:gd name="adj" fmla="val 2469"/>
            </a:avLst>
          </a:prstGeom>
          <a:solidFill>
            <a:srgbClr val="F2EEEE"/>
          </a:solidFill>
          <a:ln/>
        </p:spPr>
      </p:sp>
      <p:sp>
        <p:nvSpPr>
          <p:cNvPr id="18" name="Text 12"/>
          <p:cNvSpPr/>
          <p:nvPr/>
        </p:nvSpPr>
        <p:spPr>
          <a:xfrm>
            <a:off x="819030" y="5397401"/>
            <a:ext cx="223077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DataTable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19030" y="5793879"/>
            <a:ext cx="223077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Одна таблица в памяти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357578" y="5239841"/>
            <a:ext cx="2545989" cy="957858"/>
          </a:xfrm>
          <a:prstGeom prst="roundRect">
            <a:avLst>
              <a:gd name="adj" fmla="val 2469"/>
            </a:avLst>
          </a:prstGeom>
          <a:solidFill>
            <a:srgbClr val="F2EEEE"/>
          </a:solidFill>
          <a:ln/>
        </p:spPr>
      </p:sp>
      <p:sp>
        <p:nvSpPr>
          <p:cNvPr id="21" name="Text 15"/>
          <p:cNvSpPr/>
          <p:nvPr/>
        </p:nvSpPr>
        <p:spPr>
          <a:xfrm>
            <a:off x="3515133" y="5397401"/>
            <a:ext cx="2230878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3515133" y="5793879"/>
            <a:ext cx="2230878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Набор таблиц в памяти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94478" y="1359495"/>
            <a:ext cx="52420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Иерархия классов ADO.NET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4478" y="1774726"/>
          <a:ext cx="9143771" cy="914400"/>
        </p:xfrm>
        <a:graphic>
          <a:graphicData uri="http://schemas.openxmlformats.org/drawingml/2006/table">
            <a:tbl>
              <a:tblPr/>
              <a:tblGrid>
                <a:gridCol w="1834732"/>
                <a:gridCol w="3407360"/>
              </a:tblGrid>
              <a:tr h="4423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Базовый класс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Производные классы</a:t>
                      </a:r>
                      <a:endParaRPr lang="en-US" sz="12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717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DbConnection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SqlConnection, OleDbConnection, OdbcConnection, OracleConnection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DbCommand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SqlCommand, OleDbCommand, OdbcCommand, OracleCommand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7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DbDataReader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SqlDataReader, OleDbDataReader, OdbcDataReader, OracleDataReader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DbDataAdapter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SqlDataAdapter, OleDbDataAdapter, OdbcDataAdapter, OracleDataAdapter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2919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Создание БД: SQL-скрипты таблиц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19770"/>
            <a:ext cx="1147833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Создаём БД </a:t>
            </a:r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Library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 двумя связанными таблицами через </a:t>
            </a:r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SQL Server Object Explorer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 Visual Studio 2015.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351855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Таблица Authors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625501"/>
            <a:ext cx="5292593" cy="1534815"/>
          </a:xfrm>
          <a:prstGeom prst="roundRect">
            <a:avLst>
              <a:gd name="adj" fmla="val 113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00973" y="1741785"/>
            <a:ext cx="5013596" cy="1302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[dbo].[Authors]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INT NOT NULL IDENTITY(1,1)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PRIMARY KEY,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FirstName VARCHAR(100) NOT NULL,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LastName  VARCHAR(100) NOT NULL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1475" y="3252291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Таблица Books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3525937"/>
            <a:ext cx="5292593" cy="2278955"/>
          </a:xfrm>
          <a:prstGeom prst="roundRect">
            <a:avLst>
              <a:gd name="adj" fmla="val 765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00973" y="3642221"/>
            <a:ext cx="5013596" cy="204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[dbo].[Books]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INT NOT NULL IDENTITY(1,1)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PRIMARY KEY,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AuthorId INT NOT NULL,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FOREIGN KEY (AuthorId)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REFERENCES AUTHORS (Id),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VARCHAR(100) NOT NULL,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   INT,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    INT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5896868"/>
            <a:ext cx="5292593" cy="376238"/>
          </a:xfrm>
          <a:prstGeom prst="roundRect">
            <a:avLst>
              <a:gd name="adj" fmla="val 4636"/>
            </a:avLst>
          </a:prstGeom>
          <a:solidFill>
            <a:srgbClr val="CCD7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756" y="6013847"/>
            <a:ext cx="145352" cy="1162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9390" y="5999460"/>
            <a:ext cx="5407981" cy="171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Таблицы связаны через внешний ключ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AuthorId → Authors.Id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977" y="1362075"/>
            <a:ext cx="4571588" cy="2609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5017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Подключение к БД — DbConnection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195090"/>
            <a:ext cx="10868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Строка подключения содержит: имя сервера, имя БД, способ аутентификации. Создание объекта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SqlConnection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не открывает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соединение автоматически — для этого необходимо явно вызвать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66317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Код подключения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353270"/>
            <a:ext cx="5251517" cy="3896816"/>
          </a:xfrm>
          <a:prstGeom prst="roundRect">
            <a:avLst>
              <a:gd name="adj" fmla="val 57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1255" y="2503091"/>
            <a:ext cx="4891957" cy="359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Строка подключения (Windows Authentication)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Source=(localdb)\v11.0;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 Catalog=Library;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Integrated Security=SSPI;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SqlConnection conn = null;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new SqlConnection(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@"Data Source=(localdb)\MSSQLLocalDB;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Initial Catalog=Library;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Integrated Security=SSPI;");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Создание объекта НЕ открывает соединение!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conn.Open();   // открыть соединение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работа с БД ...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conn.Close();  // закрыть соединение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5053" y="1966317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Параметры строки подключения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5053" y="2353270"/>
            <a:ext cx="2557795" cy="11649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30117" y="2522141"/>
            <a:ext cx="214386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Source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30117" y="2892127"/>
            <a:ext cx="2143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Имя сервера или экземпляра SQL Server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8675" y="2353270"/>
            <a:ext cx="2557895" cy="11649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23740" y="2522141"/>
            <a:ext cx="2143964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Initial Catalog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9223740" y="2892127"/>
            <a:ext cx="21439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Имя базы данных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5053" y="3654028"/>
            <a:ext cx="2557795" cy="1164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0117" y="3822898"/>
            <a:ext cx="214386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Integrated Security=SSPI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530117" y="4192885"/>
            <a:ext cx="21438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Аутентификация Windows (без пароля)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8675" y="3654028"/>
            <a:ext cx="2557895" cy="1164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3740" y="3822898"/>
            <a:ext cx="2143964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ID / Password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9223740" y="4192885"/>
            <a:ext cx="2143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Для SQL Server аутентификации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188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Выполнение запросов — DbCommand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19312"/>
            <a:ext cx="10868745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Класс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хранит SQL-запрос и выполняет его через открытое соединение. Объект принимает строку запроса и объект соединения.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1257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Три ключевых метода SqlCommand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57078"/>
          <a:ext cx="9143771" cy="914400"/>
        </p:xfrm>
        <a:graphic>
          <a:graphicData uri="http://schemas.openxmlformats.org/drawingml/2006/table">
            <a:tbl>
              <a:tblPr/>
              <a:tblGrid>
                <a:gridCol w="1831433"/>
                <a:gridCol w="1569800"/>
                <a:gridCol w="1831433"/>
              </a:tblGrid>
              <a:tr h="7435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Метод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Тип запроса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Возвращаемое значение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</a:tr>
              <a:tr h="10113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ExecuteNonQuery()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INSERT, UPDATE, DELETE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Число затронутых строк (int)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4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ExecuteReader()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SELECT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Объект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SqlDataReader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ExecuteScalar()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Агрегатные (COUNT, SUM…)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Одно значение (object)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3904" y="221257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Пример: INSERT через ExecuteNonQuery()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03904" y="2657078"/>
            <a:ext cx="5232666" cy="2447528"/>
          </a:xfrm>
          <a:prstGeom prst="roundRect">
            <a:avLst>
              <a:gd name="adj" fmla="val 1014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502337" y="2822377"/>
            <a:ext cx="483580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insertString = @"INSERT INTO Authors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(FirstName, LastName)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('Roger', 'Zelazny')";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cmd =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SqlCommand(insertString, conn);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cmd.ExecuteNonQuery();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3904" y="5290641"/>
            <a:ext cx="5232666" cy="909439"/>
          </a:xfrm>
          <a:prstGeom prst="roundRect">
            <a:avLst>
              <a:gd name="adj" fmla="val 2728"/>
            </a:avLst>
          </a:prstGeom>
          <a:solidFill>
            <a:srgbClr val="CCD7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5530354"/>
            <a:ext cx="206667" cy="1652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41160" y="5480745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Соединение должно быть открыто до вызова любого метода выполнения.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6073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Полный пример: метод InsertQuery()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59755"/>
            <a:ext cx="11478330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Полная реализация метода вставки с обработкой исключений. Блок 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гарантирует закрытие соединения даже при возникновении ошибки.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455241"/>
            <a:ext cx="5283068" cy="4812109"/>
          </a:xfrm>
          <a:prstGeom prst="roundRect">
            <a:avLst>
              <a:gd name="adj" fmla="val 387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10299" y="1579265"/>
            <a:ext cx="4985419" cy="4564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InsertQuery()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conn.Open();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insertString = @"INSERT INTO Authors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(FirstName, LastName)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 ('Roger', 'Zelazny')";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SqlCommand cmd =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new SqlCommand(insertString, conn);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cmd.ExecuteNonQuery();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(conn != null)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conn.Close();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3502" y="1455241"/>
            <a:ext cx="3192383" cy="343753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53502" y="4997351"/>
            <a:ext cx="2595001" cy="882055"/>
          </a:xfrm>
          <a:prstGeom prst="roundRect">
            <a:avLst>
              <a:gd name="adj" fmla="val 210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377522" y="5121374"/>
            <a:ext cx="234696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77522" y="5408116"/>
            <a:ext cx="234696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Открытие соединения и выполнение запроса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941469" y="4997351"/>
            <a:ext cx="2595101" cy="882055"/>
          </a:xfrm>
          <a:prstGeom prst="roundRect">
            <a:avLst>
              <a:gd name="adj" fmla="val 2109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9065490" y="5121374"/>
            <a:ext cx="23470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finally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65490" y="5408116"/>
            <a:ext cx="23470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Закрытие соединения в любом случае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4152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Чтение данных — DbDataReader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41003"/>
            <a:ext cx="10868745" cy="329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SqlDataReader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курсор для </a:t>
            </a:r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последовательного чтения строк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результата SELECT. Метод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считывает одну строку и перемещает указатель вперёд; возвращает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когда строки заканчиваются.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554361"/>
            <a:ext cx="5292593" cy="4697413"/>
          </a:xfrm>
          <a:prstGeom prst="roundRect">
            <a:avLst>
              <a:gd name="adj" fmla="val 37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00973" y="1670645"/>
            <a:ext cx="5013596" cy="446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ReadData()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SqlDataReader rdr = null;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conn.Open();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SqlCommand cmd = new SqlCommand(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"SELECT * FROM Authors", conn);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rdr = cmd.ExecuteReader();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(rdr.Read())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Доступ по индексу или по имени поля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rdr["FirstName"] + " " +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rdr["LastName"]);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finally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(rdr != null) rdr.Close();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(conn != null) conn.Close();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3977" y="1554361"/>
            <a:ext cx="4535275" cy="21150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3977" y="3761383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Важные детали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43977" y="4024809"/>
            <a:ext cx="5292593" cy="557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Доступ к полям: </a:t>
            </a:r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rdr["ИмяПоля"]</a:t>
            </a:r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или </a:t>
            </a:r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rdr[индекс]</a:t>
            </a:r>
            <a:endParaRPr lang="en-US" sz="900" dirty="0"/>
          </a:p>
          <a:p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SqlDataReader</a:t>
            </a:r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необходимо закрывать явно через </a:t>
            </a:r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rdr.Close()</a:t>
            </a:r>
            <a:endParaRPr lang="en-US" sz="900" dirty="0"/>
          </a:p>
          <a:p>
            <a:pPr algn="l" marL="182880" indent="-182880">
              <a:lnSpc>
                <a:spcPct val="114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Соединение нельзя использовать для других команд, пока Reader открыт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6668"/>
            <a:ext cx="10868745" cy="3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Пакетная обработка запросов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28898"/>
            <a:ext cx="11478330" cy="17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Несколько запросов SELECT можно передать в одном 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CommandText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разделив их символом «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». Метод 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NextResult()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переключает Reader на следующий результирующий набор.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397099"/>
            <a:ext cx="5289418" cy="4419997"/>
          </a:xfrm>
          <a:prstGeom prst="roundRect">
            <a:avLst>
              <a:gd name="adj" fmla="val 403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04049" y="1515963"/>
            <a:ext cx="5004270" cy="4182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cmd = new SqlCommand(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Authors; SELECT * FROM Books",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rdr = cmd.ExecuteReader();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line = 0;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(rdr.Read())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(line == 0)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i = 0; i &lt; rdr.FieldCount; i++)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Console.Write(rdr.GetName(i) + "\t");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Console.WriteLine();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line++;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rdr[0] + "\t" + rdr[1] + "\t" + rdr[2]);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Console.WriteLine("Обработано записей: " + line);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(rdr.NextResult());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7152" y="1397099"/>
            <a:ext cx="4688068" cy="2236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7152" y="3729434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Ключевые методы при пакетной обработке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7152" y="4011216"/>
            <a:ext cx="5289418" cy="6977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9512" y="4142780"/>
            <a:ext cx="497549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rdr.FieldCount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29512" y="4413945"/>
            <a:ext cx="4975497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Количество столбцов текущего результата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7152" y="4794349"/>
            <a:ext cx="5289418" cy="6977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29512" y="4925913"/>
            <a:ext cx="497549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rdr.GetName(i)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429512" y="5197078"/>
            <a:ext cx="4975497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Имя столбца по индексу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7152" y="5577483"/>
            <a:ext cx="5289418" cy="6977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29512" y="5709047"/>
            <a:ext cx="497549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rdr.NextResult()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429512" y="5980212"/>
            <a:ext cx="4975497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Переход к следующему результирующему набору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622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Конфигурационный файл app.config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70695"/>
            <a:ext cx="1086874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Строку подключения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нельзя хранить прямо в коде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её необходимо выносить в файл конфигурации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Одно приложение может содержать несколько строк подключения с уникальными именами.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029222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Файл app.config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416175"/>
            <a:ext cx="5251517" cy="2697758"/>
          </a:xfrm>
          <a:prstGeom prst="roundRect">
            <a:avLst>
              <a:gd name="adj" fmla="val 83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1255" y="2565995"/>
            <a:ext cx="4891957" cy="2398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app.config --&gt;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&lt;configuration&gt;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&lt;connectionStrings&gt;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&lt;add name="MyConnString"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connectionString=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"Data Source=(localdb)\v11.0;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Initial Catalog=Library;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Integrated Security=SSPI;" /&gt;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&lt;/connectionStrings&gt;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&lt;/configuration&gt;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85053" y="2029222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Чтение строки подключения в C#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85053" y="2416175"/>
            <a:ext cx="5251517" cy="149869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464833" y="2565995"/>
            <a:ext cx="4891957" cy="1199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Пространство имён: System.Configuration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conn.ConnectionString =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ConfigurationManager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.ConnectionStrings["MyConnString"]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.ConnectionString;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85053" y="4067671"/>
            <a:ext cx="2557795" cy="1177627"/>
          </a:xfrm>
          <a:prstGeom prst="roundRect">
            <a:avLst>
              <a:gd name="adj" fmla="val 190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3919" y="4236541"/>
            <a:ext cx="2220063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Пространство имён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53919" y="4606528"/>
            <a:ext cx="222006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System.Configuration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требует подключения сборки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8675" y="4067671"/>
            <a:ext cx="2557895" cy="1177627"/>
          </a:xfrm>
          <a:prstGeom prst="roundRect">
            <a:avLst>
              <a:gd name="adj" fmla="val 190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7541" y="4236541"/>
            <a:ext cx="2220162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Несколько строк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7541" y="4606528"/>
            <a:ext cx="222016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Каждая строка имеет уникальный атрибут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5053" y="5398095"/>
            <a:ext cx="5251517" cy="776486"/>
          </a:xfrm>
          <a:prstGeom prst="roundRect">
            <a:avLst>
              <a:gd name="adj" fmla="val 2895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4869" y="5598914"/>
            <a:ext cx="187320" cy="1498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72006" y="5557738"/>
            <a:ext cx="46147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Никогда не храните пароли и строки подключения непосредственно в исходном коде — это угроза безопасности.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127"/>
            <a:ext cx="10868745" cy="3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Параметризованные запросы — защита от SQL-инъекций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61475" y="1110357"/>
            <a:ext cx="10868745" cy="385068"/>
          </a:xfrm>
          <a:prstGeom prst="roundRect">
            <a:avLst>
              <a:gd name="adj" fmla="val 4631"/>
            </a:avLst>
          </a:prstGeom>
          <a:solidFill>
            <a:srgbClr val="FFB3B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336" y="1229320"/>
            <a:ext cx="148527" cy="118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24" y="1225451"/>
            <a:ext cx="10973220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Никогда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не конкатенируйте пользовательский ввод в строку запроса!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1676896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Опасно — SQL-инъекция!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1958677"/>
            <a:ext cx="5289418" cy="808038"/>
          </a:xfrm>
          <a:prstGeom prst="roundRect">
            <a:avLst>
              <a:gd name="adj" fmla="val 220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804049" y="2077541"/>
            <a:ext cx="5004270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users " +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"WHERE name = '" + userName + "'";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475" y="2862759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Безопасно — параметризованный запрос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144540"/>
            <a:ext cx="5289418" cy="808038"/>
          </a:xfrm>
          <a:prstGeom prst="roundRect">
            <a:avLst>
              <a:gd name="adj" fmla="val 2207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804049" y="3263404"/>
            <a:ext cx="5004270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users WHERE name = @p1";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cmd = new SqlCommand(sql, conn);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47152" y="1676896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Три способа добавления параметров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7152" y="1958677"/>
            <a:ext cx="5289418" cy="2709069"/>
          </a:xfrm>
          <a:prstGeom prst="roundRect">
            <a:avLst>
              <a:gd name="adj" fmla="val 658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6389726" y="2077541"/>
            <a:ext cx="5004270" cy="247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Способ 1: развёрнутый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SqlParameter param1 = new SqlParameter();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param1.ParameterName = "@p1";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param1.SqlDbType    = SqlDbType.NVarChar;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param1.Value        = userName;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cmd.Parameters.Add(param1);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Способ 2: краткий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cmd.Parameters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.Add("@p1", DbType.NVarChar).Value = userName;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Способ 3: AddWithValue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cmd.Parameters.AddWithValue("@p1", userName);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47152" y="4763790"/>
            <a:ext cx="2601947" cy="672306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366013" y="4882654"/>
            <a:ext cx="23642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SqlParameter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66013" y="5153819"/>
            <a:ext cx="2364224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Явное указание имени, типа и значения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934524" y="4763790"/>
            <a:ext cx="2602046" cy="672306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19" name="Text 16"/>
          <p:cNvSpPr/>
          <p:nvPr/>
        </p:nvSpPr>
        <p:spPr>
          <a:xfrm>
            <a:off x="9053385" y="4882654"/>
            <a:ext cx="23643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Add()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053385" y="5153819"/>
            <a:ext cx="2364324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Краткая запись с типом данных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47152" y="5521523"/>
            <a:ext cx="5289418" cy="672306"/>
          </a:xfrm>
          <a:prstGeom prst="roundRect">
            <a:avLst>
              <a:gd name="adj" fmla="val 2652"/>
            </a:avLst>
          </a:prstGeom>
          <a:solidFill>
            <a:srgbClr val="F2EEEE"/>
          </a:solidFill>
          <a:ln/>
        </p:spPr>
      </p:sp>
      <p:sp>
        <p:nvSpPr>
          <p:cNvPr id="22" name="Text 19"/>
          <p:cNvSpPr/>
          <p:nvPr/>
        </p:nvSpPr>
        <p:spPr>
          <a:xfrm>
            <a:off x="6366013" y="5640387"/>
            <a:ext cx="50516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AddWithValue()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366013" y="5911552"/>
            <a:ext cx="5051695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Самый краткий способ (тип выводится автоматически)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713"/>
            <a:ext cx="10868745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Хранимые процедуры в DbCommand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83952"/>
            <a:ext cx="11478330" cy="140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Для вызова хранимой процедуры необходимо установить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CommandType = CommandType.StoredProcedure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Выходные параметры задаются через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ParameterDirection.Output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261864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SQL: создание хранимой процедуры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495921"/>
            <a:ext cx="5308269" cy="2025948"/>
          </a:xfrm>
          <a:prstGeom prst="roundRect">
            <a:avLst>
              <a:gd name="adj" fmla="val 76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785495" y="1599208"/>
            <a:ext cx="5060228" cy="1819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getBooksNumber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@AuthorId  INT,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@BookCount INT OUTPUT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NOCOUNT ON;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@BookCount = COUNT(b.id)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Books b, Authors a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b.AuthorId = a.id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 a.id = @AuthorId;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28301" y="1261864"/>
            <a:ext cx="530826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C#: вызов хранимой процедуры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28301" y="1495921"/>
            <a:ext cx="5308269" cy="3018334"/>
          </a:xfrm>
          <a:prstGeom prst="roundRect">
            <a:avLst>
              <a:gd name="adj" fmla="val 51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352322" y="1599208"/>
            <a:ext cx="5060228" cy="281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SqlCommand cmd =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SqlCommand("getBooksNumber", conn);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cmd.CommandType =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CommandType.StoredProcedure;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cmd.Parameters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.Add("@AuthorId", SqlDbType.Int).Value = 1;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SqlParameter outputParam =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SqlParameter("@BookCount", SqlDbType.Int);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outputParam.Direction =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ParameterDirection.Output;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cmd.Parameters.Add(outputParam);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cmd.ExecuteNonQuery();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cmd.Parameters["@BookCount"].Value);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659511"/>
            <a:ext cx="4044254" cy="16667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9389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Итоги урока и домашнее задание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9799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Изученные классы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61475" y="1822847"/>
            <a:ext cx="360453" cy="36046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21501" y="1852861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77102" y="1877913"/>
            <a:ext cx="47232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DbConnection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77102" y="2283420"/>
            <a:ext cx="47232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Установка, открытие и закрытие подключения к БД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1475" y="2846090"/>
            <a:ext cx="360453" cy="36046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21501" y="2876104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177102" y="2901156"/>
            <a:ext cx="47232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DbCommand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77102" y="3306663"/>
            <a:ext cx="472329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Выполнение запросов и хранимых процедур (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ExecuteNonQuery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ExecuteReader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ExecuteScalar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4134346"/>
            <a:ext cx="360453" cy="36046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21501" y="4164360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177102" y="4189413"/>
            <a:ext cx="47232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DbDataReader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77102" y="4594920"/>
            <a:ext cx="472329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Последовательное извлечение результатов SELECT, пакетная обработка через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NextResult()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1475" y="5422602"/>
            <a:ext cx="360453" cy="360462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21501" y="5452616"/>
            <a:ext cx="240302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177102" y="5477669"/>
            <a:ext cx="472329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DbParameter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77102" y="5883176"/>
            <a:ext cx="472329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Параметризованные запросы для защиты от SQL-инъекций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2265" y="1242814"/>
            <a:ext cx="5469694" cy="5105797"/>
          </a:xfrm>
          <a:prstGeom prst="roundRect">
            <a:avLst>
              <a:gd name="adj" fmla="val 471"/>
            </a:avLst>
          </a:prstGeom>
          <a:solidFill>
            <a:srgbClr val="2150FE"/>
          </a:solidFill>
          <a:ln/>
        </p:spPr>
      </p:sp>
      <p:sp>
        <p:nvSpPr>
          <p:cNvPr id="21" name="Text 19"/>
          <p:cNvSpPr/>
          <p:nvPr/>
        </p:nvSpPr>
        <p:spPr>
          <a:xfrm>
            <a:off x="6342400" y="1397992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Домашнее задание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42400" y="1803499"/>
            <a:ext cx="5149424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Написать программу, которая выполняет два запроса к таблице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и выводит агрегированные данные.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42400" y="2495352"/>
            <a:ext cx="5149424" cy="2627709"/>
          </a:xfrm>
          <a:prstGeom prst="roundRect">
            <a:avLst>
              <a:gd name="adj" fmla="val 915"/>
            </a:avLst>
          </a:prstGeom>
          <a:solidFill>
            <a:srgbClr val="2E5D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4582" y="2655491"/>
            <a:ext cx="4765060" cy="2307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Шаг 1: узнать количество книг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COUNT(id) FROM Books;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использовать ExecuteScalar()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Шаг 2: прочитать все книги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Books;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использовать ExecuteReader()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В цикле for суммировать поля Price и Pages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Вывести итоговые суммы цен и страниц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42400" y="5297587"/>
            <a:ext cx="5149424" cy="876498"/>
          </a:xfrm>
          <a:prstGeom prst="roundRect">
            <a:avLst>
              <a:gd name="adj" fmla="val 2742"/>
            </a:avLst>
          </a:prstGeom>
          <a:solidFill>
            <a:srgbClr val="011B7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535" y="5524004"/>
            <a:ext cx="200218" cy="16013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62888" y="5477173"/>
            <a:ext cx="4468800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Используйте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ExecuteScalar()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для шага 1 и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ExecuteReader()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+ цикл для шага 2.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5870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Источники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006130"/>
            <a:ext cx="10868745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3190478"/>
            <a:ext cx="10423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Учебный материал курса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3548162"/>
            <a:ext cx="10423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ADO_NET_urok_01.pdf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официальный документ Урока №1 по ADO.NET от Компьютерной академии TOP. Содержит полные примеры кода, SQL-скрипты и скриншоты Visual Studio.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4447778"/>
            <a:ext cx="1288026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0691" y="4497388"/>
            <a:ext cx="169917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ADO.NET · УРОК 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32148" y="4447778"/>
            <a:ext cx="2342496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31364" y="4497388"/>
            <a:ext cx="275364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КОМПЬЮТЕРНАЯ АКАДЕМИЯ TOP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57291" y="4447778"/>
            <a:ext cx="2280089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11" name="Text 8"/>
          <p:cNvSpPr/>
          <p:nvPr/>
        </p:nvSpPr>
        <p:spPr>
          <a:xfrm>
            <a:off x="4556507" y="4497388"/>
            <a:ext cx="269124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.NET FRAMEWORK · SYSTEM.DATA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150F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2026-09-08T12:19:05Z</dcterms:created>
  <dcterms:modified xsi:type="dcterms:W3CDTF">2026-09-08T12:19:05Z</dcterms:modified>
</cp:coreProperties>
</file>