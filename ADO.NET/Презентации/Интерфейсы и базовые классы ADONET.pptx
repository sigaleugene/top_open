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://ADO.NE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://ADO.NET" TargetMode="External"/><Relationship Id="rId2" Type="http://schemas.openxmlformats.org/officeDocument/2006/relationships/image" Target="../media/image-12-1.png"/><Relationship Id="rId3" Type="http://schemas.openxmlformats.org/officeDocument/2006/relationships/image" Target="../media/image-12-2.svg"/><Relationship Id="rId4" Type="http://schemas.openxmlformats.org/officeDocument/2006/relationships/image" Target="../media/image-12-1.png"/><Relationship Id="rId5" Type="http://schemas.openxmlformats.org/officeDocument/2006/relationships/image" Target="../media/image-12-2.svg"/><Relationship Id="rId6" Type="http://schemas.openxmlformats.org/officeDocument/2006/relationships/image" Target="../media/image-12-1.png"/><Relationship Id="rId7" Type="http://schemas.openxmlformats.org/officeDocument/2006/relationships/image" Target="../media/image-12-2.svg"/><Relationship Id="rId8" Type="http://schemas.openxmlformats.org/officeDocument/2006/relationships/image" Target="../media/image-12-1.png"/><Relationship Id="rId9" Type="http://schemas.openxmlformats.org/officeDocument/2006/relationships/image" Target="../media/image-12-2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Интерфейсы и базовые классы </a:t>
            </a:r>
            <a:pPr algn="l" indent="0" marL="0">
              <a:lnSpc>
                <a:spcPct val="104000"/>
              </a:lnSpc>
              <a:buNone/>
            </a:pPr>
            <a:r>
              <a:rPr lang="en-US" sz="3700" b="1" u="sng" dirty="0">
                <a:solidFill>
                  <a:srgbClr val="2150FE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ADO.NET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Архитектура доступа к данным в .NET: контракты, провайдеры и паттерны для независимого от СУБД кода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236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Архитектура ADO.NET: два подхода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92313"/>
            <a:ext cx="10868745" cy="2241947"/>
          </a:xfrm>
          <a:prstGeom prst="roundRect">
            <a:avLst>
              <a:gd name="adj" fmla="val 1265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2792313"/>
            <a:ext cx="3622882" cy="2241947"/>
          </a:xfrm>
          <a:custGeom>
            <a:avLst/>
            <a:gdLst/>
            <a:ahLst/>
            <a:cxnLst/>
            <a:rect l="l" t="t" r="r" b="b"/>
            <a:pathLst>
              <a:path w="3622882" h="2241947">
                <a:moveTo>
                  <a:pt x="23627" y="0"/>
                </a:moveTo>
                <a:lnTo>
                  <a:pt x="3622882" y="0"/>
                </a:lnTo>
                <a:lnTo>
                  <a:pt x="3622882" y="2241947"/>
                </a:lnTo>
                <a:lnTo>
                  <a:pt x="23627" y="2241947"/>
                </a:lnTo>
                <a:arcTo hR="23628" wR="23627" stAng="5400000" swAng="5400000"/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50482" y="298132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Подключённый режим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3390007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Постоянное соединение с БД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482" y="3805833"/>
            <a:ext cx="3244868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Connection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Command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DataReader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84357" y="2792313"/>
            <a:ext cx="3622882" cy="224194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4284357" y="2792313"/>
            <a:ext cx="25399" cy="2241947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4473364" y="298132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Отключённый режим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473364" y="3390007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Работа с данными в памяти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73364" y="3805833"/>
            <a:ext cx="3244868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DataAdapter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DataSet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07239" y="2792313"/>
            <a:ext cx="3622882" cy="2241947"/>
          </a:xfrm>
          <a:custGeom>
            <a:avLst/>
            <a:gdLst/>
            <a:ahLst/>
            <a:cxnLst/>
            <a:rect l="l" t="t" r="r" b="b"/>
            <a:pathLst>
              <a:path w="3622882" h="2241947">
                <a:moveTo>
                  <a:pt x="0" y="0"/>
                </a:moveTo>
                <a:lnTo>
                  <a:pt x="3599255" y="0"/>
                </a:lnTo>
                <a:arcTo hR="23628" wR="23627" stAng="16200000" swAng="5400000"/>
                <a:lnTo>
                  <a:pt x="3622882" y="2218319"/>
                </a:lnTo>
                <a:arcTo hR="23628" wR="23627" stAng="0" swAng="5400000"/>
                <a:lnTo>
                  <a:pt x="0" y="224194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7239" y="2792313"/>
            <a:ext cx="25399" cy="2241947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46" y="298132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Фабричный паттерн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96246" y="3390007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Абстракции позволяют писать код, независимый от конкретной СУБД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47589"/>
            <a:ext cx="1125509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404243"/>
            <a:ext cx="15082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ИНТЕРФЕЙС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103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IDbConnection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8445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Соединение с источником данных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099495"/>
            <a:ext cx="5339820" cy="1442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313906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Свойства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722588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ConnectionString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строка подключения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Open, Closed, Broken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099495"/>
            <a:ext cx="5339919" cy="1442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305" y="3313906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Методы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506305" y="3722588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Open() / Close()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управление соединением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CreateCommand()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создание команды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61475" y="4754463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CCD7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5022155"/>
            <a:ext cx="236234" cy="1890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75723" y="4990703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Всегда используйте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using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для гарантированного освобождения ресурсов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29196"/>
            <a:ext cx="1125509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085850"/>
            <a:ext cx="15082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ИНТЕРФЕЙС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9194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IDbCommand — SQL-запрос или хранимая процедура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856706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3045718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CommandText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3454400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Текст SQL или имя хранимой процедуры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856706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3045718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CommandType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3454400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 · StoredProcedure · TableDirect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856706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3045718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ExecuteNonQuery()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3454400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INSERT / UPDATE / DELETE — возвращает число затронутых строк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739680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850482" y="492869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ExecuteScalar()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0482" y="5337373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Первый столбец первой строки (например, COUNT)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739680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6379308" y="492869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ExecuteReader()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379308" y="5337373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Потоковое чтение через IDataReader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21445"/>
            <a:ext cx="1125509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778099"/>
            <a:ext cx="15082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ИНТЕРФЕЙС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8418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IDataReader и IDataRecord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863850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Высокопроизводительное однонаправленное чтение данных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336330"/>
            <a:ext cx="690326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Forward-only, только для чтения; требует открытого соединения на всё время работы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Read()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переход к следующей записи;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NextResult()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следующий результирующий набор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Доступ к полям: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GetInt32()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GetString()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IsDBNull()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или по имени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reader["Column"]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8977"/>
            <a:ext cx="703443" cy="179487"/>
          </a:xfrm>
          <a:prstGeom prst="roundRect">
            <a:avLst>
              <a:gd name="adj" fmla="val 7898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2315" y="584398"/>
            <a:ext cx="1171347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ИНТЕРФЕЙС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57932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IDataAdapter / IDbDataAdapter — мост к DataSet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1237853"/>
            <a:ext cx="6383575" cy="37887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47124" y="4147794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Update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307" y="3994951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Изменения в памяти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14884" y="3994951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SelectCommand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253137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SelectCommand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1475" y="5481935"/>
            <a:ext cx="53882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Чтение данных из БД в DataSet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41983" y="5253137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Insert / Update / DeleteCommand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41983" y="5481935"/>
            <a:ext cx="53882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Синхронизация изменений обратно в БД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1475" y="5926634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Fill(DataSet)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1475" y="6155432"/>
            <a:ext cx="53882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Наполняет DataSet результатами запроса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41983" y="5926634"/>
            <a:ext cx="53882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Update(DataSet)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41983" y="6155432"/>
            <a:ext cx="538823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Анализирует изменения и выполняет нужные команды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8775" y="5109666"/>
            <a:ext cx="5413636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Shape 15"/>
          <p:cNvSpPr/>
          <p:nvPr/>
        </p:nvSpPr>
        <p:spPr>
          <a:xfrm>
            <a:off x="6129283" y="5109666"/>
            <a:ext cx="5413636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9" name="Shape 16"/>
          <p:cNvSpPr/>
          <p:nvPr/>
        </p:nvSpPr>
        <p:spPr>
          <a:xfrm>
            <a:off x="648775" y="5783163"/>
            <a:ext cx="5413636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0" name="Shape 17"/>
          <p:cNvSpPr/>
          <p:nvPr/>
        </p:nvSpPr>
        <p:spPr>
          <a:xfrm>
            <a:off x="6129283" y="5783163"/>
            <a:ext cx="5413636" cy="25400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47589"/>
            <a:ext cx="1125509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404243"/>
            <a:ext cx="15082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ИНТЕРФЕЙС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103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IDataParameter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8445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Параметры и защита от SQL-инъекций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099495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FFB3B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3367187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333573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Никогда не конкатенируйте SQL вручную — только параметризованные запросы!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4068068"/>
            <a:ext cx="3496877" cy="1442343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881" y="428248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ParameterName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75881" y="4691162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@param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(MSSQL) или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:param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(Oracle)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347359" y="4068068"/>
            <a:ext cx="3496877" cy="1442343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1766" y="428248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DbType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561766" y="4691162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Универсальный тип данных, независимый от провайдера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33244" y="4068068"/>
            <a:ext cx="3496877" cy="1442343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47650" y="428248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Direction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247650" y="4691162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Input · Output · InputOutput · ReturnValue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30462"/>
            <a:ext cx="1125509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687116"/>
            <a:ext cx="15082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ИНТЕРФЕЙС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932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IDbTransaction — управление транзакциями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867323"/>
            <a:ext cx="10868745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867323"/>
            <a:ext cx="3622882" cy="1391543"/>
          </a:xfrm>
          <a:custGeom>
            <a:avLst/>
            <a:gdLst/>
            <a:ahLst/>
            <a:cxnLst/>
            <a:rect l="l" t="t" r="r" b="b"/>
            <a:pathLst>
              <a:path w="3622882" h="1391543">
                <a:moveTo>
                  <a:pt x="23627" y="0"/>
                </a:moveTo>
                <a:lnTo>
                  <a:pt x="3622882" y="0"/>
                </a:lnTo>
                <a:lnTo>
                  <a:pt x="3622882" y="1391543"/>
                </a:lnTo>
                <a:lnTo>
                  <a:pt x="23627" y="1391543"/>
                </a:lnTo>
                <a:arcTo hR="23628" wR="23627" stAng="5400000" swAng="5400000"/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50482" y="3056334"/>
            <a:ext cx="29614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Commit()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3465016"/>
            <a:ext cx="29614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Фиксация всех изменений в БД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84357" y="2867323"/>
            <a:ext cx="3622882" cy="139154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4284357" y="2867323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4756825" y="3056334"/>
            <a:ext cx="2677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Rollback()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756825" y="3465016"/>
            <a:ext cx="26779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Откат транзакции при ошибке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07239" y="2867323"/>
            <a:ext cx="3622882" cy="1391543"/>
          </a:xfrm>
          <a:custGeom>
            <a:avLst/>
            <a:gdLst/>
            <a:ahLst/>
            <a:cxnLst/>
            <a:rect l="l" t="t" r="r" b="b"/>
            <a:pathLst>
              <a:path w="3622882" h="1391543">
                <a:moveTo>
                  <a:pt x="0" y="0"/>
                </a:moveTo>
                <a:lnTo>
                  <a:pt x="3599255" y="0"/>
                </a:lnTo>
                <a:arcTo hR="23628" wR="23627" stAng="16200000" swAng="5400000"/>
                <a:lnTo>
                  <a:pt x="3622882" y="1367915"/>
                </a:lnTo>
                <a:arcTo hR="23628" wR="23627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7239" y="2867323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8379707" y="3056334"/>
            <a:ext cx="29614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Command.Transaction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379707" y="3465016"/>
            <a:ext cx="29614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Транзакция привязывается к команде через это свойство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471491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FCF2B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739184"/>
            <a:ext cx="236234" cy="1890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75723" y="470773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Автоматического отката при Dispose нет — явно вызывайте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Rollback()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в блоке catch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048123" y="3326805"/>
            <a:ext cx="472468" cy="472480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6190" y="3444875"/>
            <a:ext cx="236234" cy="2362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671005" y="3326805"/>
            <a:ext cx="472468" cy="472480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9072" y="3444875"/>
            <a:ext cx="236234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09911"/>
            <a:ext cx="193124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566565"/>
            <a:ext cx="231402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SYSTEM.DATA.COMMON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72655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Базовые абстрактные классы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652316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Классы предоставляют частичную реализацию интерфейсов и добавляют служебные возможности, недоступные на уровне интерфейсов.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15" y="3645694"/>
            <a:ext cx="283461" cy="283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3639840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DbConnection, DbCommand, DbDataReader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275723" y="4639072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Реализуют соответствующие интерфейсы с базовым кодом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3975" y="3645694"/>
            <a:ext cx="283461" cy="2834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77383" y="3639840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DbDataAdapter, DbParameter, DbTransaction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977383" y="4639072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Добавляют служебные методы и корректный Dispose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5635" y="3645694"/>
            <a:ext cx="283461" cy="2834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79042" y="3639840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Async-методы (с .NET 4.5)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679042" y="4048522"/>
            <a:ext cx="285117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OpenAsync, ExecuteReaderAsync, ExecuteNonQueryAsync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только в классах, не в интерфейсах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20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Интерфейсы vs Базовые классы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072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Когда использовать интерфейс, а когда — абстрактный базовый класс?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45767"/>
          <a:ext cx="9143771" cy="914400"/>
        </p:xfrm>
        <a:graphic>
          <a:graphicData uri="http://schemas.openxmlformats.org/drawingml/2006/table">
            <a:tbl>
              <a:tblPr/>
              <a:tblGrid>
                <a:gridCol w="3043249"/>
                <a:gridCol w="3912748"/>
                <a:gridCol w="3912748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Характеристика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Интерфейсы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Базовые классы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431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18F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Роль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Контракт для провайдеров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Готовая основа для реализации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Реализация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Только сигнатуры методов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Частичная реализация + служебные методы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Асинхронность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Отсутствует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Присутствует (Async-методы)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Применение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Максимально абстрактный код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Расширение и создание провайдеров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7489"/>
            <a:ext cx="773490" cy="260152"/>
          </a:xfrm>
          <a:prstGeom prst="roundRect">
            <a:avLst>
              <a:gd name="adj" fmla="val 7901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64164" y="598785"/>
            <a:ext cx="1177697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ПРИМЕР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6965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Фабричный подход на практике</a:t>
            </a:r>
            <a:endParaRPr lang="en-US" sz="3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56" y="2409428"/>
            <a:ext cx="6837489" cy="31293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37345" y="4672018"/>
            <a:ext cx="1283683" cy="494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Выполнить и читать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319553" y="4672018"/>
            <a:ext cx="1283683" cy="494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Создать команду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710555" y="4672018"/>
            <a:ext cx="1283682" cy="494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Создать и открыть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66386" y="4672018"/>
            <a:ext cx="1283682" cy="494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Получить фабрику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04074" y="1792883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Ключевые принципы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8004074" y="2235101"/>
            <a:ext cx="385356" cy="38536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8068317" y="2267198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544604" y="2293938"/>
            <a:ext cx="299186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Получить фабрику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544604" y="2716709"/>
            <a:ext cx="2991867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DbProviderFactories.GetFactory("System.Data.SqlClient")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04074" y="3549650"/>
            <a:ext cx="385356" cy="38536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8068317" y="3581747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544604" y="3608487"/>
            <a:ext cx="2991867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Работать через базовые классы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544604" y="4298851"/>
            <a:ext cx="2991867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Весь код использует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DbConnection / DbCommand / DbDataReader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04074" y="5131792"/>
            <a:ext cx="385356" cy="38536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8068317" y="5163889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544604" y="5190629"/>
            <a:ext cx="299186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Замена провайдера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8544604" y="5613400"/>
            <a:ext cx="2991867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Смена СУБД не требует переписывания бизнес-логики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51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Ключевые правила работы с </a:t>
            </a:r>
            <a:pPr algn="l" indent="0" marL="0">
              <a:lnSpc>
                <a:spcPct val="104000"/>
              </a:lnSpc>
              <a:buNone/>
            </a:pPr>
            <a:r>
              <a:rPr lang="en-US" sz="3500" b="1" u="sng" dirty="0">
                <a:solidFill>
                  <a:srgbClr val="2150FE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ADO.NET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62980"/>
            <a:ext cx="10868745" cy="10808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2095" y="1834555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579126" y="1668463"/>
            <a:ext cx="9745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using для всех IDisposable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579126" y="2052935"/>
            <a:ext cx="9745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Connection, Command, DataReader, Transaction — гарантированное освобождение ресурсов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15518"/>
            <a:ext cx="10868745" cy="10808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2095" y="3087092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579126" y="2921000"/>
            <a:ext cx="9745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Только параметризованные запросы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579126" y="3305473"/>
            <a:ext cx="9745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Никакой конкатенации строк — защита от SQL-инъекций обязательна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68055"/>
            <a:ext cx="10868745" cy="10808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2095" y="4339630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1579126" y="4173538"/>
            <a:ext cx="9745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DataReader держит соединение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579126" y="4558010"/>
            <a:ext cx="9745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Соединение остаётся открытым до явного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Close()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или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Dispose()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20593"/>
            <a:ext cx="10868745" cy="108088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2095" y="5592167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1579126" y="5426075"/>
            <a:ext cx="9745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DataAdapter и транзакции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1579126" y="5810548"/>
            <a:ext cx="9745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Адаптер сам открывает и закрывает соединение при Fill/Update — учитывайте при транзакциях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150F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2026-09-04T11:05:44Z</dcterms:created>
  <dcterms:modified xsi:type="dcterms:W3CDTF">2026-09-04T11:05:44Z</dcterms:modified>
</cp:coreProperties>
</file>