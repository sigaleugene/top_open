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6" r:id="rId5"/>
    <p:sldId id="268" r:id="rId6"/>
    <p:sldId id="269" r:id="rId7"/>
    <p:sldId id="270" r:id="rId8"/>
    <p:sldId id="289" r:id="rId9"/>
    <p:sldId id="290" r:id="rId10"/>
    <p:sldId id="291" r:id="rId11"/>
    <p:sldId id="292" r:id="rId12"/>
    <p:sldId id="271" r:id="rId13"/>
    <p:sldId id="293" r:id="rId14"/>
    <p:sldId id="295" r:id="rId15"/>
    <p:sldId id="294" r:id="rId16"/>
    <p:sldId id="296"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 id="325" r:id="rId63"/>
    <p:sldId id="326" r:id="rId64"/>
    <p:sldId id="327" r:id="rId65"/>
    <p:sldId id="328" r:id="rId66"/>
    <p:sldId id="329" r:id="rId67"/>
    <p:sldId id="330" r:id="rId68"/>
    <p:sldId id="331" r:id="rId69"/>
    <p:sldId id="332" r:id="rId70"/>
    <p:sldId id="333" r:id="rId71"/>
    <p:sldId id="334" r:id="rId72"/>
    <p:sldId id="335" r:id="rId73"/>
    <p:sldId id="336" r:id="rId74"/>
    <p:sldId id="337" r:id="rId75"/>
    <p:sldId id="338" r:id="rId76"/>
    <p:sldId id="339" r:id="rId77"/>
    <p:sldId id="340" r:id="rId78"/>
    <p:sldId id="341" r:id="rId79"/>
    <p:sldId id="342" r:id="rId80"/>
    <p:sldId id="343" r:id="rId81"/>
    <p:sldId id="344" r:id="rId82"/>
    <p:sldId id="345" r:id="rId83"/>
    <p:sldId id="346" r:id="rId84"/>
    <p:sldId id="347" r:id="rId85"/>
    <p:sldId id="348" r:id="rId86"/>
    <p:sldId id="349" r:id="rId87"/>
    <p:sldId id="350" r:id="rId88"/>
    <p:sldId id="351" r:id="rId89"/>
    <p:sldId id="352" r:id="rId90"/>
    <p:sldId id="353" r:id="rId91"/>
    <p:sldId id="354" r:id="rId92"/>
    <p:sldId id="355" r:id="rId93"/>
    <p:sldId id="356" r:id="rId94"/>
    <p:sldId id="357" r:id="rId95"/>
    <p:sldId id="358" r:id="rId96"/>
    <p:sldId id="359" r:id="rId97"/>
    <p:sldId id="360" r:id="rId98"/>
    <p:sldId id="362" r:id="rId99"/>
    <p:sldId id="363" r:id="rId100"/>
    <p:sldId id="364" r:id="rId101"/>
    <p:sldId id="365" r:id="rId102"/>
    <p:sldId id="366" r:id="rId103"/>
    <p:sldId id="367" r:id="rId104"/>
    <p:sldId id="368" r:id="rId105"/>
    <p:sldId id="369" r:id="rId106"/>
    <p:sldId id="370" r:id="rId107"/>
    <p:sldId id="371" r:id="rId108"/>
    <p:sldId id="372" r:id="rId109"/>
    <p:sldId id="373" r:id="rId110"/>
    <p:sldId id="374" r:id="rId111"/>
    <p:sldId id="375" r:id="rId112"/>
    <p:sldId id="376" r:id="rId113"/>
    <p:sldId id="377" r:id="rId114"/>
    <p:sldId id="378" r:id="rId115"/>
    <p:sldId id="379" r:id="rId116"/>
    <p:sldId id="380" r:id="rId117"/>
    <p:sldId id="381" r:id="rId118"/>
    <p:sldId id="382" r:id="rId119"/>
    <p:sldId id="383" r:id="rId120"/>
    <p:sldId id="384" r:id="rId121"/>
    <p:sldId id="406" r:id="rId122"/>
    <p:sldId id="385" r:id="rId123"/>
    <p:sldId id="386" r:id="rId124"/>
    <p:sldId id="387" r:id="rId125"/>
    <p:sldId id="388" r:id="rId126"/>
    <p:sldId id="389" r:id="rId127"/>
    <p:sldId id="390" r:id="rId128"/>
    <p:sldId id="391" r:id="rId129"/>
    <p:sldId id="392" r:id="rId130"/>
    <p:sldId id="393" r:id="rId131"/>
    <p:sldId id="394" r:id="rId132"/>
    <p:sldId id="395" r:id="rId133"/>
    <p:sldId id="396" r:id="rId134"/>
    <p:sldId id="397" r:id="rId135"/>
    <p:sldId id="398" r:id="rId136"/>
    <p:sldId id="399" r:id="rId137"/>
    <p:sldId id="400" r:id="rId138"/>
    <p:sldId id="401" r:id="rId139"/>
    <p:sldId id="402" r:id="rId140"/>
    <p:sldId id="403" r:id="rId141"/>
    <p:sldId id="404" r:id="rId142"/>
    <p:sldId id="405" r:id="rId143"/>
    <p:sldId id="407" r:id="rId144"/>
    <p:sldId id="408" r:id="rId145"/>
    <p:sldId id="409" r:id="rId146"/>
    <p:sldId id="410" r:id="rId147"/>
    <p:sldId id="411" r:id="rId148"/>
    <p:sldId id="412" r:id="rId149"/>
    <p:sldId id="413" r:id="rId150"/>
    <p:sldId id="414" r:id="rId151"/>
    <p:sldId id="415" r:id="rId152"/>
    <p:sldId id="416" r:id="rId153"/>
    <p:sldId id="417" r:id="rId154"/>
    <p:sldId id="418" r:id="rId155"/>
    <p:sldId id="419" r:id="rId156"/>
    <p:sldId id="420" r:id="rId157"/>
    <p:sldId id="421" r:id="rId158"/>
    <p:sldId id="422" r:id="rId159"/>
    <p:sldId id="423" r:id="rId160"/>
    <p:sldId id="424" r:id="rId161"/>
    <p:sldId id="425" r:id="rId162"/>
    <p:sldId id="426" r:id="rId163"/>
    <p:sldId id="427" r:id="rId164"/>
    <p:sldId id="428" r:id="rId165"/>
    <p:sldId id="429" r:id="rId166"/>
    <p:sldId id="430" r:id="rId167"/>
    <p:sldId id="431" r:id="rId168"/>
    <p:sldId id="432" r:id="rId169"/>
    <p:sldId id="433" r:id="rId170"/>
    <p:sldId id="434" r:id="rId171"/>
    <p:sldId id="435" r:id="rId172"/>
    <p:sldId id="436" r:id="rId173"/>
    <p:sldId id="437" r:id="rId174"/>
    <p:sldId id="438" r:id="rId175"/>
    <p:sldId id="439" r:id="rId176"/>
    <p:sldId id="440" r:id="rId177"/>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462" r:id="rId199"/>
    <p:sldId id="464" r:id="rId200"/>
    <p:sldId id="465" r:id="rId201"/>
    <p:sldId id="463" r:id="rId202"/>
    <p:sldId id="466" r:id="rId203"/>
    <p:sldId id="467" r:id="rId204"/>
    <p:sldId id="468" r:id="rId205"/>
    <p:sldId id="469" r:id="rId206"/>
    <p:sldId id="470" r:id="rId207"/>
    <p:sldId id="471" r:id="rId208"/>
    <p:sldId id="472" r:id="rId209"/>
    <p:sldId id="473" r:id="rId210"/>
    <p:sldId id="474" r:id="rId211"/>
    <p:sldId id="475" r:id="rId212"/>
    <p:sldId id="476" r:id="rId213"/>
    <p:sldId id="477" r:id="rId214"/>
    <p:sldId id="478" r:id="rId215"/>
    <p:sldId id="479" r:id="rId216"/>
    <p:sldId id="480" r:id="rId217"/>
    <p:sldId id="481" r:id="rId218"/>
    <p:sldId id="482" r:id="rId219"/>
    <p:sldId id="483" r:id="rId220"/>
    <p:sldId id="484" r:id="rId221"/>
    <p:sldId id="485" r:id="rId222"/>
    <p:sldId id="486" r:id="rId223"/>
    <p:sldId id="487" r:id="rId224"/>
    <p:sldId id="488" r:id="rId225"/>
    <p:sldId id="489" r:id="rId226"/>
    <p:sldId id="490" r:id="rId227"/>
    <p:sldId id="491" r:id="rId228"/>
    <p:sldId id="492" r:id="rId229"/>
    <p:sldId id="493" r:id="rId230"/>
    <p:sldId id="494" r:id="rId231"/>
    <p:sldId id="495" r:id="rId232"/>
    <p:sldId id="497" r:id="rId233"/>
    <p:sldId id="496" r:id="rId234"/>
    <p:sldId id="498" r:id="rId235"/>
    <p:sldId id="499" r:id="rId236"/>
    <p:sldId id="500" r:id="rId237"/>
    <p:sldId id="501" r:id="rId238"/>
    <p:sldId id="502" r:id="rId239"/>
    <p:sldId id="503" r:id="rId240"/>
    <p:sldId id="504" r:id="rId241"/>
    <p:sldId id="505" r:id="rId242"/>
    <p:sldId id="506" r:id="rId243"/>
    <p:sldId id="507" r:id="rId244"/>
    <p:sldId id="508" r:id="rId245"/>
    <p:sldId id="509" r:id="rId246"/>
    <p:sldId id="510" r:id="rId247"/>
    <p:sldId id="511" r:id="rId248"/>
    <p:sldId id="512" r:id="rId249"/>
    <p:sldId id="513" r:id="rId250"/>
    <p:sldId id="514" r:id="rId251"/>
    <p:sldId id="515" r:id="rId252"/>
    <p:sldId id="516" r:id="rId253"/>
    <p:sldId id="517" r:id="rId254"/>
    <p:sldId id="518" r:id="rId255"/>
    <p:sldId id="519" r:id="rId256"/>
    <p:sldId id="520" r:id="rId257"/>
    <p:sldId id="521" r:id="rId258"/>
    <p:sldId id="522" r:id="rId259"/>
    <p:sldId id="523" r:id="rId260"/>
    <p:sldId id="524" r:id="rId261"/>
    <p:sldId id="525" r:id="rId262"/>
    <p:sldId id="526" r:id="rId263"/>
    <p:sldId id="527" r:id="rId264"/>
    <p:sldId id="528" r:id="rId265"/>
    <p:sldId id="529" r:id="rId266"/>
    <p:sldId id="530" r:id="rId267"/>
    <p:sldId id="531" r:id="rId268"/>
    <p:sldId id="532" r:id="rId269"/>
    <p:sldId id="533" r:id="rId270"/>
    <p:sldId id="534" r:id="rId271"/>
    <p:sldId id="535" r:id="rId272"/>
    <p:sldId id="536" r:id="rId273"/>
    <p:sldId id="537" r:id="rId274"/>
    <p:sldId id="538" r:id="rId275"/>
    <p:sldId id="539" r:id="rId276"/>
    <p:sldId id="540" r:id="rId277"/>
    <p:sldId id="541" r:id="rId278"/>
    <p:sldId id="542" r:id="rId279"/>
    <p:sldId id="543" r:id="rId280"/>
    <p:sldId id="544" r:id="rId281"/>
    <p:sldId id="545" r:id="rId282"/>
    <p:sldId id="546" r:id="rId283"/>
    <p:sldId id="547" r:id="rId284"/>
    <p:sldId id="548" r:id="rId285"/>
    <p:sldId id="556" r:id="rId286"/>
    <p:sldId id="549" r:id="rId287"/>
    <p:sldId id="550" r:id="rId288"/>
    <p:sldId id="551" r:id="rId289"/>
    <p:sldId id="552" r:id="rId290"/>
    <p:sldId id="553" r:id="rId291"/>
    <p:sldId id="554" r:id="rId292"/>
    <p:sldId id="555" r:id="rId293"/>
    <p:sldId id="557" r:id="rId294"/>
    <p:sldId id="558" r:id="rId295"/>
    <p:sldId id="559" r:id="rId296"/>
    <p:sldId id="560" r:id="rId297"/>
    <p:sldId id="561" r:id="rId29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Светлый стиль 1 — акцент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1746" y="474"/>
      </p:cViewPr>
      <p:guideLst>
        <p:guide orient="horz" pos="220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presProps" Target="presProps.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viewProps" Target="viewProps.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Pr>
        <a:solidFill>
          <a:schemeClr val="bg2"/>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B3B6D4-8099-4756-8908-56250037577A}"/>
              </a:ext>
            </a:extLst>
          </p:cNvPr>
          <p:cNvSpPr>
            <a:spLocks noGrp="1"/>
          </p:cNvSpPr>
          <p:nvPr>
            <p:ph type="ctrTitle"/>
          </p:nvPr>
        </p:nvSpPr>
        <p:spPr>
          <a:xfrm>
            <a:off x="1524000" y="1122363"/>
            <a:ext cx="9144000" cy="2387600"/>
          </a:xfrm>
        </p:spPr>
        <p:txBody>
          <a:bodyPr anchor="b"/>
          <a:lstStyle>
            <a:lvl1pPr algn="ctr">
              <a:defRPr sz="6000">
                <a:solidFill>
                  <a:schemeClr val="accent1"/>
                </a:solidFill>
              </a:defRPr>
            </a:lvl1pPr>
          </a:lstStyle>
          <a:p>
            <a:r>
              <a:rPr lang="ru-RU" dirty="0"/>
              <a:t>Образец заголовка</a:t>
            </a:r>
          </a:p>
        </p:txBody>
      </p:sp>
      <p:sp>
        <p:nvSpPr>
          <p:cNvPr id="3" name="Подзаголовок 2">
            <a:extLst>
              <a:ext uri="{FF2B5EF4-FFF2-40B4-BE49-F238E27FC236}">
                <a16:creationId xmlns:a16="http://schemas.microsoft.com/office/drawing/2014/main" id="{A40E2CC7-777D-448D-B56E-B8CD1C18693F}"/>
              </a:ext>
            </a:extLst>
          </p:cNvPr>
          <p:cNvSpPr>
            <a:spLocks noGrp="1"/>
          </p:cNvSpPr>
          <p:nvPr>
            <p:ph type="subTitle" idx="1"/>
          </p:nvPr>
        </p:nvSpPr>
        <p:spPr>
          <a:xfrm>
            <a:off x="1524000" y="3602038"/>
            <a:ext cx="9144000" cy="1655762"/>
          </a:xfrm>
        </p:spPr>
        <p:txBody>
          <a:bodyPr/>
          <a:lstStyle>
            <a:lvl1pPr marL="0" indent="0" algn="ctr">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3BF387E-AB7B-4B4B-897D-81514C7BA28B}"/>
              </a:ext>
            </a:extLst>
          </p:cNvPr>
          <p:cNvSpPr>
            <a:spLocks noGrp="1"/>
          </p:cNvSpPr>
          <p:nvPr>
            <p:ph type="dt" sz="half" idx="10"/>
          </p:nvPr>
        </p:nvSpPr>
        <p:spPr/>
        <p:txBody>
          <a:bodyPr/>
          <a:lstStyle>
            <a:lvl1pPr>
              <a:defRPr>
                <a:solidFill>
                  <a:schemeClr val="accent1"/>
                </a:solidFill>
              </a:defRPr>
            </a:lvl1pPr>
          </a:lstStyle>
          <a:p>
            <a:fld id="{66F6873F-BC63-4C77-8C1F-6337C0BA4F5E}" type="datetimeFigureOut">
              <a:rPr lang="ru-RU" smtClean="0"/>
              <a:pPr/>
              <a:t>25.11.2025</a:t>
            </a:fld>
            <a:endParaRPr lang="ru-RU"/>
          </a:p>
        </p:txBody>
      </p:sp>
      <p:sp>
        <p:nvSpPr>
          <p:cNvPr id="6" name="Номер слайда 5">
            <a:extLst>
              <a:ext uri="{FF2B5EF4-FFF2-40B4-BE49-F238E27FC236}">
                <a16:creationId xmlns:a16="http://schemas.microsoft.com/office/drawing/2014/main" id="{AE0FBE17-044B-4AF6-A289-0A782F3B7702}"/>
              </a:ext>
            </a:extLst>
          </p:cNvPr>
          <p:cNvSpPr>
            <a:spLocks noGrp="1"/>
          </p:cNvSpPr>
          <p:nvPr>
            <p:ph type="sldNum" sz="quarter" idx="12"/>
          </p:nvPr>
        </p:nvSpPr>
        <p:spPr/>
        <p:txBody>
          <a:bodyPr/>
          <a:lstStyle>
            <a:lvl1pPr>
              <a:defRPr>
                <a:solidFill>
                  <a:schemeClr val="accent1"/>
                </a:solidFill>
              </a:defRPr>
            </a:lvl1pPr>
          </a:lstStyle>
          <a:p>
            <a:fld id="{A932D385-1C5C-4B8C-A1C5-1E6FA26AB176}" type="slidenum">
              <a:rPr lang="ru-RU" smtClean="0"/>
              <a:pPr/>
              <a:t>‹#›</a:t>
            </a:fld>
            <a:endParaRPr lang="ru-RU"/>
          </a:p>
        </p:txBody>
      </p:sp>
      <p:sp>
        <p:nvSpPr>
          <p:cNvPr id="9" name="Полилиния: фигура 8">
            <a:extLst>
              <a:ext uri="{FF2B5EF4-FFF2-40B4-BE49-F238E27FC236}">
                <a16:creationId xmlns:a16="http://schemas.microsoft.com/office/drawing/2014/main" id="{8D0BA6F7-D230-4A2E-8042-C3000DA862B0}"/>
              </a:ext>
            </a:extLst>
          </p:cNvPr>
          <p:cNvSpPr/>
          <p:nvPr userDrawn="1"/>
        </p:nvSpPr>
        <p:spPr>
          <a:xfrm>
            <a:off x="8727440" y="-834072"/>
            <a:ext cx="3728720" cy="3728720"/>
          </a:xfrm>
          <a:custGeom>
            <a:avLst/>
            <a:gdLst>
              <a:gd name="connsiteX0" fmla="*/ 1267460 w 2534920"/>
              <a:gd name="connsiteY0" fmla="*/ 416560 h 2534920"/>
              <a:gd name="connsiteX1" fmla="*/ 416560 w 2534920"/>
              <a:gd name="connsiteY1" fmla="*/ 1267460 h 2534920"/>
              <a:gd name="connsiteX2" fmla="*/ 1267460 w 2534920"/>
              <a:gd name="connsiteY2" fmla="*/ 2118360 h 2534920"/>
              <a:gd name="connsiteX3" fmla="*/ 2118360 w 2534920"/>
              <a:gd name="connsiteY3" fmla="*/ 1267460 h 2534920"/>
              <a:gd name="connsiteX4" fmla="*/ 1267460 w 2534920"/>
              <a:gd name="connsiteY4" fmla="*/ 416560 h 2534920"/>
              <a:gd name="connsiteX5" fmla="*/ 1267460 w 2534920"/>
              <a:gd name="connsiteY5" fmla="*/ 0 h 2534920"/>
              <a:gd name="connsiteX6" fmla="*/ 2534920 w 2534920"/>
              <a:gd name="connsiteY6" fmla="*/ 1267460 h 2534920"/>
              <a:gd name="connsiteX7" fmla="*/ 1267460 w 2534920"/>
              <a:gd name="connsiteY7" fmla="*/ 2534920 h 2534920"/>
              <a:gd name="connsiteX8" fmla="*/ 0 w 2534920"/>
              <a:gd name="connsiteY8" fmla="*/ 1267460 h 2534920"/>
              <a:gd name="connsiteX9" fmla="*/ 1267460 w 2534920"/>
              <a:gd name="connsiteY9" fmla="*/ 0 h 253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4920" h="2534920">
                <a:moveTo>
                  <a:pt x="1267460" y="416560"/>
                </a:moveTo>
                <a:cubicBezTo>
                  <a:pt x="797521" y="416560"/>
                  <a:pt x="416560" y="797521"/>
                  <a:pt x="416560" y="1267460"/>
                </a:cubicBezTo>
                <a:cubicBezTo>
                  <a:pt x="416560" y="1737399"/>
                  <a:pt x="797521" y="2118360"/>
                  <a:pt x="1267460" y="2118360"/>
                </a:cubicBezTo>
                <a:cubicBezTo>
                  <a:pt x="1737399" y="2118360"/>
                  <a:pt x="2118360" y="1737399"/>
                  <a:pt x="2118360" y="1267460"/>
                </a:cubicBezTo>
                <a:cubicBezTo>
                  <a:pt x="2118360" y="797521"/>
                  <a:pt x="1737399" y="416560"/>
                  <a:pt x="1267460" y="416560"/>
                </a:cubicBezTo>
                <a:close/>
                <a:moveTo>
                  <a:pt x="1267460" y="0"/>
                </a:moveTo>
                <a:cubicBezTo>
                  <a:pt x="1967459" y="0"/>
                  <a:pt x="2534920" y="567461"/>
                  <a:pt x="2534920" y="1267460"/>
                </a:cubicBezTo>
                <a:cubicBezTo>
                  <a:pt x="2534920" y="1967459"/>
                  <a:pt x="1967459" y="2534920"/>
                  <a:pt x="1267460" y="2534920"/>
                </a:cubicBezTo>
                <a:cubicBezTo>
                  <a:pt x="567461" y="2534920"/>
                  <a:pt x="0" y="1967459"/>
                  <a:pt x="0" y="1267460"/>
                </a:cubicBezTo>
                <a:cubicBezTo>
                  <a:pt x="0" y="567461"/>
                  <a:pt x="567461" y="0"/>
                  <a:pt x="126746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solidFill>
                <a:schemeClr val="accent1"/>
              </a:solidFill>
            </a:endParaRPr>
          </a:p>
        </p:txBody>
      </p:sp>
      <p:sp>
        <p:nvSpPr>
          <p:cNvPr id="10" name="Полилиния: фигура 9">
            <a:extLst>
              <a:ext uri="{FF2B5EF4-FFF2-40B4-BE49-F238E27FC236}">
                <a16:creationId xmlns:a16="http://schemas.microsoft.com/office/drawing/2014/main" id="{4F39FE66-F432-4667-B803-049B377A6CAC}"/>
              </a:ext>
            </a:extLst>
          </p:cNvPr>
          <p:cNvSpPr/>
          <p:nvPr userDrawn="1"/>
        </p:nvSpPr>
        <p:spPr>
          <a:xfrm>
            <a:off x="-2191129" y="3602038"/>
            <a:ext cx="3728720" cy="3728720"/>
          </a:xfrm>
          <a:custGeom>
            <a:avLst/>
            <a:gdLst>
              <a:gd name="connsiteX0" fmla="*/ 1267460 w 2534920"/>
              <a:gd name="connsiteY0" fmla="*/ 416560 h 2534920"/>
              <a:gd name="connsiteX1" fmla="*/ 416560 w 2534920"/>
              <a:gd name="connsiteY1" fmla="*/ 1267460 h 2534920"/>
              <a:gd name="connsiteX2" fmla="*/ 1267460 w 2534920"/>
              <a:gd name="connsiteY2" fmla="*/ 2118360 h 2534920"/>
              <a:gd name="connsiteX3" fmla="*/ 2118360 w 2534920"/>
              <a:gd name="connsiteY3" fmla="*/ 1267460 h 2534920"/>
              <a:gd name="connsiteX4" fmla="*/ 1267460 w 2534920"/>
              <a:gd name="connsiteY4" fmla="*/ 416560 h 2534920"/>
              <a:gd name="connsiteX5" fmla="*/ 1267460 w 2534920"/>
              <a:gd name="connsiteY5" fmla="*/ 0 h 2534920"/>
              <a:gd name="connsiteX6" fmla="*/ 2534920 w 2534920"/>
              <a:gd name="connsiteY6" fmla="*/ 1267460 h 2534920"/>
              <a:gd name="connsiteX7" fmla="*/ 1267460 w 2534920"/>
              <a:gd name="connsiteY7" fmla="*/ 2534920 h 2534920"/>
              <a:gd name="connsiteX8" fmla="*/ 0 w 2534920"/>
              <a:gd name="connsiteY8" fmla="*/ 1267460 h 2534920"/>
              <a:gd name="connsiteX9" fmla="*/ 1267460 w 2534920"/>
              <a:gd name="connsiteY9" fmla="*/ 0 h 253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4920" h="2534920">
                <a:moveTo>
                  <a:pt x="1267460" y="416560"/>
                </a:moveTo>
                <a:cubicBezTo>
                  <a:pt x="797521" y="416560"/>
                  <a:pt x="416560" y="797521"/>
                  <a:pt x="416560" y="1267460"/>
                </a:cubicBezTo>
                <a:cubicBezTo>
                  <a:pt x="416560" y="1737399"/>
                  <a:pt x="797521" y="2118360"/>
                  <a:pt x="1267460" y="2118360"/>
                </a:cubicBezTo>
                <a:cubicBezTo>
                  <a:pt x="1737399" y="2118360"/>
                  <a:pt x="2118360" y="1737399"/>
                  <a:pt x="2118360" y="1267460"/>
                </a:cubicBezTo>
                <a:cubicBezTo>
                  <a:pt x="2118360" y="797521"/>
                  <a:pt x="1737399" y="416560"/>
                  <a:pt x="1267460" y="416560"/>
                </a:cubicBezTo>
                <a:close/>
                <a:moveTo>
                  <a:pt x="1267460" y="0"/>
                </a:moveTo>
                <a:cubicBezTo>
                  <a:pt x="1967459" y="0"/>
                  <a:pt x="2534920" y="567461"/>
                  <a:pt x="2534920" y="1267460"/>
                </a:cubicBezTo>
                <a:cubicBezTo>
                  <a:pt x="2534920" y="1967459"/>
                  <a:pt x="1967459" y="2534920"/>
                  <a:pt x="1267460" y="2534920"/>
                </a:cubicBezTo>
                <a:cubicBezTo>
                  <a:pt x="567461" y="2534920"/>
                  <a:pt x="0" y="1967459"/>
                  <a:pt x="0" y="1267460"/>
                </a:cubicBezTo>
                <a:cubicBezTo>
                  <a:pt x="0" y="567461"/>
                  <a:pt x="567461" y="0"/>
                  <a:pt x="126746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solidFill>
                <a:schemeClr val="accent1"/>
              </a:solidFill>
            </a:endParaRPr>
          </a:p>
        </p:txBody>
      </p:sp>
      <p:sp>
        <p:nvSpPr>
          <p:cNvPr id="12" name="Прямоугольник 11">
            <a:extLst>
              <a:ext uri="{FF2B5EF4-FFF2-40B4-BE49-F238E27FC236}">
                <a16:creationId xmlns:a16="http://schemas.microsoft.com/office/drawing/2014/main" id="{C0144957-439D-47CC-A8ED-6A2C122E5876}"/>
              </a:ext>
            </a:extLst>
          </p:cNvPr>
          <p:cNvSpPr/>
          <p:nvPr userDrawn="1"/>
        </p:nvSpPr>
        <p:spPr>
          <a:xfrm>
            <a:off x="4854698" y="6346745"/>
            <a:ext cx="2482603" cy="369332"/>
          </a:xfrm>
          <a:prstGeom prst="rect">
            <a:avLst/>
          </a:prstGeom>
        </p:spPr>
        <p:txBody>
          <a:bodyPr wrap="none">
            <a:spAutoFit/>
          </a:bodyPr>
          <a:lstStyle/>
          <a:p>
            <a:r>
              <a:rPr lang="ru-RU" dirty="0">
                <a:solidFill>
                  <a:schemeClr val="bg2"/>
                </a:solidFill>
              </a:rPr>
              <a:t>presentation-creation.ru</a:t>
            </a:r>
          </a:p>
        </p:txBody>
      </p:sp>
      <p:sp>
        <p:nvSpPr>
          <p:cNvPr id="5" name="Нижний колонтитул 4">
            <a:extLst>
              <a:ext uri="{FF2B5EF4-FFF2-40B4-BE49-F238E27FC236}">
                <a16:creationId xmlns:a16="http://schemas.microsoft.com/office/drawing/2014/main" id="{3F59A56F-C8EE-4028-B120-76C4E70D06D4}"/>
              </a:ext>
            </a:extLst>
          </p:cNvPr>
          <p:cNvSpPr>
            <a:spLocks noGrp="1"/>
          </p:cNvSpPr>
          <p:nvPr>
            <p:ph type="ftr" sz="quarter" idx="11"/>
          </p:nvPr>
        </p:nvSpPr>
        <p:spPr/>
        <p:txBody>
          <a:bodyPr/>
          <a:lstStyle>
            <a:lvl1pPr>
              <a:defRPr>
                <a:solidFill>
                  <a:schemeClr val="bg2"/>
                </a:solidFill>
              </a:defRPr>
            </a:lvl1pPr>
          </a:lstStyle>
          <a:p>
            <a:r>
              <a:rPr lang="en-US"/>
              <a:t>presentation-creation.ru</a:t>
            </a:r>
            <a:endParaRPr lang="ru-RU" dirty="0"/>
          </a:p>
        </p:txBody>
      </p:sp>
      <p:sp>
        <p:nvSpPr>
          <p:cNvPr id="11" name="Прямоугольник 10">
            <a:extLst>
              <a:ext uri="{FF2B5EF4-FFF2-40B4-BE49-F238E27FC236}">
                <a16:creationId xmlns:a16="http://schemas.microsoft.com/office/drawing/2014/main" id="{81A2F493-6E05-45FF-ADC3-B4C322D4859A}"/>
              </a:ext>
            </a:extLst>
          </p:cNvPr>
          <p:cNvSpPr/>
          <p:nvPr userDrawn="1"/>
        </p:nvSpPr>
        <p:spPr>
          <a:xfrm rot="5400000">
            <a:off x="11214858" y="5281732"/>
            <a:ext cx="2482603" cy="369332"/>
          </a:xfrm>
          <a:prstGeom prst="rect">
            <a:avLst/>
          </a:prstGeom>
        </p:spPr>
        <p:txBody>
          <a:bodyPr wrap="none">
            <a:spAutoFit/>
          </a:bodyPr>
          <a:lstStyle/>
          <a:p>
            <a:r>
              <a:rPr lang="ru-RU" dirty="0">
                <a:solidFill>
                  <a:srgbClr val="E6E6E6"/>
                </a:solidFill>
              </a:rPr>
              <a:t>presentation-creation.ru</a:t>
            </a:r>
          </a:p>
        </p:txBody>
      </p:sp>
    </p:spTree>
    <p:extLst>
      <p:ext uri="{BB962C8B-B14F-4D97-AF65-F5344CB8AC3E}">
        <p14:creationId xmlns:p14="http://schemas.microsoft.com/office/powerpoint/2010/main" val="3908449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bg>
      <p:bgPr>
        <a:solidFill>
          <a:schemeClr val="bg2"/>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7FFB97-38B4-42A7-80AE-69C69F7282D9}"/>
              </a:ext>
            </a:extLst>
          </p:cNvPr>
          <p:cNvSpPr>
            <a:spLocks noGrp="1"/>
          </p:cNvSpPr>
          <p:nvPr>
            <p:ph type="title"/>
          </p:nvPr>
        </p:nvSpPr>
        <p:spPr/>
        <p:txBody>
          <a:bodyPr/>
          <a:lstStyle>
            <a:lvl1pPr>
              <a:defRPr>
                <a:solidFill>
                  <a:schemeClr val="accent1"/>
                </a:solidFill>
                <a:latin typeface="Arial" panose="020B0604020202020204" pitchFamily="34" charset="0"/>
                <a:cs typeface="Arial" panose="020B0604020202020204" pitchFamily="34" charset="0"/>
              </a:defRPr>
            </a:lvl1pPr>
          </a:lstStyle>
          <a:p>
            <a:r>
              <a:rPr lang="ru-RU" dirty="0"/>
              <a:t>Образец заголовка</a:t>
            </a:r>
          </a:p>
        </p:txBody>
      </p:sp>
      <p:sp>
        <p:nvSpPr>
          <p:cNvPr id="3" name="Объект 2">
            <a:extLst>
              <a:ext uri="{FF2B5EF4-FFF2-40B4-BE49-F238E27FC236}">
                <a16:creationId xmlns:a16="http://schemas.microsoft.com/office/drawing/2014/main" id="{13230E6E-34A3-4404-8606-8589BD170677}"/>
              </a:ext>
            </a:extLst>
          </p:cNvPr>
          <p:cNvSpPr>
            <a:spLocks noGrp="1"/>
          </p:cNvSpPr>
          <p:nvPr>
            <p:ph idx="1"/>
          </p:nvPr>
        </p:nvSpPr>
        <p:spPr/>
        <p:txBody>
          <a:bodyPr/>
          <a:lstStyle>
            <a:lvl1pPr>
              <a:defRPr>
                <a:solidFill>
                  <a:schemeClr val="accent1"/>
                </a:solidFill>
                <a:latin typeface="Arial" panose="020B0604020202020204" pitchFamily="34" charset="0"/>
                <a:cs typeface="Arial" panose="020B0604020202020204" pitchFamily="34" charset="0"/>
              </a:defRPr>
            </a:lvl1pPr>
            <a:lvl2pPr>
              <a:defRPr>
                <a:solidFill>
                  <a:schemeClr val="accent1"/>
                </a:solidFill>
                <a:latin typeface="Arial" panose="020B0604020202020204" pitchFamily="34" charset="0"/>
                <a:cs typeface="Arial" panose="020B0604020202020204" pitchFamily="34" charset="0"/>
              </a:defRPr>
            </a:lvl2pPr>
            <a:lvl3pPr>
              <a:defRPr>
                <a:solidFill>
                  <a:schemeClr val="accent1"/>
                </a:solidFill>
                <a:latin typeface="Arial" panose="020B0604020202020204" pitchFamily="34" charset="0"/>
                <a:cs typeface="Arial" panose="020B0604020202020204" pitchFamily="34" charset="0"/>
              </a:defRPr>
            </a:lvl3pPr>
            <a:lvl4pPr>
              <a:defRPr>
                <a:solidFill>
                  <a:schemeClr val="accent1"/>
                </a:solidFill>
                <a:latin typeface="Arial" panose="020B0604020202020204" pitchFamily="34" charset="0"/>
                <a:cs typeface="Arial" panose="020B0604020202020204" pitchFamily="34" charset="0"/>
              </a:defRPr>
            </a:lvl4pPr>
            <a:lvl5pPr>
              <a:defRPr>
                <a:solidFill>
                  <a:schemeClr val="accent1"/>
                </a:solidFill>
                <a:latin typeface="Arial" panose="020B0604020202020204" pitchFamily="34" charset="0"/>
                <a:cs typeface="Arial" panose="020B0604020202020204" pitchFamily="34" charset="0"/>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4393BDCE-95F6-4EC6-A9C0-FF77CF83D1DF}"/>
              </a:ext>
            </a:extLst>
          </p:cNvPr>
          <p:cNvSpPr>
            <a:spLocks noGrp="1"/>
          </p:cNvSpPr>
          <p:nvPr>
            <p:ph type="dt" sz="half" idx="10"/>
          </p:nvPr>
        </p:nvSpPr>
        <p:spPr/>
        <p:txBody>
          <a:bodyPr/>
          <a:lstStyle>
            <a:lvl1pPr>
              <a:defRPr>
                <a:solidFill>
                  <a:schemeClr val="accent1"/>
                </a:solidFill>
              </a:defRPr>
            </a:lvl1pPr>
          </a:lstStyle>
          <a:p>
            <a:fld id="{66F6873F-BC63-4C77-8C1F-6337C0BA4F5E}" type="datetimeFigureOut">
              <a:rPr lang="ru-RU" smtClean="0"/>
              <a:pPr/>
              <a:t>25.11.2025</a:t>
            </a:fld>
            <a:endParaRPr lang="ru-RU"/>
          </a:p>
        </p:txBody>
      </p:sp>
      <p:sp>
        <p:nvSpPr>
          <p:cNvPr id="5" name="Нижний колонтитул 4">
            <a:extLst>
              <a:ext uri="{FF2B5EF4-FFF2-40B4-BE49-F238E27FC236}">
                <a16:creationId xmlns:a16="http://schemas.microsoft.com/office/drawing/2014/main" id="{4DAE2F2B-EDB8-4986-A685-68299F3740C1}"/>
              </a:ext>
            </a:extLst>
          </p:cNvPr>
          <p:cNvSpPr>
            <a:spLocks noGrp="1"/>
          </p:cNvSpPr>
          <p:nvPr>
            <p:ph type="ftr" sz="quarter" idx="11"/>
          </p:nvPr>
        </p:nvSpPr>
        <p:spPr/>
        <p:txBody>
          <a:bodyPr/>
          <a:lstStyle>
            <a:lvl1pPr>
              <a:defRPr>
                <a:solidFill>
                  <a:schemeClr val="accent1"/>
                </a:solidFill>
              </a:defRPr>
            </a:lvl1pPr>
          </a:lstStyle>
          <a:p>
            <a:endParaRPr lang="ru-RU"/>
          </a:p>
        </p:txBody>
      </p:sp>
      <p:sp>
        <p:nvSpPr>
          <p:cNvPr id="6" name="Номер слайда 5">
            <a:extLst>
              <a:ext uri="{FF2B5EF4-FFF2-40B4-BE49-F238E27FC236}">
                <a16:creationId xmlns:a16="http://schemas.microsoft.com/office/drawing/2014/main" id="{180DE953-C93F-4FA1-80E3-31B9BEC7AA6E}"/>
              </a:ext>
            </a:extLst>
          </p:cNvPr>
          <p:cNvSpPr>
            <a:spLocks noGrp="1"/>
          </p:cNvSpPr>
          <p:nvPr>
            <p:ph type="sldNum" sz="quarter" idx="12"/>
          </p:nvPr>
        </p:nvSpPr>
        <p:spPr/>
        <p:txBody>
          <a:bodyPr/>
          <a:lstStyle>
            <a:lvl1pPr>
              <a:defRPr>
                <a:solidFill>
                  <a:schemeClr val="accent1"/>
                </a:solidFill>
              </a:defRPr>
            </a:lvl1pPr>
          </a:lstStyle>
          <a:p>
            <a:fld id="{A932D385-1C5C-4B8C-A1C5-1E6FA26AB176}" type="slidenum">
              <a:rPr lang="ru-RU" smtClean="0"/>
              <a:pPr/>
              <a:t>‹#›</a:t>
            </a:fld>
            <a:endParaRPr lang="ru-RU"/>
          </a:p>
        </p:txBody>
      </p:sp>
      <p:sp>
        <p:nvSpPr>
          <p:cNvPr id="7" name="Полилиния: фигура 6">
            <a:extLst>
              <a:ext uri="{FF2B5EF4-FFF2-40B4-BE49-F238E27FC236}">
                <a16:creationId xmlns:a16="http://schemas.microsoft.com/office/drawing/2014/main" id="{1E9C95A2-6210-4525-9322-D219F14F68B9}"/>
              </a:ext>
            </a:extLst>
          </p:cNvPr>
          <p:cNvSpPr/>
          <p:nvPr userDrawn="1"/>
        </p:nvSpPr>
        <p:spPr>
          <a:xfrm>
            <a:off x="9982200" y="4674552"/>
            <a:ext cx="3728720" cy="3728720"/>
          </a:xfrm>
          <a:custGeom>
            <a:avLst/>
            <a:gdLst>
              <a:gd name="connsiteX0" fmla="*/ 1267460 w 2534920"/>
              <a:gd name="connsiteY0" fmla="*/ 416560 h 2534920"/>
              <a:gd name="connsiteX1" fmla="*/ 416560 w 2534920"/>
              <a:gd name="connsiteY1" fmla="*/ 1267460 h 2534920"/>
              <a:gd name="connsiteX2" fmla="*/ 1267460 w 2534920"/>
              <a:gd name="connsiteY2" fmla="*/ 2118360 h 2534920"/>
              <a:gd name="connsiteX3" fmla="*/ 2118360 w 2534920"/>
              <a:gd name="connsiteY3" fmla="*/ 1267460 h 2534920"/>
              <a:gd name="connsiteX4" fmla="*/ 1267460 w 2534920"/>
              <a:gd name="connsiteY4" fmla="*/ 416560 h 2534920"/>
              <a:gd name="connsiteX5" fmla="*/ 1267460 w 2534920"/>
              <a:gd name="connsiteY5" fmla="*/ 0 h 2534920"/>
              <a:gd name="connsiteX6" fmla="*/ 2534920 w 2534920"/>
              <a:gd name="connsiteY6" fmla="*/ 1267460 h 2534920"/>
              <a:gd name="connsiteX7" fmla="*/ 1267460 w 2534920"/>
              <a:gd name="connsiteY7" fmla="*/ 2534920 h 2534920"/>
              <a:gd name="connsiteX8" fmla="*/ 0 w 2534920"/>
              <a:gd name="connsiteY8" fmla="*/ 1267460 h 2534920"/>
              <a:gd name="connsiteX9" fmla="*/ 1267460 w 2534920"/>
              <a:gd name="connsiteY9" fmla="*/ 0 h 253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4920" h="2534920">
                <a:moveTo>
                  <a:pt x="1267460" y="416560"/>
                </a:moveTo>
                <a:cubicBezTo>
                  <a:pt x="797521" y="416560"/>
                  <a:pt x="416560" y="797521"/>
                  <a:pt x="416560" y="1267460"/>
                </a:cubicBezTo>
                <a:cubicBezTo>
                  <a:pt x="416560" y="1737399"/>
                  <a:pt x="797521" y="2118360"/>
                  <a:pt x="1267460" y="2118360"/>
                </a:cubicBezTo>
                <a:cubicBezTo>
                  <a:pt x="1737399" y="2118360"/>
                  <a:pt x="2118360" y="1737399"/>
                  <a:pt x="2118360" y="1267460"/>
                </a:cubicBezTo>
                <a:cubicBezTo>
                  <a:pt x="2118360" y="797521"/>
                  <a:pt x="1737399" y="416560"/>
                  <a:pt x="1267460" y="416560"/>
                </a:cubicBezTo>
                <a:close/>
                <a:moveTo>
                  <a:pt x="1267460" y="0"/>
                </a:moveTo>
                <a:cubicBezTo>
                  <a:pt x="1967459" y="0"/>
                  <a:pt x="2534920" y="567461"/>
                  <a:pt x="2534920" y="1267460"/>
                </a:cubicBezTo>
                <a:cubicBezTo>
                  <a:pt x="2534920" y="1967459"/>
                  <a:pt x="1967459" y="2534920"/>
                  <a:pt x="1267460" y="2534920"/>
                </a:cubicBezTo>
                <a:cubicBezTo>
                  <a:pt x="567461" y="2534920"/>
                  <a:pt x="0" y="1967459"/>
                  <a:pt x="0" y="1267460"/>
                </a:cubicBezTo>
                <a:cubicBezTo>
                  <a:pt x="0" y="567461"/>
                  <a:pt x="567461" y="0"/>
                  <a:pt x="126746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solidFill>
                <a:schemeClr val="accent1"/>
              </a:solidFill>
            </a:endParaRPr>
          </a:p>
        </p:txBody>
      </p:sp>
    </p:spTree>
    <p:extLst>
      <p:ext uri="{BB962C8B-B14F-4D97-AF65-F5344CB8AC3E}">
        <p14:creationId xmlns:p14="http://schemas.microsoft.com/office/powerpoint/2010/main" val="4291592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Заголовок и объект">
    <p:bg>
      <p:bgPr>
        <a:solidFill>
          <a:schemeClr val="bg2"/>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7FFB97-38B4-42A7-80AE-69C69F7282D9}"/>
              </a:ext>
            </a:extLst>
          </p:cNvPr>
          <p:cNvSpPr>
            <a:spLocks noGrp="1"/>
          </p:cNvSpPr>
          <p:nvPr>
            <p:ph type="title"/>
          </p:nvPr>
        </p:nvSpPr>
        <p:spPr/>
        <p:txBody>
          <a:bodyPr/>
          <a:lstStyle>
            <a:lvl1pPr>
              <a:defRPr>
                <a:solidFill>
                  <a:schemeClr val="accent1"/>
                </a:solidFill>
                <a:latin typeface="Arial" panose="020B0604020202020204" pitchFamily="34" charset="0"/>
                <a:cs typeface="Arial" panose="020B0604020202020204" pitchFamily="34" charset="0"/>
              </a:defRPr>
            </a:lvl1pPr>
          </a:lstStyle>
          <a:p>
            <a:r>
              <a:rPr lang="ru-RU" dirty="0"/>
              <a:t>Образец заголовка</a:t>
            </a:r>
          </a:p>
        </p:txBody>
      </p:sp>
      <p:sp>
        <p:nvSpPr>
          <p:cNvPr id="3" name="Объект 2">
            <a:extLst>
              <a:ext uri="{FF2B5EF4-FFF2-40B4-BE49-F238E27FC236}">
                <a16:creationId xmlns:a16="http://schemas.microsoft.com/office/drawing/2014/main" id="{13230E6E-34A3-4404-8606-8589BD170677}"/>
              </a:ext>
            </a:extLst>
          </p:cNvPr>
          <p:cNvSpPr>
            <a:spLocks noGrp="1"/>
          </p:cNvSpPr>
          <p:nvPr>
            <p:ph idx="1"/>
          </p:nvPr>
        </p:nvSpPr>
        <p:spPr/>
        <p:txBody>
          <a:bodyPr/>
          <a:lstStyle>
            <a:lvl1pPr>
              <a:defRPr>
                <a:solidFill>
                  <a:schemeClr val="accent1"/>
                </a:solidFill>
                <a:latin typeface="Arial" panose="020B0604020202020204" pitchFamily="34" charset="0"/>
                <a:cs typeface="Arial" panose="020B0604020202020204" pitchFamily="34" charset="0"/>
              </a:defRPr>
            </a:lvl1pPr>
            <a:lvl2pPr>
              <a:defRPr>
                <a:solidFill>
                  <a:schemeClr val="accent1"/>
                </a:solidFill>
                <a:latin typeface="Arial" panose="020B0604020202020204" pitchFamily="34" charset="0"/>
                <a:cs typeface="Arial" panose="020B0604020202020204" pitchFamily="34" charset="0"/>
              </a:defRPr>
            </a:lvl2pPr>
            <a:lvl3pPr>
              <a:defRPr>
                <a:solidFill>
                  <a:schemeClr val="accent1"/>
                </a:solidFill>
                <a:latin typeface="Arial" panose="020B0604020202020204" pitchFamily="34" charset="0"/>
                <a:cs typeface="Arial" panose="020B0604020202020204" pitchFamily="34" charset="0"/>
              </a:defRPr>
            </a:lvl3pPr>
            <a:lvl4pPr>
              <a:defRPr>
                <a:solidFill>
                  <a:schemeClr val="accent1"/>
                </a:solidFill>
                <a:latin typeface="Arial" panose="020B0604020202020204" pitchFamily="34" charset="0"/>
                <a:cs typeface="Arial" panose="020B0604020202020204" pitchFamily="34" charset="0"/>
              </a:defRPr>
            </a:lvl4pPr>
            <a:lvl5pPr>
              <a:defRPr>
                <a:solidFill>
                  <a:schemeClr val="accent1"/>
                </a:solidFill>
                <a:latin typeface="Arial" panose="020B0604020202020204" pitchFamily="34" charset="0"/>
                <a:cs typeface="Arial" panose="020B0604020202020204" pitchFamily="34" charset="0"/>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4393BDCE-95F6-4EC6-A9C0-FF77CF83D1DF}"/>
              </a:ext>
            </a:extLst>
          </p:cNvPr>
          <p:cNvSpPr>
            <a:spLocks noGrp="1"/>
          </p:cNvSpPr>
          <p:nvPr>
            <p:ph type="dt" sz="half" idx="10"/>
          </p:nvPr>
        </p:nvSpPr>
        <p:spPr/>
        <p:txBody>
          <a:bodyPr/>
          <a:lstStyle>
            <a:lvl1pPr>
              <a:defRPr>
                <a:solidFill>
                  <a:schemeClr val="accent1"/>
                </a:solidFill>
              </a:defRPr>
            </a:lvl1pPr>
          </a:lstStyle>
          <a:p>
            <a:fld id="{66F6873F-BC63-4C77-8C1F-6337C0BA4F5E}" type="datetimeFigureOut">
              <a:rPr lang="ru-RU" smtClean="0"/>
              <a:pPr/>
              <a:t>25.11.2025</a:t>
            </a:fld>
            <a:endParaRPr lang="ru-RU"/>
          </a:p>
        </p:txBody>
      </p:sp>
      <p:sp>
        <p:nvSpPr>
          <p:cNvPr id="5" name="Нижний колонтитул 4">
            <a:extLst>
              <a:ext uri="{FF2B5EF4-FFF2-40B4-BE49-F238E27FC236}">
                <a16:creationId xmlns:a16="http://schemas.microsoft.com/office/drawing/2014/main" id="{4DAE2F2B-EDB8-4986-A685-68299F3740C1}"/>
              </a:ext>
            </a:extLst>
          </p:cNvPr>
          <p:cNvSpPr>
            <a:spLocks noGrp="1"/>
          </p:cNvSpPr>
          <p:nvPr>
            <p:ph type="ftr" sz="quarter" idx="11"/>
          </p:nvPr>
        </p:nvSpPr>
        <p:spPr/>
        <p:txBody>
          <a:bodyPr/>
          <a:lstStyle>
            <a:lvl1pPr>
              <a:defRPr>
                <a:solidFill>
                  <a:schemeClr val="accent1"/>
                </a:solidFill>
              </a:defRPr>
            </a:lvl1pPr>
          </a:lstStyle>
          <a:p>
            <a:endParaRPr lang="ru-RU"/>
          </a:p>
        </p:txBody>
      </p:sp>
      <p:sp>
        <p:nvSpPr>
          <p:cNvPr id="6" name="Номер слайда 5">
            <a:extLst>
              <a:ext uri="{FF2B5EF4-FFF2-40B4-BE49-F238E27FC236}">
                <a16:creationId xmlns:a16="http://schemas.microsoft.com/office/drawing/2014/main" id="{180DE953-C93F-4FA1-80E3-31B9BEC7AA6E}"/>
              </a:ext>
            </a:extLst>
          </p:cNvPr>
          <p:cNvSpPr>
            <a:spLocks noGrp="1"/>
          </p:cNvSpPr>
          <p:nvPr>
            <p:ph type="sldNum" sz="quarter" idx="12"/>
          </p:nvPr>
        </p:nvSpPr>
        <p:spPr/>
        <p:txBody>
          <a:bodyPr/>
          <a:lstStyle>
            <a:lvl1pPr>
              <a:defRPr>
                <a:solidFill>
                  <a:schemeClr val="accent1"/>
                </a:solidFill>
              </a:defRPr>
            </a:lvl1pPr>
          </a:lstStyle>
          <a:p>
            <a:fld id="{A932D385-1C5C-4B8C-A1C5-1E6FA26AB176}" type="slidenum">
              <a:rPr lang="ru-RU" smtClean="0"/>
              <a:pPr/>
              <a:t>‹#›</a:t>
            </a:fld>
            <a:endParaRPr lang="ru-RU"/>
          </a:p>
        </p:txBody>
      </p:sp>
      <p:sp>
        <p:nvSpPr>
          <p:cNvPr id="8" name="Полилиния: фигура 7">
            <a:extLst>
              <a:ext uri="{FF2B5EF4-FFF2-40B4-BE49-F238E27FC236}">
                <a16:creationId xmlns:a16="http://schemas.microsoft.com/office/drawing/2014/main" id="{4C53D18F-7513-4016-AAB6-0827343AD240}"/>
              </a:ext>
            </a:extLst>
          </p:cNvPr>
          <p:cNvSpPr/>
          <p:nvPr userDrawn="1"/>
        </p:nvSpPr>
        <p:spPr>
          <a:xfrm>
            <a:off x="9489440" y="-1499235"/>
            <a:ext cx="3728720" cy="3728720"/>
          </a:xfrm>
          <a:custGeom>
            <a:avLst/>
            <a:gdLst>
              <a:gd name="connsiteX0" fmla="*/ 1267460 w 2534920"/>
              <a:gd name="connsiteY0" fmla="*/ 416560 h 2534920"/>
              <a:gd name="connsiteX1" fmla="*/ 416560 w 2534920"/>
              <a:gd name="connsiteY1" fmla="*/ 1267460 h 2534920"/>
              <a:gd name="connsiteX2" fmla="*/ 1267460 w 2534920"/>
              <a:gd name="connsiteY2" fmla="*/ 2118360 h 2534920"/>
              <a:gd name="connsiteX3" fmla="*/ 2118360 w 2534920"/>
              <a:gd name="connsiteY3" fmla="*/ 1267460 h 2534920"/>
              <a:gd name="connsiteX4" fmla="*/ 1267460 w 2534920"/>
              <a:gd name="connsiteY4" fmla="*/ 416560 h 2534920"/>
              <a:gd name="connsiteX5" fmla="*/ 1267460 w 2534920"/>
              <a:gd name="connsiteY5" fmla="*/ 0 h 2534920"/>
              <a:gd name="connsiteX6" fmla="*/ 2534920 w 2534920"/>
              <a:gd name="connsiteY6" fmla="*/ 1267460 h 2534920"/>
              <a:gd name="connsiteX7" fmla="*/ 1267460 w 2534920"/>
              <a:gd name="connsiteY7" fmla="*/ 2534920 h 2534920"/>
              <a:gd name="connsiteX8" fmla="*/ 0 w 2534920"/>
              <a:gd name="connsiteY8" fmla="*/ 1267460 h 2534920"/>
              <a:gd name="connsiteX9" fmla="*/ 1267460 w 2534920"/>
              <a:gd name="connsiteY9" fmla="*/ 0 h 253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4920" h="2534920">
                <a:moveTo>
                  <a:pt x="1267460" y="416560"/>
                </a:moveTo>
                <a:cubicBezTo>
                  <a:pt x="797521" y="416560"/>
                  <a:pt x="416560" y="797521"/>
                  <a:pt x="416560" y="1267460"/>
                </a:cubicBezTo>
                <a:cubicBezTo>
                  <a:pt x="416560" y="1737399"/>
                  <a:pt x="797521" y="2118360"/>
                  <a:pt x="1267460" y="2118360"/>
                </a:cubicBezTo>
                <a:cubicBezTo>
                  <a:pt x="1737399" y="2118360"/>
                  <a:pt x="2118360" y="1737399"/>
                  <a:pt x="2118360" y="1267460"/>
                </a:cubicBezTo>
                <a:cubicBezTo>
                  <a:pt x="2118360" y="797521"/>
                  <a:pt x="1737399" y="416560"/>
                  <a:pt x="1267460" y="416560"/>
                </a:cubicBezTo>
                <a:close/>
                <a:moveTo>
                  <a:pt x="1267460" y="0"/>
                </a:moveTo>
                <a:cubicBezTo>
                  <a:pt x="1967459" y="0"/>
                  <a:pt x="2534920" y="567461"/>
                  <a:pt x="2534920" y="1267460"/>
                </a:cubicBezTo>
                <a:cubicBezTo>
                  <a:pt x="2534920" y="1967459"/>
                  <a:pt x="1967459" y="2534920"/>
                  <a:pt x="1267460" y="2534920"/>
                </a:cubicBezTo>
                <a:cubicBezTo>
                  <a:pt x="567461" y="2534920"/>
                  <a:pt x="0" y="1967459"/>
                  <a:pt x="0" y="1267460"/>
                </a:cubicBezTo>
                <a:cubicBezTo>
                  <a:pt x="0" y="567461"/>
                  <a:pt x="567461" y="0"/>
                  <a:pt x="126746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solidFill>
                <a:schemeClr val="accent1"/>
              </a:solidFill>
            </a:endParaRPr>
          </a:p>
        </p:txBody>
      </p:sp>
    </p:spTree>
    <p:extLst>
      <p:ext uri="{BB962C8B-B14F-4D97-AF65-F5344CB8AC3E}">
        <p14:creationId xmlns:p14="http://schemas.microsoft.com/office/powerpoint/2010/main" val="4111922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Заголовок и объект">
    <p:bg>
      <p:bgPr>
        <a:solidFill>
          <a:schemeClr val="bg2"/>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7FFB97-38B4-42A7-80AE-69C69F7282D9}"/>
              </a:ext>
            </a:extLst>
          </p:cNvPr>
          <p:cNvSpPr>
            <a:spLocks noGrp="1"/>
          </p:cNvSpPr>
          <p:nvPr>
            <p:ph type="title"/>
          </p:nvPr>
        </p:nvSpPr>
        <p:spPr/>
        <p:txBody>
          <a:bodyPr/>
          <a:lstStyle>
            <a:lvl1pPr>
              <a:defRPr>
                <a:solidFill>
                  <a:schemeClr val="accent1"/>
                </a:solidFill>
              </a:defRPr>
            </a:lvl1pPr>
          </a:lstStyle>
          <a:p>
            <a:r>
              <a:rPr lang="ru-RU"/>
              <a:t>Образец заголовка</a:t>
            </a:r>
          </a:p>
        </p:txBody>
      </p:sp>
      <p:sp>
        <p:nvSpPr>
          <p:cNvPr id="3" name="Объект 2">
            <a:extLst>
              <a:ext uri="{FF2B5EF4-FFF2-40B4-BE49-F238E27FC236}">
                <a16:creationId xmlns:a16="http://schemas.microsoft.com/office/drawing/2014/main" id="{13230E6E-34A3-4404-8606-8589BD170677}"/>
              </a:ext>
            </a:extLst>
          </p:cNvPr>
          <p:cNvSpPr>
            <a:spLocks noGrp="1"/>
          </p:cNvSpPr>
          <p:nvPr>
            <p:ph idx="1" hasCustomPrompt="1"/>
          </p:nvPr>
        </p:nvSpPr>
        <p:spPr>
          <a:xfrm>
            <a:off x="1354238" y="1825625"/>
            <a:ext cx="7870785" cy="555150"/>
          </a:xfrm>
        </p:spPr>
        <p:txBody>
          <a:bodyPr/>
          <a:lstStyle>
            <a:lvl1pPr marL="0" indent="0">
              <a:buNone/>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ru-RU" dirty="0"/>
              <a:t>Заголовок</a:t>
            </a:r>
          </a:p>
        </p:txBody>
      </p:sp>
      <p:sp>
        <p:nvSpPr>
          <p:cNvPr id="4" name="Дата 3">
            <a:extLst>
              <a:ext uri="{FF2B5EF4-FFF2-40B4-BE49-F238E27FC236}">
                <a16:creationId xmlns:a16="http://schemas.microsoft.com/office/drawing/2014/main" id="{4393BDCE-95F6-4EC6-A9C0-FF77CF83D1DF}"/>
              </a:ext>
            </a:extLst>
          </p:cNvPr>
          <p:cNvSpPr>
            <a:spLocks noGrp="1"/>
          </p:cNvSpPr>
          <p:nvPr>
            <p:ph type="dt" sz="half" idx="10"/>
          </p:nvPr>
        </p:nvSpPr>
        <p:spPr/>
        <p:txBody>
          <a:bodyPr/>
          <a:lstStyle>
            <a:lvl1pPr>
              <a:defRPr>
                <a:solidFill>
                  <a:schemeClr val="accent1"/>
                </a:solidFill>
              </a:defRPr>
            </a:lvl1pPr>
          </a:lstStyle>
          <a:p>
            <a:fld id="{66F6873F-BC63-4C77-8C1F-6337C0BA4F5E}" type="datetimeFigureOut">
              <a:rPr lang="ru-RU" smtClean="0"/>
              <a:pPr/>
              <a:t>25.11.2025</a:t>
            </a:fld>
            <a:endParaRPr lang="ru-RU"/>
          </a:p>
        </p:txBody>
      </p:sp>
      <p:sp>
        <p:nvSpPr>
          <p:cNvPr id="5" name="Нижний колонтитул 4">
            <a:extLst>
              <a:ext uri="{FF2B5EF4-FFF2-40B4-BE49-F238E27FC236}">
                <a16:creationId xmlns:a16="http://schemas.microsoft.com/office/drawing/2014/main" id="{4DAE2F2B-EDB8-4986-A685-68299F3740C1}"/>
              </a:ext>
            </a:extLst>
          </p:cNvPr>
          <p:cNvSpPr>
            <a:spLocks noGrp="1"/>
          </p:cNvSpPr>
          <p:nvPr>
            <p:ph type="ftr" sz="quarter" idx="11"/>
          </p:nvPr>
        </p:nvSpPr>
        <p:spPr/>
        <p:txBody>
          <a:bodyPr/>
          <a:lstStyle>
            <a:lvl1pPr>
              <a:defRPr>
                <a:solidFill>
                  <a:schemeClr val="accent1"/>
                </a:solidFill>
              </a:defRPr>
            </a:lvl1pPr>
          </a:lstStyle>
          <a:p>
            <a:endParaRPr lang="ru-RU"/>
          </a:p>
        </p:txBody>
      </p:sp>
      <p:sp>
        <p:nvSpPr>
          <p:cNvPr id="6" name="Номер слайда 5">
            <a:extLst>
              <a:ext uri="{FF2B5EF4-FFF2-40B4-BE49-F238E27FC236}">
                <a16:creationId xmlns:a16="http://schemas.microsoft.com/office/drawing/2014/main" id="{180DE953-C93F-4FA1-80E3-31B9BEC7AA6E}"/>
              </a:ext>
            </a:extLst>
          </p:cNvPr>
          <p:cNvSpPr>
            <a:spLocks noGrp="1"/>
          </p:cNvSpPr>
          <p:nvPr>
            <p:ph type="sldNum" sz="quarter" idx="12"/>
          </p:nvPr>
        </p:nvSpPr>
        <p:spPr/>
        <p:txBody>
          <a:bodyPr/>
          <a:lstStyle>
            <a:lvl1pPr>
              <a:defRPr>
                <a:solidFill>
                  <a:schemeClr val="accent1"/>
                </a:solidFill>
              </a:defRPr>
            </a:lvl1pPr>
          </a:lstStyle>
          <a:p>
            <a:fld id="{A932D385-1C5C-4B8C-A1C5-1E6FA26AB176}" type="slidenum">
              <a:rPr lang="ru-RU" smtClean="0"/>
              <a:pPr/>
              <a:t>‹#›</a:t>
            </a:fld>
            <a:endParaRPr lang="ru-RU"/>
          </a:p>
        </p:txBody>
      </p:sp>
      <p:sp>
        <p:nvSpPr>
          <p:cNvPr id="9" name="Объект 2">
            <a:extLst>
              <a:ext uri="{FF2B5EF4-FFF2-40B4-BE49-F238E27FC236}">
                <a16:creationId xmlns:a16="http://schemas.microsoft.com/office/drawing/2014/main" id="{1B639A41-DCFC-4CBD-95A9-00918D1E0C5A}"/>
              </a:ext>
            </a:extLst>
          </p:cNvPr>
          <p:cNvSpPr>
            <a:spLocks noGrp="1"/>
          </p:cNvSpPr>
          <p:nvPr>
            <p:ph idx="13" hasCustomPrompt="1"/>
          </p:nvPr>
        </p:nvSpPr>
        <p:spPr>
          <a:xfrm>
            <a:off x="1354237" y="2515712"/>
            <a:ext cx="7870785" cy="555150"/>
          </a:xfrm>
        </p:spPr>
        <p:txBody>
          <a:bodyPr>
            <a:normAutofit/>
          </a:bodyPr>
          <a:lstStyle>
            <a:lvl1pPr marL="0" indent="0">
              <a:buNone/>
              <a:defRPr sz="20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ru-RU" dirty="0"/>
              <a:t>Описание</a:t>
            </a:r>
          </a:p>
        </p:txBody>
      </p:sp>
      <p:sp>
        <p:nvSpPr>
          <p:cNvPr id="11" name="Полилиния: фигура 10">
            <a:extLst>
              <a:ext uri="{FF2B5EF4-FFF2-40B4-BE49-F238E27FC236}">
                <a16:creationId xmlns:a16="http://schemas.microsoft.com/office/drawing/2014/main" id="{278F4E16-F3F9-4F3D-8E25-F2865CD252F5}"/>
              </a:ext>
            </a:extLst>
          </p:cNvPr>
          <p:cNvSpPr/>
          <p:nvPr userDrawn="1"/>
        </p:nvSpPr>
        <p:spPr>
          <a:xfrm>
            <a:off x="861350" y="1923792"/>
            <a:ext cx="358815" cy="358815"/>
          </a:xfrm>
          <a:custGeom>
            <a:avLst/>
            <a:gdLst>
              <a:gd name="connsiteX0" fmla="*/ 1267460 w 2534920"/>
              <a:gd name="connsiteY0" fmla="*/ 416560 h 2534920"/>
              <a:gd name="connsiteX1" fmla="*/ 416560 w 2534920"/>
              <a:gd name="connsiteY1" fmla="*/ 1267460 h 2534920"/>
              <a:gd name="connsiteX2" fmla="*/ 1267460 w 2534920"/>
              <a:gd name="connsiteY2" fmla="*/ 2118360 h 2534920"/>
              <a:gd name="connsiteX3" fmla="*/ 2118360 w 2534920"/>
              <a:gd name="connsiteY3" fmla="*/ 1267460 h 2534920"/>
              <a:gd name="connsiteX4" fmla="*/ 1267460 w 2534920"/>
              <a:gd name="connsiteY4" fmla="*/ 416560 h 2534920"/>
              <a:gd name="connsiteX5" fmla="*/ 1267460 w 2534920"/>
              <a:gd name="connsiteY5" fmla="*/ 0 h 2534920"/>
              <a:gd name="connsiteX6" fmla="*/ 2534920 w 2534920"/>
              <a:gd name="connsiteY6" fmla="*/ 1267460 h 2534920"/>
              <a:gd name="connsiteX7" fmla="*/ 1267460 w 2534920"/>
              <a:gd name="connsiteY7" fmla="*/ 2534920 h 2534920"/>
              <a:gd name="connsiteX8" fmla="*/ 0 w 2534920"/>
              <a:gd name="connsiteY8" fmla="*/ 1267460 h 2534920"/>
              <a:gd name="connsiteX9" fmla="*/ 1267460 w 2534920"/>
              <a:gd name="connsiteY9" fmla="*/ 0 h 253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4920" h="2534920">
                <a:moveTo>
                  <a:pt x="1267460" y="416560"/>
                </a:moveTo>
                <a:cubicBezTo>
                  <a:pt x="797521" y="416560"/>
                  <a:pt x="416560" y="797521"/>
                  <a:pt x="416560" y="1267460"/>
                </a:cubicBezTo>
                <a:cubicBezTo>
                  <a:pt x="416560" y="1737399"/>
                  <a:pt x="797521" y="2118360"/>
                  <a:pt x="1267460" y="2118360"/>
                </a:cubicBezTo>
                <a:cubicBezTo>
                  <a:pt x="1737399" y="2118360"/>
                  <a:pt x="2118360" y="1737399"/>
                  <a:pt x="2118360" y="1267460"/>
                </a:cubicBezTo>
                <a:cubicBezTo>
                  <a:pt x="2118360" y="797521"/>
                  <a:pt x="1737399" y="416560"/>
                  <a:pt x="1267460" y="416560"/>
                </a:cubicBezTo>
                <a:close/>
                <a:moveTo>
                  <a:pt x="1267460" y="0"/>
                </a:moveTo>
                <a:cubicBezTo>
                  <a:pt x="1967459" y="0"/>
                  <a:pt x="2534920" y="567461"/>
                  <a:pt x="2534920" y="1267460"/>
                </a:cubicBezTo>
                <a:cubicBezTo>
                  <a:pt x="2534920" y="1967459"/>
                  <a:pt x="1967459" y="2534920"/>
                  <a:pt x="1267460" y="2534920"/>
                </a:cubicBezTo>
                <a:cubicBezTo>
                  <a:pt x="567461" y="2534920"/>
                  <a:pt x="0" y="1967459"/>
                  <a:pt x="0" y="1267460"/>
                </a:cubicBezTo>
                <a:cubicBezTo>
                  <a:pt x="0" y="567461"/>
                  <a:pt x="567461" y="0"/>
                  <a:pt x="126746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solidFill>
                <a:schemeClr val="accent1"/>
              </a:solidFill>
            </a:endParaRPr>
          </a:p>
        </p:txBody>
      </p:sp>
      <p:sp>
        <p:nvSpPr>
          <p:cNvPr id="12" name="Объект 2">
            <a:extLst>
              <a:ext uri="{FF2B5EF4-FFF2-40B4-BE49-F238E27FC236}">
                <a16:creationId xmlns:a16="http://schemas.microsoft.com/office/drawing/2014/main" id="{2E6A01D8-B25F-4969-9EEE-02D403937381}"/>
              </a:ext>
            </a:extLst>
          </p:cNvPr>
          <p:cNvSpPr>
            <a:spLocks noGrp="1"/>
          </p:cNvSpPr>
          <p:nvPr>
            <p:ph idx="14" hasCustomPrompt="1"/>
          </p:nvPr>
        </p:nvSpPr>
        <p:spPr>
          <a:xfrm>
            <a:off x="1339448" y="3400900"/>
            <a:ext cx="7870785" cy="555150"/>
          </a:xfrm>
        </p:spPr>
        <p:txBody>
          <a:bodyPr/>
          <a:lstStyle>
            <a:lvl1pPr marL="0" indent="0">
              <a:buNone/>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ru-RU" dirty="0"/>
              <a:t>Заголовок</a:t>
            </a:r>
          </a:p>
        </p:txBody>
      </p:sp>
      <p:sp>
        <p:nvSpPr>
          <p:cNvPr id="13" name="Объект 2">
            <a:extLst>
              <a:ext uri="{FF2B5EF4-FFF2-40B4-BE49-F238E27FC236}">
                <a16:creationId xmlns:a16="http://schemas.microsoft.com/office/drawing/2014/main" id="{EB1E053F-9E78-4E0C-A2B0-31B557FA902C}"/>
              </a:ext>
            </a:extLst>
          </p:cNvPr>
          <p:cNvSpPr>
            <a:spLocks noGrp="1"/>
          </p:cNvSpPr>
          <p:nvPr>
            <p:ph idx="15" hasCustomPrompt="1"/>
          </p:nvPr>
        </p:nvSpPr>
        <p:spPr>
          <a:xfrm>
            <a:off x="1339447" y="4090987"/>
            <a:ext cx="7870785" cy="555150"/>
          </a:xfrm>
        </p:spPr>
        <p:txBody>
          <a:bodyPr>
            <a:normAutofit/>
          </a:bodyPr>
          <a:lstStyle>
            <a:lvl1pPr marL="0" indent="0">
              <a:buNone/>
              <a:defRPr sz="20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ru-RU" dirty="0"/>
              <a:t>Описание</a:t>
            </a:r>
          </a:p>
        </p:txBody>
      </p:sp>
      <p:sp>
        <p:nvSpPr>
          <p:cNvPr id="14" name="Полилиния: фигура 13">
            <a:extLst>
              <a:ext uri="{FF2B5EF4-FFF2-40B4-BE49-F238E27FC236}">
                <a16:creationId xmlns:a16="http://schemas.microsoft.com/office/drawing/2014/main" id="{056E61D6-18F0-4F5E-A062-50E29A51042C}"/>
              </a:ext>
            </a:extLst>
          </p:cNvPr>
          <p:cNvSpPr/>
          <p:nvPr userDrawn="1"/>
        </p:nvSpPr>
        <p:spPr>
          <a:xfrm>
            <a:off x="861350" y="3499067"/>
            <a:ext cx="358815" cy="358815"/>
          </a:xfrm>
          <a:custGeom>
            <a:avLst/>
            <a:gdLst>
              <a:gd name="connsiteX0" fmla="*/ 1267460 w 2534920"/>
              <a:gd name="connsiteY0" fmla="*/ 416560 h 2534920"/>
              <a:gd name="connsiteX1" fmla="*/ 416560 w 2534920"/>
              <a:gd name="connsiteY1" fmla="*/ 1267460 h 2534920"/>
              <a:gd name="connsiteX2" fmla="*/ 1267460 w 2534920"/>
              <a:gd name="connsiteY2" fmla="*/ 2118360 h 2534920"/>
              <a:gd name="connsiteX3" fmla="*/ 2118360 w 2534920"/>
              <a:gd name="connsiteY3" fmla="*/ 1267460 h 2534920"/>
              <a:gd name="connsiteX4" fmla="*/ 1267460 w 2534920"/>
              <a:gd name="connsiteY4" fmla="*/ 416560 h 2534920"/>
              <a:gd name="connsiteX5" fmla="*/ 1267460 w 2534920"/>
              <a:gd name="connsiteY5" fmla="*/ 0 h 2534920"/>
              <a:gd name="connsiteX6" fmla="*/ 2534920 w 2534920"/>
              <a:gd name="connsiteY6" fmla="*/ 1267460 h 2534920"/>
              <a:gd name="connsiteX7" fmla="*/ 1267460 w 2534920"/>
              <a:gd name="connsiteY7" fmla="*/ 2534920 h 2534920"/>
              <a:gd name="connsiteX8" fmla="*/ 0 w 2534920"/>
              <a:gd name="connsiteY8" fmla="*/ 1267460 h 2534920"/>
              <a:gd name="connsiteX9" fmla="*/ 1267460 w 2534920"/>
              <a:gd name="connsiteY9" fmla="*/ 0 h 253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4920" h="2534920">
                <a:moveTo>
                  <a:pt x="1267460" y="416560"/>
                </a:moveTo>
                <a:cubicBezTo>
                  <a:pt x="797521" y="416560"/>
                  <a:pt x="416560" y="797521"/>
                  <a:pt x="416560" y="1267460"/>
                </a:cubicBezTo>
                <a:cubicBezTo>
                  <a:pt x="416560" y="1737399"/>
                  <a:pt x="797521" y="2118360"/>
                  <a:pt x="1267460" y="2118360"/>
                </a:cubicBezTo>
                <a:cubicBezTo>
                  <a:pt x="1737399" y="2118360"/>
                  <a:pt x="2118360" y="1737399"/>
                  <a:pt x="2118360" y="1267460"/>
                </a:cubicBezTo>
                <a:cubicBezTo>
                  <a:pt x="2118360" y="797521"/>
                  <a:pt x="1737399" y="416560"/>
                  <a:pt x="1267460" y="416560"/>
                </a:cubicBezTo>
                <a:close/>
                <a:moveTo>
                  <a:pt x="1267460" y="0"/>
                </a:moveTo>
                <a:cubicBezTo>
                  <a:pt x="1967459" y="0"/>
                  <a:pt x="2534920" y="567461"/>
                  <a:pt x="2534920" y="1267460"/>
                </a:cubicBezTo>
                <a:cubicBezTo>
                  <a:pt x="2534920" y="1967459"/>
                  <a:pt x="1967459" y="2534920"/>
                  <a:pt x="1267460" y="2534920"/>
                </a:cubicBezTo>
                <a:cubicBezTo>
                  <a:pt x="567461" y="2534920"/>
                  <a:pt x="0" y="1967459"/>
                  <a:pt x="0" y="1267460"/>
                </a:cubicBezTo>
                <a:cubicBezTo>
                  <a:pt x="0" y="567461"/>
                  <a:pt x="567461" y="0"/>
                  <a:pt x="126746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solidFill>
                <a:schemeClr val="accent1"/>
              </a:solidFill>
            </a:endParaRPr>
          </a:p>
        </p:txBody>
      </p:sp>
      <p:sp>
        <p:nvSpPr>
          <p:cNvPr id="15" name="Объект 2">
            <a:extLst>
              <a:ext uri="{FF2B5EF4-FFF2-40B4-BE49-F238E27FC236}">
                <a16:creationId xmlns:a16="http://schemas.microsoft.com/office/drawing/2014/main" id="{7B877FE1-D2EF-4E9F-AC08-DACA8D5147E5}"/>
              </a:ext>
            </a:extLst>
          </p:cNvPr>
          <p:cNvSpPr>
            <a:spLocks noGrp="1"/>
          </p:cNvSpPr>
          <p:nvPr>
            <p:ph idx="16" hasCustomPrompt="1"/>
          </p:nvPr>
        </p:nvSpPr>
        <p:spPr>
          <a:xfrm>
            <a:off x="1331088" y="4916011"/>
            <a:ext cx="7870785" cy="555150"/>
          </a:xfrm>
        </p:spPr>
        <p:txBody>
          <a:bodyPr/>
          <a:lstStyle>
            <a:lvl1pPr marL="0" indent="0">
              <a:buNone/>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ru-RU" dirty="0"/>
              <a:t>Заголовок</a:t>
            </a:r>
          </a:p>
        </p:txBody>
      </p:sp>
      <p:sp>
        <p:nvSpPr>
          <p:cNvPr id="16" name="Объект 2">
            <a:extLst>
              <a:ext uri="{FF2B5EF4-FFF2-40B4-BE49-F238E27FC236}">
                <a16:creationId xmlns:a16="http://schemas.microsoft.com/office/drawing/2014/main" id="{78790F4C-C0C7-494A-ACE0-B312EAD20E82}"/>
              </a:ext>
            </a:extLst>
          </p:cNvPr>
          <p:cNvSpPr>
            <a:spLocks noGrp="1"/>
          </p:cNvSpPr>
          <p:nvPr>
            <p:ph idx="17" hasCustomPrompt="1"/>
          </p:nvPr>
        </p:nvSpPr>
        <p:spPr>
          <a:xfrm>
            <a:off x="1331087" y="5606098"/>
            <a:ext cx="7870785" cy="555150"/>
          </a:xfrm>
        </p:spPr>
        <p:txBody>
          <a:bodyPr>
            <a:normAutofit/>
          </a:bodyPr>
          <a:lstStyle>
            <a:lvl1pPr marL="0" indent="0">
              <a:buNone/>
              <a:defRPr sz="20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ru-RU" dirty="0"/>
              <a:t>Описание</a:t>
            </a:r>
          </a:p>
        </p:txBody>
      </p:sp>
      <p:sp>
        <p:nvSpPr>
          <p:cNvPr id="17" name="Полилиния: фигура 16">
            <a:extLst>
              <a:ext uri="{FF2B5EF4-FFF2-40B4-BE49-F238E27FC236}">
                <a16:creationId xmlns:a16="http://schemas.microsoft.com/office/drawing/2014/main" id="{B3DD6711-D7B6-455B-8D8A-F3380234DFE3}"/>
              </a:ext>
            </a:extLst>
          </p:cNvPr>
          <p:cNvSpPr/>
          <p:nvPr userDrawn="1"/>
        </p:nvSpPr>
        <p:spPr>
          <a:xfrm>
            <a:off x="838200" y="5014178"/>
            <a:ext cx="358815" cy="358815"/>
          </a:xfrm>
          <a:custGeom>
            <a:avLst/>
            <a:gdLst>
              <a:gd name="connsiteX0" fmla="*/ 1267460 w 2534920"/>
              <a:gd name="connsiteY0" fmla="*/ 416560 h 2534920"/>
              <a:gd name="connsiteX1" fmla="*/ 416560 w 2534920"/>
              <a:gd name="connsiteY1" fmla="*/ 1267460 h 2534920"/>
              <a:gd name="connsiteX2" fmla="*/ 1267460 w 2534920"/>
              <a:gd name="connsiteY2" fmla="*/ 2118360 h 2534920"/>
              <a:gd name="connsiteX3" fmla="*/ 2118360 w 2534920"/>
              <a:gd name="connsiteY3" fmla="*/ 1267460 h 2534920"/>
              <a:gd name="connsiteX4" fmla="*/ 1267460 w 2534920"/>
              <a:gd name="connsiteY4" fmla="*/ 416560 h 2534920"/>
              <a:gd name="connsiteX5" fmla="*/ 1267460 w 2534920"/>
              <a:gd name="connsiteY5" fmla="*/ 0 h 2534920"/>
              <a:gd name="connsiteX6" fmla="*/ 2534920 w 2534920"/>
              <a:gd name="connsiteY6" fmla="*/ 1267460 h 2534920"/>
              <a:gd name="connsiteX7" fmla="*/ 1267460 w 2534920"/>
              <a:gd name="connsiteY7" fmla="*/ 2534920 h 2534920"/>
              <a:gd name="connsiteX8" fmla="*/ 0 w 2534920"/>
              <a:gd name="connsiteY8" fmla="*/ 1267460 h 2534920"/>
              <a:gd name="connsiteX9" fmla="*/ 1267460 w 2534920"/>
              <a:gd name="connsiteY9" fmla="*/ 0 h 253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4920" h="2534920">
                <a:moveTo>
                  <a:pt x="1267460" y="416560"/>
                </a:moveTo>
                <a:cubicBezTo>
                  <a:pt x="797521" y="416560"/>
                  <a:pt x="416560" y="797521"/>
                  <a:pt x="416560" y="1267460"/>
                </a:cubicBezTo>
                <a:cubicBezTo>
                  <a:pt x="416560" y="1737399"/>
                  <a:pt x="797521" y="2118360"/>
                  <a:pt x="1267460" y="2118360"/>
                </a:cubicBezTo>
                <a:cubicBezTo>
                  <a:pt x="1737399" y="2118360"/>
                  <a:pt x="2118360" y="1737399"/>
                  <a:pt x="2118360" y="1267460"/>
                </a:cubicBezTo>
                <a:cubicBezTo>
                  <a:pt x="2118360" y="797521"/>
                  <a:pt x="1737399" y="416560"/>
                  <a:pt x="1267460" y="416560"/>
                </a:cubicBezTo>
                <a:close/>
                <a:moveTo>
                  <a:pt x="1267460" y="0"/>
                </a:moveTo>
                <a:cubicBezTo>
                  <a:pt x="1967459" y="0"/>
                  <a:pt x="2534920" y="567461"/>
                  <a:pt x="2534920" y="1267460"/>
                </a:cubicBezTo>
                <a:cubicBezTo>
                  <a:pt x="2534920" y="1967459"/>
                  <a:pt x="1967459" y="2534920"/>
                  <a:pt x="1267460" y="2534920"/>
                </a:cubicBezTo>
                <a:cubicBezTo>
                  <a:pt x="567461" y="2534920"/>
                  <a:pt x="0" y="1967459"/>
                  <a:pt x="0" y="1267460"/>
                </a:cubicBezTo>
                <a:cubicBezTo>
                  <a:pt x="0" y="567461"/>
                  <a:pt x="567461" y="0"/>
                  <a:pt x="126746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solidFill>
                <a:schemeClr val="accent1"/>
              </a:solidFill>
            </a:endParaRPr>
          </a:p>
        </p:txBody>
      </p:sp>
      <p:sp>
        <p:nvSpPr>
          <p:cNvPr id="19" name="Полилиния: фигура 18">
            <a:extLst>
              <a:ext uri="{FF2B5EF4-FFF2-40B4-BE49-F238E27FC236}">
                <a16:creationId xmlns:a16="http://schemas.microsoft.com/office/drawing/2014/main" id="{BFE3279B-9BE5-4E77-A7B6-55C97E141234}"/>
              </a:ext>
            </a:extLst>
          </p:cNvPr>
          <p:cNvSpPr/>
          <p:nvPr userDrawn="1"/>
        </p:nvSpPr>
        <p:spPr>
          <a:xfrm>
            <a:off x="9489440" y="-1499235"/>
            <a:ext cx="3728720" cy="3728720"/>
          </a:xfrm>
          <a:custGeom>
            <a:avLst/>
            <a:gdLst>
              <a:gd name="connsiteX0" fmla="*/ 1267460 w 2534920"/>
              <a:gd name="connsiteY0" fmla="*/ 416560 h 2534920"/>
              <a:gd name="connsiteX1" fmla="*/ 416560 w 2534920"/>
              <a:gd name="connsiteY1" fmla="*/ 1267460 h 2534920"/>
              <a:gd name="connsiteX2" fmla="*/ 1267460 w 2534920"/>
              <a:gd name="connsiteY2" fmla="*/ 2118360 h 2534920"/>
              <a:gd name="connsiteX3" fmla="*/ 2118360 w 2534920"/>
              <a:gd name="connsiteY3" fmla="*/ 1267460 h 2534920"/>
              <a:gd name="connsiteX4" fmla="*/ 1267460 w 2534920"/>
              <a:gd name="connsiteY4" fmla="*/ 416560 h 2534920"/>
              <a:gd name="connsiteX5" fmla="*/ 1267460 w 2534920"/>
              <a:gd name="connsiteY5" fmla="*/ 0 h 2534920"/>
              <a:gd name="connsiteX6" fmla="*/ 2534920 w 2534920"/>
              <a:gd name="connsiteY6" fmla="*/ 1267460 h 2534920"/>
              <a:gd name="connsiteX7" fmla="*/ 1267460 w 2534920"/>
              <a:gd name="connsiteY7" fmla="*/ 2534920 h 2534920"/>
              <a:gd name="connsiteX8" fmla="*/ 0 w 2534920"/>
              <a:gd name="connsiteY8" fmla="*/ 1267460 h 2534920"/>
              <a:gd name="connsiteX9" fmla="*/ 1267460 w 2534920"/>
              <a:gd name="connsiteY9" fmla="*/ 0 h 253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4920" h="2534920">
                <a:moveTo>
                  <a:pt x="1267460" y="416560"/>
                </a:moveTo>
                <a:cubicBezTo>
                  <a:pt x="797521" y="416560"/>
                  <a:pt x="416560" y="797521"/>
                  <a:pt x="416560" y="1267460"/>
                </a:cubicBezTo>
                <a:cubicBezTo>
                  <a:pt x="416560" y="1737399"/>
                  <a:pt x="797521" y="2118360"/>
                  <a:pt x="1267460" y="2118360"/>
                </a:cubicBezTo>
                <a:cubicBezTo>
                  <a:pt x="1737399" y="2118360"/>
                  <a:pt x="2118360" y="1737399"/>
                  <a:pt x="2118360" y="1267460"/>
                </a:cubicBezTo>
                <a:cubicBezTo>
                  <a:pt x="2118360" y="797521"/>
                  <a:pt x="1737399" y="416560"/>
                  <a:pt x="1267460" y="416560"/>
                </a:cubicBezTo>
                <a:close/>
                <a:moveTo>
                  <a:pt x="1267460" y="0"/>
                </a:moveTo>
                <a:cubicBezTo>
                  <a:pt x="1967459" y="0"/>
                  <a:pt x="2534920" y="567461"/>
                  <a:pt x="2534920" y="1267460"/>
                </a:cubicBezTo>
                <a:cubicBezTo>
                  <a:pt x="2534920" y="1967459"/>
                  <a:pt x="1967459" y="2534920"/>
                  <a:pt x="1267460" y="2534920"/>
                </a:cubicBezTo>
                <a:cubicBezTo>
                  <a:pt x="567461" y="2534920"/>
                  <a:pt x="0" y="1967459"/>
                  <a:pt x="0" y="1267460"/>
                </a:cubicBezTo>
                <a:cubicBezTo>
                  <a:pt x="0" y="567461"/>
                  <a:pt x="567461" y="0"/>
                  <a:pt x="126746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solidFill>
                <a:schemeClr val="accent1"/>
              </a:solidFill>
            </a:endParaRPr>
          </a:p>
        </p:txBody>
      </p:sp>
    </p:spTree>
    <p:extLst>
      <p:ext uri="{BB962C8B-B14F-4D97-AF65-F5344CB8AC3E}">
        <p14:creationId xmlns:p14="http://schemas.microsoft.com/office/powerpoint/2010/main" val="358049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Заголовок и объект">
    <p:bg>
      <p:bgPr>
        <a:solidFill>
          <a:schemeClr val="bg2"/>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7FFB97-38B4-42A7-80AE-69C69F7282D9}"/>
              </a:ext>
            </a:extLst>
          </p:cNvPr>
          <p:cNvSpPr>
            <a:spLocks noGrp="1"/>
          </p:cNvSpPr>
          <p:nvPr>
            <p:ph type="title"/>
          </p:nvPr>
        </p:nvSpPr>
        <p:spPr>
          <a:xfrm>
            <a:off x="838200" y="365125"/>
            <a:ext cx="10515600" cy="883383"/>
          </a:xfrm>
        </p:spPr>
        <p:txBody>
          <a:bodyPr>
            <a:normAutofit/>
          </a:bodyPr>
          <a:lstStyle>
            <a:lvl1pPr>
              <a:defRPr sz="3200" b="1">
                <a:solidFill>
                  <a:schemeClr val="accent1"/>
                </a:solidFill>
                <a:effectLst/>
                <a:latin typeface="Arial" panose="020B0604020202020204" pitchFamily="34" charset="0"/>
                <a:cs typeface="Arial" panose="020B0604020202020204" pitchFamily="34" charset="0"/>
              </a:defRPr>
            </a:lvl1pPr>
          </a:lstStyle>
          <a:p>
            <a:r>
              <a:rPr lang="ru-RU" dirty="0"/>
              <a:t>Образец заголовка</a:t>
            </a:r>
          </a:p>
        </p:txBody>
      </p:sp>
      <p:sp>
        <p:nvSpPr>
          <p:cNvPr id="3" name="Объект 2">
            <a:extLst>
              <a:ext uri="{FF2B5EF4-FFF2-40B4-BE49-F238E27FC236}">
                <a16:creationId xmlns:a16="http://schemas.microsoft.com/office/drawing/2014/main" id="{13230E6E-34A3-4404-8606-8589BD170677}"/>
              </a:ext>
            </a:extLst>
          </p:cNvPr>
          <p:cNvSpPr>
            <a:spLocks noGrp="1"/>
          </p:cNvSpPr>
          <p:nvPr>
            <p:ph idx="1"/>
          </p:nvPr>
        </p:nvSpPr>
        <p:spPr>
          <a:xfrm>
            <a:off x="838200" y="1362808"/>
            <a:ext cx="10515600" cy="5257800"/>
          </a:xfrm>
        </p:spPr>
        <p:txBody>
          <a:bodyPr>
            <a:normAutofit/>
          </a:bodyPr>
          <a:lstStyle>
            <a:lvl1pPr marL="0" indent="0" algn="just">
              <a:buNone/>
              <a:defRPr sz="2400">
                <a:solidFill>
                  <a:schemeClr val="accent1"/>
                </a:solidFill>
                <a:latin typeface="Arial" panose="020B0604020202020204" pitchFamily="34" charset="0"/>
                <a:cs typeface="Arial" panose="020B0604020202020204" pitchFamily="34" charset="0"/>
              </a:defRPr>
            </a:lvl1pPr>
            <a:lvl2pPr marL="457200" indent="0" algn="just">
              <a:buNone/>
              <a:defRPr>
                <a:solidFill>
                  <a:schemeClr val="accent1"/>
                </a:solidFill>
                <a:latin typeface="Arial" panose="020B0604020202020204" pitchFamily="34" charset="0"/>
                <a:cs typeface="Arial" panose="020B0604020202020204" pitchFamily="34" charset="0"/>
              </a:defRPr>
            </a:lvl2pPr>
            <a:lvl3pPr marL="914400" indent="0" algn="just">
              <a:buNone/>
              <a:defRPr>
                <a:solidFill>
                  <a:schemeClr val="accent1"/>
                </a:solidFill>
                <a:latin typeface="Arial" panose="020B0604020202020204" pitchFamily="34" charset="0"/>
                <a:cs typeface="Arial" panose="020B0604020202020204" pitchFamily="34" charset="0"/>
              </a:defRPr>
            </a:lvl3pPr>
            <a:lvl4pPr marL="1371600" indent="0" algn="just">
              <a:buNone/>
              <a:defRPr>
                <a:solidFill>
                  <a:schemeClr val="accent1"/>
                </a:solidFill>
                <a:latin typeface="Arial" panose="020B0604020202020204" pitchFamily="34" charset="0"/>
                <a:cs typeface="Arial" panose="020B0604020202020204" pitchFamily="34" charset="0"/>
              </a:defRPr>
            </a:lvl4pPr>
            <a:lvl5pPr marL="1828800" indent="0" algn="just">
              <a:buNone/>
              <a:defRPr>
                <a:solidFill>
                  <a:schemeClr val="accent1"/>
                </a:solidFill>
                <a:latin typeface="Arial" panose="020B0604020202020204" pitchFamily="34" charset="0"/>
                <a:cs typeface="Arial" panose="020B0604020202020204" pitchFamily="34" charset="0"/>
              </a:defRPr>
            </a:lvl5pPr>
          </a:lstStyle>
          <a:p>
            <a:pPr lvl="0"/>
            <a:r>
              <a:rPr lang="ru-RU" dirty="0"/>
              <a:t>Образец текста</a:t>
            </a:r>
          </a:p>
        </p:txBody>
      </p:sp>
    </p:spTree>
    <p:extLst>
      <p:ext uri="{BB962C8B-B14F-4D97-AF65-F5344CB8AC3E}">
        <p14:creationId xmlns:p14="http://schemas.microsoft.com/office/powerpoint/2010/main" val="1556503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Заголовок и объект">
    <p:bg>
      <p:bgPr>
        <a:solidFill>
          <a:schemeClr val="bg2"/>
        </a:solidFill>
        <a:effectLst/>
      </p:bgPr>
    </p:bg>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3230E6E-34A3-4404-8606-8589BD170677}"/>
              </a:ext>
            </a:extLst>
          </p:cNvPr>
          <p:cNvSpPr>
            <a:spLocks noGrp="1"/>
          </p:cNvSpPr>
          <p:nvPr>
            <p:ph idx="1"/>
          </p:nvPr>
        </p:nvSpPr>
        <p:spPr>
          <a:xfrm>
            <a:off x="838200" y="430822"/>
            <a:ext cx="10515600" cy="6189785"/>
          </a:xfrm>
        </p:spPr>
        <p:txBody>
          <a:bodyPr>
            <a:normAutofit/>
          </a:bodyPr>
          <a:lstStyle>
            <a:lvl1pPr marL="0" indent="0" algn="just">
              <a:buNone/>
              <a:defRPr sz="2400">
                <a:solidFill>
                  <a:schemeClr val="accent1"/>
                </a:solidFill>
                <a:latin typeface="Arial" panose="020B0604020202020204" pitchFamily="34" charset="0"/>
                <a:cs typeface="Arial" panose="020B0604020202020204" pitchFamily="34" charset="0"/>
              </a:defRPr>
            </a:lvl1pPr>
            <a:lvl2pPr marL="457200" indent="0" algn="just">
              <a:buNone/>
              <a:defRPr>
                <a:solidFill>
                  <a:schemeClr val="accent1"/>
                </a:solidFill>
                <a:latin typeface="Arial" panose="020B0604020202020204" pitchFamily="34" charset="0"/>
                <a:cs typeface="Arial" panose="020B0604020202020204" pitchFamily="34" charset="0"/>
              </a:defRPr>
            </a:lvl2pPr>
            <a:lvl3pPr marL="914400" indent="0" algn="just">
              <a:buNone/>
              <a:defRPr>
                <a:solidFill>
                  <a:schemeClr val="accent1"/>
                </a:solidFill>
                <a:latin typeface="Arial" panose="020B0604020202020204" pitchFamily="34" charset="0"/>
                <a:cs typeface="Arial" panose="020B0604020202020204" pitchFamily="34" charset="0"/>
              </a:defRPr>
            </a:lvl3pPr>
            <a:lvl4pPr marL="1371600" indent="0" algn="just">
              <a:buNone/>
              <a:defRPr>
                <a:solidFill>
                  <a:schemeClr val="accent1"/>
                </a:solidFill>
                <a:latin typeface="Arial" panose="020B0604020202020204" pitchFamily="34" charset="0"/>
                <a:cs typeface="Arial" panose="020B0604020202020204" pitchFamily="34" charset="0"/>
              </a:defRPr>
            </a:lvl4pPr>
            <a:lvl5pPr marL="1828800" indent="0" algn="just">
              <a:buNone/>
              <a:defRPr>
                <a:solidFill>
                  <a:schemeClr val="accent1"/>
                </a:solidFill>
                <a:latin typeface="Arial" panose="020B0604020202020204" pitchFamily="34" charset="0"/>
                <a:cs typeface="Arial" panose="020B0604020202020204" pitchFamily="34" charset="0"/>
              </a:defRPr>
            </a:lvl5pPr>
          </a:lstStyle>
          <a:p>
            <a:pPr lvl="0"/>
            <a:r>
              <a:rPr lang="ru-RU" dirty="0"/>
              <a:t>Образец текста</a:t>
            </a:r>
          </a:p>
        </p:txBody>
      </p:sp>
    </p:spTree>
    <p:extLst>
      <p:ext uri="{BB962C8B-B14F-4D97-AF65-F5344CB8AC3E}">
        <p14:creationId xmlns:p14="http://schemas.microsoft.com/office/powerpoint/2010/main" val="1545309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AFC2F1-B382-4B54-9A9F-910235201709}"/>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008882E1-F531-4863-8725-4DFFB1D93C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2542041-3F17-4A54-9CFD-5CC89C8883B5}"/>
              </a:ext>
            </a:extLst>
          </p:cNvPr>
          <p:cNvSpPr>
            <a:spLocks noGrp="1"/>
          </p:cNvSpPr>
          <p:nvPr>
            <p:ph type="dt" sz="half" idx="10"/>
          </p:nvPr>
        </p:nvSpPr>
        <p:spPr/>
        <p:txBody>
          <a:bodyPr/>
          <a:lstStyle/>
          <a:p>
            <a:fld id="{66F6873F-BC63-4C77-8C1F-6337C0BA4F5E}" type="datetimeFigureOut">
              <a:rPr lang="ru-RU" smtClean="0"/>
              <a:t>25.11.2025</a:t>
            </a:fld>
            <a:endParaRPr lang="ru-RU"/>
          </a:p>
        </p:txBody>
      </p:sp>
      <p:sp>
        <p:nvSpPr>
          <p:cNvPr id="5" name="Нижний колонтитул 4">
            <a:extLst>
              <a:ext uri="{FF2B5EF4-FFF2-40B4-BE49-F238E27FC236}">
                <a16:creationId xmlns:a16="http://schemas.microsoft.com/office/drawing/2014/main" id="{433D8362-ABA0-448B-9472-8CE304126B9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412121C-8D9C-473B-9CAA-041E14CE3AD6}"/>
              </a:ext>
            </a:extLst>
          </p:cNvPr>
          <p:cNvSpPr>
            <a:spLocks noGrp="1"/>
          </p:cNvSpPr>
          <p:nvPr>
            <p:ph type="sldNum" sz="quarter" idx="12"/>
          </p:nvPr>
        </p:nvSpPr>
        <p:spPr/>
        <p:txBody>
          <a:bodyPr/>
          <a:lstStyle/>
          <a:p>
            <a:fld id="{A932D385-1C5C-4B8C-A1C5-1E6FA26AB176}" type="slidenum">
              <a:rPr lang="ru-RU" smtClean="0"/>
              <a:t>‹#›</a:t>
            </a:fld>
            <a:endParaRPr lang="ru-RU"/>
          </a:p>
        </p:txBody>
      </p:sp>
    </p:spTree>
    <p:extLst>
      <p:ext uri="{BB962C8B-B14F-4D97-AF65-F5344CB8AC3E}">
        <p14:creationId xmlns:p14="http://schemas.microsoft.com/office/powerpoint/2010/main" val="139250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FD5AC9-D947-4E91-8E54-564E619CCFA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A1BC3E08-A33C-41B0-9FF8-A48D661D3276}"/>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0A563770-7BF6-4230-8BC5-AB14818DC768}"/>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5F4B284D-4A4E-43FE-BC90-E29166BB4682}"/>
              </a:ext>
            </a:extLst>
          </p:cNvPr>
          <p:cNvSpPr>
            <a:spLocks noGrp="1"/>
          </p:cNvSpPr>
          <p:nvPr>
            <p:ph type="dt" sz="half" idx="10"/>
          </p:nvPr>
        </p:nvSpPr>
        <p:spPr/>
        <p:txBody>
          <a:bodyPr/>
          <a:lstStyle/>
          <a:p>
            <a:fld id="{66F6873F-BC63-4C77-8C1F-6337C0BA4F5E}" type="datetimeFigureOut">
              <a:rPr lang="ru-RU" smtClean="0"/>
              <a:t>25.11.2025</a:t>
            </a:fld>
            <a:endParaRPr lang="ru-RU"/>
          </a:p>
        </p:txBody>
      </p:sp>
      <p:sp>
        <p:nvSpPr>
          <p:cNvPr id="6" name="Нижний колонтитул 5">
            <a:extLst>
              <a:ext uri="{FF2B5EF4-FFF2-40B4-BE49-F238E27FC236}">
                <a16:creationId xmlns:a16="http://schemas.microsoft.com/office/drawing/2014/main" id="{71D419C2-0DDE-45ED-A6BB-A7CF0C6F9D5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F8D6DE2-C0F1-4631-8D1B-61DD10E73AD2}"/>
              </a:ext>
            </a:extLst>
          </p:cNvPr>
          <p:cNvSpPr>
            <a:spLocks noGrp="1"/>
          </p:cNvSpPr>
          <p:nvPr>
            <p:ph type="sldNum" sz="quarter" idx="12"/>
          </p:nvPr>
        </p:nvSpPr>
        <p:spPr/>
        <p:txBody>
          <a:bodyPr/>
          <a:lstStyle/>
          <a:p>
            <a:fld id="{A932D385-1C5C-4B8C-A1C5-1E6FA26AB176}" type="slidenum">
              <a:rPr lang="ru-RU" smtClean="0"/>
              <a:t>‹#›</a:t>
            </a:fld>
            <a:endParaRPr lang="ru-RU"/>
          </a:p>
        </p:txBody>
      </p:sp>
    </p:spTree>
    <p:extLst>
      <p:ext uri="{BB962C8B-B14F-4D97-AF65-F5344CB8AC3E}">
        <p14:creationId xmlns:p14="http://schemas.microsoft.com/office/powerpoint/2010/main" val="59701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5F1CD0-71F9-4ED3-890F-20F3C6211E2B}"/>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BDFEAC71-3741-4F27-877E-AC8E2B1CC5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20C1B9D-7DA5-4D32-81AA-D58CAF37C69D}"/>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9445751E-43C2-4B2E-91C9-868F84D3E4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506CFF53-F322-41AA-9E85-224959B71B3F}"/>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8524C7FE-288B-4A4F-A747-871045CD491B}"/>
              </a:ext>
            </a:extLst>
          </p:cNvPr>
          <p:cNvSpPr>
            <a:spLocks noGrp="1"/>
          </p:cNvSpPr>
          <p:nvPr>
            <p:ph type="dt" sz="half" idx="10"/>
          </p:nvPr>
        </p:nvSpPr>
        <p:spPr/>
        <p:txBody>
          <a:bodyPr/>
          <a:lstStyle/>
          <a:p>
            <a:fld id="{66F6873F-BC63-4C77-8C1F-6337C0BA4F5E}" type="datetimeFigureOut">
              <a:rPr lang="ru-RU" smtClean="0"/>
              <a:t>25.11.2025</a:t>
            </a:fld>
            <a:endParaRPr lang="ru-RU"/>
          </a:p>
        </p:txBody>
      </p:sp>
      <p:sp>
        <p:nvSpPr>
          <p:cNvPr id="8" name="Нижний колонтитул 7">
            <a:extLst>
              <a:ext uri="{FF2B5EF4-FFF2-40B4-BE49-F238E27FC236}">
                <a16:creationId xmlns:a16="http://schemas.microsoft.com/office/drawing/2014/main" id="{A53F8A51-9E24-4CD8-9A95-89D90C66986D}"/>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A629EE09-F27C-4D57-8664-E5E7CB804CEA}"/>
              </a:ext>
            </a:extLst>
          </p:cNvPr>
          <p:cNvSpPr>
            <a:spLocks noGrp="1"/>
          </p:cNvSpPr>
          <p:nvPr>
            <p:ph type="sldNum" sz="quarter" idx="12"/>
          </p:nvPr>
        </p:nvSpPr>
        <p:spPr/>
        <p:txBody>
          <a:bodyPr/>
          <a:lstStyle/>
          <a:p>
            <a:fld id="{A932D385-1C5C-4B8C-A1C5-1E6FA26AB176}" type="slidenum">
              <a:rPr lang="ru-RU" smtClean="0"/>
              <a:t>‹#›</a:t>
            </a:fld>
            <a:endParaRPr lang="ru-RU"/>
          </a:p>
        </p:txBody>
      </p:sp>
    </p:spTree>
    <p:extLst>
      <p:ext uri="{BB962C8B-B14F-4D97-AF65-F5344CB8AC3E}">
        <p14:creationId xmlns:p14="http://schemas.microsoft.com/office/powerpoint/2010/main" val="1159297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EF0AC8-9D6A-48CD-9E4D-7A12D1C84B63}"/>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473AF8AA-A3DF-45CE-90B8-A257BB2E7EA6}"/>
              </a:ext>
            </a:extLst>
          </p:cNvPr>
          <p:cNvSpPr>
            <a:spLocks noGrp="1"/>
          </p:cNvSpPr>
          <p:nvPr>
            <p:ph type="dt" sz="half" idx="10"/>
          </p:nvPr>
        </p:nvSpPr>
        <p:spPr/>
        <p:txBody>
          <a:bodyPr/>
          <a:lstStyle/>
          <a:p>
            <a:fld id="{66F6873F-BC63-4C77-8C1F-6337C0BA4F5E}" type="datetimeFigureOut">
              <a:rPr lang="ru-RU" smtClean="0"/>
              <a:t>25.11.2025</a:t>
            </a:fld>
            <a:endParaRPr lang="ru-RU"/>
          </a:p>
        </p:txBody>
      </p:sp>
      <p:sp>
        <p:nvSpPr>
          <p:cNvPr id="4" name="Нижний колонтитул 3">
            <a:extLst>
              <a:ext uri="{FF2B5EF4-FFF2-40B4-BE49-F238E27FC236}">
                <a16:creationId xmlns:a16="http://schemas.microsoft.com/office/drawing/2014/main" id="{7DF56705-7C94-4DCD-BF06-8BF6906E71D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CF7DF18-617E-48F0-9074-B7506BDF8099}"/>
              </a:ext>
            </a:extLst>
          </p:cNvPr>
          <p:cNvSpPr>
            <a:spLocks noGrp="1"/>
          </p:cNvSpPr>
          <p:nvPr>
            <p:ph type="sldNum" sz="quarter" idx="12"/>
          </p:nvPr>
        </p:nvSpPr>
        <p:spPr/>
        <p:txBody>
          <a:bodyPr/>
          <a:lstStyle/>
          <a:p>
            <a:fld id="{A932D385-1C5C-4B8C-A1C5-1E6FA26AB176}" type="slidenum">
              <a:rPr lang="ru-RU" smtClean="0"/>
              <a:t>‹#›</a:t>
            </a:fld>
            <a:endParaRPr lang="ru-RU"/>
          </a:p>
        </p:txBody>
      </p:sp>
    </p:spTree>
    <p:extLst>
      <p:ext uri="{BB962C8B-B14F-4D97-AF65-F5344CB8AC3E}">
        <p14:creationId xmlns:p14="http://schemas.microsoft.com/office/powerpoint/2010/main" val="23596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Пустой слайд">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7354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0F69B2-4FAE-42A4-BBC5-8BF096DE816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0FCD1947-0CD2-42BD-BFD1-5C44166184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A0CDABD2-BF7A-4C8F-8B16-EA52A5F148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E72B473-E977-441B-A8EB-3301D765AFA1}"/>
              </a:ext>
            </a:extLst>
          </p:cNvPr>
          <p:cNvSpPr>
            <a:spLocks noGrp="1"/>
          </p:cNvSpPr>
          <p:nvPr>
            <p:ph type="dt" sz="half" idx="10"/>
          </p:nvPr>
        </p:nvSpPr>
        <p:spPr/>
        <p:txBody>
          <a:bodyPr/>
          <a:lstStyle/>
          <a:p>
            <a:fld id="{66F6873F-BC63-4C77-8C1F-6337C0BA4F5E}" type="datetimeFigureOut">
              <a:rPr lang="ru-RU" smtClean="0"/>
              <a:t>25.11.2025</a:t>
            </a:fld>
            <a:endParaRPr lang="ru-RU"/>
          </a:p>
        </p:txBody>
      </p:sp>
      <p:sp>
        <p:nvSpPr>
          <p:cNvPr id="6" name="Нижний колонтитул 5">
            <a:extLst>
              <a:ext uri="{FF2B5EF4-FFF2-40B4-BE49-F238E27FC236}">
                <a16:creationId xmlns:a16="http://schemas.microsoft.com/office/drawing/2014/main" id="{EC7E1CEE-3915-4259-A6A7-D1B01B39668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EEB3D31-7ACD-4C98-9D8E-2BDDE7B0A2B2}"/>
              </a:ext>
            </a:extLst>
          </p:cNvPr>
          <p:cNvSpPr>
            <a:spLocks noGrp="1"/>
          </p:cNvSpPr>
          <p:nvPr>
            <p:ph type="sldNum" sz="quarter" idx="12"/>
          </p:nvPr>
        </p:nvSpPr>
        <p:spPr/>
        <p:txBody>
          <a:bodyPr/>
          <a:lstStyle/>
          <a:p>
            <a:fld id="{A932D385-1C5C-4B8C-A1C5-1E6FA26AB176}" type="slidenum">
              <a:rPr lang="ru-RU" smtClean="0"/>
              <a:t>‹#›</a:t>
            </a:fld>
            <a:endParaRPr lang="ru-RU"/>
          </a:p>
        </p:txBody>
      </p:sp>
    </p:spTree>
    <p:extLst>
      <p:ext uri="{BB962C8B-B14F-4D97-AF65-F5344CB8AC3E}">
        <p14:creationId xmlns:p14="http://schemas.microsoft.com/office/powerpoint/2010/main" val="2143233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405F6B-C902-4B3E-9912-C6E442B658D8}"/>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97BC53AF-8425-4939-91AE-F683272D0D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7A02FBB3-E12C-46E0-9C0A-AECE9178D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D6AFC505-F1A6-46C8-AAC8-934BC95DC392}"/>
              </a:ext>
            </a:extLst>
          </p:cNvPr>
          <p:cNvSpPr>
            <a:spLocks noGrp="1"/>
          </p:cNvSpPr>
          <p:nvPr>
            <p:ph type="dt" sz="half" idx="10"/>
          </p:nvPr>
        </p:nvSpPr>
        <p:spPr/>
        <p:txBody>
          <a:bodyPr/>
          <a:lstStyle/>
          <a:p>
            <a:fld id="{66F6873F-BC63-4C77-8C1F-6337C0BA4F5E}" type="datetimeFigureOut">
              <a:rPr lang="ru-RU" smtClean="0"/>
              <a:t>25.11.2025</a:t>
            </a:fld>
            <a:endParaRPr lang="ru-RU"/>
          </a:p>
        </p:txBody>
      </p:sp>
      <p:sp>
        <p:nvSpPr>
          <p:cNvPr id="6" name="Нижний колонтитул 5">
            <a:extLst>
              <a:ext uri="{FF2B5EF4-FFF2-40B4-BE49-F238E27FC236}">
                <a16:creationId xmlns:a16="http://schemas.microsoft.com/office/drawing/2014/main" id="{D50E9474-4172-432C-832B-FEC719D7702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FF9343C-F37B-47D0-875B-2AF377328569}"/>
              </a:ext>
            </a:extLst>
          </p:cNvPr>
          <p:cNvSpPr>
            <a:spLocks noGrp="1"/>
          </p:cNvSpPr>
          <p:nvPr>
            <p:ph type="sldNum" sz="quarter" idx="12"/>
          </p:nvPr>
        </p:nvSpPr>
        <p:spPr/>
        <p:txBody>
          <a:bodyPr/>
          <a:lstStyle/>
          <a:p>
            <a:fld id="{A932D385-1C5C-4B8C-A1C5-1E6FA26AB176}" type="slidenum">
              <a:rPr lang="ru-RU" smtClean="0"/>
              <a:t>‹#›</a:t>
            </a:fld>
            <a:endParaRPr lang="ru-RU"/>
          </a:p>
        </p:txBody>
      </p:sp>
    </p:spTree>
    <p:extLst>
      <p:ext uri="{BB962C8B-B14F-4D97-AF65-F5344CB8AC3E}">
        <p14:creationId xmlns:p14="http://schemas.microsoft.com/office/powerpoint/2010/main" val="1179473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A3A611-4217-496F-A970-40D336B59983}"/>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BA99D7E-740A-449C-B04F-6390E5DB211B}"/>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4607AD3-B579-44BB-B354-6F0449D5A0D3}"/>
              </a:ext>
            </a:extLst>
          </p:cNvPr>
          <p:cNvSpPr>
            <a:spLocks noGrp="1"/>
          </p:cNvSpPr>
          <p:nvPr>
            <p:ph type="dt" sz="half" idx="10"/>
          </p:nvPr>
        </p:nvSpPr>
        <p:spPr/>
        <p:txBody>
          <a:bodyPr/>
          <a:lstStyle/>
          <a:p>
            <a:fld id="{66F6873F-BC63-4C77-8C1F-6337C0BA4F5E}" type="datetimeFigureOut">
              <a:rPr lang="ru-RU" smtClean="0"/>
              <a:t>25.11.2025</a:t>
            </a:fld>
            <a:endParaRPr lang="ru-RU"/>
          </a:p>
        </p:txBody>
      </p:sp>
      <p:sp>
        <p:nvSpPr>
          <p:cNvPr id="5" name="Нижний колонтитул 4">
            <a:extLst>
              <a:ext uri="{FF2B5EF4-FFF2-40B4-BE49-F238E27FC236}">
                <a16:creationId xmlns:a16="http://schemas.microsoft.com/office/drawing/2014/main" id="{AABF37B6-1BF7-43A4-81B9-1EFFAFF2C2C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F56BAB7-98C3-43DF-A563-53F5C2CD65B7}"/>
              </a:ext>
            </a:extLst>
          </p:cNvPr>
          <p:cNvSpPr>
            <a:spLocks noGrp="1"/>
          </p:cNvSpPr>
          <p:nvPr>
            <p:ph type="sldNum" sz="quarter" idx="12"/>
          </p:nvPr>
        </p:nvSpPr>
        <p:spPr/>
        <p:txBody>
          <a:bodyPr/>
          <a:lstStyle/>
          <a:p>
            <a:fld id="{A932D385-1C5C-4B8C-A1C5-1E6FA26AB176}" type="slidenum">
              <a:rPr lang="ru-RU" smtClean="0"/>
              <a:t>‹#›</a:t>
            </a:fld>
            <a:endParaRPr lang="ru-RU"/>
          </a:p>
        </p:txBody>
      </p:sp>
    </p:spTree>
    <p:extLst>
      <p:ext uri="{BB962C8B-B14F-4D97-AF65-F5344CB8AC3E}">
        <p14:creationId xmlns:p14="http://schemas.microsoft.com/office/powerpoint/2010/main" val="23537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57C772B-141C-4727-B105-B525D7504E44}"/>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53AF9FFA-49AD-4472-B85D-6ACC9C4B27D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EAE0885-5569-4FF3-8865-96B5AEB0CA0B}"/>
              </a:ext>
            </a:extLst>
          </p:cNvPr>
          <p:cNvSpPr>
            <a:spLocks noGrp="1"/>
          </p:cNvSpPr>
          <p:nvPr>
            <p:ph type="dt" sz="half" idx="10"/>
          </p:nvPr>
        </p:nvSpPr>
        <p:spPr/>
        <p:txBody>
          <a:bodyPr/>
          <a:lstStyle/>
          <a:p>
            <a:fld id="{66F6873F-BC63-4C77-8C1F-6337C0BA4F5E}" type="datetimeFigureOut">
              <a:rPr lang="ru-RU" smtClean="0"/>
              <a:t>25.11.2025</a:t>
            </a:fld>
            <a:endParaRPr lang="ru-RU"/>
          </a:p>
        </p:txBody>
      </p:sp>
      <p:sp>
        <p:nvSpPr>
          <p:cNvPr id="5" name="Нижний колонтитул 4">
            <a:extLst>
              <a:ext uri="{FF2B5EF4-FFF2-40B4-BE49-F238E27FC236}">
                <a16:creationId xmlns:a16="http://schemas.microsoft.com/office/drawing/2014/main" id="{2421D7BD-2437-400A-B0D7-8AFEDE15881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605A581-BC3B-448C-8E3E-BD317415A6D6}"/>
              </a:ext>
            </a:extLst>
          </p:cNvPr>
          <p:cNvSpPr>
            <a:spLocks noGrp="1"/>
          </p:cNvSpPr>
          <p:nvPr>
            <p:ph type="sldNum" sz="quarter" idx="12"/>
          </p:nvPr>
        </p:nvSpPr>
        <p:spPr/>
        <p:txBody>
          <a:bodyPr/>
          <a:lstStyle/>
          <a:p>
            <a:fld id="{A932D385-1C5C-4B8C-A1C5-1E6FA26AB176}" type="slidenum">
              <a:rPr lang="ru-RU" smtClean="0"/>
              <a:t>‹#›</a:t>
            </a:fld>
            <a:endParaRPr lang="ru-RU"/>
          </a:p>
        </p:txBody>
      </p:sp>
    </p:spTree>
    <p:extLst>
      <p:ext uri="{BB962C8B-B14F-4D97-AF65-F5344CB8AC3E}">
        <p14:creationId xmlns:p14="http://schemas.microsoft.com/office/powerpoint/2010/main" val="1499407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hyperlink" Target="https://presentation-creation.ru/" TargetMode="Externa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8E9284-BDA4-45F8-A54F-94F6151AAF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142D6D37-E80C-4087-8866-D624C739E2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2A1800B-2E1A-4303-9892-AB08F80EA6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F6873F-BC63-4C77-8C1F-6337C0BA4F5E}" type="datetimeFigureOut">
              <a:rPr lang="ru-RU" smtClean="0"/>
              <a:t>25.11.2025</a:t>
            </a:fld>
            <a:endParaRPr lang="ru-RU"/>
          </a:p>
        </p:txBody>
      </p:sp>
      <p:sp>
        <p:nvSpPr>
          <p:cNvPr id="5" name="Нижний колонтитул 4">
            <a:extLst>
              <a:ext uri="{FF2B5EF4-FFF2-40B4-BE49-F238E27FC236}">
                <a16:creationId xmlns:a16="http://schemas.microsoft.com/office/drawing/2014/main" id="{F5BC04A6-2998-40EB-BF13-94B54C7ADB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75CE2691-9DFE-40D1-8BB1-8DFF491DA3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32D385-1C5C-4B8C-A1C5-1E6FA26AB176}" type="slidenum">
              <a:rPr lang="ru-RU" smtClean="0"/>
              <a:t>‹#›</a:t>
            </a:fld>
            <a:endParaRPr lang="ru-RU"/>
          </a:p>
        </p:txBody>
      </p:sp>
      <p:pic>
        <p:nvPicPr>
          <p:cNvPr id="7" name="Рисунок 6">
            <a:hlinkClick r:id="rId17"/>
            <a:extLst>
              <a:ext uri="{FF2B5EF4-FFF2-40B4-BE49-F238E27FC236}">
                <a16:creationId xmlns:a16="http://schemas.microsoft.com/office/drawing/2014/main" id="{1847D26E-390E-4229-B0D7-62066CD41BE0}"/>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3342808" y="-639945"/>
            <a:ext cx="757762" cy="757762"/>
          </a:xfrm>
          <a:prstGeom prst="rect">
            <a:avLst/>
          </a:prstGeom>
        </p:spPr>
      </p:pic>
    </p:spTree>
    <p:extLst>
      <p:ext uri="{BB962C8B-B14F-4D97-AF65-F5344CB8AC3E}">
        <p14:creationId xmlns:p14="http://schemas.microsoft.com/office/powerpoint/2010/main" val="3882161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60" r:id="rId4"/>
    <p:sldLayoutId id="2147483661" r:id="rId5"/>
    <p:sldLayoutId id="2147483663"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hyperlink" Target="https://presentation-creation.ru/"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hyperlink" Target="https://ru.wikipedia.org/wiki/%D0%9C%D0%BE%D0%B4%D0%B5%D0%BB%D1%8C_%D0%B4%D0%B0%D0%BD%D0%BD%D1%8B%D1%85"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3" Type="http://schemas.openxmlformats.org/officeDocument/2006/relationships/hyperlink" Target="https://ru.wikipedia.org/wiki/%D0%A4%D1%83%D0%BD%D0%BA%D1%86%D0%B8%D0%BE%D0%BD%D0%B0%D0%BB%D1%8C%D0%BD%D0%B0%D1%8F_%D0%B7%D0%B0%D0%B2%D0%B8%D1%81%D0%B8%D0%BC%D0%BE%D1%81%D1%82%D1%8C_(%D0%BF%D1%80%D0%BE%D0%B3%D1%80%D0%B0%D0%BC%D0%BC%D0%B8%D1%80%D0%BE%D0%B2%D0%B0%D0%BD%D0%B8%D0%B5)" TargetMode="External"/><Relationship Id="rId2" Type="http://schemas.openxmlformats.org/officeDocument/2006/relationships/hyperlink" Target="https://ru.wikipedia.org/wiki/%D0%9F%D0%B5%D1%80%D0%B2%D0%B0%D1%8F_%D0%BD%D0%BE%D1%80%D0%BC%D0%B0%D0%BB%D1%8C%D0%BD%D0%B0%D1%8F_%D1%84%D0%BE%D1%80%D0%BC%D0%B0" TargetMode="External"/><Relationship Id="rId1" Type="http://schemas.openxmlformats.org/officeDocument/2006/relationships/slideLayout" Target="../slideLayouts/slideLayout5.xml"/><Relationship Id="rId5" Type="http://schemas.openxmlformats.org/officeDocument/2006/relationships/hyperlink" Target="https://ru.wikipedia.org/wiki/%D0%92%D1%82%D0%BE%D1%80%D0%B0%D1%8F_%D0%BD%D0%BE%D1%80%D0%BC%D0%B0%D0%BB%D1%8C%D0%BD%D0%B0%D1%8F_%D1%84%D0%BE%D1%80%D0%BC%D0%B0#cite_note-Date-1" TargetMode="External"/><Relationship Id="rId4" Type="http://schemas.openxmlformats.org/officeDocument/2006/relationships/hyperlink" Target="https://ru.wikipedia.org/wiki/%D0%9F%D0%BE%D1%82%D0%B5%D0%BD%D1%86%D0%B8%D0%B0%D0%BB%D1%8C%D0%BD%D1%8B%D0%B9_%D0%BA%D0%BB%D1%8E%D1%87" TargetMode="External"/></Relationships>
</file>

<file path=ppt/slides/_rels/slide10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106.xml.rels><?xml version="1.0" encoding="UTF-8" standalone="yes"?>
<Relationships xmlns="http://schemas.openxmlformats.org/package/2006/relationships"><Relationship Id="rId3" Type="http://schemas.openxmlformats.org/officeDocument/2006/relationships/hyperlink" Target="https://ru.wikipedia.org/wiki/%D0%A4%D1%83%D0%BD%D0%BA%D1%86%D0%B8%D0%BE%D0%BD%D0%B0%D0%BB%D1%8C%D0%BD%D0%B0%D1%8F_%D0%B7%D0%B0%D0%B2%D0%B8%D1%81%D0%B8%D0%BC%D0%BE%D1%81%D1%82%D1%8C_(%D0%BF%D1%80%D0%BE%D0%B3%D1%80%D0%B0%D0%BC%D0%BC%D0%B8%D1%80%D0%BE%D0%B2%D0%B0%D0%BD%D0%B8%D0%B5)" TargetMode="External"/><Relationship Id="rId2" Type="http://schemas.openxmlformats.org/officeDocument/2006/relationships/hyperlink" Target="https://ru.wikipedia.org/wiki/%D0%92%D1%82%D0%BE%D1%80%D0%B0%D1%8F_%D0%BD%D0%BE%D1%80%D0%BC%D0%B0%D0%BB%D1%8C%D0%BD%D0%B0%D1%8F_%D1%84%D0%BE%D1%80%D0%BC%D0%B0" TargetMode="External"/><Relationship Id="rId1" Type="http://schemas.openxmlformats.org/officeDocument/2006/relationships/slideLayout" Target="../slideLayouts/slideLayout5.xml"/><Relationship Id="rId4" Type="http://schemas.openxmlformats.org/officeDocument/2006/relationships/hyperlink" Target="https://ru.wikipedia.org/wiki/%D0%9F%D0%BE%D1%82%D0%B5%D0%BD%D1%86%D0%B8%D0%B0%D0%BB%D1%8C%D0%BD%D1%8B%D0%B9_%D0%BA%D0%BB%D1%8E%D1%87" TargetMode="External"/></Relationships>
</file>

<file path=ppt/slides/_rels/slide10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08.xml.rels><?xml version="1.0" encoding="UTF-8" standalone="yes"?>
<Relationships xmlns="http://schemas.openxmlformats.org/package/2006/relationships"><Relationship Id="rId3" Type="http://schemas.openxmlformats.org/officeDocument/2006/relationships/hyperlink" Target="https://ru.wikipedia.org/wiki/%D0%A2%D0%BE%D0%B3%D0%B4%D0%B0_%D0%B8_%D1%82%D0%BE%D0%BB%D1%8C%D0%BA%D0%BE_%D1%82%D0%BE%D0%B3%D0%B4%D0%B0" TargetMode="External"/><Relationship Id="rId2" Type="http://schemas.openxmlformats.org/officeDocument/2006/relationships/hyperlink" Target="https://ru.wikipedia.org/wiki/%D0%A2%D1%80%D0%B5%D1%82%D1%8C%D1%8F_%D0%BD%D0%BE%D1%80%D0%BC%D0%B0%D0%BB%D1%8C%D0%BD%D0%B0%D1%8F_%D1%84%D0%BE%D1%80%D0%BC%D0%B0" TargetMode="External"/><Relationship Id="rId1" Type="http://schemas.openxmlformats.org/officeDocument/2006/relationships/slideLayout" Target="../slideLayouts/slideLayout5.xml"/><Relationship Id="rId4" Type="http://schemas.openxmlformats.org/officeDocument/2006/relationships/hyperlink" Target="https://ru.wikipedia.org/wiki/%D0%9F%D0%BE%D1%82%D0%B5%D0%BD%D1%86%D0%B8%D0%B0%D0%BB%D1%8C%D0%BD%D1%8B%D0%B9_%D0%BA%D0%BB%D1%8E%D1%87" TargetMode="External"/></Relationships>
</file>

<file path=ppt/slides/_rels/slide10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1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12.xml.rels><?xml version="1.0" encoding="UTF-8" standalone="yes"?>
<Relationships xmlns="http://schemas.openxmlformats.org/package/2006/relationships"><Relationship Id="rId3" Type="http://schemas.openxmlformats.org/officeDocument/2006/relationships/hyperlink" Target="https://ru.wikipedia.org/wiki/%D0%9C%D0%BD%D0%BE%D0%B3%D0%BE%D0%B7%D0%BD%D0%B0%D1%87%D0%BD%D0%B0%D1%8F_%D0%B7%D0%B0%D0%B2%D0%B8%D1%81%D0%B8%D0%BC%D0%BE%D1%81%D1%82%D1%8C" TargetMode="External"/><Relationship Id="rId2" Type="http://schemas.openxmlformats.org/officeDocument/2006/relationships/hyperlink" Target="https://ru.wikipedia.org/wiki/BCNF" TargetMode="External"/><Relationship Id="rId1" Type="http://schemas.openxmlformats.org/officeDocument/2006/relationships/slideLayout" Target="../slideLayouts/slideLayout5.xml"/><Relationship Id="rId5" Type="http://schemas.openxmlformats.org/officeDocument/2006/relationships/hyperlink" Target="https://ru.wikipedia.org/wiki/%D0%9F%D0%BE%D1%82%D0%B5%D0%BD%D1%86%D0%B8%D0%B0%D0%BB%D1%8C%D0%BD%D1%8B%D0%B9_%D0%BA%D0%BB%D1%8E%D1%87" TargetMode="External"/><Relationship Id="rId4" Type="http://schemas.openxmlformats.org/officeDocument/2006/relationships/hyperlink" Target="https://ru.wikipedia.org/wiki/%D0%A4%D1%83%D0%BD%D0%BA%D1%86%D0%B8%D0%BE%D0%BD%D0%B0%D0%BB%D1%8C%D0%BD%D0%B0%D1%8F_%D0%B7%D0%B0%D0%B2%D0%B8%D1%81%D0%B8%D0%BC%D0%BE%D1%81%D1%82%D1%8C_(%D0%BF%D1%80%D0%BE%D0%B3%D1%80%D0%B0%D0%BC%D0%BC%D0%B8%D1%80%D0%BE%D0%B2%D0%B0%D0%BD%D0%B8%D0%B5)" TargetMode="External"/></Relationships>
</file>

<file path=ppt/slides/_rels/slide1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1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1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1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119.xml.rels><?xml version="1.0" encoding="UTF-8" standalone="yes"?>
<Relationships xmlns="http://schemas.openxmlformats.org/package/2006/relationships"><Relationship Id="rId3" Type="http://schemas.openxmlformats.org/officeDocument/2006/relationships/hyperlink" Target="https://ru.wikipedia.org/wiki/%D0%9F%D1%8F%D1%82%D0%B0%D1%8F_%D0%BD%D0%BE%D1%80%D0%BC%D0%B0%D0%BB%D1%8C%D0%BD%D0%B0%D1%8F_%D1%84%D0%BE%D1%80%D0%BC%D0%B0#%D0%94%D0%B5%D0%BA%D0%BE%D0%BC%D0%BF%D0%BE%D0%B7%D0%B8%D1%86%D0%B8%D1%8F_%D0%B1%D0%B5%D0%B7_%D0%BF%D0%BE%D1%82%D0%B5%D1%80%D1%8C" TargetMode="External"/><Relationship Id="rId2" Type="http://schemas.openxmlformats.org/officeDocument/2006/relationships/hyperlink" Target="https://ru.wikipedia.org/wiki/%D0%A2%D0%BE%D0%B3%D0%B4%D0%B0_%D0%B8_%D1%82%D0%BE%D0%BB%D1%8C%D0%BA%D0%BE_%D1%82%D0%BE%D0%B3%D0%B4%D0%B0" TargetMode="External"/><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 Id="rId4" Type="http://schemas.openxmlformats.org/officeDocument/2006/relationships/image" Target="../media/image4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1.xml.rels><?xml version="1.0" encoding="UTF-8" standalone="yes"?>
<Relationships xmlns="http://schemas.openxmlformats.org/package/2006/relationships"><Relationship Id="rId2" Type="http://schemas.openxmlformats.org/officeDocument/2006/relationships/hyperlink" Target="https://github.com/Microsoft/sql-server-samples/tree/master/samples/databases/northwind-pubs" TargetMode="External"/><Relationship Id="rId1" Type="http://schemas.openxmlformats.org/officeDocument/2006/relationships/slideLayout" Target="../slideLayouts/slideLayout6.xml"/></Relationships>
</file>

<file path=ppt/slides/_rels/slide232.xml.rels><?xml version="1.0" encoding="UTF-8" standalone="yes"?>
<Relationships xmlns="http://schemas.openxmlformats.org/package/2006/relationships"><Relationship Id="rId2" Type="http://schemas.openxmlformats.org/officeDocument/2006/relationships/image" Target="../media/image60.gif"/><Relationship Id="rId1" Type="http://schemas.openxmlformats.org/officeDocument/2006/relationships/slideLayout" Target="../slideLayouts/slideLayout6.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D1E08096-FD38-F941-520C-157DD93D8E26}"/>
              </a:ext>
            </a:extLst>
          </p:cNvPr>
          <p:cNvSpPr>
            <a:spLocks noGrp="1"/>
          </p:cNvSpPr>
          <p:nvPr>
            <p:ph idx="1"/>
          </p:nvPr>
        </p:nvSpPr>
        <p:spPr/>
        <p:txBody>
          <a:bodyPr/>
          <a:lstStyle/>
          <a:p>
            <a:pPr algn="ctr"/>
            <a:r>
              <a:rPr lang="ru-RU" sz="4800" b="1" dirty="0"/>
              <a:t>ОСНОВЫ ПРОЕКТИРОВАНИЯ БАЗ ДАННЫХ</a:t>
            </a:r>
          </a:p>
          <a:p>
            <a:endParaRPr lang="ru-RU" dirty="0"/>
          </a:p>
        </p:txBody>
      </p:sp>
    </p:spTree>
    <p:extLst>
      <p:ext uri="{BB962C8B-B14F-4D97-AF65-F5344CB8AC3E}">
        <p14:creationId xmlns:p14="http://schemas.microsoft.com/office/powerpoint/2010/main" val="2284119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648EEE-EB04-45C3-8A11-F15DBC12F7BF}"/>
              </a:ext>
            </a:extLst>
          </p:cNvPr>
          <p:cNvSpPr>
            <a:spLocks noGrp="1"/>
          </p:cNvSpPr>
          <p:nvPr>
            <p:ph type="title"/>
          </p:nvPr>
        </p:nvSpPr>
        <p:spPr/>
        <p:txBody>
          <a:bodyPr/>
          <a:lstStyle/>
          <a:p>
            <a:r>
              <a:rPr lang="ru-RU" b="1" dirty="0">
                <a:latin typeface="Arial" panose="020B0604020202020204" pitchFamily="34" charset="0"/>
                <a:cs typeface="Arial" panose="020B0604020202020204" pitchFamily="34" charset="0"/>
              </a:rPr>
              <a:t>Основные понятия и определения</a:t>
            </a:r>
          </a:p>
        </p:txBody>
      </p:sp>
      <p:sp>
        <p:nvSpPr>
          <p:cNvPr id="3" name="Объект 2">
            <a:extLst>
              <a:ext uri="{FF2B5EF4-FFF2-40B4-BE49-F238E27FC236}">
                <a16:creationId xmlns:a16="http://schemas.microsoft.com/office/drawing/2014/main" id="{6EE16F1E-F64A-4CD2-8C02-7EED1305B87B}"/>
              </a:ext>
            </a:extLst>
          </p:cNvPr>
          <p:cNvSpPr>
            <a:spLocks noGrp="1"/>
          </p:cNvSpPr>
          <p:nvPr>
            <p:ph idx="1"/>
          </p:nvPr>
        </p:nvSpPr>
        <p:spPr/>
        <p:txBody>
          <a:bodyPr/>
          <a:lstStyle/>
          <a:p>
            <a:pPr marL="0" indent="0">
              <a:buNone/>
            </a:pPr>
            <a:r>
              <a:rPr lang="ru-RU" dirty="0">
                <a:latin typeface="Arial" panose="020B0604020202020204" pitchFamily="34" charset="0"/>
                <a:cs typeface="Arial" panose="020B0604020202020204" pitchFamily="34" charset="0"/>
              </a:rPr>
              <a:t>Стержневые идеи современных информационных технологий базируются на концепции баз данных. </a:t>
            </a:r>
          </a:p>
          <a:p>
            <a:pPr marL="0" indent="0">
              <a:buNone/>
            </a:pPr>
            <a:endParaRPr lang="ru-RU" dirty="0">
              <a:latin typeface="Arial" panose="020B0604020202020204" pitchFamily="34" charset="0"/>
              <a:cs typeface="Arial" panose="020B0604020202020204" pitchFamily="34" charset="0"/>
            </a:endParaRPr>
          </a:p>
          <a:p>
            <a:pPr marL="0" indent="0">
              <a:buNone/>
            </a:pPr>
            <a:r>
              <a:rPr lang="ru-RU" dirty="0">
                <a:latin typeface="Arial" panose="020B0604020202020204" pitchFamily="34" charset="0"/>
                <a:cs typeface="Arial" panose="020B0604020202020204" pitchFamily="34" charset="0"/>
              </a:rPr>
              <a:t>Согласно этой концепции, основой информационных технологий являются данные, которые должны быть организованы в базы данных в целях адекватного отображения изменяющегося реального мира и удовлетворения информационных потребностей пользователей.</a:t>
            </a:r>
          </a:p>
        </p:txBody>
      </p:sp>
      <p:sp>
        <p:nvSpPr>
          <p:cNvPr id="4" name="Нижний колонтитул 4">
            <a:extLst>
              <a:ext uri="{FF2B5EF4-FFF2-40B4-BE49-F238E27FC236}">
                <a16:creationId xmlns:a16="http://schemas.microsoft.com/office/drawing/2014/main" id="{963B8635-62E8-4D93-AC27-8CF54520A73E}"/>
              </a:ext>
            </a:extLst>
          </p:cNvPr>
          <p:cNvSpPr>
            <a:spLocks noGrp="1"/>
          </p:cNvSpPr>
          <p:nvPr>
            <p:ph type="ftr" sz="quarter" idx="11"/>
          </p:nvPr>
        </p:nvSpPr>
        <p:spPr>
          <a:xfrm>
            <a:off x="2271000" y="6590454"/>
            <a:ext cx="7650000" cy="365126"/>
          </a:xfrm>
        </p:spPr>
        <p:txBody>
          <a:bodyPr/>
          <a:lstStyle/>
          <a:p>
            <a:r>
              <a:rPr lang="ru-RU" dirty="0"/>
              <a:t>Шаблоны презентаций с сайта </a:t>
            </a:r>
            <a:r>
              <a:rPr lang="en-US" dirty="0">
                <a:solidFill>
                  <a:schemeClr val="accent1">
                    <a:lumMod val="75000"/>
                  </a:schemeClr>
                </a:solidFill>
                <a:hlinkClick r:id="rId2">
                  <a:extLst>
                    <a:ext uri="{A12FA001-AC4F-418D-AE19-62706E023703}">
                      <ahyp:hlinkClr xmlns:ahyp="http://schemas.microsoft.com/office/drawing/2018/hyperlinkcolor" val="tx"/>
                    </a:ext>
                  </a:extLst>
                </a:hlinkClick>
              </a:rPr>
              <a:t>presentation-creation.ru</a:t>
            </a:r>
            <a:endParaRPr lang="ru-RU" dirty="0">
              <a:solidFill>
                <a:schemeClr val="accent1">
                  <a:lumMod val="75000"/>
                </a:schemeClr>
              </a:solidFill>
            </a:endParaRPr>
          </a:p>
        </p:txBody>
      </p:sp>
    </p:spTree>
    <p:extLst>
      <p:ext uri="{BB962C8B-B14F-4D97-AF65-F5344CB8AC3E}">
        <p14:creationId xmlns:p14="http://schemas.microsoft.com/office/powerpoint/2010/main" val="3010535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9D361442-49CA-27E4-6B13-54B1B63AB678}"/>
              </a:ext>
            </a:extLst>
          </p:cNvPr>
          <p:cNvSpPr>
            <a:spLocks noGrp="1"/>
          </p:cNvSpPr>
          <p:nvPr>
            <p:ph type="title"/>
          </p:nvPr>
        </p:nvSpPr>
        <p:spPr/>
        <p:txBody>
          <a:bodyPr/>
          <a:lstStyle/>
          <a:p>
            <a:r>
              <a:rPr lang="ru-RU" dirty="0"/>
              <a:t>Информация</a:t>
            </a:r>
          </a:p>
        </p:txBody>
      </p:sp>
      <p:sp>
        <p:nvSpPr>
          <p:cNvPr id="5" name="Объект 4">
            <a:extLst>
              <a:ext uri="{FF2B5EF4-FFF2-40B4-BE49-F238E27FC236}">
                <a16:creationId xmlns:a16="http://schemas.microsoft.com/office/drawing/2014/main" id="{504DDA6B-5311-CC40-45BE-1C71A4F3F99B}"/>
              </a:ext>
            </a:extLst>
          </p:cNvPr>
          <p:cNvSpPr>
            <a:spLocks noGrp="1"/>
          </p:cNvSpPr>
          <p:nvPr>
            <p:ph idx="1"/>
          </p:nvPr>
        </p:nvSpPr>
        <p:spPr/>
        <p:txBody>
          <a:bodyPr/>
          <a:lstStyle/>
          <a:p>
            <a:pPr marL="0" indent="0">
              <a:buNone/>
            </a:pPr>
            <a:r>
              <a:rPr lang="ru-RU" dirty="0"/>
              <a:t>Под информацией понимаются любые сведения о каком-либо событии, процессе, объекте. </a:t>
            </a:r>
          </a:p>
        </p:txBody>
      </p:sp>
    </p:spTree>
    <p:extLst>
      <p:ext uri="{BB962C8B-B14F-4D97-AF65-F5344CB8AC3E}">
        <p14:creationId xmlns:p14="http://schemas.microsoft.com/office/powerpoint/2010/main" val="2639594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699DD1D0-AEED-C652-2410-596A5B326D16}"/>
              </a:ext>
            </a:extLst>
          </p:cNvPr>
          <p:cNvSpPr>
            <a:spLocks noGrp="1"/>
          </p:cNvSpPr>
          <p:nvPr>
            <p:ph type="title"/>
          </p:nvPr>
        </p:nvSpPr>
        <p:spPr/>
        <p:txBody>
          <a:bodyPr/>
          <a:lstStyle/>
          <a:p>
            <a:r>
              <a:rPr lang="ru-RU" dirty="0"/>
              <a:t>Данные</a:t>
            </a:r>
          </a:p>
        </p:txBody>
      </p:sp>
      <p:sp>
        <p:nvSpPr>
          <p:cNvPr id="7" name="Объект 6">
            <a:extLst>
              <a:ext uri="{FF2B5EF4-FFF2-40B4-BE49-F238E27FC236}">
                <a16:creationId xmlns:a16="http://schemas.microsoft.com/office/drawing/2014/main" id="{18F1E867-A331-7F16-DB95-4D6E49DE13B0}"/>
              </a:ext>
            </a:extLst>
          </p:cNvPr>
          <p:cNvSpPr>
            <a:spLocks noGrp="1"/>
          </p:cNvSpPr>
          <p:nvPr>
            <p:ph idx="1"/>
          </p:nvPr>
        </p:nvSpPr>
        <p:spPr/>
        <p:txBody>
          <a:bodyPr>
            <a:normAutofit/>
          </a:bodyPr>
          <a:lstStyle/>
          <a:p>
            <a:pPr>
              <a:lnSpc>
                <a:spcPct val="150000"/>
              </a:lnSpc>
            </a:pPr>
            <a:r>
              <a:rPr lang="ru-RU" dirty="0"/>
              <a:t>Данные — это информация, представленная в определенном виде, позволяющем автоматизировать ее сбор, хранение и дальнейшую обработку человеком или информационным средством. Для компьютерных технологий данные — это информация в дискретном, фиксированном виде, удобная для хранения, обработки на ЭВМ, а также для передачи по каналам связи. </a:t>
            </a:r>
          </a:p>
        </p:txBody>
      </p:sp>
    </p:spTree>
    <p:extLst>
      <p:ext uri="{BB962C8B-B14F-4D97-AF65-F5344CB8AC3E}">
        <p14:creationId xmlns:p14="http://schemas.microsoft.com/office/powerpoint/2010/main" val="3027188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10B2AC-1E88-010E-838D-2452267B5458}"/>
              </a:ext>
            </a:extLst>
          </p:cNvPr>
          <p:cNvSpPr>
            <a:spLocks noGrp="1"/>
          </p:cNvSpPr>
          <p:nvPr>
            <p:ph type="title"/>
          </p:nvPr>
        </p:nvSpPr>
        <p:spPr/>
        <p:txBody>
          <a:bodyPr/>
          <a:lstStyle/>
          <a:p>
            <a:r>
              <a:rPr lang="ru-RU" dirty="0"/>
              <a:t>База данных (БД)</a:t>
            </a:r>
          </a:p>
        </p:txBody>
      </p:sp>
      <p:sp>
        <p:nvSpPr>
          <p:cNvPr id="3" name="Объект 2">
            <a:extLst>
              <a:ext uri="{FF2B5EF4-FFF2-40B4-BE49-F238E27FC236}">
                <a16:creationId xmlns:a16="http://schemas.microsoft.com/office/drawing/2014/main" id="{C9042A59-83A5-75FC-D097-0D6C6406EB4A}"/>
              </a:ext>
            </a:extLst>
          </p:cNvPr>
          <p:cNvSpPr>
            <a:spLocks noGrp="1"/>
          </p:cNvSpPr>
          <p:nvPr>
            <p:ph idx="1"/>
          </p:nvPr>
        </p:nvSpPr>
        <p:spPr/>
        <p:txBody>
          <a:bodyPr/>
          <a:lstStyle/>
          <a:p>
            <a:pPr algn="just"/>
            <a:r>
              <a:rPr lang="ru-RU" dirty="0"/>
              <a:t>БД - именованная совокупность данных, отражающая состояние объектов и их отношений в рассматриваемой предметной области, или иначе БД — это совокупность взаимосвязанных данных при такой минимальной избыточности, которая допускает их использование оптимальным образом для одного или нескольких приложений в определенной предметной области. БД состоит из множества связанных файлов. </a:t>
            </a:r>
          </a:p>
        </p:txBody>
      </p:sp>
    </p:spTree>
    <p:extLst>
      <p:ext uri="{BB962C8B-B14F-4D97-AF65-F5344CB8AC3E}">
        <p14:creationId xmlns:p14="http://schemas.microsoft.com/office/powerpoint/2010/main" val="1700777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D32DAD-301D-D5C0-347A-FCC44D4895F4}"/>
              </a:ext>
            </a:extLst>
          </p:cNvPr>
          <p:cNvSpPr>
            <a:spLocks noGrp="1"/>
          </p:cNvSpPr>
          <p:nvPr>
            <p:ph type="title"/>
          </p:nvPr>
        </p:nvSpPr>
        <p:spPr/>
        <p:txBody>
          <a:bodyPr/>
          <a:lstStyle/>
          <a:p>
            <a:r>
              <a:rPr lang="ru-RU" dirty="0"/>
              <a:t>Система управления базами данных (СУБД) </a:t>
            </a:r>
          </a:p>
        </p:txBody>
      </p:sp>
      <p:sp>
        <p:nvSpPr>
          <p:cNvPr id="3" name="Объект 2">
            <a:extLst>
              <a:ext uri="{FF2B5EF4-FFF2-40B4-BE49-F238E27FC236}">
                <a16:creationId xmlns:a16="http://schemas.microsoft.com/office/drawing/2014/main" id="{BD577375-0685-5350-6C40-20F96E967752}"/>
              </a:ext>
            </a:extLst>
          </p:cNvPr>
          <p:cNvSpPr>
            <a:spLocks noGrp="1"/>
          </p:cNvSpPr>
          <p:nvPr>
            <p:ph idx="1"/>
          </p:nvPr>
        </p:nvSpPr>
        <p:spPr/>
        <p:txBody>
          <a:bodyPr/>
          <a:lstStyle/>
          <a:p>
            <a:endParaRPr lang="ru-RU" dirty="0"/>
          </a:p>
          <a:p>
            <a:r>
              <a:rPr lang="ru-RU" dirty="0"/>
              <a:t>СУБД — совокупность языковых и программных средств, предназначенных для создания, ведения и совместного использования БД многими пользователями.</a:t>
            </a:r>
          </a:p>
        </p:txBody>
      </p:sp>
    </p:spTree>
    <p:extLst>
      <p:ext uri="{BB962C8B-B14F-4D97-AF65-F5344CB8AC3E}">
        <p14:creationId xmlns:p14="http://schemas.microsoft.com/office/powerpoint/2010/main" val="990076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186DC6-6E49-F426-04F8-4BE164A39F2F}"/>
              </a:ext>
            </a:extLst>
          </p:cNvPr>
          <p:cNvSpPr>
            <a:spLocks noGrp="1"/>
          </p:cNvSpPr>
          <p:nvPr>
            <p:ph type="title"/>
          </p:nvPr>
        </p:nvSpPr>
        <p:spPr/>
        <p:txBody>
          <a:bodyPr>
            <a:normAutofit fontScale="90000"/>
          </a:bodyPr>
          <a:lstStyle/>
          <a:p>
            <a:r>
              <a:rPr lang="ru-RU" dirty="0"/>
              <a:t>Автоматизированная информационная система (АИС)</a:t>
            </a:r>
          </a:p>
        </p:txBody>
      </p:sp>
      <p:sp>
        <p:nvSpPr>
          <p:cNvPr id="3" name="Объект 2">
            <a:extLst>
              <a:ext uri="{FF2B5EF4-FFF2-40B4-BE49-F238E27FC236}">
                <a16:creationId xmlns:a16="http://schemas.microsoft.com/office/drawing/2014/main" id="{DC1AD01B-3FFF-13A9-43FD-184BAFCE95C0}"/>
              </a:ext>
            </a:extLst>
          </p:cNvPr>
          <p:cNvSpPr>
            <a:spLocks noGrp="1"/>
          </p:cNvSpPr>
          <p:nvPr>
            <p:ph idx="1"/>
          </p:nvPr>
        </p:nvSpPr>
        <p:spPr/>
        <p:txBody>
          <a:bodyPr/>
          <a:lstStyle/>
          <a:p>
            <a:r>
              <a:rPr lang="ru-RU" dirty="0"/>
              <a:t>АИС — это система, реализующая автоматизированный сбор, обработку, манипулирование данными, функционирующая на основе ЭВМ и других технических средств и включающая соответствующее программное обеспечение (ПО) и персонал. В дальнейшем в этом качестве будет использоваться термин информационная система (ИС), который подразумевает понятие автоматизированная. </a:t>
            </a:r>
          </a:p>
        </p:txBody>
      </p:sp>
    </p:spTree>
    <p:extLst>
      <p:ext uri="{BB962C8B-B14F-4D97-AF65-F5344CB8AC3E}">
        <p14:creationId xmlns:p14="http://schemas.microsoft.com/office/powerpoint/2010/main" val="381705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D29D91-1156-08B0-E4F4-53D76D90C871}"/>
              </a:ext>
            </a:extLst>
          </p:cNvPr>
          <p:cNvSpPr>
            <a:spLocks noGrp="1"/>
          </p:cNvSpPr>
          <p:nvPr>
            <p:ph type="title"/>
          </p:nvPr>
        </p:nvSpPr>
        <p:spPr/>
        <p:txBody>
          <a:bodyPr/>
          <a:lstStyle/>
          <a:p>
            <a:r>
              <a:rPr lang="ru-RU" dirty="0"/>
              <a:t>Типы баз данных</a:t>
            </a:r>
          </a:p>
        </p:txBody>
      </p:sp>
      <p:sp>
        <p:nvSpPr>
          <p:cNvPr id="3" name="Объект 2">
            <a:extLst>
              <a:ext uri="{FF2B5EF4-FFF2-40B4-BE49-F238E27FC236}">
                <a16:creationId xmlns:a16="http://schemas.microsoft.com/office/drawing/2014/main" id="{1C226BFC-DFE5-C274-D25D-6309B3C1F458}"/>
              </a:ext>
            </a:extLst>
          </p:cNvPr>
          <p:cNvSpPr>
            <a:spLocks noGrp="1"/>
          </p:cNvSpPr>
          <p:nvPr>
            <p:ph idx="1"/>
          </p:nvPr>
        </p:nvSpPr>
        <p:spPr/>
        <p:txBody>
          <a:bodyPr>
            <a:normAutofit/>
          </a:bodyPr>
          <a:lstStyle/>
          <a:p>
            <a:r>
              <a:rPr lang="ru-RU" dirty="0"/>
              <a:t>В классификацию по </a:t>
            </a:r>
            <a:r>
              <a:rPr lang="ru-RU" dirty="0">
                <a:hlinkClick r:id="rId2" tooltip="Модель данных"/>
              </a:rPr>
              <a:t>модели данных</a:t>
            </a:r>
            <a:r>
              <a:rPr lang="ru-RU" dirty="0"/>
              <a:t> обычно включают:</a:t>
            </a:r>
            <a:endParaRPr lang="en-US" dirty="0"/>
          </a:p>
          <a:p>
            <a:pPr marL="457200" indent="-457200">
              <a:buFont typeface="Arial" panose="020B0604020202020204" pitchFamily="34" charset="0"/>
              <a:buChar char="•"/>
            </a:pPr>
            <a:r>
              <a:rPr lang="ru-RU" dirty="0" err="1"/>
              <a:t>графовые</a:t>
            </a:r>
            <a:r>
              <a:rPr lang="ru-RU" dirty="0"/>
              <a:t>;</a:t>
            </a:r>
          </a:p>
          <a:p>
            <a:pPr marL="457200" indent="-457200">
              <a:buFont typeface="Arial" panose="020B0604020202020204" pitchFamily="34" charset="0"/>
              <a:buChar char="•"/>
            </a:pPr>
            <a:r>
              <a:rPr lang="ru-RU" dirty="0"/>
              <a:t>иерархические;</a:t>
            </a:r>
          </a:p>
          <a:p>
            <a:pPr marL="457200" indent="-457200">
              <a:buFont typeface="Arial" panose="020B0604020202020204" pitchFamily="34" charset="0"/>
              <a:buChar char="•"/>
            </a:pPr>
            <a:r>
              <a:rPr lang="ru-RU" dirty="0" err="1"/>
              <a:t>мультимодельные</a:t>
            </a:r>
            <a:r>
              <a:rPr lang="ru-RU" dirty="0"/>
              <a:t>;</a:t>
            </a:r>
          </a:p>
          <a:p>
            <a:pPr marL="457200" indent="-457200">
              <a:buFont typeface="Arial" panose="020B0604020202020204" pitchFamily="34" charset="0"/>
              <a:buChar char="•"/>
            </a:pPr>
            <a:r>
              <a:rPr lang="ru-RU" dirty="0"/>
              <a:t>объектные или объектно-ориентированные;</a:t>
            </a:r>
          </a:p>
          <a:p>
            <a:pPr marL="457200" indent="-457200">
              <a:buFont typeface="Arial" panose="020B0604020202020204" pitchFamily="34" charset="0"/>
              <a:buChar char="•"/>
            </a:pPr>
            <a:r>
              <a:rPr lang="ru-RU" dirty="0"/>
              <a:t>объектно-реляционные;</a:t>
            </a:r>
          </a:p>
          <a:p>
            <a:pPr marL="457200" indent="-457200">
              <a:buFont typeface="Arial" panose="020B0604020202020204" pitchFamily="34" charset="0"/>
              <a:buChar char="•"/>
            </a:pPr>
            <a:r>
              <a:rPr lang="ru-RU" dirty="0"/>
              <a:t>реляционные;</a:t>
            </a:r>
          </a:p>
          <a:p>
            <a:pPr marL="457200" indent="-457200">
              <a:buFont typeface="Arial" panose="020B0604020202020204" pitchFamily="34" charset="0"/>
              <a:buChar char="•"/>
            </a:pPr>
            <a:r>
              <a:rPr lang="ru-RU" dirty="0"/>
              <a:t>сетевые;</a:t>
            </a:r>
          </a:p>
        </p:txBody>
      </p:sp>
    </p:spTree>
    <p:extLst>
      <p:ext uri="{BB962C8B-B14F-4D97-AF65-F5344CB8AC3E}">
        <p14:creationId xmlns:p14="http://schemas.microsoft.com/office/powerpoint/2010/main" val="167003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C197DD-260F-1F02-734A-BFE265AA811C}"/>
              </a:ext>
            </a:extLst>
          </p:cNvPr>
          <p:cNvSpPr>
            <a:spLocks noGrp="1"/>
          </p:cNvSpPr>
          <p:nvPr>
            <p:ph type="title"/>
          </p:nvPr>
        </p:nvSpPr>
        <p:spPr/>
        <p:txBody>
          <a:bodyPr>
            <a:normAutofit fontScale="90000"/>
          </a:bodyPr>
          <a:lstStyle/>
          <a:p>
            <a:r>
              <a:rPr lang="ru-RU" b="0" dirty="0" err="1"/>
              <a:t>Графовая</a:t>
            </a:r>
            <a:r>
              <a:rPr lang="ru-RU" b="0" dirty="0"/>
              <a:t> база данных</a:t>
            </a:r>
            <a:br>
              <a:rPr lang="ru-RU" b="0" dirty="0"/>
            </a:br>
            <a:endParaRPr lang="ru-RU" dirty="0"/>
          </a:p>
        </p:txBody>
      </p:sp>
      <p:sp>
        <p:nvSpPr>
          <p:cNvPr id="3" name="Объект 2">
            <a:extLst>
              <a:ext uri="{FF2B5EF4-FFF2-40B4-BE49-F238E27FC236}">
                <a16:creationId xmlns:a16="http://schemas.microsoft.com/office/drawing/2014/main" id="{305FA8E4-AEAD-1965-81BE-FAED263A5C5E}"/>
              </a:ext>
            </a:extLst>
          </p:cNvPr>
          <p:cNvSpPr>
            <a:spLocks noGrp="1"/>
          </p:cNvSpPr>
          <p:nvPr>
            <p:ph idx="1"/>
          </p:nvPr>
        </p:nvSpPr>
        <p:spPr/>
        <p:txBody>
          <a:bodyPr/>
          <a:lstStyle/>
          <a:p>
            <a:pPr>
              <a:lnSpc>
                <a:spcPct val="100000"/>
              </a:lnSpc>
            </a:pPr>
            <a:r>
              <a:rPr lang="ru-RU" dirty="0" err="1"/>
              <a:t>Графовая</a:t>
            </a:r>
            <a:r>
              <a:rPr lang="ru-RU" dirty="0"/>
              <a:t> база данных – это </a:t>
            </a:r>
            <a:r>
              <a:rPr lang="ru-RU" dirty="0" err="1"/>
              <a:t>нереляционный</a:t>
            </a:r>
            <a:r>
              <a:rPr lang="ru-RU" dirty="0"/>
              <a:t> тип баз данных, основанный на топографической структуре сети. Идея этой БД восходит к математической теории графов. </a:t>
            </a:r>
          </a:p>
          <a:p>
            <a:pPr>
              <a:lnSpc>
                <a:spcPct val="100000"/>
              </a:lnSpc>
            </a:pPr>
            <a:r>
              <a:rPr lang="ru-RU" dirty="0"/>
              <a:t>Графы представляют наборы данных в виде узлов, ребер и свойств.</a:t>
            </a:r>
          </a:p>
        </p:txBody>
      </p:sp>
    </p:spTree>
    <p:extLst>
      <p:ext uri="{BB962C8B-B14F-4D97-AF65-F5344CB8AC3E}">
        <p14:creationId xmlns:p14="http://schemas.microsoft.com/office/powerpoint/2010/main" val="3261167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CD946E-2AE9-EF3B-ECA1-1E2143670572}"/>
              </a:ext>
            </a:extLst>
          </p:cNvPr>
          <p:cNvSpPr>
            <a:spLocks noGrp="1"/>
          </p:cNvSpPr>
          <p:nvPr>
            <p:ph type="title"/>
          </p:nvPr>
        </p:nvSpPr>
        <p:spPr/>
        <p:txBody>
          <a:bodyPr/>
          <a:lstStyle/>
          <a:p>
            <a:r>
              <a:rPr lang="ru-RU" b="0" dirty="0"/>
              <a:t>Иерархическая база </a:t>
            </a:r>
            <a:r>
              <a:rPr lang="ru-RU" b="0" dirty="0" err="1"/>
              <a:t>даных</a:t>
            </a:r>
            <a:endParaRPr lang="ru-RU" dirty="0"/>
          </a:p>
        </p:txBody>
      </p:sp>
      <p:sp>
        <p:nvSpPr>
          <p:cNvPr id="3" name="Объект 2">
            <a:extLst>
              <a:ext uri="{FF2B5EF4-FFF2-40B4-BE49-F238E27FC236}">
                <a16:creationId xmlns:a16="http://schemas.microsoft.com/office/drawing/2014/main" id="{1C197EC2-68E5-627A-0EE4-170F1CAD4154}"/>
              </a:ext>
            </a:extLst>
          </p:cNvPr>
          <p:cNvSpPr>
            <a:spLocks noGrp="1"/>
          </p:cNvSpPr>
          <p:nvPr>
            <p:ph idx="1"/>
          </p:nvPr>
        </p:nvSpPr>
        <p:spPr/>
        <p:txBody>
          <a:bodyPr>
            <a:normAutofit/>
          </a:bodyPr>
          <a:lstStyle/>
          <a:p>
            <a:pPr>
              <a:lnSpc>
                <a:spcPct val="100000"/>
              </a:lnSpc>
            </a:pPr>
            <a:r>
              <a:rPr lang="ru-RU" dirty="0"/>
              <a:t>Иерархическая модель данных — модель данных, где используется представление базы данных в виде древовидной (иерархической) структуры, состоящей из объектов (данных) различных уровней.</a:t>
            </a:r>
          </a:p>
          <a:p>
            <a:pPr>
              <a:lnSpc>
                <a:spcPct val="100000"/>
              </a:lnSpc>
            </a:pPr>
            <a:r>
              <a:rPr lang="ru-RU" dirty="0"/>
              <a:t>Например, если иерархическая база данных содержала информацию о покупателях и их заказах, то будет существовать объект «покупатель» (родитель) и объект «заказ» (дочерний). Объект «покупатель» будет иметь указатели от каждого заказчика к физическому расположению заказов покупателя в объект «заказ».</a:t>
            </a:r>
          </a:p>
        </p:txBody>
      </p:sp>
    </p:spTree>
    <p:extLst>
      <p:ext uri="{BB962C8B-B14F-4D97-AF65-F5344CB8AC3E}">
        <p14:creationId xmlns:p14="http://schemas.microsoft.com/office/powerpoint/2010/main" val="1339698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CE3C5A-80DA-AE37-2488-DFCC4827934B}"/>
              </a:ext>
            </a:extLst>
          </p:cNvPr>
          <p:cNvSpPr>
            <a:spLocks noGrp="1"/>
          </p:cNvSpPr>
          <p:nvPr>
            <p:ph type="title"/>
          </p:nvPr>
        </p:nvSpPr>
        <p:spPr/>
        <p:txBody>
          <a:bodyPr/>
          <a:lstStyle/>
          <a:p>
            <a:r>
              <a:rPr lang="ru-RU" dirty="0" err="1"/>
              <a:t>Мультимодельные</a:t>
            </a:r>
            <a:r>
              <a:rPr lang="ru-RU" dirty="0"/>
              <a:t> базы данных</a:t>
            </a:r>
          </a:p>
        </p:txBody>
      </p:sp>
      <p:sp>
        <p:nvSpPr>
          <p:cNvPr id="3" name="Объект 2">
            <a:extLst>
              <a:ext uri="{FF2B5EF4-FFF2-40B4-BE49-F238E27FC236}">
                <a16:creationId xmlns:a16="http://schemas.microsoft.com/office/drawing/2014/main" id="{91FA7555-87FB-7380-9C8C-0CDD3C360BB9}"/>
              </a:ext>
            </a:extLst>
          </p:cNvPr>
          <p:cNvSpPr>
            <a:spLocks noGrp="1"/>
          </p:cNvSpPr>
          <p:nvPr>
            <p:ph idx="1"/>
          </p:nvPr>
        </p:nvSpPr>
        <p:spPr/>
        <p:txBody>
          <a:bodyPr/>
          <a:lstStyle/>
          <a:p>
            <a:r>
              <a:rPr lang="ru-RU" dirty="0"/>
              <a:t>В мультимодальных БД - система управления базами данных поддерживает несколько моделей базы данных на основе единой интегрированной серверной части. </a:t>
            </a:r>
          </a:p>
        </p:txBody>
      </p:sp>
    </p:spTree>
    <p:extLst>
      <p:ext uri="{BB962C8B-B14F-4D97-AF65-F5344CB8AC3E}">
        <p14:creationId xmlns:p14="http://schemas.microsoft.com/office/powerpoint/2010/main" val="415448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7C7752-9F55-6244-3EB3-546EBE310D0F}"/>
              </a:ext>
            </a:extLst>
          </p:cNvPr>
          <p:cNvSpPr>
            <a:spLocks noGrp="1"/>
          </p:cNvSpPr>
          <p:nvPr>
            <p:ph type="title"/>
          </p:nvPr>
        </p:nvSpPr>
        <p:spPr/>
        <p:txBody>
          <a:bodyPr/>
          <a:lstStyle/>
          <a:p>
            <a:r>
              <a:rPr lang="ru-RU" dirty="0"/>
              <a:t>Банк данных (</a:t>
            </a:r>
            <a:r>
              <a:rPr lang="ru-RU" dirty="0" err="1"/>
              <a:t>БнД</a:t>
            </a:r>
            <a:r>
              <a:rPr lang="ru-RU" dirty="0"/>
              <a:t>)</a:t>
            </a:r>
          </a:p>
        </p:txBody>
      </p:sp>
      <p:sp>
        <p:nvSpPr>
          <p:cNvPr id="3" name="Объект 2">
            <a:extLst>
              <a:ext uri="{FF2B5EF4-FFF2-40B4-BE49-F238E27FC236}">
                <a16:creationId xmlns:a16="http://schemas.microsoft.com/office/drawing/2014/main" id="{C4DF7E88-3D13-9646-D6BE-4F881DC95497}"/>
              </a:ext>
            </a:extLst>
          </p:cNvPr>
          <p:cNvSpPr>
            <a:spLocks noGrp="1"/>
          </p:cNvSpPr>
          <p:nvPr>
            <p:ph idx="1"/>
          </p:nvPr>
        </p:nvSpPr>
        <p:spPr/>
        <p:txBody>
          <a:bodyPr/>
          <a:lstStyle/>
          <a:p>
            <a:r>
              <a:rPr lang="ru-RU" dirty="0"/>
              <a:t>Банк данных (</a:t>
            </a:r>
            <a:r>
              <a:rPr lang="ru-RU" dirty="0" err="1"/>
              <a:t>БнД</a:t>
            </a:r>
            <a:r>
              <a:rPr lang="ru-RU" dirty="0"/>
              <a:t>) является разновидностью ИС. </a:t>
            </a:r>
            <a:r>
              <a:rPr lang="ru-RU" dirty="0" err="1"/>
              <a:t>БнД</a:t>
            </a:r>
            <a:r>
              <a:rPr lang="ru-RU" dirty="0"/>
              <a:t> — это система специальным образом организованных данных: баз данных, программных, технических, языковых, организационно-методических средств, предназначенных для обеспечения централизованного накопления и коллективного многоцелевого использования данных. </a:t>
            </a:r>
          </a:p>
        </p:txBody>
      </p:sp>
    </p:spTree>
    <p:extLst>
      <p:ext uri="{BB962C8B-B14F-4D97-AF65-F5344CB8AC3E}">
        <p14:creationId xmlns:p14="http://schemas.microsoft.com/office/powerpoint/2010/main" val="2912373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FE622E-DEFC-308A-DA0F-B26935EC1677}"/>
              </a:ext>
            </a:extLst>
          </p:cNvPr>
          <p:cNvSpPr>
            <a:spLocks noGrp="1"/>
          </p:cNvSpPr>
          <p:nvPr>
            <p:ph type="title"/>
          </p:nvPr>
        </p:nvSpPr>
        <p:spPr/>
        <p:txBody>
          <a:bodyPr/>
          <a:lstStyle/>
          <a:p>
            <a:r>
              <a:rPr lang="ru-RU" dirty="0"/>
              <a:t>Объектно-ориентированная база данных</a:t>
            </a:r>
          </a:p>
        </p:txBody>
      </p:sp>
      <p:sp>
        <p:nvSpPr>
          <p:cNvPr id="3" name="Объект 2">
            <a:extLst>
              <a:ext uri="{FF2B5EF4-FFF2-40B4-BE49-F238E27FC236}">
                <a16:creationId xmlns:a16="http://schemas.microsoft.com/office/drawing/2014/main" id="{9D6B1F45-386E-90F4-0185-28C35CFFA0F2}"/>
              </a:ext>
            </a:extLst>
          </p:cNvPr>
          <p:cNvSpPr>
            <a:spLocks noGrp="1"/>
          </p:cNvSpPr>
          <p:nvPr>
            <p:ph idx="1"/>
          </p:nvPr>
        </p:nvSpPr>
        <p:spPr/>
        <p:txBody>
          <a:bodyPr/>
          <a:lstStyle/>
          <a:p>
            <a:endParaRPr lang="ru-RU" dirty="0"/>
          </a:p>
          <a:p>
            <a:r>
              <a:rPr lang="ru-RU" dirty="0"/>
              <a:t>Объектно-ориентированная база данных (ООБД) — база данных, в которой данные моделируются в виде объектов, их атрибутов, методов и классов.</a:t>
            </a:r>
          </a:p>
        </p:txBody>
      </p:sp>
    </p:spTree>
    <p:extLst>
      <p:ext uri="{BB962C8B-B14F-4D97-AF65-F5344CB8AC3E}">
        <p14:creationId xmlns:p14="http://schemas.microsoft.com/office/powerpoint/2010/main" val="2805659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821874-0373-C0EE-952A-93D33200A3CA}"/>
              </a:ext>
            </a:extLst>
          </p:cNvPr>
          <p:cNvSpPr>
            <a:spLocks noGrp="1"/>
          </p:cNvSpPr>
          <p:nvPr>
            <p:ph type="title"/>
          </p:nvPr>
        </p:nvSpPr>
        <p:spPr/>
        <p:txBody>
          <a:bodyPr/>
          <a:lstStyle/>
          <a:p>
            <a:r>
              <a:rPr lang="ru-RU" dirty="0" err="1"/>
              <a:t>Реляцио́нная</a:t>
            </a:r>
            <a:r>
              <a:rPr lang="ru-RU" dirty="0"/>
              <a:t> </a:t>
            </a:r>
            <a:r>
              <a:rPr lang="ru-RU" dirty="0" err="1"/>
              <a:t>ба́за</a:t>
            </a:r>
            <a:r>
              <a:rPr lang="ru-RU" dirty="0"/>
              <a:t> </a:t>
            </a:r>
            <a:r>
              <a:rPr lang="ru-RU" dirty="0" err="1"/>
              <a:t>да́нных</a:t>
            </a:r>
            <a:endParaRPr lang="ru-RU" dirty="0"/>
          </a:p>
        </p:txBody>
      </p:sp>
      <p:sp>
        <p:nvSpPr>
          <p:cNvPr id="3" name="Объект 2">
            <a:extLst>
              <a:ext uri="{FF2B5EF4-FFF2-40B4-BE49-F238E27FC236}">
                <a16:creationId xmlns:a16="http://schemas.microsoft.com/office/drawing/2014/main" id="{C3A59CC1-EF2B-BD0E-AE27-00C1BE05534B}"/>
              </a:ext>
            </a:extLst>
          </p:cNvPr>
          <p:cNvSpPr>
            <a:spLocks noGrp="1"/>
          </p:cNvSpPr>
          <p:nvPr>
            <p:ph idx="1"/>
          </p:nvPr>
        </p:nvSpPr>
        <p:spPr/>
        <p:txBody>
          <a:bodyPr/>
          <a:lstStyle/>
          <a:p>
            <a:r>
              <a:rPr lang="ru-RU" dirty="0" err="1"/>
              <a:t>Реляцио́нная</a:t>
            </a:r>
            <a:r>
              <a:rPr lang="ru-RU" dirty="0"/>
              <a:t> </a:t>
            </a:r>
            <a:r>
              <a:rPr lang="ru-RU" dirty="0" err="1"/>
              <a:t>ба́за</a:t>
            </a:r>
            <a:r>
              <a:rPr lang="ru-RU" dirty="0"/>
              <a:t> </a:t>
            </a:r>
            <a:r>
              <a:rPr lang="ru-RU" dirty="0" err="1"/>
              <a:t>да́нных</a:t>
            </a:r>
            <a:r>
              <a:rPr lang="ru-RU" dirty="0"/>
              <a:t> — база данных, основанная на реляционной модели данных.</a:t>
            </a:r>
          </a:p>
          <a:p>
            <a:endParaRPr lang="ru-RU" dirty="0"/>
          </a:p>
          <a:p>
            <a:r>
              <a:rPr lang="ru-RU" dirty="0"/>
              <a:t>Понятие «реляционный» основано на англ. </a:t>
            </a:r>
            <a:r>
              <a:rPr lang="ru-RU" dirty="0" err="1"/>
              <a:t>relation</a:t>
            </a:r>
            <a:r>
              <a:rPr lang="ru-RU" dirty="0"/>
              <a:t> («отношение, зависимость, связь»).</a:t>
            </a:r>
          </a:p>
          <a:p>
            <a:endParaRPr lang="ru-RU" dirty="0"/>
          </a:p>
          <a:p>
            <a:r>
              <a:rPr lang="ru-RU" dirty="0"/>
              <a:t>Использование реляционных баз данных было предложено доктором Коддом из компании IBM в 1970 году</a:t>
            </a:r>
          </a:p>
        </p:txBody>
      </p:sp>
    </p:spTree>
    <p:extLst>
      <p:ext uri="{BB962C8B-B14F-4D97-AF65-F5344CB8AC3E}">
        <p14:creationId xmlns:p14="http://schemas.microsoft.com/office/powerpoint/2010/main" val="3073321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19A9E-A7D6-894C-9176-7C40007A248B}"/>
              </a:ext>
            </a:extLst>
          </p:cNvPr>
          <p:cNvSpPr>
            <a:spLocks noGrp="1"/>
          </p:cNvSpPr>
          <p:nvPr>
            <p:ph type="title"/>
          </p:nvPr>
        </p:nvSpPr>
        <p:spPr/>
        <p:txBody>
          <a:bodyPr/>
          <a:lstStyle/>
          <a:p>
            <a:r>
              <a:rPr lang="ru-RU" dirty="0"/>
              <a:t>Объектно-реляционная СУБД (ОРСУБД)</a:t>
            </a:r>
            <a:r>
              <a:rPr lang="ru-RU" b="0" dirty="0"/>
              <a:t> </a:t>
            </a:r>
            <a:endParaRPr lang="ru-RU" dirty="0"/>
          </a:p>
        </p:txBody>
      </p:sp>
      <p:sp>
        <p:nvSpPr>
          <p:cNvPr id="3" name="Объект 2">
            <a:extLst>
              <a:ext uri="{FF2B5EF4-FFF2-40B4-BE49-F238E27FC236}">
                <a16:creationId xmlns:a16="http://schemas.microsoft.com/office/drawing/2014/main" id="{8C9F9568-6F0C-A239-1E86-8121140DB5B2}"/>
              </a:ext>
            </a:extLst>
          </p:cNvPr>
          <p:cNvSpPr>
            <a:spLocks noGrp="1"/>
          </p:cNvSpPr>
          <p:nvPr>
            <p:ph idx="1"/>
          </p:nvPr>
        </p:nvSpPr>
        <p:spPr/>
        <p:txBody>
          <a:bodyPr/>
          <a:lstStyle/>
          <a:p>
            <a:r>
              <a:rPr lang="ru-RU" dirty="0"/>
              <a:t>Объектно-реляционная СУБД (ОРСУБД) — реляционная СУБД (РСУБД), поддерживающая некоторые технологии, присущие объектно-ориентированным СУБД и реализующие объектно-ориентированный подход: объекты, классы и наследование реализованы в структуре баз данных и языке запросов.</a:t>
            </a:r>
          </a:p>
          <a:p>
            <a:endParaRPr lang="ru-RU" dirty="0"/>
          </a:p>
          <a:p>
            <a:r>
              <a:rPr lang="ru-RU" dirty="0"/>
              <a:t>Объектно-реляционными СУБД являются, например, широко известные Oracle Database, </a:t>
            </a:r>
            <a:r>
              <a:rPr lang="ru-RU" dirty="0" err="1"/>
              <a:t>Informix</a:t>
            </a:r>
            <a:r>
              <a:rPr lang="ru-RU" dirty="0"/>
              <a:t>, DB2, </a:t>
            </a:r>
            <a:r>
              <a:rPr lang="ru-RU" dirty="0" err="1"/>
              <a:t>PostgreSQL</a:t>
            </a:r>
            <a:r>
              <a:rPr lang="ru-RU" dirty="0"/>
              <a:t>.</a:t>
            </a:r>
          </a:p>
        </p:txBody>
      </p:sp>
    </p:spTree>
    <p:extLst>
      <p:ext uri="{BB962C8B-B14F-4D97-AF65-F5344CB8AC3E}">
        <p14:creationId xmlns:p14="http://schemas.microsoft.com/office/powerpoint/2010/main" val="3157513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D16ACB-855F-4DFC-458E-C933EA73A5A4}"/>
              </a:ext>
            </a:extLst>
          </p:cNvPr>
          <p:cNvSpPr>
            <a:spLocks noGrp="1"/>
          </p:cNvSpPr>
          <p:nvPr>
            <p:ph type="title"/>
          </p:nvPr>
        </p:nvSpPr>
        <p:spPr/>
        <p:txBody>
          <a:bodyPr/>
          <a:lstStyle/>
          <a:p>
            <a:r>
              <a:rPr lang="ru-RU" dirty="0"/>
              <a:t>Сетевая модель данных</a:t>
            </a:r>
          </a:p>
        </p:txBody>
      </p:sp>
      <p:sp>
        <p:nvSpPr>
          <p:cNvPr id="4" name="Объект 3">
            <a:extLst>
              <a:ext uri="{FF2B5EF4-FFF2-40B4-BE49-F238E27FC236}">
                <a16:creationId xmlns:a16="http://schemas.microsoft.com/office/drawing/2014/main" id="{2B830AF4-CD25-7181-1284-46E974B029E4}"/>
              </a:ext>
            </a:extLst>
          </p:cNvPr>
          <p:cNvSpPr>
            <a:spLocks noGrp="1"/>
          </p:cNvSpPr>
          <p:nvPr>
            <p:ph idx="1"/>
          </p:nvPr>
        </p:nvSpPr>
        <p:spPr/>
        <p:txBody>
          <a:bodyPr/>
          <a:lstStyle/>
          <a:p>
            <a:r>
              <a:rPr lang="ru-RU" dirty="0"/>
              <a:t>Сетевая модель данных — логическая модель данных, являющаяся расширением иерархического подхода, строгая математическая теория, описывающая структурный аспект, аспект целостности и аспект обработки данных в сетевых базах данных.</a:t>
            </a:r>
          </a:p>
          <a:p>
            <a:r>
              <a:rPr lang="ru-RU" dirty="0"/>
              <a:t>Разница между иерархической моделью данных и сетевой состоит в том, что в иерархических структурах запись-потомок должна иметь в точности одного предка, а в сетевой структуре данных у потомка может иметься любое число предков.</a:t>
            </a:r>
          </a:p>
        </p:txBody>
      </p:sp>
    </p:spTree>
    <p:extLst>
      <p:ext uri="{BB962C8B-B14F-4D97-AF65-F5344CB8AC3E}">
        <p14:creationId xmlns:p14="http://schemas.microsoft.com/office/powerpoint/2010/main" val="109923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56A77F-91DA-EE62-A8DC-967481B998DC}"/>
              </a:ext>
            </a:extLst>
          </p:cNvPr>
          <p:cNvSpPr>
            <a:spLocks noGrp="1"/>
          </p:cNvSpPr>
          <p:nvPr>
            <p:ph type="title"/>
          </p:nvPr>
        </p:nvSpPr>
        <p:spPr/>
        <p:txBody>
          <a:bodyPr/>
          <a:lstStyle/>
          <a:p>
            <a:r>
              <a:rPr lang="ru-RU" dirty="0"/>
              <a:t>Банк данных (</a:t>
            </a:r>
            <a:r>
              <a:rPr lang="ru-RU" dirty="0" err="1"/>
              <a:t>БнД</a:t>
            </a:r>
            <a:r>
              <a:rPr lang="ru-RU" dirty="0"/>
              <a:t>)</a:t>
            </a:r>
          </a:p>
        </p:txBody>
      </p:sp>
      <p:sp>
        <p:nvSpPr>
          <p:cNvPr id="3" name="Объект 2">
            <a:extLst>
              <a:ext uri="{FF2B5EF4-FFF2-40B4-BE49-F238E27FC236}">
                <a16:creationId xmlns:a16="http://schemas.microsoft.com/office/drawing/2014/main" id="{A1230E95-4451-0ADB-A85F-835E71AE1D9F}"/>
              </a:ext>
            </a:extLst>
          </p:cNvPr>
          <p:cNvSpPr>
            <a:spLocks noGrp="1"/>
          </p:cNvSpPr>
          <p:nvPr>
            <p:ph idx="1"/>
          </p:nvPr>
        </p:nvSpPr>
        <p:spPr/>
        <p:txBody>
          <a:bodyPr/>
          <a:lstStyle/>
          <a:p>
            <a:endParaRPr lang="ru-RU" dirty="0"/>
          </a:p>
        </p:txBody>
      </p:sp>
      <p:pic>
        <p:nvPicPr>
          <p:cNvPr id="5" name="Рисунок 4">
            <a:extLst>
              <a:ext uri="{FF2B5EF4-FFF2-40B4-BE49-F238E27FC236}">
                <a16:creationId xmlns:a16="http://schemas.microsoft.com/office/drawing/2014/main" id="{483172FB-293F-445C-73E7-A019B9A5A229}"/>
              </a:ext>
            </a:extLst>
          </p:cNvPr>
          <p:cNvPicPr>
            <a:picLocks noChangeAspect="1"/>
          </p:cNvPicPr>
          <p:nvPr/>
        </p:nvPicPr>
        <p:blipFill>
          <a:blip r:embed="rId2"/>
          <a:stretch>
            <a:fillRect/>
          </a:stretch>
        </p:blipFill>
        <p:spPr>
          <a:xfrm>
            <a:off x="838200" y="1825625"/>
            <a:ext cx="6108700" cy="4338719"/>
          </a:xfrm>
          <a:prstGeom prst="rect">
            <a:avLst/>
          </a:prstGeom>
        </p:spPr>
      </p:pic>
      <p:sp>
        <p:nvSpPr>
          <p:cNvPr id="6" name="TextBox 5">
            <a:extLst>
              <a:ext uri="{FF2B5EF4-FFF2-40B4-BE49-F238E27FC236}">
                <a16:creationId xmlns:a16="http://schemas.microsoft.com/office/drawing/2014/main" id="{7331EF4C-6484-9F6D-37CB-F74B9A4998EE}"/>
              </a:ext>
            </a:extLst>
          </p:cNvPr>
          <p:cNvSpPr txBox="1"/>
          <p:nvPr/>
        </p:nvSpPr>
        <p:spPr>
          <a:xfrm>
            <a:off x="7594600" y="2057400"/>
            <a:ext cx="2997200" cy="3416320"/>
          </a:xfrm>
          <a:prstGeom prst="rect">
            <a:avLst/>
          </a:prstGeom>
          <a:noFill/>
        </p:spPr>
        <p:txBody>
          <a:bodyPr wrap="square" rtlCol="0">
            <a:spAutoFit/>
          </a:bodyPr>
          <a:lstStyle/>
          <a:p>
            <a:r>
              <a:rPr lang="ru-RU" dirty="0" err="1"/>
              <a:t>БнД</a:t>
            </a:r>
            <a:r>
              <a:rPr lang="ru-RU" dirty="0"/>
              <a:t> включает в себя:</a:t>
            </a:r>
            <a:endParaRPr lang="en-US" dirty="0"/>
          </a:p>
          <a:p>
            <a:endParaRPr lang="en-US" dirty="0"/>
          </a:p>
          <a:p>
            <a:pPr marL="285750" indent="-285750">
              <a:buFont typeface="Arial" panose="020B0604020202020204" pitchFamily="34" charset="0"/>
              <a:buChar char="•"/>
            </a:pPr>
            <a:r>
              <a:rPr lang="ru-RU" dirty="0"/>
              <a:t> технические средства;</a:t>
            </a:r>
          </a:p>
          <a:p>
            <a:pPr marL="285750" indent="-285750">
              <a:buFont typeface="Arial" panose="020B0604020202020204" pitchFamily="34" charset="0"/>
              <a:buChar char="•"/>
            </a:pPr>
            <a:r>
              <a:rPr lang="ru-RU" dirty="0"/>
              <a:t> одну или несколько БД;</a:t>
            </a:r>
          </a:p>
          <a:p>
            <a:pPr marL="285750" indent="-285750">
              <a:buFont typeface="Arial" panose="020B0604020202020204" pitchFamily="34" charset="0"/>
              <a:buChar char="•"/>
            </a:pPr>
            <a:r>
              <a:rPr lang="ru-RU" dirty="0"/>
              <a:t> СУБД;</a:t>
            </a:r>
          </a:p>
          <a:p>
            <a:pPr marL="285750" indent="-285750">
              <a:buFont typeface="Arial" panose="020B0604020202020204" pitchFamily="34" charset="0"/>
              <a:buChar char="•"/>
            </a:pPr>
            <a:r>
              <a:rPr lang="ru-RU" dirty="0"/>
              <a:t> словарь или каталог данных;</a:t>
            </a:r>
          </a:p>
          <a:p>
            <a:pPr marL="285750" indent="-285750">
              <a:buFont typeface="Arial" panose="020B0604020202020204" pitchFamily="34" charset="0"/>
              <a:buChar char="•"/>
            </a:pPr>
            <a:r>
              <a:rPr lang="ru-RU" dirty="0"/>
              <a:t> администратора;</a:t>
            </a:r>
          </a:p>
          <a:p>
            <a:pPr marL="285750" indent="-285750">
              <a:buFont typeface="Arial" panose="020B0604020202020204" pitchFamily="34" charset="0"/>
              <a:buChar char="•"/>
            </a:pPr>
            <a:r>
              <a:rPr lang="ru-RU" dirty="0"/>
              <a:t> вычислительную систему;</a:t>
            </a:r>
          </a:p>
          <a:p>
            <a:pPr marL="285750" indent="-285750">
              <a:buFont typeface="Arial" panose="020B0604020202020204" pitchFamily="34" charset="0"/>
              <a:buChar char="•"/>
            </a:pPr>
            <a:r>
              <a:rPr lang="ru-RU" dirty="0"/>
              <a:t> обслуживающий персонал</a:t>
            </a:r>
          </a:p>
        </p:txBody>
      </p:sp>
    </p:spTree>
    <p:extLst>
      <p:ext uri="{BB962C8B-B14F-4D97-AF65-F5344CB8AC3E}">
        <p14:creationId xmlns:p14="http://schemas.microsoft.com/office/powerpoint/2010/main" val="360484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FD20CF-398A-F781-193E-6B345562BC9E}"/>
              </a:ext>
            </a:extLst>
          </p:cNvPr>
          <p:cNvSpPr>
            <a:spLocks noGrp="1"/>
          </p:cNvSpPr>
          <p:nvPr>
            <p:ph type="title"/>
          </p:nvPr>
        </p:nvSpPr>
        <p:spPr/>
        <p:txBody>
          <a:bodyPr/>
          <a:lstStyle/>
          <a:p>
            <a:r>
              <a:rPr lang="ru-RU" dirty="0"/>
              <a:t>Словарь</a:t>
            </a:r>
          </a:p>
        </p:txBody>
      </p:sp>
      <p:sp>
        <p:nvSpPr>
          <p:cNvPr id="3" name="Объект 2">
            <a:extLst>
              <a:ext uri="{FF2B5EF4-FFF2-40B4-BE49-F238E27FC236}">
                <a16:creationId xmlns:a16="http://schemas.microsoft.com/office/drawing/2014/main" id="{ADC3B6F7-A6BE-80D0-34F6-C8E90BE18279}"/>
              </a:ext>
            </a:extLst>
          </p:cNvPr>
          <p:cNvSpPr>
            <a:spLocks noGrp="1"/>
          </p:cNvSpPr>
          <p:nvPr>
            <p:ph idx="1"/>
          </p:nvPr>
        </p:nvSpPr>
        <p:spPr/>
        <p:txBody>
          <a:bodyPr/>
          <a:lstStyle/>
          <a:p>
            <a:r>
              <a:rPr lang="ru-RU" dirty="0"/>
              <a:t>Словарь или каталог данных служит для централизованного накопления и описания ресурса данных. Он содержит описание </a:t>
            </a:r>
            <a:r>
              <a:rPr lang="ru-RU" dirty="0" err="1"/>
              <a:t>ПрО</a:t>
            </a:r>
            <a:r>
              <a:rPr lang="ru-RU" dirty="0"/>
              <a:t>, сведения о структуре БД, о связях между элементами БД. Словарь данных можно рассматривать как часть самой базы данных. </a:t>
            </a:r>
          </a:p>
        </p:txBody>
      </p:sp>
    </p:spTree>
    <p:extLst>
      <p:ext uri="{BB962C8B-B14F-4D97-AF65-F5344CB8AC3E}">
        <p14:creationId xmlns:p14="http://schemas.microsoft.com/office/powerpoint/2010/main" val="703573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4BECC8-4696-ADBE-E36D-D1D3BC6D6216}"/>
              </a:ext>
            </a:extLst>
          </p:cNvPr>
          <p:cNvSpPr>
            <a:spLocks noGrp="1"/>
          </p:cNvSpPr>
          <p:nvPr>
            <p:ph type="title"/>
          </p:nvPr>
        </p:nvSpPr>
        <p:spPr/>
        <p:txBody>
          <a:bodyPr/>
          <a:lstStyle/>
          <a:p>
            <a:r>
              <a:rPr lang="ru-RU" dirty="0"/>
              <a:t>Администратор БД (АБД)</a:t>
            </a:r>
          </a:p>
        </p:txBody>
      </p:sp>
      <p:sp>
        <p:nvSpPr>
          <p:cNvPr id="3" name="Объект 2">
            <a:extLst>
              <a:ext uri="{FF2B5EF4-FFF2-40B4-BE49-F238E27FC236}">
                <a16:creationId xmlns:a16="http://schemas.microsoft.com/office/drawing/2014/main" id="{2D14BD18-9E40-7000-38AE-4AB2E52588C1}"/>
              </a:ext>
            </a:extLst>
          </p:cNvPr>
          <p:cNvSpPr>
            <a:spLocks noGrp="1"/>
          </p:cNvSpPr>
          <p:nvPr>
            <p:ph idx="1"/>
          </p:nvPr>
        </p:nvSpPr>
        <p:spPr/>
        <p:txBody>
          <a:bodyPr/>
          <a:lstStyle/>
          <a:p>
            <a:r>
              <a:rPr lang="ru-RU" dirty="0"/>
              <a:t>АБД — человек или группа лиц, которые</a:t>
            </a:r>
          </a:p>
          <a:p>
            <a:r>
              <a:rPr lang="ru-RU" dirty="0"/>
              <a:t>принимают решения. Основные функции АБД:</a:t>
            </a:r>
          </a:p>
          <a:p>
            <a:endParaRPr lang="ru-RU" dirty="0"/>
          </a:p>
          <a:p>
            <a:pPr marL="457200" indent="-457200">
              <a:buFont typeface="Arial" panose="020B0604020202020204" pitchFamily="34" charset="0"/>
              <a:buChar char="•"/>
            </a:pPr>
            <a:r>
              <a:rPr lang="ru-RU" dirty="0"/>
              <a:t>участие в разработке БД;</a:t>
            </a:r>
          </a:p>
          <a:p>
            <a:pPr marL="457200" indent="-457200">
              <a:buFont typeface="Arial" panose="020B0604020202020204" pitchFamily="34" charset="0"/>
              <a:buChar char="•"/>
            </a:pPr>
            <a:r>
              <a:rPr lang="ru-RU" dirty="0"/>
              <a:t>контроль правильности функционирования БД.</a:t>
            </a:r>
          </a:p>
          <a:p>
            <a:endParaRPr lang="ru-RU" dirty="0"/>
          </a:p>
        </p:txBody>
      </p:sp>
    </p:spTree>
    <p:extLst>
      <p:ext uri="{BB962C8B-B14F-4D97-AF65-F5344CB8AC3E}">
        <p14:creationId xmlns:p14="http://schemas.microsoft.com/office/powerpoint/2010/main" val="1433082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F3C5DD-8A24-37DA-31E9-96F2225E5BC1}"/>
              </a:ext>
            </a:extLst>
          </p:cNvPr>
          <p:cNvSpPr>
            <a:spLocks noGrp="1"/>
          </p:cNvSpPr>
          <p:nvPr>
            <p:ph type="title"/>
          </p:nvPr>
        </p:nvSpPr>
        <p:spPr/>
        <p:txBody>
          <a:bodyPr/>
          <a:lstStyle/>
          <a:p>
            <a:r>
              <a:rPr lang="ru-RU" dirty="0"/>
              <a:t>Вычислительная система (ВС)</a:t>
            </a:r>
          </a:p>
        </p:txBody>
      </p:sp>
      <p:sp>
        <p:nvSpPr>
          <p:cNvPr id="3" name="Объект 2">
            <a:extLst>
              <a:ext uri="{FF2B5EF4-FFF2-40B4-BE49-F238E27FC236}">
                <a16:creationId xmlns:a16="http://schemas.microsoft.com/office/drawing/2014/main" id="{A77B2128-0D57-3F8F-3B78-D641BF09A4F0}"/>
              </a:ext>
            </a:extLst>
          </p:cNvPr>
          <p:cNvSpPr>
            <a:spLocks noGrp="1"/>
          </p:cNvSpPr>
          <p:nvPr>
            <p:ph idx="1"/>
          </p:nvPr>
        </p:nvSpPr>
        <p:spPr/>
        <p:txBody>
          <a:bodyPr/>
          <a:lstStyle/>
          <a:p>
            <a:r>
              <a:rPr lang="ru-RU" dirty="0"/>
              <a:t>Вычислительная система  — включает программные (ПС) и аппаратные средства (ТС).</a:t>
            </a:r>
            <a:endParaRPr lang="ru-RU" b="1" dirty="0"/>
          </a:p>
        </p:txBody>
      </p:sp>
    </p:spTree>
    <p:extLst>
      <p:ext uri="{BB962C8B-B14F-4D97-AF65-F5344CB8AC3E}">
        <p14:creationId xmlns:p14="http://schemas.microsoft.com/office/powerpoint/2010/main" val="3119298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8AD6A8-A931-AFEB-634C-B3CCAD249FB0}"/>
              </a:ext>
            </a:extLst>
          </p:cNvPr>
          <p:cNvSpPr>
            <a:spLocks noGrp="1"/>
          </p:cNvSpPr>
          <p:nvPr>
            <p:ph type="title"/>
          </p:nvPr>
        </p:nvSpPr>
        <p:spPr/>
        <p:txBody>
          <a:bodyPr/>
          <a:lstStyle/>
          <a:p>
            <a:r>
              <a:rPr lang="ru-RU" dirty="0"/>
              <a:t>Обслуживающий персонал</a:t>
            </a:r>
          </a:p>
        </p:txBody>
      </p:sp>
      <p:sp>
        <p:nvSpPr>
          <p:cNvPr id="3" name="Объект 2">
            <a:extLst>
              <a:ext uri="{FF2B5EF4-FFF2-40B4-BE49-F238E27FC236}">
                <a16:creationId xmlns:a16="http://schemas.microsoft.com/office/drawing/2014/main" id="{C60E17AC-1518-75DC-C3A4-4E5439AE9820}"/>
              </a:ext>
            </a:extLst>
          </p:cNvPr>
          <p:cNvSpPr>
            <a:spLocks noGrp="1"/>
          </p:cNvSpPr>
          <p:nvPr>
            <p:ph idx="1"/>
          </p:nvPr>
        </p:nvSpPr>
        <p:spPr/>
        <p:txBody>
          <a:bodyPr/>
          <a:lstStyle/>
          <a:p>
            <a:r>
              <a:rPr lang="ru-RU" dirty="0"/>
              <a:t>Обслуживающий персонал (ОП) — это лица, прямыми обязанностями которых является создание и поддержание корректного функционирования банка данных. Они ответственны за работу </a:t>
            </a:r>
            <a:r>
              <a:rPr lang="ru-RU" dirty="0" err="1"/>
              <a:t>БнД</a:t>
            </a:r>
            <a:r>
              <a:rPr lang="ru-RU" dirty="0"/>
              <a:t> и прикладного программного обеспечения. К обслуживающему персоналу  относятся: разработчики и администраторы базы данных, аналитики, программисты. </a:t>
            </a:r>
          </a:p>
        </p:txBody>
      </p:sp>
    </p:spTree>
    <p:extLst>
      <p:ext uri="{BB962C8B-B14F-4D97-AF65-F5344CB8AC3E}">
        <p14:creationId xmlns:p14="http://schemas.microsoft.com/office/powerpoint/2010/main" val="2863729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C50AB0-FC06-A29D-0978-5214BE9D0998}"/>
              </a:ext>
            </a:extLst>
          </p:cNvPr>
          <p:cNvSpPr>
            <a:spLocks noGrp="1"/>
          </p:cNvSpPr>
          <p:nvPr>
            <p:ph type="title"/>
          </p:nvPr>
        </p:nvSpPr>
        <p:spPr/>
        <p:txBody>
          <a:bodyPr/>
          <a:lstStyle/>
          <a:p>
            <a:r>
              <a:rPr lang="ru-RU" dirty="0"/>
              <a:t>Базы данных</a:t>
            </a:r>
          </a:p>
        </p:txBody>
      </p:sp>
      <p:sp>
        <p:nvSpPr>
          <p:cNvPr id="3" name="Объект 2">
            <a:extLst>
              <a:ext uri="{FF2B5EF4-FFF2-40B4-BE49-F238E27FC236}">
                <a16:creationId xmlns:a16="http://schemas.microsoft.com/office/drawing/2014/main" id="{D5988282-279F-D253-417F-91B721EAE9A3}"/>
              </a:ext>
            </a:extLst>
          </p:cNvPr>
          <p:cNvSpPr>
            <a:spLocks noGrp="1"/>
          </p:cNvSpPr>
          <p:nvPr>
            <p:ph idx="1"/>
          </p:nvPr>
        </p:nvSpPr>
        <p:spPr/>
        <p:txBody>
          <a:bodyPr/>
          <a:lstStyle/>
          <a:p>
            <a:r>
              <a:rPr lang="ru-RU" dirty="0"/>
              <a:t>БД, как правило, создается как общий ресурс всего предприятия, где данные являются интегрированными и общими. Под понятием интегрированные данные подразумевается возможность представить базу данных как объединение нескольких отдельных файлов данных. </a:t>
            </a:r>
          </a:p>
          <a:p>
            <a:r>
              <a:rPr lang="ru-RU" dirty="0"/>
              <a:t>Под понятием общие данные подразумевается возможность использования отдельных областей данных в БД несколькими различными пользователями для разных целей</a:t>
            </a:r>
          </a:p>
        </p:txBody>
      </p:sp>
    </p:spTree>
    <p:extLst>
      <p:ext uri="{BB962C8B-B14F-4D97-AF65-F5344CB8AC3E}">
        <p14:creationId xmlns:p14="http://schemas.microsoft.com/office/powerpoint/2010/main" val="274581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E784C5-7CE2-6D72-F73C-1FC92202749F}"/>
              </a:ext>
            </a:extLst>
          </p:cNvPr>
          <p:cNvSpPr>
            <a:spLocks noGrp="1"/>
          </p:cNvSpPr>
          <p:nvPr>
            <p:ph type="title"/>
          </p:nvPr>
        </p:nvSpPr>
        <p:spPr/>
        <p:txBody>
          <a:bodyPr/>
          <a:lstStyle/>
          <a:p>
            <a:r>
              <a:rPr lang="ru-RU" dirty="0"/>
              <a:t>Информация в БД</a:t>
            </a:r>
          </a:p>
        </p:txBody>
      </p:sp>
      <p:sp>
        <p:nvSpPr>
          <p:cNvPr id="3" name="Объект 2">
            <a:extLst>
              <a:ext uri="{FF2B5EF4-FFF2-40B4-BE49-F238E27FC236}">
                <a16:creationId xmlns:a16="http://schemas.microsoft.com/office/drawing/2014/main" id="{65F9D44E-1A6F-E66C-1831-3D2056991DF1}"/>
              </a:ext>
            </a:extLst>
          </p:cNvPr>
          <p:cNvSpPr>
            <a:spLocks noGrp="1"/>
          </p:cNvSpPr>
          <p:nvPr>
            <p:ph idx="1"/>
          </p:nvPr>
        </p:nvSpPr>
        <p:spPr/>
        <p:txBody>
          <a:bodyPr/>
          <a:lstStyle/>
          <a:p>
            <a:r>
              <a:rPr lang="ru-RU" dirty="0"/>
              <a:t>В базе данных информация должна быть организована так, чтобы обеспечить минимальную долю ее избыточности. Частичная избыточность информации необходима, но она должна быть минимизирована, так как чрезмерная избыточность данных влечет за собой ряд негативных последствий.</a:t>
            </a:r>
          </a:p>
        </p:txBody>
      </p:sp>
    </p:spTree>
    <p:extLst>
      <p:ext uri="{BB962C8B-B14F-4D97-AF65-F5344CB8AC3E}">
        <p14:creationId xmlns:p14="http://schemas.microsoft.com/office/powerpoint/2010/main" val="2355000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E7530D-D3A7-1354-2A50-8BF3D6A95389}"/>
              </a:ext>
            </a:extLst>
          </p:cNvPr>
          <p:cNvSpPr>
            <a:spLocks noGrp="1"/>
          </p:cNvSpPr>
          <p:nvPr>
            <p:ph type="title"/>
          </p:nvPr>
        </p:nvSpPr>
        <p:spPr/>
        <p:txBody>
          <a:bodyPr/>
          <a:lstStyle/>
          <a:p>
            <a:r>
              <a:rPr lang="ru-RU" dirty="0"/>
              <a:t>Негативные последствия избыточности</a:t>
            </a:r>
          </a:p>
        </p:txBody>
      </p:sp>
      <p:sp>
        <p:nvSpPr>
          <p:cNvPr id="3" name="Объект 2">
            <a:extLst>
              <a:ext uri="{FF2B5EF4-FFF2-40B4-BE49-F238E27FC236}">
                <a16:creationId xmlns:a16="http://schemas.microsoft.com/office/drawing/2014/main" id="{1F9E522C-388D-3341-C57A-93F9C754EFFE}"/>
              </a:ext>
            </a:extLst>
          </p:cNvPr>
          <p:cNvSpPr>
            <a:spLocks noGrp="1"/>
          </p:cNvSpPr>
          <p:nvPr>
            <p:ph idx="1"/>
          </p:nvPr>
        </p:nvSpPr>
        <p:spPr/>
        <p:txBody>
          <a:bodyPr>
            <a:normAutofit/>
          </a:bodyPr>
          <a:lstStyle/>
          <a:p>
            <a:r>
              <a:rPr lang="ru-RU" dirty="0"/>
              <a:t>увеличение объема информации, а значит, потребность в</a:t>
            </a:r>
          </a:p>
          <a:p>
            <a:r>
              <a:rPr lang="ru-RU" dirty="0"/>
              <a:t>дополнительных ресурсах для хранения и обработки</a:t>
            </a:r>
          </a:p>
          <a:p>
            <a:r>
              <a:rPr lang="ru-RU" dirty="0"/>
              <a:t>дополнительных объемов данных;</a:t>
            </a:r>
          </a:p>
          <a:p>
            <a:endParaRPr lang="ru-RU" dirty="0"/>
          </a:p>
          <a:p>
            <a:r>
              <a:rPr lang="ru-RU" dirty="0"/>
              <a:t>появление ошибок при вводе дублирующей информации,</a:t>
            </a:r>
          </a:p>
          <a:p>
            <a:r>
              <a:rPr lang="ru-RU" dirty="0"/>
              <a:t>нарушающих целостность базы данных и создающих противоречивые данные.</a:t>
            </a:r>
          </a:p>
        </p:txBody>
      </p:sp>
    </p:spTree>
    <p:extLst>
      <p:ext uri="{BB962C8B-B14F-4D97-AF65-F5344CB8AC3E}">
        <p14:creationId xmlns:p14="http://schemas.microsoft.com/office/powerpoint/2010/main" val="813674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87DB2E-FB6E-9679-1DA5-08D0427EEFEF}"/>
              </a:ext>
            </a:extLst>
          </p:cNvPr>
          <p:cNvSpPr>
            <a:spLocks noGrp="1"/>
          </p:cNvSpPr>
          <p:nvPr>
            <p:ph type="title"/>
          </p:nvPr>
        </p:nvSpPr>
        <p:spPr/>
        <p:txBody>
          <a:bodyPr/>
          <a:lstStyle/>
          <a:p>
            <a:r>
              <a:rPr lang="ru-RU" dirty="0"/>
              <a:t>Метаданные</a:t>
            </a:r>
          </a:p>
        </p:txBody>
      </p:sp>
      <p:sp>
        <p:nvSpPr>
          <p:cNvPr id="3" name="Объект 2">
            <a:extLst>
              <a:ext uri="{FF2B5EF4-FFF2-40B4-BE49-F238E27FC236}">
                <a16:creationId xmlns:a16="http://schemas.microsoft.com/office/drawing/2014/main" id="{2A1DE377-787E-E8C2-ED35-2C8C690F13D9}"/>
              </a:ext>
            </a:extLst>
          </p:cNvPr>
          <p:cNvSpPr>
            <a:spLocks noGrp="1"/>
          </p:cNvSpPr>
          <p:nvPr>
            <p:ph idx="1"/>
          </p:nvPr>
        </p:nvSpPr>
        <p:spPr/>
        <p:txBody>
          <a:bodyPr/>
          <a:lstStyle/>
          <a:p>
            <a:r>
              <a:rPr lang="ru-RU" dirty="0"/>
              <a:t>БД содержит не только данные, всесторонне характеризующие предметную область, но и описания этих данных. </a:t>
            </a:r>
          </a:p>
          <a:p>
            <a:endParaRPr lang="ru-RU" dirty="0"/>
          </a:p>
          <a:p>
            <a:r>
              <a:rPr lang="ru-RU" b="1" dirty="0"/>
              <a:t>Информацию о данных </a:t>
            </a:r>
            <a:r>
              <a:rPr lang="ru-RU" dirty="0"/>
              <a:t>принято называть "</a:t>
            </a:r>
            <a:r>
              <a:rPr lang="ru-RU" b="1" dirty="0"/>
              <a:t>метаданными</a:t>
            </a:r>
            <a:r>
              <a:rPr lang="ru-RU" dirty="0"/>
              <a:t>", т. е. "данными о данных". </a:t>
            </a:r>
          </a:p>
          <a:p>
            <a:endParaRPr lang="ru-RU" dirty="0"/>
          </a:p>
          <a:p>
            <a:r>
              <a:rPr lang="ru-RU" dirty="0"/>
              <a:t>В совокупности описания всех данных образуют </a:t>
            </a:r>
            <a:r>
              <a:rPr lang="ru-RU" b="1" dirty="0"/>
              <a:t>словарь данных</a:t>
            </a:r>
          </a:p>
        </p:txBody>
      </p:sp>
    </p:spTree>
    <p:extLst>
      <p:ext uri="{BB962C8B-B14F-4D97-AF65-F5344CB8AC3E}">
        <p14:creationId xmlns:p14="http://schemas.microsoft.com/office/powerpoint/2010/main" val="334543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218F05-BA0E-F288-9130-77E5A7B247A1}"/>
              </a:ext>
            </a:extLst>
          </p:cNvPr>
          <p:cNvSpPr>
            <a:spLocks noGrp="1"/>
          </p:cNvSpPr>
          <p:nvPr>
            <p:ph type="title"/>
          </p:nvPr>
        </p:nvSpPr>
        <p:spPr/>
        <p:txBody>
          <a:bodyPr/>
          <a:lstStyle/>
          <a:p>
            <a:r>
              <a:rPr lang="ru-RU" dirty="0"/>
              <a:t>Сущности</a:t>
            </a:r>
          </a:p>
        </p:txBody>
      </p:sp>
      <p:sp>
        <p:nvSpPr>
          <p:cNvPr id="3" name="Объект 2">
            <a:extLst>
              <a:ext uri="{FF2B5EF4-FFF2-40B4-BE49-F238E27FC236}">
                <a16:creationId xmlns:a16="http://schemas.microsoft.com/office/drawing/2014/main" id="{02D3E830-B263-BBB7-4902-9372856B3DD7}"/>
              </a:ext>
            </a:extLst>
          </p:cNvPr>
          <p:cNvSpPr>
            <a:spLocks noGrp="1"/>
          </p:cNvSpPr>
          <p:nvPr>
            <p:ph idx="1"/>
          </p:nvPr>
        </p:nvSpPr>
        <p:spPr/>
        <p:txBody>
          <a:bodyPr/>
          <a:lstStyle/>
          <a:p>
            <a:pPr>
              <a:lnSpc>
                <a:spcPct val="100000"/>
              </a:lnSpc>
            </a:pPr>
            <a:endParaRPr lang="ru-RU" dirty="0"/>
          </a:p>
          <a:p>
            <a:pPr>
              <a:lnSpc>
                <a:spcPct val="100000"/>
              </a:lnSpc>
            </a:pPr>
            <a:r>
              <a:rPr lang="ru-RU" dirty="0"/>
              <a:t>Сущность или объект — это то, о чем необходимо хранить информацию. </a:t>
            </a:r>
          </a:p>
          <a:p>
            <a:pPr>
              <a:lnSpc>
                <a:spcPct val="100000"/>
              </a:lnSpc>
            </a:pPr>
            <a:endParaRPr lang="ru-RU" dirty="0"/>
          </a:p>
          <a:p>
            <a:pPr>
              <a:lnSpc>
                <a:spcPct val="100000"/>
              </a:lnSpc>
            </a:pPr>
            <a:r>
              <a:rPr lang="ru-RU" dirty="0"/>
              <a:t>Сущности имеют некоторые характеристики, называемые атрибутами, которые тоже необходимо сохранять в БД. </a:t>
            </a:r>
          </a:p>
        </p:txBody>
      </p:sp>
    </p:spTree>
    <p:extLst>
      <p:ext uri="{BB962C8B-B14F-4D97-AF65-F5344CB8AC3E}">
        <p14:creationId xmlns:p14="http://schemas.microsoft.com/office/powerpoint/2010/main" val="1443953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7F6252-AE95-7951-1E3A-A3DC1B4EB5CA}"/>
              </a:ext>
            </a:extLst>
          </p:cNvPr>
          <p:cNvSpPr>
            <a:spLocks noGrp="1"/>
          </p:cNvSpPr>
          <p:nvPr>
            <p:ph type="title"/>
          </p:nvPr>
        </p:nvSpPr>
        <p:spPr/>
        <p:txBody>
          <a:bodyPr/>
          <a:lstStyle/>
          <a:p>
            <a:r>
              <a:rPr lang="ru-RU" dirty="0"/>
              <a:t>Связи</a:t>
            </a:r>
          </a:p>
        </p:txBody>
      </p:sp>
      <p:sp>
        <p:nvSpPr>
          <p:cNvPr id="3" name="Объект 2">
            <a:extLst>
              <a:ext uri="{FF2B5EF4-FFF2-40B4-BE49-F238E27FC236}">
                <a16:creationId xmlns:a16="http://schemas.microsoft.com/office/drawing/2014/main" id="{7D1A25E0-B63B-8D72-290D-7CF27BEB232F}"/>
              </a:ext>
            </a:extLst>
          </p:cNvPr>
          <p:cNvSpPr>
            <a:spLocks noGrp="1"/>
          </p:cNvSpPr>
          <p:nvPr>
            <p:ph idx="1"/>
          </p:nvPr>
        </p:nvSpPr>
        <p:spPr/>
        <p:txBody>
          <a:bodyPr/>
          <a:lstStyle/>
          <a:p>
            <a:pPr>
              <a:lnSpc>
                <a:spcPct val="150000"/>
              </a:lnSpc>
            </a:pPr>
            <a:r>
              <a:rPr lang="ru-RU" dirty="0"/>
              <a:t>Связь — это то, что объединяет две или более сущностей. Связи между сущностями также являются частью данных, и они также должны храниться в базе данных.</a:t>
            </a:r>
          </a:p>
        </p:txBody>
      </p:sp>
    </p:spTree>
    <p:extLst>
      <p:ext uri="{BB962C8B-B14F-4D97-AF65-F5344CB8AC3E}">
        <p14:creationId xmlns:p14="http://schemas.microsoft.com/office/powerpoint/2010/main" val="23284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495F8B87-C839-5D4A-9D01-9A5A6585C3DF}"/>
              </a:ext>
            </a:extLst>
          </p:cNvPr>
          <p:cNvPicPr>
            <a:picLocks noChangeAspect="1"/>
          </p:cNvPicPr>
          <p:nvPr/>
        </p:nvPicPr>
        <p:blipFill>
          <a:blip r:embed="rId2"/>
          <a:stretch>
            <a:fillRect/>
          </a:stretch>
        </p:blipFill>
        <p:spPr>
          <a:xfrm>
            <a:off x="3033449" y="0"/>
            <a:ext cx="5505915" cy="6858000"/>
          </a:xfrm>
          <a:prstGeom prst="rect">
            <a:avLst/>
          </a:prstGeom>
        </p:spPr>
      </p:pic>
    </p:spTree>
    <p:extLst>
      <p:ext uri="{BB962C8B-B14F-4D97-AF65-F5344CB8AC3E}">
        <p14:creationId xmlns:p14="http://schemas.microsoft.com/office/powerpoint/2010/main" val="251863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6B4614-6EF6-9074-976D-B4A7D6D3166A}"/>
              </a:ext>
            </a:extLst>
          </p:cNvPr>
          <p:cNvSpPr>
            <a:spLocks noGrp="1"/>
          </p:cNvSpPr>
          <p:nvPr>
            <p:ph type="title"/>
          </p:nvPr>
        </p:nvSpPr>
        <p:spPr/>
        <p:txBody>
          <a:bodyPr/>
          <a:lstStyle/>
          <a:p>
            <a:r>
              <a:rPr lang="ru-RU" dirty="0"/>
              <a:t>Сущности для модели «Факультет»</a:t>
            </a:r>
          </a:p>
        </p:txBody>
      </p:sp>
      <p:sp>
        <p:nvSpPr>
          <p:cNvPr id="3" name="Объект 2">
            <a:extLst>
              <a:ext uri="{FF2B5EF4-FFF2-40B4-BE49-F238E27FC236}">
                <a16:creationId xmlns:a16="http://schemas.microsoft.com/office/drawing/2014/main" id="{3F788CF9-1469-9F95-C088-87354FA37621}"/>
              </a:ext>
            </a:extLst>
          </p:cNvPr>
          <p:cNvSpPr>
            <a:spLocks noGrp="1"/>
          </p:cNvSpPr>
          <p:nvPr>
            <p:ph idx="1"/>
          </p:nvPr>
        </p:nvSpPr>
        <p:spPr/>
        <p:txBody>
          <a:bodyPr/>
          <a:lstStyle/>
          <a:p>
            <a:r>
              <a:rPr lang="ru-RU" dirty="0"/>
              <a:t>ФАКУЛЬТЕТ: </a:t>
            </a:r>
            <a:r>
              <a:rPr lang="ru-RU" sz="2400" dirty="0"/>
              <a:t>(</a:t>
            </a:r>
            <a:r>
              <a:rPr lang="ru-RU" sz="2400" dirty="0" err="1"/>
              <a:t>Код_факультета</a:t>
            </a:r>
            <a:r>
              <a:rPr lang="ru-RU" sz="2400" dirty="0"/>
              <a:t>, </a:t>
            </a:r>
            <a:r>
              <a:rPr lang="ru-RU" sz="2400" dirty="0" err="1"/>
              <a:t>Назв_факультета</a:t>
            </a:r>
            <a:r>
              <a:rPr lang="ru-RU" sz="2400" dirty="0"/>
              <a:t>, </a:t>
            </a:r>
            <a:r>
              <a:rPr lang="ru-RU" sz="2400" dirty="0" err="1"/>
              <a:t>ФИО_декана</a:t>
            </a:r>
            <a:r>
              <a:rPr lang="ru-RU" sz="2400" dirty="0"/>
              <a:t>); </a:t>
            </a:r>
            <a:endParaRPr lang="en-US" sz="2400" dirty="0"/>
          </a:p>
          <a:p>
            <a:r>
              <a:rPr lang="ru-RU" dirty="0"/>
              <a:t>КАФЕДРА: </a:t>
            </a:r>
            <a:r>
              <a:rPr lang="ru-RU" sz="2400" dirty="0"/>
              <a:t>(</a:t>
            </a:r>
            <a:r>
              <a:rPr lang="ru-RU" sz="2400" dirty="0" err="1"/>
              <a:t>Код_кафедры</a:t>
            </a:r>
            <a:r>
              <a:rPr lang="ru-RU" sz="2400" dirty="0"/>
              <a:t>, </a:t>
            </a:r>
            <a:r>
              <a:rPr lang="ru-RU" sz="2400" dirty="0" err="1"/>
              <a:t>Назв_кафедры</a:t>
            </a:r>
            <a:r>
              <a:rPr lang="ru-RU" sz="2400" dirty="0"/>
              <a:t>, </a:t>
            </a:r>
            <a:r>
              <a:rPr lang="ru-RU" sz="2400" dirty="0" err="1"/>
              <a:t>Зав_кафедрой</a:t>
            </a:r>
            <a:r>
              <a:rPr lang="ru-RU" sz="2400" dirty="0"/>
              <a:t>); </a:t>
            </a:r>
            <a:endParaRPr lang="en-US" sz="2400" dirty="0"/>
          </a:p>
          <a:p>
            <a:r>
              <a:rPr lang="ru-RU" dirty="0"/>
              <a:t>СПЕЦИАЛЬНОСТЬ</a:t>
            </a:r>
            <a:r>
              <a:rPr lang="ru-RU" sz="2400" dirty="0"/>
              <a:t>:(</a:t>
            </a:r>
            <a:r>
              <a:rPr lang="ru-RU" sz="2400" dirty="0" err="1"/>
              <a:t>Код_специальности,Назв_специальности</a:t>
            </a:r>
            <a:r>
              <a:rPr lang="ru-RU" sz="2400" dirty="0"/>
              <a:t>); </a:t>
            </a:r>
            <a:endParaRPr lang="en-US" sz="2400" dirty="0"/>
          </a:p>
          <a:p>
            <a:r>
              <a:rPr lang="ru-RU" dirty="0"/>
              <a:t>ПРЕПОДАВАТЕЛЬ: </a:t>
            </a:r>
            <a:r>
              <a:rPr lang="ru-RU" sz="2400" dirty="0"/>
              <a:t>(</a:t>
            </a:r>
            <a:r>
              <a:rPr lang="ru-RU" sz="2400" dirty="0" err="1"/>
              <a:t>Код_преподавателя</a:t>
            </a:r>
            <a:r>
              <a:rPr lang="ru-RU" sz="2400" dirty="0"/>
              <a:t>, ФИО, Должность);</a:t>
            </a:r>
            <a:endParaRPr lang="en-US" sz="2400" dirty="0"/>
          </a:p>
          <a:p>
            <a:r>
              <a:rPr lang="ru-RU" dirty="0"/>
              <a:t>ГРУППА: </a:t>
            </a:r>
            <a:r>
              <a:rPr lang="ru-RU" sz="2400" dirty="0"/>
              <a:t>(</a:t>
            </a:r>
            <a:r>
              <a:rPr lang="ru-RU" sz="2400" dirty="0" err="1"/>
              <a:t>Код_группы</a:t>
            </a:r>
            <a:r>
              <a:rPr lang="ru-RU" sz="2400" dirty="0"/>
              <a:t>, </a:t>
            </a:r>
            <a:r>
              <a:rPr lang="ru-RU" sz="2400" dirty="0" err="1"/>
              <a:t>ФИО_старосты</a:t>
            </a:r>
            <a:r>
              <a:rPr lang="ru-RU" sz="2400" dirty="0"/>
              <a:t>); </a:t>
            </a:r>
            <a:endParaRPr lang="en-US" sz="2400" dirty="0"/>
          </a:p>
          <a:p>
            <a:r>
              <a:rPr lang="ru-RU" dirty="0"/>
              <a:t>СТУДЕНТ: </a:t>
            </a:r>
            <a:r>
              <a:rPr lang="ru-RU" sz="2400" dirty="0"/>
              <a:t>(</a:t>
            </a:r>
            <a:r>
              <a:rPr lang="ru-RU" sz="2400" dirty="0" err="1"/>
              <a:t>Ном_зач_книжки</a:t>
            </a:r>
            <a:r>
              <a:rPr lang="ru-RU" sz="2400" dirty="0"/>
              <a:t>, ФИО, Пол);</a:t>
            </a:r>
          </a:p>
        </p:txBody>
      </p:sp>
    </p:spTree>
    <p:extLst>
      <p:ext uri="{BB962C8B-B14F-4D97-AF65-F5344CB8AC3E}">
        <p14:creationId xmlns:p14="http://schemas.microsoft.com/office/powerpoint/2010/main" val="316842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B3FCDB-E3C9-A5EF-EA6E-DD2CBF52EEA0}"/>
              </a:ext>
            </a:extLst>
          </p:cNvPr>
          <p:cNvSpPr>
            <a:spLocks noGrp="1"/>
          </p:cNvSpPr>
          <p:nvPr>
            <p:ph type="title"/>
          </p:nvPr>
        </p:nvSpPr>
        <p:spPr/>
        <p:txBody>
          <a:bodyPr/>
          <a:lstStyle/>
          <a:p>
            <a:r>
              <a:rPr lang="ru-RU" dirty="0"/>
              <a:t>Связи для модели «Факультет»</a:t>
            </a:r>
          </a:p>
        </p:txBody>
      </p:sp>
      <p:sp>
        <p:nvSpPr>
          <p:cNvPr id="3" name="Объект 2">
            <a:extLst>
              <a:ext uri="{FF2B5EF4-FFF2-40B4-BE49-F238E27FC236}">
                <a16:creationId xmlns:a16="http://schemas.microsoft.com/office/drawing/2014/main" id="{474C22A4-8F1F-80EE-4F90-5246D3AEFF7C}"/>
              </a:ext>
            </a:extLst>
          </p:cNvPr>
          <p:cNvSpPr>
            <a:spLocks noGrp="1"/>
          </p:cNvSpPr>
          <p:nvPr>
            <p:ph idx="1"/>
          </p:nvPr>
        </p:nvSpPr>
        <p:spPr/>
        <p:txBody>
          <a:bodyPr>
            <a:normAutofit/>
          </a:bodyPr>
          <a:lstStyle/>
          <a:p>
            <a:r>
              <a:rPr lang="ru-RU" dirty="0"/>
              <a:t>связь ВКЛЮЧАЕТ показывает, что на факультете несколько кафедр;</a:t>
            </a:r>
          </a:p>
          <a:p>
            <a:r>
              <a:rPr lang="ru-RU" dirty="0"/>
              <a:t>связь ВХОДИТ изображает, что одна и та же кафедра готовит</a:t>
            </a:r>
          </a:p>
          <a:p>
            <a:r>
              <a:rPr lang="ru-RU" dirty="0"/>
              <a:t>специалистов по нескольким специальностям;</a:t>
            </a:r>
          </a:p>
          <a:p>
            <a:r>
              <a:rPr lang="ru-RU" dirty="0"/>
              <a:t>связь РАБОТАЕТ определяет то, что на кафедре работает ряд</a:t>
            </a:r>
          </a:p>
          <a:p>
            <a:r>
              <a:rPr lang="ru-RU" dirty="0"/>
              <a:t>преподавателей;</a:t>
            </a:r>
          </a:p>
          <a:p>
            <a:r>
              <a:rPr lang="ru-RU" dirty="0"/>
              <a:t>связь ОБУЧАЕТ с двойными стрелками в обоих направлениях поясняет</a:t>
            </a:r>
          </a:p>
          <a:p>
            <a:r>
              <a:rPr lang="ru-RU" dirty="0"/>
              <a:t>тот факт, что один и тот же преподаватель преподает в разных группах, а</a:t>
            </a:r>
          </a:p>
          <a:p>
            <a:r>
              <a:rPr lang="ru-RU" dirty="0"/>
              <a:t>одна и та же группа занимается с разными преподавателями;</a:t>
            </a:r>
          </a:p>
          <a:p>
            <a:r>
              <a:rPr lang="ru-RU" dirty="0"/>
              <a:t>связь ОБУЧАЕТСЯ определяет, что каждая группа включает в себя ряд</a:t>
            </a:r>
          </a:p>
          <a:p>
            <a:r>
              <a:rPr lang="ru-RU" dirty="0"/>
              <a:t>студентов. </a:t>
            </a:r>
          </a:p>
        </p:txBody>
      </p:sp>
    </p:spTree>
    <p:extLst>
      <p:ext uri="{BB962C8B-B14F-4D97-AF65-F5344CB8AC3E}">
        <p14:creationId xmlns:p14="http://schemas.microsoft.com/office/powerpoint/2010/main" val="3106334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4F718D-790D-3570-AC51-5DA0BC4FF5B0}"/>
              </a:ext>
            </a:extLst>
          </p:cNvPr>
          <p:cNvSpPr>
            <a:spLocks noGrp="1"/>
          </p:cNvSpPr>
          <p:nvPr>
            <p:ph type="title"/>
          </p:nvPr>
        </p:nvSpPr>
        <p:spPr/>
        <p:txBody>
          <a:bodyPr/>
          <a:lstStyle/>
          <a:p>
            <a:r>
              <a:rPr lang="ru-RU" dirty="0"/>
              <a:t>Архитектура СУБД</a:t>
            </a:r>
          </a:p>
        </p:txBody>
      </p:sp>
      <p:sp>
        <p:nvSpPr>
          <p:cNvPr id="3" name="Объект 2">
            <a:extLst>
              <a:ext uri="{FF2B5EF4-FFF2-40B4-BE49-F238E27FC236}">
                <a16:creationId xmlns:a16="http://schemas.microsoft.com/office/drawing/2014/main" id="{1A7F3216-8897-C374-F2D3-0F24C230274F}"/>
              </a:ext>
            </a:extLst>
          </p:cNvPr>
          <p:cNvSpPr>
            <a:spLocks noGrp="1"/>
          </p:cNvSpPr>
          <p:nvPr>
            <p:ph idx="1"/>
          </p:nvPr>
        </p:nvSpPr>
        <p:spPr/>
        <p:txBody>
          <a:bodyPr>
            <a:normAutofit/>
          </a:bodyPr>
          <a:lstStyle/>
          <a:p>
            <a:r>
              <a:rPr lang="ru-RU" b="1" dirty="0"/>
              <a:t>Трехуровневая архитектура базы данных</a:t>
            </a:r>
            <a:endParaRPr lang="en-US" b="1" dirty="0"/>
          </a:p>
          <a:p>
            <a:endParaRPr lang="en-US" dirty="0"/>
          </a:p>
          <a:p>
            <a:pPr marL="457200" indent="-457200">
              <a:buFont typeface="Arial" panose="020B0604020202020204" pitchFamily="34" charset="0"/>
              <a:buChar char="•"/>
            </a:pPr>
            <a:r>
              <a:rPr lang="ru-RU" dirty="0"/>
              <a:t>внешний уровень, на котором пользователи воспринимают данные,</a:t>
            </a:r>
            <a:r>
              <a:rPr lang="en-US" dirty="0"/>
              <a:t> </a:t>
            </a:r>
            <a:r>
              <a:rPr lang="ru-RU" dirty="0"/>
              <a:t>где отдельные группы пользователей имеют свое представление</a:t>
            </a:r>
            <a:r>
              <a:rPr lang="en-US" dirty="0"/>
              <a:t> </a:t>
            </a:r>
            <a:r>
              <a:rPr lang="ru-RU" dirty="0"/>
              <a:t>(ПП) на базу данных;</a:t>
            </a:r>
          </a:p>
          <a:p>
            <a:pPr marL="457200" indent="-457200">
              <a:buFont typeface="Arial" panose="020B0604020202020204" pitchFamily="34" charset="0"/>
              <a:buChar char="•"/>
            </a:pPr>
            <a:r>
              <a:rPr lang="ru-RU" dirty="0"/>
              <a:t>внутренний уровень, на котором СУБД и операционная система</a:t>
            </a:r>
            <a:r>
              <a:rPr lang="en-US" dirty="0"/>
              <a:t> </a:t>
            </a:r>
            <a:r>
              <a:rPr lang="ru-RU" dirty="0"/>
              <a:t>воспринимают данные;</a:t>
            </a:r>
          </a:p>
          <a:p>
            <a:pPr marL="457200" indent="-457200">
              <a:buFont typeface="Arial" panose="020B0604020202020204" pitchFamily="34" charset="0"/>
              <a:buChar char="•"/>
            </a:pPr>
            <a:r>
              <a:rPr lang="ru-RU" dirty="0"/>
              <a:t>концептуальный уровень представления данных, предназначенный</a:t>
            </a:r>
            <a:r>
              <a:rPr lang="en-US" dirty="0"/>
              <a:t> </a:t>
            </a:r>
            <a:r>
              <a:rPr lang="ru-RU" dirty="0"/>
              <a:t>для отображения внешнего уровня на внутренний уровень, а также</a:t>
            </a:r>
            <a:r>
              <a:rPr lang="en-US" dirty="0"/>
              <a:t> </a:t>
            </a:r>
            <a:r>
              <a:rPr lang="ru-RU" dirty="0"/>
              <a:t>для обеспечения необходимой их независимости друг от друга; он</a:t>
            </a:r>
            <a:r>
              <a:rPr lang="en-US" dirty="0"/>
              <a:t> </a:t>
            </a:r>
            <a:r>
              <a:rPr lang="ru-RU" dirty="0"/>
              <a:t>связан с обобщенным представлением пользователей. </a:t>
            </a:r>
            <a:endParaRPr lang="en-US" dirty="0"/>
          </a:p>
          <a:p>
            <a:endParaRPr lang="ru-RU" dirty="0"/>
          </a:p>
        </p:txBody>
      </p:sp>
    </p:spTree>
    <p:extLst>
      <p:ext uri="{BB962C8B-B14F-4D97-AF65-F5344CB8AC3E}">
        <p14:creationId xmlns:p14="http://schemas.microsoft.com/office/powerpoint/2010/main" val="4063263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85177512-905E-FC6E-3140-FE1A418D3F52}"/>
              </a:ext>
            </a:extLst>
          </p:cNvPr>
          <p:cNvPicPr>
            <a:picLocks noChangeAspect="1"/>
          </p:cNvPicPr>
          <p:nvPr/>
        </p:nvPicPr>
        <p:blipFill>
          <a:blip r:embed="rId2"/>
          <a:stretch>
            <a:fillRect/>
          </a:stretch>
        </p:blipFill>
        <p:spPr>
          <a:xfrm>
            <a:off x="3438225" y="171159"/>
            <a:ext cx="6400181" cy="6201065"/>
          </a:xfrm>
          <a:prstGeom prst="rect">
            <a:avLst/>
          </a:prstGeom>
        </p:spPr>
      </p:pic>
    </p:spTree>
    <p:extLst>
      <p:ext uri="{BB962C8B-B14F-4D97-AF65-F5344CB8AC3E}">
        <p14:creationId xmlns:p14="http://schemas.microsoft.com/office/powerpoint/2010/main" val="4094446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C05C93-F716-C4E1-76FD-DB2ACA26E005}"/>
              </a:ext>
            </a:extLst>
          </p:cNvPr>
          <p:cNvSpPr>
            <a:spLocks noGrp="1"/>
          </p:cNvSpPr>
          <p:nvPr>
            <p:ph type="title"/>
          </p:nvPr>
        </p:nvSpPr>
        <p:spPr/>
        <p:txBody>
          <a:bodyPr/>
          <a:lstStyle/>
          <a:p>
            <a:r>
              <a:rPr lang="ru-RU" dirty="0"/>
              <a:t>Обеспечение независимости от данных</a:t>
            </a:r>
          </a:p>
        </p:txBody>
      </p:sp>
      <p:sp>
        <p:nvSpPr>
          <p:cNvPr id="3" name="Объект 2">
            <a:extLst>
              <a:ext uri="{FF2B5EF4-FFF2-40B4-BE49-F238E27FC236}">
                <a16:creationId xmlns:a16="http://schemas.microsoft.com/office/drawing/2014/main" id="{D75184C9-961C-9B95-A18B-58BA41A4256C}"/>
              </a:ext>
            </a:extLst>
          </p:cNvPr>
          <p:cNvSpPr>
            <a:spLocks noGrp="1"/>
          </p:cNvSpPr>
          <p:nvPr>
            <p:ph idx="1"/>
          </p:nvPr>
        </p:nvSpPr>
        <p:spPr/>
        <p:txBody>
          <a:bodyPr/>
          <a:lstStyle/>
          <a:p>
            <a:r>
              <a:rPr lang="ru-RU" dirty="0"/>
              <a:t>Основным назначением трехуровневой архитектуры является обеспечение независимости от данных. Суть этой независимости заключается в том, что изменения на нижних уровнях никак не влияют на верхние уровни. Различают два типа независимости от данных: логическую и физическую. </a:t>
            </a:r>
          </a:p>
        </p:txBody>
      </p:sp>
    </p:spTree>
    <p:extLst>
      <p:ext uri="{BB962C8B-B14F-4D97-AF65-F5344CB8AC3E}">
        <p14:creationId xmlns:p14="http://schemas.microsoft.com/office/powerpoint/2010/main" val="80411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CD9231-3AFF-DD81-4CBC-A215C3DEB72D}"/>
              </a:ext>
            </a:extLst>
          </p:cNvPr>
          <p:cNvSpPr>
            <a:spLocks noGrp="1"/>
          </p:cNvSpPr>
          <p:nvPr>
            <p:ph type="title"/>
          </p:nvPr>
        </p:nvSpPr>
        <p:spPr/>
        <p:txBody>
          <a:bodyPr/>
          <a:lstStyle/>
          <a:p>
            <a:r>
              <a:rPr lang="ru-RU" dirty="0"/>
              <a:t>Логическая независимость</a:t>
            </a:r>
          </a:p>
        </p:txBody>
      </p:sp>
      <p:sp>
        <p:nvSpPr>
          <p:cNvPr id="3" name="Объект 2">
            <a:extLst>
              <a:ext uri="{FF2B5EF4-FFF2-40B4-BE49-F238E27FC236}">
                <a16:creationId xmlns:a16="http://schemas.microsoft.com/office/drawing/2014/main" id="{3811F083-CE6B-CEEC-48F1-4FFF0AEDC390}"/>
              </a:ext>
            </a:extLst>
          </p:cNvPr>
          <p:cNvSpPr>
            <a:spLocks noGrp="1"/>
          </p:cNvSpPr>
          <p:nvPr>
            <p:ph idx="1"/>
          </p:nvPr>
        </p:nvSpPr>
        <p:spPr/>
        <p:txBody>
          <a:bodyPr>
            <a:normAutofit/>
          </a:bodyPr>
          <a:lstStyle/>
          <a:p>
            <a:r>
              <a:rPr lang="ru-RU" dirty="0"/>
              <a:t>Логическая независимость от данных означает полную защищенность внешних схем от изменений, вносимых в концептуальную схему. Такие изменения концептуальной схемы, как добавление или удаление новых сущностей, атрибутов или связей, должны осуществляться без необходимости внесения изменений в уже существующие внешние схемы для других групп пользователей. </a:t>
            </a:r>
          </a:p>
          <a:p>
            <a:endParaRPr lang="ru-RU" dirty="0"/>
          </a:p>
        </p:txBody>
      </p:sp>
    </p:spTree>
    <p:extLst>
      <p:ext uri="{BB962C8B-B14F-4D97-AF65-F5344CB8AC3E}">
        <p14:creationId xmlns:p14="http://schemas.microsoft.com/office/powerpoint/2010/main" val="3803967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D4FB74-3DEA-F6EF-434B-5AFF9AE4A0FB}"/>
              </a:ext>
            </a:extLst>
          </p:cNvPr>
          <p:cNvSpPr>
            <a:spLocks noGrp="1"/>
          </p:cNvSpPr>
          <p:nvPr>
            <p:ph type="title"/>
          </p:nvPr>
        </p:nvSpPr>
        <p:spPr/>
        <p:txBody>
          <a:bodyPr/>
          <a:lstStyle/>
          <a:p>
            <a:r>
              <a:rPr lang="ru-RU" dirty="0"/>
              <a:t>Физическая независимость</a:t>
            </a:r>
          </a:p>
        </p:txBody>
      </p:sp>
      <p:sp>
        <p:nvSpPr>
          <p:cNvPr id="3" name="Объект 2">
            <a:extLst>
              <a:ext uri="{FF2B5EF4-FFF2-40B4-BE49-F238E27FC236}">
                <a16:creationId xmlns:a16="http://schemas.microsoft.com/office/drawing/2014/main" id="{23CA30DE-50DB-8BE4-E16C-4D0E1F4736EF}"/>
              </a:ext>
            </a:extLst>
          </p:cNvPr>
          <p:cNvSpPr>
            <a:spLocks noGrp="1"/>
          </p:cNvSpPr>
          <p:nvPr>
            <p:ph idx="1"/>
          </p:nvPr>
        </p:nvSpPr>
        <p:spPr/>
        <p:txBody>
          <a:bodyPr/>
          <a:lstStyle/>
          <a:p>
            <a:r>
              <a:rPr lang="ru-RU" dirty="0"/>
              <a:t>Физическая независимость от данных означает защищенность концептуальной схемы от изменений, вносимых во внутреннюю схему. Такие изменения внутренней схемы, как использование различных файловых систем или структур хранения, разных устройств хранения, модификация индексов или хеширование, должны осуществляться без необходимости внесения изменений в концептуальную или внешнюю схемы.</a:t>
            </a:r>
          </a:p>
        </p:txBody>
      </p:sp>
    </p:spTree>
    <p:extLst>
      <p:ext uri="{BB962C8B-B14F-4D97-AF65-F5344CB8AC3E}">
        <p14:creationId xmlns:p14="http://schemas.microsoft.com/office/powerpoint/2010/main" val="1538915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D50A0F-0E4E-B4F9-CD37-60C13D0C4C6A}"/>
              </a:ext>
            </a:extLst>
          </p:cNvPr>
          <p:cNvSpPr>
            <a:spLocks noGrp="1"/>
          </p:cNvSpPr>
          <p:nvPr>
            <p:ph type="title"/>
          </p:nvPr>
        </p:nvSpPr>
        <p:spPr/>
        <p:txBody>
          <a:bodyPr/>
          <a:lstStyle/>
          <a:p>
            <a:r>
              <a:rPr lang="ru-RU" dirty="0"/>
              <a:t>Внешний уровень</a:t>
            </a:r>
          </a:p>
        </p:txBody>
      </p:sp>
      <p:sp>
        <p:nvSpPr>
          <p:cNvPr id="3" name="Объект 2">
            <a:extLst>
              <a:ext uri="{FF2B5EF4-FFF2-40B4-BE49-F238E27FC236}">
                <a16:creationId xmlns:a16="http://schemas.microsoft.com/office/drawing/2014/main" id="{D29922D5-59FF-B3CE-D630-79C272A0455F}"/>
              </a:ext>
            </a:extLst>
          </p:cNvPr>
          <p:cNvSpPr>
            <a:spLocks noGrp="1"/>
          </p:cNvSpPr>
          <p:nvPr>
            <p:ph idx="1"/>
          </p:nvPr>
        </p:nvSpPr>
        <p:spPr/>
        <p:txBody>
          <a:bodyPr/>
          <a:lstStyle/>
          <a:p>
            <a:r>
              <a:rPr lang="ru-RU" dirty="0"/>
              <a:t>Внешний уровень — это пользовательский уровень. Пользователем может быть программист, или конечный пользователь, или администратор базы данных. Представление базы данных с точки зрения пользователей называется внешним представлением. Каждая группа пользователей выделяет в моделируемой предметной области, общей для всей организации, те сущности, атрибуты и связи, которые ей интересны. Эти частичные или переопределенные описания БД для отдельных групп пользователей или ориентированные на отдельные аспекты предметной области называют подсхемой.</a:t>
            </a:r>
          </a:p>
        </p:txBody>
      </p:sp>
    </p:spTree>
    <p:extLst>
      <p:ext uri="{BB962C8B-B14F-4D97-AF65-F5344CB8AC3E}">
        <p14:creationId xmlns:p14="http://schemas.microsoft.com/office/powerpoint/2010/main" val="1300597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4FC045-46DE-C8F1-F45D-03184961BEAE}"/>
              </a:ext>
            </a:extLst>
          </p:cNvPr>
          <p:cNvSpPr>
            <a:spLocks noGrp="1"/>
          </p:cNvSpPr>
          <p:nvPr>
            <p:ph type="title"/>
          </p:nvPr>
        </p:nvSpPr>
        <p:spPr/>
        <p:txBody>
          <a:bodyPr/>
          <a:lstStyle/>
          <a:p>
            <a:r>
              <a:rPr lang="ru-RU" dirty="0"/>
              <a:t>Концептуальный уровень</a:t>
            </a:r>
          </a:p>
        </p:txBody>
      </p:sp>
      <p:sp>
        <p:nvSpPr>
          <p:cNvPr id="3" name="Объект 2">
            <a:extLst>
              <a:ext uri="{FF2B5EF4-FFF2-40B4-BE49-F238E27FC236}">
                <a16:creationId xmlns:a16="http://schemas.microsoft.com/office/drawing/2014/main" id="{A6102485-AF47-5B98-4019-D7431EC80C28}"/>
              </a:ext>
            </a:extLst>
          </p:cNvPr>
          <p:cNvSpPr>
            <a:spLocks noGrp="1"/>
          </p:cNvSpPr>
          <p:nvPr>
            <p:ph idx="1"/>
          </p:nvPr>
        </p:nvSpPr>
        <p:spPr/>
        <p:txBody>
          <a:bodyPr/>
          <a:lstStyle/>
          <a:p>
            <a:r>
              <a:rPr lang="ru-RU" dirty="0"/>
              <a:t>Концептуальный уровень является промежуточным уровнем в трехуровневой архитектуре и обеспечивает представление всей информации базы данных в абстрактной форме. Описание базы данных на этом уровне называется концептуальной схемой, которая является результатом концептуального проектирования</a:t>
            </a:r>
          </a:p>
        </p:txBody>
      </p:sp>
    </p:spTree>
    <p:extLst>
      <p:ext uri="{BB962C8B-B14F-4D97-AF65-F5344CB8AC3E}">
        <p14:creationId xmlns:p14="http://schemas.microsoft.com/office/powerpoint/2010/main" val="422227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012991-24EF-5DE6-900D-1C9CA0B0EB68}"/>
              </a:ext>
            </a:extLst>
          </p:cNvPr>
          <p:cNvSpPr>
            <a:spLocks noGrp="1"/>
          </p:cNvSpPr>
          <p:nvPr>
            <p:ph type="title"/>
          </p:nvPr>
        </p:nvSpPr>
        <p:spPr/>
        <p:txBody>
          <a:bodyPr/>
          <a:lstStyle/>
          <a:p>
            <a:r>
              <a:rPr lang="ru-RU" dirty="0"/>
              <a:t>Концептуальный уровень</a:t>
            </a:r>
          </a:p>
        </p:txBody>
      </p:sp>
      <p:sp>
        <p:nvSpPr>
          <p:cNvPr id="3" name="Объект 2">
            <a:extLst>
              <a:ext uri="{FF2B5EF4-FFF2-40B4-BE49-F238E27FC236}">
                <a16:creationId xmlns:a16="http://schemas.microsoft.com/office/drawing/2014/main" id="{DFC24B16-037C-9C5B-65CD-24E90BBF1ECF}"/>
              </a:ext>
            </a:extLst>
          </p:cNvPr>
          <p:cNvSpPr>
            <a:spLocks noGrp="1"/>
          </p:cNvSpPr>
          <p:nvPr>
            <p:ph idx="1"/>
          </p:nvPr>
        </p:nvSpPr>
        <p:spPr/>
        <p:txBody>
          <a:bodyPr>
            <a:normAutofit/>
          </a:bodyPr>
          <a:lstStyle/>
          <a:p>
            <a:r>
              <a:rPr lang="ru-RU" dirty="0"/>
              <a:t>Таким образом, концептуальная схема — это единое логическое описание всех элементов данных и отношений между ними, логическая структура всей базы данных. Для каждой базы данных имеется только одна концептуальная схема. Концептуальная схема должна содержать:</a:t>
            </a:r>
          </a:p>
          <a:p>
            <a:pPr marL="457200" indent="-457200">
              <a:buFont typeface="Arial" panose="020B0604020202020204" pitchFamily="34" charset="0"/>
              <a:buChar char="•"/>
            </a:pPr>
            <a:r>
              <a:rPr lang="ru-RU" sz="2600" dirty="0"/>
              <a:t>сущности и их атрибуты;</a:t>
            </a:r>
          </a:p>
          <a:p>
            <a:pPr marL="457200" indent="-457200">
              <a:buFont typeface="Arial" panose="020B0604020202020204" pitchFamily="34" charset="0"/>
              <a:buChar char="•"/>
            </a:pPr>
            <a:r>
              <a:rPr lang="ru-RU" sz="2600" dirty="0"/>
              <a:t>связи между сущностями;</a:t>
            </a:r>
          </a:p>
          <a:p>
            <a:pPr marL="457200" indent="-457200">
              <a:buFont typeface="Arial" panose="020B0604020202020204" pitchFamily="34" charset="0"/>
              <a:buChar char="•"/>
            </a:pPr>
            <a:r>
              <a:rPr lang="ru-RU" sz="2600" dirty="0"/>
              <a:t>ограничения, накладываемые на данные;</a:t>
            </a:r>
          </a:p>
          <a:p>
            <a:pPr marL="457200" indent="-457200">
              <a:buFont typeface="Arial" panose="020B0604020202020204" pitchFamily="34" charset="0"/>
              <a:buChar char="•"/>
            </a:pPr>
            <a:r>
              <a:rPr lang="ru-RU" sz="2600" dirty="0"/>
              <a:t>семантическую информацию о данных;</a:t>
            </a:r>
          </a:p>
          <a:p>
            <a:pPr marL="457200" indent="-457200">
              <a:buFont typeface="Arial" panose="020B0604020202020204" pitchFamily="34" charset="0"/>
              <a:buChar char="•"/>
            </a:pPr>
            <a:r>
              <a:rPr lang="ru-RU" sz="2600" dirty="0"/>
              <a:t>обеспечение безопасности и поддержки целостности данных</a:t>
            </a:r>
          </a:p>
        </p:txBody>
      </p:sp>
    </p:spTree>
    <p:extLst>
      <p:ext uri="{BB962C8B-B14F-4D97-AF65-F5344CB8AC3E}">
        <p14:creationId xmlns:p14="http://schemas.microsoft.com/office/powerpoint/2010/main" val="1101762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6ADDCA-907A-0903-2138-EF9CD6F63BD4}"/>
              </a:ext>
            </a:extLst>
          </p:cNvPr>
          <p:cNvSpPr>
            <a:spLocks noGrp="1"/>
          </p:cNvSpPr>
          <p:nvPr>
            <p:ph type="title"/>
          </p:nvPr>
        </p:nvSpPr>
        <p:spPr/>
        <p:txBody>
          <a:bodyPr/>
          <a:lstStyle/>
          <a:p>
            <a:r>
              <a:rPr lang="ru-RU" dirty="0"/>
              <a:t>Внутренний уровень</a:t>
            </a:r>
          </a:p>
        </p:txBody>
      </p:sp>
      <p:sp>
        <p:nvSpPr>
          <p:cNvPr id="3" name="Объект 2">
            <a:extLst>
              <a:ext uri="{FF2B5EF4-FFF2-40B4-BE49-F238E27FC236}">
                <a16:creationId xmlns:a16="http://schemas.microsoft.com/office/drawing/2014/main" id="{11D29209-4CCD-1D0C-C8D4-3C6DFDE1286C}"/>
              </a:ext>
            </a:extLst>
          </p:cNvPr>
          <p:cNvSpPr>
            <a:spLocks noGrp="1"/>
          </p:cNvSpPr>
          <p:nvPr>
            <p:ph idx="1"/>
          </p:nvPr>
        </p:nvSpPr>
        <p:spPr/>
        <p:txBody>
          <a:bodyPr/>
          <a:lstStyle/>
          <a:p>
            <a:r>
              <a:rPr lang="ru-RU" dirty="0"/>
              <a:t>Внутренний уровень является третьим уровнем архитектуры БД. Внутреннее представление не связано с физическим уровнем, так как физический уровень хранения информации обладает значительной индивидуальностью для каждой системы.</a:t>
            </a:r>
          </a:p>
        </p:txBody>
      </p:sp>
    </p:spTree>
    <p:extLst>
      <p:ext uri="{BB962C8B-B14F-4D97-AF65-F5344CB8AC3E}">
        <p14:creationId xmlns:p14="http://schemas.microsoft.com/office/powerpoint/2010/main" val="2173023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696401-1D9B-AD01-15C0-E58F48C15F1B}"/>
              </a:ext>
            </a:extLst>
          </p:cNvPr>
          <p:cNvSpPr>
            <a:spLocks noGrp="1"/>
          </p:cNvSpPr>
          <p:nvPr>
            <p:ph type="title"/>
          </p:nvPr>
        </p:nvSpPr>
        <p:spPr/>
        <p:txBody>
          <a:bodyPr/>
          <a:lstStyle/>
          <a:p>
            <a:r>
              <a:rPr lang="ru-RU" dirty="0"/>
              <a:t>Внутренняя схема</a:t>
            </a:r>
          </a:p>
        </p:txBody>
      </p:sp>
      <p:sp>
        <p:nvSpPr>
          <p:cNvPr id="3" name="Объект 2">
            <a:extLst>
              <a:ext uri="{FF2B5EF4-FFF2-40B4-BE49-F238E27FC236}">
                <a16:creationId xmlns:a16="http://schemas.microsoft.com/office/drawing/2014/main" id="{E3F91CFA-34A9-08B5-949B-E0106C9B8A8F}"/>
              </a:ext>
            </a:extLst>
          </p:cNvPr>
          <p:cNvSpPr>
            <a:spLocks noGrp="1"/>
          </p:cNvSpPr>
          <p:nvPr>
            <p:ph idx="1"/>
          </p:nvPr>
        </p:nvSpPr>
        <p:spPr/>
        <p:txBody>
          <a:bodyPr>
            <a:normAutofit/>
          </a:bodyPr>
          <a:lstStyle/>
          <a:p>
            <a:r>
              <a:rPr lang="ru-RU" dirty="0"/>
              <a:t>Внутренняя схема описывает физическую реализацию базы данных и предназначена для достижения оптимальной производительности и обеспечения экономного использования дискового пространства. На внутреннем уровне хранится следующая информация:</a:t>
            </a:r>
          </a:p>
          <a:p>
            <a:pPr marL="457200" indent="-457200">
              <a:buFont typeface="Arial" panose="020B0604020202020204" pitchFamily="34" charset="0"/>
              <a:buChar char="•"/>
            </a:pPr>
            <a:r>
              <a:rPr lang="ru-RU" dirty="0"/>
              <a:t>распределение дискового пространства для хранения данных и</a:t>
            </a:r>
          </a:p>
          <a:p>
            <a:pPr marL="457200" indent="-457200">
              <a:buFont typeface="Arial" panose="020B0604020202020204" pitchFamily="34" charset="0"/>
              <a:buChar char="•"/>
            </a:pPr>
            <a:r>
              <a:rPr lang="ru-RU" dirty="0"/>
              <a:t>индексов;</a:t>
            </a:r>
          </a:p>
          <a:p>
            <a:pPr marL="457200" indent="-457200">
              <a:buFont typeface="Arial" panose="020B0604020202020204" pitchFamily="34" charset="0"/>
              <a:buChar char="•"/>
            </a:pPr>
            <a:r>
              <a:rPr lang="ru-RU" dirty="0"/>
              <a:t>описание подробностей сохранения записей (с указанием реальных</a:t>
            </a:r>
          </a:p>
          <a:p>
            <a:pPr marL="457200" indent="-457200">
              <a:buFont typeface="Arial" panose="020B0604020202020204" pitchFamily="34" charset="0"/>
              <a:buChar char="•"/>
            </a:pPr>
            <a:r>
              <a:rPr lang="ru-RU" dirty="0"/>
              <a:t>размеров сохраняемых элементов данных);</a:t>
            </a:r>
          </a:p>
          <a:p>
            <a:pPr marL="457200" indent="-457200">
              <a:buFont typeface="Arial" panose="020B0604020202020204" pitchFamily="34" charset="0"/>
              <a:buChar char="•"/>
            </a:pPr>
            <a:r>
              <a:rPr lang="ru-RU" dirty="0"/>
              <a:t>сведения о размещении записей;</a:t>
            </a:r>
          </a:p>
          <a:p>
            <a:pPr marL="457200" indent="-457200">
              <a:buFont typeface="Arial" panose="020B0604020202020204" pitchFamily="34" charset="0"/>
              <a:buChar char="•"/>
            </a:pPr>
            <a:r>
              <a:rPr lang="ru-RU" dirty="0"/>
              <a:t>сведения о сжатии данных и выбранных методах их шифрования.</a:t>
            </a:r>
          </a:p>
        </p:txBody>
      </p:sp>
    </p:spTree>
    <p:extLst>
      <p:ext uri="{BB962C8B-B14F-4D97-AF65-F5344CB8AC3E}">
        <p14:creationId xmlns:p14="http://schemas.microsoft.com/office/powerpoint/2010/main" val="212339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9C6032-BEB8-1A52-F421-DA9B77F277A9}"/>
              </a:ext>
            </a:extLst>
          </p:cNvPr>
          <p:cNvSpPr>
            <a:spLocks noGrp="1"/>
          </p:cNvSpPr>
          <p:nvPr>
            <p:ph type="title"/>
          </p:nvPr>
        </p:nvSpPr>
        <p:spPr/>
        <p:txBody>
          <a:bodyPr>
            <a:normAutofit fontScale="90000"/>
          </a:bodyPr>
          <a:lstStyle/>
          <a:p>
            <a:r>
              <a:rPr lang="ru-RU" dirty="0"/>
              <a:t>Модели двухуровневой технологии "клиент — сервер"</a:t>
            </a:r>
          </a:p>
        </p:txBody>
      </p:sp>
      <p:pic>
        <p:nvPicPr>
          <p:cNvPr id="5" name="Объект 4">
            <a:extLst>
              <a:ext uri="{FF2B5EF4-FFF2-40B4-BE49-F238E27FC236}">
                <a16:creationId xmlns:a16="http://schemas.microsoft.com/office/drawing/2014/main" id="{986ACD5D-FACE-3B08-3AA3-5396EB9F75D9}"/>
              </a:ext>
            </a:extLst>
          </p:cNvPr>
          <p:cNvPicPr>
            <a:picLocks noGrp="1" noChangeAspect="1"/>
          </p:cNvPicPr>
          <p:nvPr>
            <p:ph idx="1"/>
          </p:nvPr>
        </p:nvPicPr>
        <p:blipFill>
          <a:blip r:embed="rId2"/>
          <a:stretch>
            <a:fillRect/>
          </a:stretch>
        </p:blipFill>
        <p:spPr>
          <a:xfrm>
            <a:off x="1466409" y="1886472"/>
            <a:ext cx="7953815" cy="4902049"/>
          </a:xfrm>
          <a:prstGeom prst="rect">
            <a:avLst/>
          </a:prstGeom>
        </p:spPr>
      </p:pic>
    </p:spTree>
    <p:extLst>
      <p:ext uri="{BB962C8B-B14F-4D97-AF65-F5344CB8AC3E}">
        <p14:creationId xmlns:p14="http://schemas.microsoft.com/office/powerpoint/2010/main" val="236602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8B69B2-63DD-0BCE-F3D8-0E35CC9F0E1E}"/>
              </a:ext>
            </a:extLst>
          </p:cNvPr>
          <p:cNvSpPr>
            <a:spLocks noGrp="1"/>
          </p:cNvSpPr>
          <p:nvPr>
            <p:ph type="title"/>
          </p:nvPr>
        </p:nvSpPr>
        <p:spPr/>
        <p:txBody>
          <a:bodyPr/>
          <a:lstStyle/>
          <a:p>
            <a:r>
              <a:rPr lang="ru-RU" dirty="0"/>
              <a:t>Файловый сервер</a:t>
            </a:r>
          </a:p>
        </p:txBody>
      </p:sp>
      <p:pic>
        <p:nvPicPr>
          <p:cNvPr id="5" name="Объект 4">
            <a:extLst>
              <a:ext uri="{FF2B5EF4-FFF2-40B4-BE49-F238E27FC236}">
                <a16:creationId xmlns:a16="http://schemas.microsoft.com/office/drawing/2014/main" id="{8EE521F0-610C-EABA-0815-68EE8798D37B}"/>
              </a:ext>
            </a:extLst>
          </p:cNvPr>
          <p:cNvPicPr>
            <a:picLocks noGrp="1" noChangeAspect="1"/>
          </p:cNvPicPr>
          <p:nvPr>
            <p:ph idx="1"/>
          </p:nvPr>
        </p:nvPicPr>
        <p:blipFill>
          <a:blip r:embed="rId2"/>
          <a:stretch>
            <a:fillRect/>
          </a:stretch>
        </p:blipFill>
        <p:spPr>
          <a:xfrm>
            <a:off x="1196456" y="1511299"/>
            <a:ext cx="5852044" cy="5173249"/>
          </a:xfrm>
          <a:prstGeom prst="rect">
            <a:avLst/>
          </a:prstGeom>
        </p:spPr>
      </p:pic>
    </p:spTree>
    <p:extLst>
      <p:ext uri="{BB962C8B-B14F-4D97-AF65-F5344CB8AC3E}">
        <p14:creationId xmlns:p14="http://schemas.microsoft.com/office/powerpoint/2010/main" val="586163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D50432-742E-2EAE-DA93-09C1FC4FBEF1}"/>
              </a:ext>
            </a:extLst>
          </p:cNvPr>
          <p:cNvSpPr>
            <a:spLocks noGrp="1"/>
          </p:cNvSpPr>
          <p:nvPr>
            <p:ph type="title"/>
          </p:nvPr>
        </p:nvSpPr>
        <p:spPr/>
        <p:txBody>
          <a:bodyPr/>
          <a:lstStyle/>
          <a:p>
            <a:r>
              <a:rPr lang="ru-RU" dirty="0"/>
              <a:t>Модель удаленного доступа к данным</a:t>
            </a:r>
          </a:p>
        </p:txBody>
      </p:sp>
      <p:pic>
        <p:nvPicPr>
          <p:cNvPr id="5" name="Объект 4">
            <a:extLst>
              <a:ext uri="{FF2B5EF4-FFF2-40B4-BE49-F238E27FC236}">
                <a16:creationId xmlns:a16="http://schemas.microsoft.com/office/drawing/2014/main" id="{1185BE9C-48F6-34B1-2A18-BDE9E99B8139}"/>
              </a:ext>
            </a:extLst>
          </p:cNvPr>
          <p:cNvPicPr>
            <a:picLocks noGrp="1" noChangeAspect="1"/>
          </p:cNvPicPr>
          <p:nvPr>
            <p:ph idx="1"/>
          </p:nvPr>
        </p:nvPicPr>
        <p:blipFill>
          <a:blip r:embed="rId2"/>
          <a:stretch>
            <a:fillRect/>
          </a:stretch>
        </p:blipFill>
        <p:spPr>
          <a:xfrm>
            <a:off x="838199" y="1825625"/>
            <a:ext cx="5419725" cy="4674058"/>
          </a:xfrm>
          <a:prstGeom prst="rect">
            <a:avLst/>
          </a:prstGeom>
        </p:spPr>
      </p:pic>
    </p:spTree>
    <p:extLst>
      <p:ext uri="{BB962C8B-B14F-4D97-AF65-F5344CB8AC3E}">
        <p14:creationId xmlns:p14="http://schemas.microsoft.com/office/powerpoint/2010/main" val="166947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3A99CD-959C-6D8B-6989-777893F18C36}"/>
              </a:ext>
            </a:extLst>
          </p:cNvPr>
          <p:cNvSpPr>
            <a:spLocks noGrp="1"/>
          </p:cNvSpPr>
          <p:nvPr>
            <p:ph type="title"/>
          </p:nvPr>
        </p:nvSpPr>
        <p:spPr/>
        <p:txBody>
          <a:bodyPr/>
          <a:lstStyle/>
          <a:p>
            <a:r>
              <a:rPr lang="ru-RU" dirty="0"/>
              <a:t>Модель сервера баз данных</a:t>
            </a:r>
          </a:p>
        </p:txBody>
      </p:sp>
      <p:pic>
        <p:nvPicPr>
          <p:cNvPr id="5" name="Объект 4">
            <a:extLst>
              <a:ext uri="{FF2B5EF4-FFF2-40B4-BE49-F238E27FC236}">
                <a16:creationId xmlns:a16="http://schemas.microsoft.com/office/drawing/2014/main" id="{C23B788E-C78F-6304-6EA5-C7889ABCB335}"/>
              </a:ext>
            </a:extLst>
          </p:cNvPr>
          <p:cNvPicPr>
            <a:picLocks noGrp="1" noChangeAspect="1"/>
          </p:cNvPicPr>
          <p:nvPr>
            <p:ph idx="1"/>
          </p:nvPr>
        </p:nvPicPr>
        <p:blipFill>
          <a:blip r:embed="rId2"/>
          <a:stretch>
            <a:fillRect/>
          </a:stretch>
        </p:blipFill>
        <p:spPr>
          <a:xfrm>
            <a:off x="838200" y="1690688"/>
            <a:ext cx="4986261" cy="4351338"/>
          </a:xfrm>
          <a:prstGeom prst="rect">
            <a:avLst/>
          </a:prstGeom>
        </p:spPr>
      </p:pic>
    </p:spTree>
    <p:extLst>
      <p:ext uri="{BB962C8B-B14F-4D97-AF65-F5344CB8AC3E}">
        <p14:creationId xmlns:p14="http://schemas.microsoft.com/office/powerpoint/2010/main" val="958755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727F39-1E9D-4CB0-A009-CC7FE71BABDB}"/>
              </a:ext>
            </a:extLst>
          </p:cNvPr>
          <p:cNvSpPr>
            <a:spLocks noGrp="1"/>
          </p:cNvSpPr>
          <p:nvPr>
            <p:ph type="title"/>
          </p:nvPr>
        </p:nvSpPr>
        <p:spPr/>
        <p:txBody>
          <a:bodyPr/>
          <a:lstStyle/>
          <a:p>
            <a:r>
              <a:rPr lang="ru-RU" dirty="0"/>
              <a:t>Хранимые процедуры и триггеры</a:t>
            </a:r>
          </a:p>
        </p:txBody>
      </p:sp>
      <p:sp>
        <p:nvSpPr>
          <p:cNvPr id="3" name="Объект 2">
            <a:extLst>
              <a:ext uri="{FF2B5EF4-FFF2-40B4-BE49-F238E27FC236}">
                <a16:creationId xmlns:a16="http://schemas.microsoft.com/office/drawing/2014/main" id="{E7272BC5-6394-C916-A4D6-FBE165DC3602}"/>
              </a:ext>
            </a:extLst>
          </p:cNvPr>
          <p:cNvSpPr>
            <a:spLocks noGrp="1"/>
          </p:cNvSpPr>
          <p:nvPr>
            <p:ph idx="1"/>
          </p:nvPr>
        </p:nvSpPr>
        <p:spPr/>
        <p:txBody>
          <a:bodyPr/>
          <a:lstStyle/>
          <a:p>
            <a:r>
              <a:rPr lang="ru-RU" dirty="0"/>
              <a:t>Хранимые процедуры - это подпрограммы, работающие на сервере и управляющие его процессами.</a:t>
            </a:r>
          </a:p>
          <a:p>
            <a:endParaRPr lang="ru-RU" dirty="0"/>
          </a:p>
          <a:p>
            <a:r>
              <a:rPr lang="ru-RU" dirty="0"/>
              <a:t>Триггер — это особый тип хранимой процедуры, реагирующий на возникновение определенного события в БД. Он активизируется при попытке изменения данных — при операциях добавления, обновления и удаления. Триггеры определяются для конкретных таблиц БД</a:t>
            </a:r>
          </a:p>
        </p:txBody>
      </p:sp>
    </p:spTree>
    <p:extLst>
      <p:ext uri="{BB962C8B-B14F-4D97-AF65-F5344CB8AC3E}">
        <p14:creationId xmlns:p14="http://schemas.microsoft.com/office/powerpoint/2010/main" val="2408197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91B2F9-A567-00AB-CD94-5A4C8DC726E5}"/>
              </a:ext>
            </a:extLst>
          </p:cNvPr>
          <p:cNvSpPr>
            <a:spLocks noGrp="1"/>
          </p:cNvSpPr>
          <p:nvPr>
            <p:ph type="title"/>
          </p:nvPr>
        </p:nvSpPr>
        <p:spPr/>
        <p:txBody>
          <a:bodyPr>
            <a:normAutofit fontScale="90000"/>
          </a:bodyPr>
          <a:lstStyle/>
          <a:p>
            <a:r>
              <a:rPr lang="ru-RU" dirty="0"/>
              <a:t>Сервер приложений. </a:t>
            </a:r>
            <a:br>
              <a:rPr lang="ru-RU" dirty="0"/>
            </a:br>
            <a:r>
              <a:rPr lang="ru-RU" dirty="0"/>
              <a:t>Трехуровневая модель</a:t>
            </a:r>
          </a:p>
        </p:txBody>
      </p:sp>
      <p:pic>
        <p:nvPicPr>
          <p:cNvPr id="5" name="Объект 4">
            <a:extLst>
              <a:ext uri="{FF2B5EF4-FFF2-40B4-BE49-F238E27FC236}">
                <a16:creationId xmlns:a16="http://schemas.microsoft.com/office/drawing/2014/main" id="{66260323-831E-B1FB-671A-B2B9D9D52959}"/>
              </a:ext>
            </a:extLst>
          </p:cNvPr>
          <p:cNvPicPr>
            <a:picLocks noGrp="1" noChangeAspect="1"/>
          </p:cNvPicPr>
          <p:nvPr>
            <p:ph idx="1"/>
          </p:nvPr>
        </p:nvPicPr>
        <p:blipFill>
          <a:blip r:embed="rId2"/>
          <a:stretch>
            <a:fillRect/>
          </a:stretch>
        </p:blipFill>
        <p:spPr>
          <a:xfrm>
            <a:off x="838200" y="1690688"/>
            <a:ext cx="6201307" cy="4351338"/>
          </a:xfrm>
          <a:prstGeom prst="rect">
            <a:avLst/>
          </a:prstGeom>
        </p:spPr>
      </p:pic>
    </p:spTree>
    <p:extLst>
      <p:ext uri="{BB962C8B-B14F-4D97-AF65-F5344CB8AC3E}">
        <p14:creationId xmlns:p14="http://schemas.microsoft.com/office/powerpoint/2010/main" val="2870535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98114C-FA6B-67E9-7F62-45C1107EA546}"/>
              </a:ext>
            </a:extLst>
          </p:cNvPr>
          <p:cNvSpPr>
            <a:spLocks noGrp="1"/>
          </p:cNvSpPr>
          <p:nvPr>
            <p:ph type="title"/>
          </p:nvPr>
        </p:nvSpPr>
        <p:spPr/>
        <p:txBody>
          <a:bodyPr/>
          <a:lstStyle/>
          <a:p>
            <a:r>
              <a:rPr lang="ru-RU" dirty="0"/>
              <a:t>Концепции проектирования БД</a:t>
            </a:r>
          </a:p>
        </p:txBody>
      </p:sp>
      <p:sp>
        <p:nvSpPr>
          <p:cNvPr id="3" name="Объект 2">
            <a:extLst>
              <a:ext uri="{FF2B5EF4-FFF2-40B4-BE49-F238E27FC236}">
                <a16:creationId xmlns:a16="http://schemas.microsoft.com/office/drawing/2014/main" id="{0577EA61-BC03-EB15-7A29-64F94D1AEC35}"/>
              </a:ext>
            </a:extLst>
          </p:cNvPr>
          <p:cNvSpPr>
            <a:spLocks noGrp="1"/>
          </p:cNvSpPr>
          <p:nvPr>
            <p:ph idx="1"/>
          </p:nvPr>
        </p:nvSpPr>
        <p:spPr/>
        <p:txBody>
          <a:bodyPr numCol="2">
            <a:normAutofit/>
          </a:bodyPr>
          <a:lstStyle/>
          <a:p>
            <a:r>
              <a:rPr lang="ru-RU" sz="1600" b="1" dirty="0"/>
              <a:t>Жизненный цикл БД</a:t>
            </a:r>
          </a:p>
          <a:p>
            <a:r>
              <a:rPr lang="ru-RU" sz="1600" dirty="0"/>
              <a:t>1. планирование разработки базы данных;</a:t>
            </a:r>
          </a:p>
          <a:p>
            <a:r>
              <a:rPr lang="ru-RU" sz="1600" dirty="0"/>
              <a:t>2. определение требований к системе;</a:t>
            </a:r>
          </a:p>
          <a:p>
            <a:r>
              <a:rPr lang="ru-RU" sz="1600" dirty="0"/>
              <a:t>3. сбор и анализ требований пользователей;</a:t>
            </a:r>
          </a:p>
          <a:p>
            <a:r>
              <a:rPr lang="ru-RU" sz="1600" dirty="0"/>
              <a:t>4. проектирование базы данных:</a:t>
            </a:r>
          </a:p>
          <a:p>
            <a:pPr marL="914400" lvl="1" indent="-457200">
              <a:buFont typeface="Wingdings" panose="05000000000000000000" pitchFamily="2" charset="2"/>
              <a:buChar char="§"/>
            </a:pPr>
            <a:r>
              <a:rPr lang="ru-RU" sz="1600" dirty="0"/>
              <a:t>концептуальное проектирование базы данных;</a:t>
            </a:r>
          </a:p>
          <a:p>
            <a:pPr marL="914400" lvl="1" indent="-457200">
              <a:buFont typeface="Wingdings" panose="05000000000000000000" pitchFamily="2" charset="2"/>
              <a:buChar char="§"/>
            </a:pPr>
            <a:r>
              <a:rPr lang="ru-RU" sz="1600" dirty="0"/>
              <a:t>логическое проектирование базы данных;</a:t>
            </a:r>
          </a:p>
          <a:p>
            <a:pPr marL="914400" lvl="1" indent="-457200">
              <a:buFont typeface="Wingdings" panose="05000000000000000000" pitchFamily="2" charset="2"/>
              <a:buChar char="§"/>
            </a:pPr>
            <a:r>
              <a:rPr lang="ru-RU" sz="1600" dirty="0"/>
              <a:t>физическое проектирование базы данных;</a:t>
            </a:r>
          </a:p>
          <a:p>
            <a:r>
              <a:rPr lang="ru-RU" sz="1600" dirty="0"/>
              <a:t>5. разработка приложений:</a:t>
            </a:r>
          </a:p>
          <a:p>
            <a:pPr marL="914400" lvl="1" indent="-457200">
              <a:buFont typeface="Wingdings" panose="05000000000000000000" pitchFamily="2" charset="2"/>
              <a:buChar char="§"/>
            </a:pPr>
            <a:r>
              <a:rPr lang="ru-RU" sz="1600" dirty="0"/>
              <a:t>проектирование транзакций;</a:t>
            </a:r>
          </a:p>
          <a:p>
            <a:pPr marL="914400" lvl="1" indent="-457200">
              <a:buFont typeface="Wingdings" panose="05000000000000000000" pitchFamily="2" charset="2"/>
              <a:buChar char="§"/>
            </a:pPr>
            <a:r>
              <a:rPr lang="ru-RU" sz="1600" dirty="0"/>
              <a:t>проектирование пользовательского интерфейса;</a:t>
            </a:r>
          </a:p>
          <a:p>
            <a:r>
              <a:rPr lang="ru-RU" sz="1600" dirty="0"/>
              <a:t>6. реализация;</a:t>
            </a:r>
          </a:p>
          <a:p>
            <a:r>
              <a:rPr lang="ru-RU" sz="1600" dirty="0"/>
              <a:t>7. загрузка данных;</a:t>
            </a:r>
          </a:p>
          <a:p>
            <a:r>
              <a:rPr lang="ru-RU" sz="1600" dirty="0"/>
              <a:t>8. тестирование;</a:t>
            </a:r>
          </a:p>
          <a:p>
            <a:r>
              <a:rPr lang="ru-RU" sz="1600" dirty="0"/>
              <a:t>9. эксплуатация и сопровождение:</a:t>
            </a:r>
          </a:p>
          <a:p>
            <a:pPr marL="285750" indent="-285750">
              <a:buFont typeface="Arial" panose="020B0604020202020204" pitchFamily="34" charset="0"/>
              <a:buChar char="•"/>
            </a:pPr>
            <a:r>
              <a:rPr lang="ru-RU" sz="1600" dirty="0"/>
              <a:t>анализ функционирования и поддержка исходного варианта БД;</a:t>
            </a:r>
          </a:p>
          <a:p>
            <a:pPr marL="285750" indent="-285750">
              <a:buFont typeface="Arial" panose="020B0604020202020204" pitchFamily="34" charset="0"/>
              <a:buChar char="•"/>
            </a:pPr>
            <a:r>
              <a:rPr lang="ru-RU" sz="1600" dirty="0"/>
              <a:t>адаптация, модернизация и поддержка переработанных  вариантов</a:t>
            </a:r>
          </a:p>
        </p:txBody>
      </p:sp>
    </p:spTree>
    <p:extLst>
      <p:ext uri="{BB962C8B-B14F-4D97-AF65-F5344CB8AC3E}">
        <p14:creationId xmlns:p14="http://schemas.microsoft.com/office/powerpoint/2010/main" val="1205585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6517F1-1608-3F4E-1C7B-CCD6D3AF55D7}"/>
              </a:ext>
            </a:extLst>
          </p:cNvPr>
          <p:cNvSpPr>
            <a:spLocks noGrp="1"/>
          </p:cNvSpPr>
          <p:nvPr>
            <p:ph type="title"/>
          </p:nvPr>
        </p:nvSpPr>
        <p:spPr/>
        <p:txBody>
          <a:bodyPr/>
          <a:lstStyle/>
          <a:p>
            <a:r>
              <a:rPr lang="ru-RU" dirty="0"/>
              <a:t>Жизненный цикл БД</a:t>
            </a:r>
          </a:p>
        </p:txBody>
      </p:sp>
      <p:pic>
        <p:nvPicPr>
          <p:cNvPr id="5" name="Объект 4">
            <a:extLst>
              <a:ext uri="{FF2B5EF4-FFF2-40B4-BE49-F238E27FC236}">
                <a16:creationId xmlns:a16="http://schemas.microsoft.com/office/drawing/2014/main" id="{B6FE6B22-76F8-1C48-3021-F284E97A4031}"/>
              </a:ext>
            </a:extLst>
          </p:cNvPr>
          <p:cNvPicPr>
            <a:picLocks noGrp="1" noChangeAspect="1"/>
          </p:cNvPicPr>
          <p:nvPr>
            <p:ph idx="1"/>
          </p:nvPr>
        </p:nvPicPr>
        <p:blipFill>
          <a:blip r:embed="rId2"/>
          <a:stretch>
            <a:fillRect/>
          </a:stretch>
        </p:blipFill>
        <p:spPr>
          <a:xfrm>
            <a:off x="2874853" y="1834418"/>
            <a:ext cx="6178523" cy="4351338"/>
          </a:xfrm>
          <a:prstGeom prst="rect">
            <a:avLst/>
          </a:prstGeom>
        </p:spPr>
      </p:pic>
    </p:spTree>
    <p:extLst>
      <p:ext uri="{BB962C8B-B14F-4D97-AF65-F5344CB8AC3E}">
        <p14:creationId xmlns:p14="http://schemas.microsoft.com/office/powerpoint/2010/main" val="1313250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B56082-C1E1-1CE6-66F7-5885D1AA8A1D}"/>
              </a:ext>
            </a:extLst>
          </p:cNvPr>
          <p:cNvSpPr>
            <a:spLocks noGrp="1"/>
          </p:cNvSpPr>
          <p:nvPr>
            <p:ph type="title"/>
          </p:nvPr>
        </p:nvSpPr>
        <p:spPr/>
        <p:txBody>
          <a:bodyPr/>
          <a:lstStyle/>
          <a:p>
            <a:r>
              <a:rPr lang="ru-RU" dirty="0"/>
              <a:t>Планирование разработки базы данных</a:t>
            </a:r>
          </a:p>
        </p:txBody>
      </p:sp>
      <p:sp>
        <p:nvSpPr>
          <p:cNvPr id="3" name="Объект 2">
            <a:extLst>
              <a:ext uri="{FF2B5EF4-FFF2-40B4-BE49-F238E27FC236}">
                <a16:creationId xmlns:a16="http://schemas.microsoft.com/office/drawing/2014/main" id="{6C928BD5-0C83-2988-8458-380E65C2AF68}"/>
              </a:ext>
            </a:extLst>
          </p:cNvPr>
          <p:cNvSpPr>
            <a:spLocks noGrp="1"/>
          </p:cNvSpPr>
          <p:nvPr>
            <p:ph idx="1"/>
          </p:nvPr>
        </p:nvSpPr>
        <p:spPr/>
        <p:txBody>
          <a:bodyPr>
            <a:normAutofit/>
          </a:bodyPr>
          <a:lstStyle/>
          <a:p>
            <a:pPr algn="l"/>
            <a:r>
              <a:rPr lang="ru-RU" sz="1600" b="0" i="0" u="none" strike="noStrike" baseline="0" dirty="0"/>
              <a:t>Первая часть — проверка технологической осуществимости. Она состоит в выяснении вопроса, существует ли оборудование и программное обеспечение, удовлетворяющее информационным потребностям фирмы.</a:t>
            </a:r>
          </a:p>
          <a:p>
            <a:pPr algn="l"/>
            <a:r>
              <a:rPr lang="ru-RU" sz="1600" b="0" i="0" u="none" strike="noStrike" baseline="0" dirty="0"/>
              <a:t>Вторая часть — проверка операционной осуществимости — выяснение наличия экспертов и персонала, необходимых для работы БД.</a:t>
            </a:r>
          </a:p>
          <a:p>
            <a:pPr algn="l"/>
            <a:r>
              <a:rPr lang="ru-RU" sz="1600" b="0" i="0" u="none" strike="noStrike" baseline="0" dirty="0"/>
              <a:t>Третья часть — проверка экономической целесообразности осуществления проекта. При исследовании этой проблемы весьма важно дать оценку ряду факторов, в том числе и таким:</a:t>
            </a:r>
          </a:p>
          <a:p>
            <a:pPr algn="l"/>
            <a:endParaRPr lang="ru-RU" sz="1600" b="0" i="0" u="none" strike="noStrike" baseline="0" dirty="0"/>
          </a:p>
          <a:p>
            <a:pPr marL="457200" indent="-457200" algn="l">
              <a:buFont typeface="Arial" panose="020B0604020202020204" pitchFamily="34" charset="0"/>
              <a:buChar char="•"/>
            </a:pPr>
            <a:r>
              <a:rPr lang="ru-RU" sz="1600" b="0" i="0" u="none" strike="noStrike" baseline="0" dirty="0"/>
              <a:t>целесообразность совместного использования данных разными отделами;</a:t>
            </a:r>
          </a:p>
          <a:p>
            <a:pPr marL="457200" indent="-457200" algn="l">
              <a:buFont typeface="Arial" panose="020B0604020202020204" pitchFamily="34" charset="0"/>
              <a:buChar char="•"/>
            </a:pPr>
            <a:r>
              <a:rPr lang="ru-RU" sz="1600" b="0" i="0" u="none" strike="noStrike" baseline="0" dirty="0"/>
              <a:t>величина риска, связанного с реализацией системы базы данных;</a:t>
            </a:r>
          </a:p>
          <a:p>
            <a:pPr marL="457200" indent="-457200">
              <a:buFont typeface="Arial" panose="020B0604020202020204" pitchFamily="34" charset="0"/>
              <a:buChar char="•"/>
            </a:pPr>
            <a:r>
              <a:rPr lang="ru-RU" sz="1600" dirty="0"/>
              <a:t>ожидаемая выгода от внедрения подлежащих созданию приложений;</a:t>
            </a:r>
          </a:p>
          <a:p>
            <a:pPr marL="457200" indent="-457200">
              <a:buFont typeface="Arial" panose="020B0604020202020204" pitchFamily="34" charset="0"/>
              <a:buChar char="•"/>
            </a:pPr>
            <a:r>
              <a:rPr lang="ru-RU" sz="1600" dirty="0"/>
              <a:t>время окупаемости внедренной БД;</a:t>
            </a:r>
          </a:p>
          <a:p>
            <a:pPr marL="457200" indent="-457200">
              <a:buFont typeface="Arial" panose="020B0604020202020204" pitchFamily="34" charset="0"/>
              <a:buChar char="•"/>
            </a:pPr>
            <a:r>
              <a:rPr lang="ru-RU" sz="1600" dirty="0"/>
              <a:t>влияние системы управления БД на реализацию долговременных планов организации.</a:t>
            </a:r>
          </a:p>
        </p:txBody>
      </p:sp>
    </p:spTree>
    <p:extLst>
      <p:ext uri="{BB962C8B-B14F-4D97-AF65-F5344CB8AC3E}">
        <p14:creationId xmlns:p14="http://schemas.microsoft.com/office/powerpoint/2010/main" val="1711869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3425BE-8D4F-8C3B-CA57-A69187DBF3AC}"/>
              </a:ext>
            </a:extLst>
          </p:cNvPr>
          <p:cNvSpPr>
            <a:spLocks noGrp="1"/>
          </p:cNvSpPr>
          <p:nvPr>
            <p:ph type="title"/>
          </p:nvPr>
        </p:nvSpPr>
        <p:spPr/>
        <p:txBody>
          <a:bodyPr/>
          <a:lstStyle/>
          <a:p>
            <a:r>
              <a:rPr lang="ru-RU" dirty="0"/>
              <a:t>Определение требований к системе</a:t>
            </a:r>
          </a:p>
        </p:txBody>
      </p:sp>
      <p:sp>
        <p:nvSpPr>
          <p:cNvPr id="3" name="Объект 2">
            <a:extLst>
              <a:ext uri="{FF2B5EF4-FFF2-40B4-BE49-F238E27FC236}">
                <a16:creationId xmlns:a16="http://schemas.microsoft.com/office/drawing/2014/main" id="{422E8495-B6BB-399E-65B3-5A39FA168260}"/>
              </a:ext>
            </a:extLst>
          </p:cNvPr>
          <p:cNvSpPr>
            <a:spLocks noGrp="1"/>
          </p:cNvSpPr>
          <p:nvPr>
            <p:ph idx="1"/>
          </p:nvPr>
        </p:nvSpPr>
        <p:spPr/>
        <p:txBody>
          <a:bodyPr/>
          <a:lstStyle/>
          <a:p>
            <a:pPr lvl="1"/>
            <a:r>
              <a:rPr lang="ru-RU" dirty="0"/>
              <a:t>На данном этапе необходимо определить диапазон действия</a:t>
            </a:r>
          </a:p>
          <a:p>
            <a:pPr lvl="1"/>
            <a:r>
              <a:rPr lang="ru-RU" dirty="0"/>
              <a:t>приложения базы данных, состав его пользователей и области применения.</a:t>
            </a:r>
          </a:p>
          <a:p>
            <a:pPr lvl="1"/>
            <a:endParaRPr lang="ru-RU" dirty="0"/>
          </a:p>
          <a:p>
            <a:pPr lvl="1"/>
            <a:r>
              <a:rPr lang="ru-RU" dirty="0"/>
              <a:t>Определение требований включает выбор целей БД, выяснение</a:t>
            </a:r>
          </a:p>
          <a:p>
            <a:pPr lvl="1"/>
            <a:r>
              <a:rPr lang="ru-RU" dirty="0"/>
              <a:t>информационных потребностей различных отделов и руководителей</a:t>
            </a:r>
          </a:p>
          <a:p>
            <a:pPr lvl="1"/>
            <a:r>
              <a:rPr lang="ru-RU" dirty="0"/>
              <a:t>фирмы и требований к оборудованию и программному обеспечению.</a:t>
            </a:r>
          </a:p>
        </p:txBody>
      </p:sp>
    </p:spTree>
    <p:extLst>
      <p:ext uri="{BB962C8B-B14F-4D97-AF65-F5344CB8AC3E}">
        <p14:creationId xmlns:p14="http://schemas.microsoft.com/office/powerpoint/2010/main" val="4148935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28CC1F-6E80-E5C7-DF13-B48F04045991}"/>
              </a:ext>
            </a:extLst>
          </p:cNvPr>
          <p:cNvSpPr>
            <a:spLocks noGrp="1"/>
          </p:cNvSpPr>
          <p:nvPr>
            <p:ph type="title"/>
          </p:nvPr>
        </p:nvSpPr>
        <p:spPr/>
        <p:txBody>
          <a:bodyPr/>
          <a:lstStyle/>
          <a:p>
            <a:r>
              <a:rPr lang="ru-RU" dirty="0"/>
              <a:t>Сбор и анализ требований пользователей</a:t>
            </a:r>
          </a:p>
        </p:txBody>
      </p:sp>
      <p:sp>
        <p:nvSpPr>
          <p:cNvPr id="3" name="Объект 2">
            <a:extLst>
              <a:ext uri="{FF2B5EF4-FFF2-40B4-BE49-F238E27FC236}">
                <a16:creationId xmlns:a16="http://schemas.microsoft.com/office/drawing/2014/main" id="{0CEC4C98-37AA-42AD-CAF4-0E7AA597B8DD}"/>
              </a:ext>
            </a:extLst>
          </p:cNvPr>
          <p:cNvSpPr>
            <a:spLocks noGrp="1"/>
          </p:cNvSpPr>
          <p:nvPr>
            <p:ph idx="1"/>
          </p:nvPr>
        </p:nvSpPr>
        <p:spPr/>
        <p:txBody>
          <a:bodyPr>
            <a:normAutofit/>
          </a:bodyPr>
          <a:lstStyle/>
          <a:p>
            <a:pPr lvl="1"/>
            <a:r>
              <a:rPr lang="ru-RU" dirty="0"/>
              <a:t>На данном этапе необходимо создать для себя модель движения важных материальных объектов и уяснить процесс документооборота. </a:t>
            </a:r>
          </a:p>
          <a:p>
            <a:pPr lvl="1"/>
            <a:r>
              <a:rPr lang="ru-RU" dirty="0"/>
              <a:t>По каждому документу необходимо установить периодичность использования, определить данные, необходимые для выполнения выделенных функций (анализируя существующую и планируемую документацию, выясняют, как получается каждый элемент данных, кем получается, где в дальнейшем используется, кем контролируется.</a:t>
            </a:r>
          </a:p>
        </p:txBody>
      </p:sp>
    </p:spTree>
    <p:extLst>
      <p:ext uri="{BB962C8B-B14F-4D97-AF65-F5344CB8AC3E}">
        <p14:creationId xmlns:p14="http://schemas.microsoft.com/office/powerpoint/2010/main" val="521099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A29121-6836-EF09-CA94-BBBBF4396673}"/>
              </a:ext>
            </a:extLst>
          </p:cNvPr>
          <p:cNvSpPr>
            <a:spLocks noGrp="1"/>
          </p:cNvSpPr>
          <p:nvPr>
            <p:ph type="title"/>
          </p:nvPr>
        </p:nvSpPr>
        <p:spPr/>
        <p:txBody>
          <a:bodyPr/>
          <a:lstStyle/>
          <a:p>
            <a:r>
              <a:rPr lang="ru-RU" dirty="0"/>
              <a:t>Проектирование базы данных</a:t>
            </a:r>
          </a:p>
        </p:txBody>
      </p:sp>
      <p:sp>
        <p:nvSpPr>
          <p:cNvPr id="3" name="Объект 2">
            <a:extLst>
              <a:ext uri="{FF2B5EF4-FFF2-40B4-BE49-F238E27FC236}">
                <a16:creationId xmlns:a16="http://schemas.microsoft.com/office/drawing/2014/main" id="{C0FD5C3B-DC30-A705-41D1-9BBC1B5E296D}"/>
              </a:ext>
            </a:extLst>
          </p:cNvPr>
          <p:cNvSpPr>
            <a:spLocks noGrp="1"/>
          </p:cNvSpPr>
          <p:nvPr>
            <p:ph idx="1"/>
          </p:nvPr>
        </p:nvSpPr>
        <p:spPr/>
        <p:txBody>
          <a:bodyPr>
            <a:normAutofit/>
          </a:bodyPr>
          <a:lstStyle/>
          <a:p>
            <a:r>
              <a:rPr lang="ru-RU" b="1" dirty="0"/>
              <a:t>Концептуальное проектирование базы данных</a:t>
            </a:r>
          </a:p>
          <a:p>
            <a:pPr lvl="1"/>
            <a:endParaRPr lang="en-US" dirty="0"/>
          </a:p>
          <a:p>
            <a:pPr lvl="1"/>
            <a:r>
              <a:rPr lang="ru-RU" sz="1600" dirty="0"/>
              <a:t>Проектирование сложных баз данных с большим количеством атрибутов осуществляется использованием, так называемого, нисходящего подхода.</a:t>
            </a:r>
            <a:endParaRPr lang="en-US" sz="1600" dirty="0"/>
          </a:p>
          <a:p>
            <a:pPr lvl="1"/>
            <a:endParaRPr lang="en-US" sz="1600" dirty="0"/>
          </a:p>
          <a:p>
            <a:pPr lvl="1"/>
            <a:r>
              <a:rPr lang="ru-RU" sz="1600" dirty="0"/>
              <a:t>Нисходящий подход демонстрируется в концепции модели</a:t>
            </a:r>
            <a:r>
              <a:rPr lang="en-US" sz="1600" dirty="0"/>
              <a:t> </a:t>
            </a:r>
            <a:r>
              <a:rPr lang="ru-RU" sz="1600" dirty="0"/>
              <a:t>"сущность — связь" (</a:t>
            </a:r>
            <a:r>
              <a:rPr lang="de-CH" sz="1600" dirty="0"/>
              <a:t>Entity-Relationship </a:t>
            </a:r>
            <a:r>
              <a:rPr lang="de-CH" sz="1600" dirty="0" err="1"/>
              <a:t>model</a:t>
            </a:r>
            <a:r>
              <a:rPr lang="de-CH" sz="1600" dirty="0"/>
              <a:t> — ER-</a:t>
            </a:r>
            <a:r>
              <a:rPr lang="ru-RU" sz="1600" dirty="0"/>
              <a:t>модель) — самой</a:t>
            </a:r>
            <a:r>
              <a:rPr lang="en-US" sz="1600" dirty="0"/>
              <a:t> </a:t>
            </a:r>
            <a:r>
              <a:rPr lang="ru-RU" sz="1600" dirty="0"/>
              <a:t>популярной технологии высокоуровневого моделирования данных,</a:t>
            </a:r>
            <a:r>
              <a:rPr lang="en-US" sz="1600" dirty="0"/>
              <a:t> </a:t>
            </a:r>
            <a:r>
              <a:rPr lang="ru-RU" sz="1600" dirty="0"/>
              <a:t>предложенной П. Ченом.</a:t>
            </a:r>
            <a:endParaRPr lang="en-US" sz="1600" dirty="0"/>
          </a:p>
          <a:p>
            <a:pPr lvl="1"/>
            <a:endParaRPr lang="en-US" sz="1600" dirty="0"/>
          </a:p>
          <a:p>
            <a:pPr lvl="1"/>
            <a:r>
              <a:rPr lang="ru-RU" sz="1600" dirty="0"/>
              <a:t>Модель "сущность — связь" относится к семантическим моделям.</a:t>
            </a:r>
            <a:r>
              <a:rPr lang="en-US" sz="1600" dirty="0"/>
              <a:t> </a:t>
            </a:r>
            <a:r>
              <a:rPr lang="ru-RU" sz="1600" i="1" dirty="0"/>
              <a:t>Семантическое моделирование </a:t>
            </a:r>
            <a:r>
              <a:rPr lang="ru-RU" sz="1600" dirty="0"/>
              <a:t>данных, связанное со смысловым</a:t>
            </a:r>
            <a:r>
              <a:rPr lang="en-US" sz="1600" dirty="0"/>
              <a:t> </a:t>
            </a:r>
            <a:r>
              <a:rPr lang="ru-RU" sz="1600" dirty="0"/>
              <a:t>содержанием данных, независимо от их представления в ЭВМ.</a:t>
            </a:r>
          </a:p>
        </p:txBody>
      </p:sp>
    </p:spTree>
    <p:extLst>
      <p:ext uri="{BB962C8B-B14F-4D97-AF65-F5344CB8AC3E}">
        <p14:creationId xmlns:p14="http://schemas.microsoft.com/office/powerpoint/2010/main" val="2396148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E0554E-DC56-8003-C7F9-B34906067335}"/>
              </a:ext>
            </a:extLst>
          </p:cNvPr>
          <p:cNvSpPr>
            <a:spLocks noGrp="1"/>
          </p:cNvSpPr>
          <p:nvPr>
            <p:ph type="title"/>
          </p:nvPr>
        </p:nvSpPr>
        <p:spPr/>
        <p:txBody>
          <a:bodyPr>
            <a:normAutofit fontScale="90000"/>
          </a:bodyPr>
          <a:lstStyle/>
          <a:p>
            <a:r>
              <a:rPr lang="ru-RU" i="1" dirty="0"/>
              <a:t>Построение</a:t>
            </a:r>
            <a:r>
              <a:rPr lang="en-US" i="1" dirty="0"/>
              <a:t> </a:t>
            </a:r>
            <a:r>
              <a:rPr lang="ru-RU" i="1" dirty="0"/>
              <a:t>общей концептуальной модели данных</a:t>
            </a:r>
            <a:endParaRPr lang="ru-RU" dirty="0"/>
          </a:p>
        </p:txBody>
      </p:sp>
      <p:sp>
        <p:nvSpPr>
          <p:cNvPr id="3" name="Объект 2">
            <a:extLst>
              <a:ext uri="{FF2B5EF4-FFF2-40B4-BE49-F238E27FC236}">
                <a16:creationId xmlns:a16="http://schemas.microsoft.com/office/drawing/2014/main" id="{5F913309-1FFE-99F4-1716-6F90001BDC5C}"/>
              </a:ext>
            </a:extLst>
          </p:cNvPr>
          <p:cNvSpPr>
            <a:spLocks noGrp="1"/>
          </p:cNvSpPr>
          <p:nvPr>
            <p:ph idx="1"/>
          </p:nvPr>
        </p:nvSpPr>
        <p:spPr/>
        <p:txBody>
          <a:bodyPr>
            <a:normAutofit/>
          </a:bodyPr>
          <a:lstStyle/>
          <a:p>
            <a:r>
              <a:rPr lang="ru-RU" dirty="0"/>
              <a:t>Выделение локальных представлений, соответствующих обычно</a:t>
            </a:r>
            <a:r>
              <a:rPr lang="en-US" dirty="0"/>
              <a:t> </a:t>
            </a:r>
            <a:r>
              <a:rPr lang="ru-RU" dirty="0"/>
              <a:t>относительно независимым данным. Каждое такое представление</a:t>
            </a:r>
            <a:r>
              <a:rPr lang="en-US" dirty="0"/>
              <a:t> </a:t>
            </a:r>
            <a:r>
              <a:rPr lang="ru-RU" dirty="0"/>
              <a:t>проектируется как подзадача.</a:t>
            </a:r>
          </a:p>
          <a:p>
            <a:pPr marL="457200" indent="-457200">
              <a:buFont typeface="Arial" panose="020B0604020202020204" pitchFamily="34" charset="0"/>
              <a:buChar char="•"/>
            </a:pPr>
            <a:r>
              <a:rPr lang="ru-RU" sz="1900" dirty="0"/>
              <a:t>Формулирование сущностей, описывающих локальную предметную</a:t>
            </a:r>
            <a:r>
              <a:rPr lang="en-US" sz="1900" dirty="0"/>
              <a:t> </a:t>
            </a:r>
            <a:r>
              <a:rPr lang="ru-RU" sz="1900" dirty="0"/>
              <a:t>область проектируемой БД, и описание атрибутов, составляющих</a:t>
            </a:r>
            <a:r>
              <a:rPr lang="en-US" sz="1900" dirty="0"/>
              <a:t> </a:t>
            </a:r>
            <a:r>
              <a:rPr lang="ru-RU" sz="1900" dirty="0"/>
              <a:t>структуру каждой сущности.</a:t>
            </a:r>
          </a:p>
          <a:p>
            <a:pPr marL="457200" indent="-457200">
              <a:buFont typeface="Arial" panose="020B0604020202020204" pitchFamily="34" charset="0"/>
              <a:buChar char="•"/>
            </a:pPr>
            <a:r>
              <a:rPr lang="ru-RU" sz="1900" dirty="0"/>
              <a:t>Выделение ключевых атрибутов.</a:t>
            </a:r>
          </a:p>
          <a:p>
            <a:pPr marL="457200" indent="-457200">
              <a:buFont typeface="Arial" panose="020B0604020202020204" pitchFamily="34" charset="0"/>
              <a:buChar char="•"/>
            </a:pPr>
            <a:r>
              <a:rPr lang="ru-RU" sz="1900" dirty="0"/>
              <a:t>Спецификация связей между сущностями. Удаление избыточных</a:t>
            </a:r>
            <a:r>
              <a:rPr lang="en-US" sz="1900" dirty="0"/>
              <a:t> </a:t>
            </a:r>
            <a:r>
              <a:rPr lang="ru-RU" sz="1900" dirty="0"/>
              <a:t>связей.</a:t>
            </a:r>
          </a:p>
          <a:p>
            <a:pPr marL="457200" indent="-457200">
              <a:buFont typeface="Arial" panose="020B0604020202020204" pitchFamily="34" charset="0"/>
              <a:buChar char="•"/>
            </a:pPr>
            <a:r>
              <a:rPr lang="ru-RU" sz="1900" dirty="0"/>
              <a:t>Анализ и добавление неключевых атрибутов.</a:t>
            </a:r>
          </a:p>
          <a:p>
            <a:pPr marL="457200" indent="-457200">
              <a:buFont typeface="Arial" panose="020B0604020202020204" pitchFamily="34" charset="0"/>
              <a:buChar char="•"/>
            </a:pPr>
            <a:r>
              <a:rPr lang="ru-RU" sz="1900" dirty="0"/>
              <a:t>Объединение локальных представлений.</a:t>
            </a:r>
          </a:p>
        </p:txBody>
      </p:sp>
    </p:spTree>
    <p:extLst>
      <p:ext uri="{BB962C8B-B14F-4D97-AF65-F5344CB8AC3E}">
        <p14:creationId xmlns:p14="http://schemas.microsoft.com/office/powerpoint/2010/main" val="1391399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D9DDC6-4C23-88FD-4B71-8E83988065DD}"/>
              </a:ext>
            </a:extLst>
          </p:cNvPr>
          <p:cNvSpPr>
            <a:spLocks noGrp="1"/>
          </p:cNvSpPr>
          <p:nvPr>
            <p:ph type="title"/>
          </p:nvPr>
        </p:nvSpPr>
        <p:spPr/>
        <p:txBody>
          <a:bodyPr/>
          <a:lstStyle/>
          <a:p>
            <a:r>
              <a:rPr lang="ru-RU" dirty="0"/>
              <a:t>Логическое проектирование базы данных</a:t>
            </a:r>
          </a:p>
        </p:txBody>
      </p:sp>
      <p:sp>
        <p:nvSpPr>
          <p:cNvPr id="3" name="Объект 2">
            <a:extLst>
              <a:ext uri="{FF2B5EF4-FFF2-40B4-BE49-F238E27FC236}">
                <a16:creationId xmlns:a16="http://schemas.microsoft.com/office/drawing/2014/main" id="{0CFEDA3F-07CC-15F5-439B-4105F8505114}"/>
              </a:ext>
            </a:extLst>
          </p:cNvPr>
          <p:cNvSpPr>
            <a:spLocks noGrp="1"/>
          </p:cNvSpPr>
          <p:nvPr>
            <p:ph idx="1"/>
          </p:nvPr>
        </p:nvSpPr>
        <p:spPr/>
        <p:txBody>
          <a:bodyPr/>
          <a:lstStyle/>
          <a:p>
            <a:pPr lvl="1"/>
            <a:r>
              <a:rPr lang="ru-RU" dirty="0"/>
              <a:t>Цель второй фазы проектирования базы данных состоит в создании</a:t>
            </a:r>
          </a:p>
          <a:p>
            <a:pPr lvl="1"/>
            <a:r>
              <a:rPr lang="ru-RU" dirty="0"/>
              <a:t>логической модели данных для исследуемой части предприятия.</a:t>
            </a:r>
          </a:p>
          <a:p>
            <a:pPr lvl="1"/>
            <a:endParaRPr lang="ru-RU" dirty="0"/>
          </a:p>
          <a:p>
            <a:pPr lvl="1"/>
            <a:r>
              <a:rPr lang="ru-RU" dirty="0"/>
              <a:t>Логическая модель, отражающая особенности представления о</a:t>
            </a:r>
          </a:p>
          <a:p>
            <a:pPr lvl="1"/>
            <a:r>
              <a:rPr lang="ru-RU" dirty="0"/>
              <a:t>функционировании предприятия одновременно многих типов</a:t>
            </a:r>
          </a:p>
          <a:p>
            <a:pPr lvl="1"/>
            <a:r>
              <a:rPr lang="ru-RU" dirty="0"/>
              <a:t>пользователей, называется </a:t>
            </a:r>
            <a:r>
              <a:rPr lang="ru-RU" b="1" i="1" dirty="0"/>
              <a:t>глобальной логической моделью данных.</a:t>
            </a:r>
            <a:endParaRPr lang="ru-RU" b="1" dirty="0"/>
          </a:p>
        </p:txBody>
      </p:sp>
    </p:spTree>
    <p:extLst>
      <p:ext uri="{BB962C8B-B14F-4D97-AF65-F5344CB8AC3E}">
        <p14:creationId xmlns:p14="http://schemas.microsoft.com/office/powerpoint/2010/main" val="3056677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7A3CB5-9CC8-B085-A2F1-44863402BA8F}"/>
              </a:ext>
            </a:extLst>
          </p:cNvPr>
          <p:cNvSpPr>
            <a:spLocks noGrp="1"/>
          </p:cNvSpPr>
          <p:nvPr>
            <p:ph type="title"/>
          </p:nvPr>
        </p:nvSpPr>
        <p:spPr/>
        <p:txBody>
          <a:bodyPr/>
          <a:lstStyle/>
          <a:p>
            <a:r>
              <a:rPr lang="ru-RU" dirty="0"/>
              <a:t>Физическое проектирование базы данных</a:t>
            </a:r>
          </a:p>
        </p:txBody>
      </p:sp>
      <p:sp>
        <p:nvSpPr>
          <p:cNvPr id="3" name="Объект 2">
            <a:extLst>
              <a:ext uri="{FF2B5EF4-FFF2-40B4-BE49-F238E27FC236}">
                <a16:creationId xmlns:a16="http://schemas.microsoft.com/office/drawing/2014/main" id="{1C3CF874-5DB2-854A-39B0-0F6305A604B1}"/>
              </a:ext>
            </a:extLst>
          </p:cNvPr>
          <p:cNvSpPr>
            <a:spLocks noGrp="1"/>
          </p:cNvSpPr>
          <p:nvPr>
            <p:ph idx="1"/>
          </p:nvPr>
        </p:nvSpPr>
        <p:spPr/>
        <p:txBody>
          <a:bodyPr>
            <a:normAutofit/>
          </a:bodyPr>
          <a:lstStyle/>
          <a:p>
            <a:pPr marL="457200" indent="-457200">
              <a:buFont typeface="Arial" panose="020B0604020202020204" pitchFamily="34" charset="0"/>
              <a:buChar char="•"/>
            </a:pPr>
            <a:r>
              <a:rPr lang="ru-RU" sz="2000" dirty="0"/>
              <a:t>создание описания набора реляционных таблиц и ограничений для них на основе информации, представленной в глобальной логической модели данных;</a:t>
            </a:r>
          </a:p>
          <a:p>
            <a:pPr marL="457200" indent="-457200">
              <a:buFont typeface="Arial" panose="020B0604020202020204" pitchFamily="34" charset="0"/>
              <a:buChar char="•"/>
            </a:pPr>
            <a:r>
              <a:rPr lang="ru-RU" sz="2000" dirty="0"/>
              <a:t>определение конкретных структур хранения данных и методов доступа к ним, обеспечивающих оптимальную производительность системы с базой данных;</a:t>
            </a:r>
          </a:p>
          <a:p>
            <a:pPr marL="457200" indent="-457200">
              <a:buFont typeface="Arial" panose="020B0604020202020204" pitchFamily="34" charset="0"/>
              <a:buChar char="•"/>
            </a:pPr>
            <a:r>
              <a:rPr lang="ru-RU" sz="2000" dirty="0"/>
              <a:t> разработка средств зашиты создаваемой системы</a:t>
            </a:r>
            <a:r>
              <a:rPr lang="ru-RU" dirty="0"/>
              <a:t>.</a:t>
            </a:r>
          </a:p>
        </p:txBody>
      </p:sp>
    </p:spTree>
    <p:extLst>
      <p:ext uri="{BB962C8B-B14F-4D97-AF65-F5344CB8AC3E}">
        <p14:creationId xmlns:p14="http://schemas.microsoft.com/office/powerpoint/2010/main" val="311437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548C07-F420-6DD0-E5E4-B664BC97872D}"/>
              </a:ext>
            </a:extLst>
          </p:cNvPr>
          <p:cNvSpPr>
            <a:spLocks noGrp="1"/>
          </p:cNvSpPr>
          <p:nvPr>
            <p:ph type="title"/>
          </p:nvPr>
        </p:nvSpPr>
        <p:spPr/>
        <p:txBody>
          <a:bodyPr/>
          <a:lstStyle/>
          <a:p>
            <a:r>
              <a:rPr lang="ru-RU" dirty="0"/>
              <a:t>Разработка приложений</a:t>
            </a:r>
          </a:p>
        </p:txBody>
      </p:sp>
      <p:sp>
        <p:nvSpPr>
          <p:cNvPr id="3" name="Объект 2">
            <a:extLst>
              <a:ext uri="{FF2B5EF4-FFF2-40B4-BE49-F238E27FC236}">
                <a16:creationId xmlns:a16="http://schemas.microsoft.com/office/drawing/2014/main" id="{7CF5CA96-6780-D16E-29FC-8FB0F9EA1DD6}"/>
              </a:ext>
            </a:extLst>
          </p:cNvPr>
          <p:cNvSpPr>
            <a:spLocks noGrp="1"/>
          </p:cNvSpPr>
          <p:nvPr>
            <p:ph idx="1"/>
          </p:nvPr>
        </p:nvSpPr>
        <p:spPr/>
        <p:txBody>
          <a:bodyPr>
            <a:normAutofit/>
          </a:bodyPr>
          <a:lstStyle/>
          <a:p>
            <a:r>
              <a:rPr lang="ru-RU" sz="2000" dirty="0"/>
              <a:t>Параллельно с проектированием системы базы данных выполняется разработка приложений. Главные составляющие данного процесса — это проектирование транзакций и пользовательского интерфейса.</a:t>
            </a:r>
          </a:p>
        </p:txBody>
      </p:sp>
    </p:spTree>
    <p:extLst>
      <p:ext uri="{BB962C8B-B14F-4D97-AF65-F5344CB8AC3E}">
        <p14:creationId xmlns:p14="http://schemas.microsoft.com/office/powerpoint/2010/main" val="97762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379010-ECD1-DDB7-CBF5-AC729B41330C}"/>
              </a:ext>
            </a:extLst>
          </p:cNvPr>
          <p:cNvSpPr>
            <a:spLocks noGrp="1"/>
          </p:cNvSpPr>
          <p:nvPr>
            <p:ph type="title"/>
          </p:nvPr>
        </p:nvSpPr>
        <p:spPr/>
        <p:txBody>
          <a:bodyPr/>
          <a:lstStyle/>
          <a:p>
            <a:r>
              <a:rPr lang="ru-RU" dirty="0"/>
              <a:t>Концептуальное проектирование</a:t>
            </a:r>
          </a:p>
        </p:txBody>
      </p:sp>
      <p:sp>
        <p:nvSpPr>
          <p:cNvPr id="3" name="Объект 2">
            <a:extLst>
              <a:ext uri="{FF2B5EF4-FFF2-40B4-BE49-F238E27FC236}">
                <a16:creationId xmlns:a16="http://schemas.microsoft.com/office/drawing/2014/main" id="{B2845885-0F45-5DEF-2766-CC74635A4AC1}"/>
              </a:ext>
            </a:extLst>
          </p:cNvPr>
          <p:cNvSpPr>
            <a:spLocks noGrp="1"/>
          </p:cNvSpPr>
          <p:nvPr>
            <p:ph idx="1"/>
          </p:nvPr>
        </p:nvSpPr>
        <p:spPr/>
        <p:txBody>
          <a:bodyPr>
            <a:normAutofit/>
          </a:bodyPr>
          <a:lstStyle/>
          <a:p>
            <a:pPr lvl="1"/>
            <a:r>
              <a:rPr lang="ru-RU" dirty="0"/>
              <a:t>Методологии,</a:t>
            </a:r>
            <a:r>
              <a:rPr lang="en-US" dirty="0"/>
              <a:t> </a:t>
            </a:r>
            <a:r>
              <a:rPr lang="ru-RU" dirty="0"/>
              <a:t>позволяющие эффективно отображать существующую смысловую</a:t>
            </a:r>
            <a:r>
              <a:rPr lang="en-US" dirty="0"/>
              <a:t> </a:t>
            </a:r>
            <a:r>
              <a:rPr lang="ru-RU" dirty="0"/>
              <a:t>содержательность реальности в конструкции модели, относятся к так</a:t>
            </a:r>
            <a:r>
              <a:rPr lang="en-US" dirty="0"/>
              <a:t> </a:t>
            </a:r>
            <a:r>
              <a:rPr lang="ru-RU" dirty="0"/>
              <a:t>называемым </a:t>
            </a:r>
            <a:r>
              <a:rPr lang="ru-RU" b="1" i="1" dirty="0"/>
              <a:t>семантическим </a:t>
            </a:r>
            <a:r>
              <a:rPr lang="ru-RU" dirty="0"/>
              <a:t>методологиям.</a:t>
            </a:r>
            <a:endParaRPr lang="en-US" dirty="0"/>
          </a:p>
          <a:p>
            <a:pPr lvl="1"/>
            <a:endParaRPr lang="en-US" dirty="0"/>
          </a:p>
          <a:p>
            <a:pPr lvl="1"/>
            <a:r>
              <a:rPr lang="ru-RU" dirty="0"/>
              <a:t>Наиболее популярной семантической моделью стала модель "сущность — связь" (ER-модель),</a:t>
            </a:r>
            <a:r>
              <a:rPr lang="en-US" dirty="0"/>
              <a:t> </a:t>
            </a:r>
            <a:r>
              <a:rPr lang="ru-RU" dirty="0"/>
              <a:t>предложенная П. Ченом в 1976 году, которая с тех пор неоднократно</a:t>
            </a:r>
            <a:r>
              <a:rPr lang="en-US" dirty="0"/>
              <a:t> </a:t>
            </a:r>
            <a:r>
              <a:rPr lang="ru-RU" dirty="0"/>
              <a:t>усовершенствовалась самим Ченом и многими другими специалистами</a:t>
            </a:r>
            <a:endParaRPr lang="en-US" dirty="0"/>
          </a:p>
          <a:p>
            <a:pPr lvl="1"/>
            <a:endParaRPr lang="en-US" dirty="0"/>
          </a:p>
          <a:p>
            <a:pPr lvl="1"/>
            <a:r>
              <a:rPr lang="ru-RU" dirty="0"/>
              <a:t>Главными элементами семантической модели данных являются</a:t>
            </a:r>
            <a:r>
              <a:rPr lang="en-US" dirty="0"/>
              <a:t> </a:t>
            </a:r>
            <a:r>
              <a:rPr lang="ru-RU" i="1" dirty="0"/>
              <a:t>сущности, их атрибуты </a:t>
            </a:r>
            <a:r>
              <a:rPr lang="ru-RU" dirty="0"/>
              <a:t>и </a:t>
            </a:r>
            <a:r>
              <a:rPr lang="ru-RU" i="1" dirty="0"/>
              <a:t>типы связей. </a:t>
            </a:r>
            <a:r>
              <a:rPr lang="ru-RU" dirty="0"/>
              <a:t>Сущности часто представляют в</a:t>
            </a:r>
            <a:r>
              <a:rPr lang="en-US" dirty="0"/>
              <a:t> </a:t>
            </a:r>
            <a:r>
              <a:rPr lang="ru-RU" dirty="0"/>
              <a:t>виде </a:t>
            </a:r>
            <a:r>
              <a:rPr lang="ru-RU" i="1" dirty="0"/>
              <a:t>существительных, </a:t>
            </a:r>
            <a:r>
              <a:rPr lang="ru-RU" dirty="0"/>
              <a:t>а типы связей — в виде </a:t>
            </a:r>
            <a:r>
              <a:rPr lang="ru-RU" i="1" dirty="0"/>
              <a:t>глаголов.</a:t>
            </a:r>
            <a:endParaRPr lang="ru-RU" dirty="0"/>
          </a:p>
        </p:txBody>
      </p:sp>
    </p:spTree>
    <p:extLst>
      <p:ext uri="{BB962C8B-B14F-4D97-AF65-F5344CB8AC3E}">
        <p14:creationId xmlns:p14="http://schemas.microsoft.com/office/powerpoint/2010/main" val="3167930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401FDE-1AEC-5A35-6E58-A8A88F1631F2}"/>
              </a:ext>
            </a:extLst>
          </p:cNvPr>
          <p:cNvSpPr>
            <a:spLocks noGrp="1"/>
          </p:cNvSpPr>
          <p:nvPr>
            <p:ph type="title"/>
          </p:nvPr>
        </p:nvSpPr>
        <p:spPr/>
        <p:txBody>
          <a:bodyPr/>
          <a:lstStyle/>
          <a:p>
            <a:r>
              <a:rPr lang="ru-RU" dirty="0"/>
              <a:t>Сущности</a:t>
            </a:r>
          </a:p>
        </p:txBody>
      </p:sp>
      <p:sp>
        <p:nvSpPr>
          <p:cNvPr id="3" name="Объект 2">
            <a:extLst>
              <a:ext uri="{FF2B5EF4-FFF2-40B4-BE49-F238E27FC236}">
                <a16:creationId xmlns:a16="http://schemas.microsoft.com/office/drawing/2014/main" id="{C4945673-200C-4F0C-36A3-B20539F32143}"/>
              </a:ext>
            </a:extLst>
          </p:cNvPr>
          <p:cNvSpPr>
            <a:spLocks noGrp="1"/>
          </p:cNvSpPr>
          <p:nvPr>
            <p:ph idx="1"/>
          </p:nvPr>
        </p:nvSpPr>
        <p:spPr/>
        <p:txBody>
          <a:bodyPr/>
          <a:lstStyle/>
          <a:p>
            <a:pPr lvl="2"/>
            <a:r>
              <a:rPr lang="ru-RU" i="1" dirty="0"/>
              <a:t>Сущность - тип </a:t>
            </a:r>
            <a:r>
              <a:rPr lang="ru-RU" dirty="0"/>
              <a:t>(в дальнейшем просто сущность) характеризуется</a:t>
            </a:r>
            <a:r>
              <a:rPr lang="en-US" dirty="0"/>
              <a:t> </a:t>
            </a:r>
            <a:r>
              <a:rPr lang="ru-RU" dirty="0"/>
              <a:t>независимым существованием и представляет множество объектов</a:t>
            </a:r>
            <a:r>
              <a:rPr lang="en-US" dirty="0"/>
              <a:t> </a:t>
            </a:r>
            <a:r>
              <a:rPr lang="ru-RU" dirty="0"/>
              <a:t>реального мира с одинаковыми свойствами. </a:t>
            </a:r>
            <a:endParaRPr lang="en-US" dirty="0"/>
          </a:p>
          <a:p>
            <a:pPr lvl="2"/>
            <a:r>
              <a:rPr lang="ru-RU" dirty="0"/>
              <a:t>Отдельные объекты, которые</a:t>
            </a:r>
            <a:r>
              <a:rPr lang="en-US" dirty="0"/>
              <a:t> </a:t>
            </a:r>
            <a:r>
              <a:rPr lang="ru-RU" dirty="0"/>
              <a:t>входят в данный тип, называют экземплярами сущности.</a:t>
            </a:r>
          </a:p>
        </p:txBody>
      </p:sp>
    </p:spTree>
    <p:extLst>
      <p:ext uri="{BB962C8B-B14F-4D97-AF65-F5344CB8AC3E}">
        <p14:creationId xmlns:p14="http://schemas.microsoft.com/office/powerpoint/2010/main" val="2846129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595058-C9FD-A00B-5311-2407F927BF89}"/>
              </a:ext>
            </a:extLst>
          </p:cNvPr>
          <p:cNvSpPr>
            <a:spLocks noGrp="1"/>
          </p:cNvSpPr>
          <p:nvPr>
            <p:ph type="title"/>
          </p:nvPr>
        </p:nvSpPr>
        <p:spPr/>
        <p:txBody>
          <a:bodyPr/>
          <a:lstStyle/>
          <a:p>
            <a:r>
              <a:rPr lang="ru-RU" dirty="0"/>
              <a:t>Атрибуты</a:t>
            </a:r>
          </a:p>
        </p:txBody>
      </p:sp>
      <p:sp>
        <p:nvSpPr>
          <p:cNvPr id="3" name="Объект 2">
            <a:extLst>
              <a:ext uri="{FF2B5EF4-FFF2-40B4-BE49-F238E27FC236}">
                <a16:creationId xmlns:a16="http://schemas.microsoft.com/office/drawing/2014/main" id="{893B05BA-A72A-7B08-442C-6E765BC7AF0D}"/>
              </a:ext>
            </a:extLst>
          </p:cNvPr>
          <p:cNvSpPr>
            <a:spLocks noGrp="1"/>
          </p:cNvSpPr>
          <p:nvPr>
            <p:ph idx="1"/>
          </p:nvPr>
        </p:nvSpPr>
        <p:spPr/>
        <p:txBody>
          <a:bodyPr/>
          <a:lstStyle/>
          <a:p>
            <a:pPr lvl="1"/>
            <a:r>
              <a:rPr lang="ru-RU" i="1" dirty="0"/>
              <a:t>Атрибут — </a:t>
            </a:r>
            <a:r>
              <a:rPr lang="ru-RU" dirty="0"/>
              <a:t>это поименованная характеристика сущности, с</a:t>
            </a:r>
          </a:p>
          <a:p>
            <a:pPr lvl="1"/>
            <a:r>
              <a:rPr lang="ru-RU" dirty="0"/>
              <a:t>помощью которой моделируется ее свойство. Каждой сущности присущи</a:t>
            </a:r>
            <a:r>
              <a:rPr lang="en-US" dirty="0"/>
              <a:t> </a:t>
            </a:r>
            <a:r>
              <a:rPr lang="ru-RU" dirty="0"/>
              <a:t>свои атрибуты.</a:t>
            </a:r>
            <a:endParaRPr lang="en-US" dirty="0"/>
          </a:p>
          <a:p>
            <a:pPr lvl="1"/>
            <a:endParaRPr lang="en-US" dirty="0"/>
          </a:p>
          <a:p>
            <a:pPr lvl="1"/>
            <a:r>
              <a:rPr lang="ru-RU" dirty="0"/>
              <a:t>Среди атрибутов особое положение занимают такие, с помощью</a:t>
            </a:r>
          </a:p>
          <a:p>
            <a:pPr lvl="1"/>
            <a:r>
              <a:rPr lang="ru-RU" dirty="0"/>
              <a:t>которых можно идентифицировать экземпляр сущности. Такие атрибуты</a:t>
            </a:r>
            <a:r>
              <a:rPr lang="en-US" dirty="0"/>
              <a:t> </a:t>
            </a:r>
            <a:r>
              <a:rPr lang="ru-RU" dirty="0"/>
              <a:t>называются </a:t>
            </a:r>
            <a:r>
              <a:rPr lang="ru-RU" b="1" i="1" dirty="0"/>
              <a:t>ключами.</a:t>
            </a:r>
            <a:endParaRPr lang="ru-RU" b="1" dirty="0"/>
          </a:p>
        </p:txBody>
      </p:sp>
    </p:spTree>
    <p:extLst>
      <p:ext uri="{BB962C8B-B14F-4D97-AF65-F5344CB8AC3E}">
        <p14:creationId xmlns:p14="http://schemas.microsoft.com/office/powerpoint/2010/main" val="3673033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6D53BF-B3DC-99C3-56F4-69506F1E5592}"/>
              </a:ext>
            </a:extLst>
          </p:cNvPr>
          <p:cNvSpPr>
            <a:spLocks noGrp="1"/>
          </p:cNvSpPr>
          <p:nvPr>
            <p:ph type="title"/>
          </p:nvPr>
        </p:nvSpPr>
        <p:spPr/>
        <p:txBody>
          <a:bodyPr/>
          <a:lstStyle/>
          <a:p>
            <a:r>
              <a:rPr lang="ru-RU" dirty="0"/>
              <a:t>Связи между сущностями</a:t>
            </a:r>
          </a:p>
        </p:txBody>
      </p:sp>
      <p:sp>
        <p:nvSpPr>
          <p:cNvPr id="3" name="Объект 2">
            <a:extLst>
              <a:ext uri="{FF2B5EF4-FFF2-40B4-BE49-F238E27FC236}">
                <a16:creationId xmlns:a16="http://schemas.microsoft.com/office/drawing/2014/main" id="{1EB5281E-7256-6887-EF3C-095FDA611F5C}"/>
              </a:ext>
            </a:extLst>
          </p:cNvPr>
          <p:cNvSpPr>
            <a:spLocks noGrp="1"/>
          </p:cNvSpPr>
          <p:nvPr>
            <p:ph idx="1"/>
          </p:nvPr>
        </p:nvSpPr>
        <p:spPr/>
        <p:txBody>
          <a:bodyPr/>
          <a:lstStyle/>
          <a:p>
            <a:pPr lvl="1"/>
            <a:r>
              <a:rPr lang="ru-RU" dirty="0"/>
              <a:t>Две сущности могут быть связаны между собой. Подобная связь</a:t>
            </a:r>
            <a:r>
              <a:rPr lang="en-US" dirty="0"/>
              <a:t> </a:t>
            </a:r>
            <a:r>
              <a:rPr lang="ru-RU" dirty="0"/>
              <a:t>осуществляется через связь экземпляров одной сущности с экземплярами</a:t>
            </a:r>
            <a:r>
              <a:rPr lang="en-US" dirty="0"/>
              <a:t> </a:t>
            </a:r>
            <a:r>
              <a:rPr lang="ru-RU" dirty="0"/>
              <a:t>другой сущности, образуя набор экземпляров связи между двумя</a:t>
            </a:r>
            <a:r>
              <a:rPr lang="en-US" dirty="0"/>
              <a:t> </a:t>
            </a:r>
            <a:r>
              <a:rPr lang="ru-RU" dirty="0"/>
              <a:t>сущностями, который называется типом связи.</a:t>
            </a:r>
          </a:p>
        </p:txBody>
      </p:sp>
    </p:spTree>
    <p:extLst>
      <p:ext uri="{BB962C8B-B14F-4D97-AF65-F5344CB8AC3E}">
        <p14:creationId xmlns:p14="http://schemas.microsoft.com/office/powerpoint/2010/main" val="4120368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FCF973-542B-86C4-DC4F-0C8ECCE5BE57}"/>
              </a:ext>
            </a:extLst>
          </p:cNvPr>
          <p:cNvSpPr>
            <a:spLocks noGrp="1"/>
          </p:cNvSpPr>
          <p:nvPr>
            <p:ph type="title"/>
          </p:nvPr>
        </p:nvSpPr>
        <p:spPr/>
        <p:txBody>
          <a:bodyPr/>
          <a:lstStyle/>
          <a:p>
            <a:r>
              <a:rPr lang="ru-RU" dirty="0"/>
              <a:t>Мощность связи</a:t>
            </a:r>
          </a:p>
        </p:txBody>
      </p:sp>
      <p:sp>
        <p:nvSpPr>
          <p:cNvPr id="3" name="Объект 2">
            <a:extLst>
              <a:ext uri="{FF2B5EF4-FFF2-40B4-BE49-F238E27FC236}">
                <a16:creationId xmlns:a16="http://schemas.microsoft.com/office/drawing/2014/main" id="{CFC0F27E-B141-59B9-5046-2EF05B62C41F}"/>
              </a:ext>
            </a:extLst>
          </p:cNvPr>
          <p:cNvSpPr>
            <a:spLocks noGrp="1"/>
          </p:cNvSpPr>
          <p:nvPr>
            <p:ph idx="1"/>
          </p:nvPr>
        </p:nvSpPr>
        <p:spPr/>
        <p:txBody>
          <a:bodyPr>
            <a:normAutofit/>
          </a:bodyPr>
          <a:lstStyle/>
          <a:p>
            <a:pPr lvl="1"/>
            <a:r>
              <a:rPr lang="ru-RU" i="1" dirty="0"/>
              <a:t>Мощность </a:t>
            </a:r>
            <a:r>
              <a:rPr lang="ru-RU" dirty="0"/>
              <a:t>обозначает максимальное количество экземпляров одной</a:t>
            </a:r>
            <a:r>
              <a:rPr lang="en-US" dirty="0"/>
              <a:t> </a:t>
            </a:r>
            <a:r>
              <a:rPr lang="ru-RU" dirty="0"/>
              <a:t>сущности, связанных с одним экземпляром другой сущности.</a:t>
            </a:r>
            <a:endParaRPr lang="en-US" dirty="0"/>
          </a:p>
          <a:p>
            <a:pPr lvl="1"/>
            <a:endParaRPr lang="en-US" dirty="0"/>
          </a:p>
          <a:p>
            <a:pPr lvl="1"/>
            <a:r>
              <a:rPr lang="ru-RU" b="1" dirty="0"/>
              <a:t>Показатель кардинальности</a:t>
            </a:r>
            <a:endParaRPr lang="en-US" b="1" dirty="0"/>
          </a:p>
          <a:p>
            <a:pPr lvl="1"/>
            <a:endParaRPr lang="en-US" b="1" dirty="0"/>
          </a:p>
          <a:p>
            <a:pPr lvl="1"/>
            <a:r>
              <a:rPr lang="ru-RU" dirty="0"/>
              <a:t>Для того чтобы указать количество возможных связей для каждого</a:t>
            </a:r>
          </a:p>
          <a:p>
            <a:pPr lvl="1"/>
            <a:r>
              <a:rPr lang="ru-RU" dirty="0"/>
              <a:t>экземпляра участвующего в связи сущности, используют показатель</a:t>
            </a:r>
          </a:p>
          <a:p>
            <a:pPr lvl="1"/>
            <a:r>
              <a:rPr lang="ru-RU" dirty="0"/>
              <a:t>кардинальности.</a:t>
            </a:r>
          </a:p>
          <a:p>
            <a:pPr lvl="1"/>
            <a:r>
              <a:rPr lang="ru-RU" dirty="0"/>
              <a:t>Для бинарных связей показатель кардинальности может иметь</a:t>
            </a:r>
          </a:p>
          <a:p>
            <a:pPr lvl="1"/>
            <a:r>
              <a:rPr lang="ru-RU" dirty="0"/>
              <a:t>следующие значения:</a:t>
            </a:r>
          </a:p>
          <a:p>
            <a:pPr lvl="1"/>
            <a:r>
              <a:rPr lang="ru-RU" dirty="0"/>
              <a:t>"один к одному" (1 : 1), "один ко многим"(1 : N), "многие ко многим"</a:t>
            </a:r>
          </a:p>
          <a:p>
            <a:pPr lvl="1"/>
            <a:r>
              <a:rPr lang="ru-RU" dirty="0"/>
              <a:t>(М : N).</a:t>
            </a:r>
          </a:p>
        </p:txBody>
      </p:sp>
    </p:spTree>
    <p:extLst>
      <p:ext uri="{BB962C8B-B14F-4D97-AF65-F5344CB8AC3E}">
        <p14:creationId xmlns:p14="http://schemas.microsoft.com/office/powerpoint/2010/main" val="2570392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6FC3E2-3A58-0CB9-862B-881345C9B19A}"/>
              </a:ext>
            </a:extLst>
          </p:cNvPr>
          <p:cNvSpPr>
            <a:spLocks noGrp="1"/>
          </p:cNvSpPr>
          <p:nvPr>
            <p:ph type="title"/>
          </p:nvPr>
        </p:nvSpPr>
        <p:spPr/>
        <p:txBody>
          <a:bodyPr/>
          <a:lstStyle/>
          <a:p>
            <a:r>
              <a:rPr lang="ru-RU" dirty="0"/>
              <a:t>Классификация моделей данных</a:t>
            </a:r>
          </a:p>
        </p:txBody>
      </p:sp>
      <p:sp>
        <p:nvSpPr>
          <p:cNvPr id="3" name="Объект 2">
            <a:extLst>
              <a:ext uri="{FF2B5EF4-FFF2-40B4-BE49-F238E27FC236}">
                <a16:creationId xmlns:a16="http://schemas.microsoft.com/office/drawing/2014/main" id="{0AC995B9-7E1B-D9BE-5D65-6A18B1A6CDC5}"/>
              </a:ext>
            </a:extLst>
          </p:cNvPr>
          <p:cNvSpPr>
            <a:spLocks noGrp="1"/>
          </p:cNvSpPr>
          <p:nvPr>
            <p:ph idx="1"/>
          </p:nvPr>
        </p:nvSpPr>
        <p:spPr/>
        <p:txBody>
          <a:bodyPr/>
          <a:lstStyle/>
          <a:p>
            <a:endParaRPr lang="ru-RU"/>
          </a:p>
        </p:txBody>
      </p:sp>
    </p:spTree>
    <p:extLst>
      <p:ext uri="{BB962C8B-B14F-4D97-AF65-F5344CB8AC3E}">
        <p14:creationId xmlns:p14="http://schemas.microsoft.com/office/powerpoint/2010/main" val="911448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C63070-FC58-221A-AD0F-8B093ED2E30C}"/>
              </a:ext>
            </a:extLst>
          </p:cNvPr>
          <p:cNvSpPr>
            <a:spLocks noGrp="1"/>
          </p:cNvSpPr>
          <p:nvPr>
            <p:ph type="title"/>
          </p:nvPr>
        </p:nvSpPr>
        <p:spPr/>
        <p:txBody>
          <a:bodyPr/>
          <a:lstStyle/>
          <a:p>
            <a:r>
              <a:rPr lang="ru-RU" dirty="0"/>
              <a:t>Реляционная модель данных</a:t>
            </a:r>
          </a:p>
        </p:txBody>
      </p:sp>
      <p:sp>
        <p:nvSpPr>
          <p:cNvPr id="3" name="Объект 2">
            <a:extLst>
              <a:ext uri="{FF2B5EF4-FFF2-40B4-BE49-F238E27FC236}">
                <a16:creationId xmlns:a16="http://schemas.microsoft.com/office/drawing/2014/main" id="{CD8EA1A0-222B-AAD6-C1AF-47DB4C36D42E}"/>
              </a:ext>
            </a:extLst>
          </p:cNvPr>
          <p:cNvSpPr>
            <a:spLocks noGrp="1"/>
          </p:cNvSpPr>
          <p:nvPr>
            <p:ph idx="1"/>
          </p:nvPr>
        </p:nvSpPr>
        <p:spPr/>
        <p:txBody>
          <a:bodyPr>
            <a:normAutofit/>
          </a:bodyPr>
          <a:lstStyle/>
          <a:p>
            <a:r>
              <a:rPr lang="ru-RU" b="1" dirty="0"/>
              <a:t>История вопроса</a:t>
            </a:r>
            <a:endParaRPr lang="en-US" b="1" dirty="0"/>
          </a:p>
          <a:p>
            <a:pPr lvl="1"/>
            <a:r>
              <a:rPr lang="ru-RU" b="0" i="0" u="none" strike="noStrike" baseline="0" dirty="0">
                <a:latin typeface="TimesNewRomanPSMT"/>
              </a:rPr>
              <a:t>Создателем реляционной модели является сотрудник фирмы IBM</a:t>
            </a:r>
            <a:r>
              <a:rPr lang="en-US" b="0" i="0" u="none" strike="noStrike" baseline="0" dirty="0">
                <a:latin typeface="TimesNewRomanPSMT"/>
              </a:rPr>
              <a:t> </a:t>
            </a:r>
            <a:r>
              <a:rPr lang="ru-RU" b="0" i="0" u="none" strike="noStrike" baseline="0" dirty="0">
                <a:latin typeface="TimesNewRomanPSMT"/>
              </a:rPr>
              <a:t>доктор Э. Ф. Кодд. Будучи по образованию математиком, Э. Кодд</a:t>
            </a:r>
            <a:r>
              <a:rPr lang="en-US" b="0" i="0" u="none" strike="noStrike" baseline="0" dirty="0">
                <a:latin typeface="TimesNewRomanPSMT"/>
              </a:rPr>
              <a:t> </a:t>
            </a:r>
            <a:r>
              <a:rPr lang="ru-RU" b="0" i="0" u="none" strike="noStrike" baseline="0" dirty="0">
                <a:latin typeface="TimesNewRomanPSMT"/>
              </a:rPr>
              <a:t>предложил использовать для обработки данных аппарат теории множеств.</a:t>
            </a:r>
          </a:p>
          <a:p>
            <a:pPr lvl="1"/>
            <a:r>
              <a:rPr lang="en-US" b="0" i="0" u="none" strike="noStrike" baseline="0" dirty="0">
                <a:latin typeface="TimesNewRomanPSMT"/>
              </a:rPr>
              <a:t>В </a:t>
            </a:r>
            <a:r>
              <a:rPr lang="en-US" b="0" i="0" u="none" strike="noStrike" baseline="0" dirty="0" err="1">
                <a:latin typeface="TimesNewRomanPSMT"/>
              </a:rPr>
              <a:t>статье</a:t>
            </a:r>
            <a:r>
              <a:rPr lang="en-US" b="0" i="0" u="none" strike="noStrike" baseline="0" dirty="0">
                <a:latin typeface="TimesNewRomanPSMT"/>
              </a:rPr>
              <a:t> "A Relational Model of Data for Large Shared Data Banks", </a:t>
            </a:r>
            <a:r>
              <a:rPr lang="ru-RU" b="0" i="0" u="none" strike="noStrike" baseline="0" dirty="0">
                <a:latin typeface="TimesNewRomanPSMT"/>
              </a:rPr>
              <a:t>вышедшей в свет в 1970 году, он показал, что любое представление</a:t>
            </a:r>
            <a:r>
              <a:rPr lang="en-US" b="0" i="0" u="none" strike="noStrike" baseline="0" dirty="0">
                <a:latin typeface="TimesNewRomanPSMT"/>
              </a:rPr>
              <a:t> </a:t>
            </a:r>
            <a:r>
              <a:rPr lang="ru-RU" b="0" i="0" u="none" strike="noStrike" baseline="0" dirty="0">
                <a:latin typeface="TimesNewRomanPSMT"/>
              </a:rPr>
              <a:t>данных сводится к совокупности двумерных таблиц особого вида,</a:t>
            </a:r>
            <a:r>
              <a:rPr lang="en-US" b="0" i="0" u="none" strike="noStrike" baseline="0" dirty="0">
                <a:latin typeface="TimesNewRomanPSMT"/>
              </a:rPr>
              <a:t> </a:t>
            </a:r>
            <a:r>
              <a:rPr lang="ru-RU" b="0" i="0" u="none" strike="noStrike" baseline="0" dirty="0">
                <a:latin typeface="TimesNewRomanPSMT"/>
              </a:rPr>
              <a:t>известного в математике как отношение (</a:t>
            </a:r>
            <a:r>
              <a:rPr lang="ru-RU" b="0" i="0" u="none" strike="noStrike" baseline="0" dirty="0" err="1">
                <a:latin typeface="TimesNewRomanPSMT"/>
              </a:rPr>
              <a:t>relation</a:t>
            </a:r>
            <a:r>
              <a:rPr lang="ru-RU" b="0" i="0" u="none" strike="noStrike" baseline="0" dirty="0">
                <a:latin typeface="TimesNewRomanPSMT"/>
              </a:rPr>
              <a:t>).</a:t>
            </a:r>
            <a:endParaRPr lang="ru-RU" dirty="0"/>
          </a:p>
        </p:txBody>
      </p:sp>
    </p:spTree>
    <p:extLst>
      <p:ext uri="{BB962C8B-B14F-4D97-AF65-F5344CB8AC3E}">
        <p14:creationId xmlns:p14="http://schemas.microsoft.com/office/powerpoint/2010/main" val="2660017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0EA307-6180-26EC-D954-57ED00D55654}"/>
              </a:ext>
            </a:extLst>
          </p:cNvPr>
          <p:cNvSpPr>
            <a:spLocks noGrp="1"/>
          </p:cNvSpPr>
          <p:nvPr>
            <p:ph type="title"/>
          </p:nvPr>
        </p:nvSpPr>
        <p:spPr/>
        <p:txBody>
          <a:bodyPr/>
          <a:lstStyle/>
          <a:p>
            <a:r>
              <a:rPr lang="ru-RU" dirty="0"/>
              <a:t>Реляционная модель данных</a:t>
            </a:r>
          </a:p>
        </p:txBody>
      </p:sp>
      <p:sp>
        <p:nvSpPr>
          <p:cNvPr id="3" name="Объект 2">
            <a:extLst>
              <a:ext uri="{FF2B5EF4-FFF2-40B4-BE49-F238E27FC236}">
                <a16:creationId xmlns:a16="http://schemas.microsoft.com/office/drawing/2014/main" id="{9D90DBD4-9DB2-F9F6-FFE9-8C85D905211C}"/>
              </a:ext>
            </a:extLst>
          </p:cNvPr>
          <p:cNvSpPr>
            <a:spLocks noGrp="1"/>
          </p:cNvSpPr>
          <p:nvPr>
            <p:ph idx="1"/>
          </p:nvPr>
        </p:nvSpPr>
        <p:spPr/>
        <p:txBody>
          <a:bodyPr/>
          <a:lstStyle/>
          <a:p>
            <a:pPr lvl="1"/>
            <a:r>
              <a:rPr lang="ru-RU" dirty="0"/>
              <a:t>Одним из основных преимуществ реляционной модели является ее</a:t>
            </a:r>
            <a:r>
              <a:rPr lang="en-US" dirty="0"/>
              <a:t> </a:t>
            </a:r>
            <a:r>
              <a:rPr lang="ru-RU" dirty="0"/>
              <a:t>однородность. Все данные рассматриваются как хранимые в таблицах и</a:t>
            </a:r>
            <a:r>
              <a:rPr lang="en-US" dirty="0"/>
              <a:t> </a:t>
            </a:r>
            <a:r>
              <a:rPr lang="ru-RU" dirty="0"/>
              <a:t>только в таблицах. Каждая строка такой таблицы имеет один и тот же</a:t>
            </a:r>
            <a:r>
              <a:rPr lang="en-US" dirty="0"/>
              <a:t> </a:t>
            </a:r>
            <a:r>
              <a:rPr lang="ru-RU" dirty="0"/>
              <a:t>формат.</a:t>
            </a:r>
          </a:p>
        </p:txBody>
      </p:sp>
    </p:spTree>
    <p:extLst>
      <p:ext uri="{BB962C8B-B14F-4D97-AF65-F5344CB8AC3E}">
        <p14:creationId xmlns:p14="http://schemas.microsoft.com/office/powerpoint/2010/main" val="40901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3407BF-444B-F5B1-E7C6-8DE76F562F19}"/>
              </a:ext>
            </a:extLst>
          </p:cNvPr>
          <p:cNvSpPr>
            <a:spLocks noGrp="1"/>
          </p:cNvSpPr>
          <p:nvPr>
            <p:ph type="title"/>
          </p:nvPr>
        </p:nvSpPr>
        <p:spPr/>
        <p:txBody>
          <a:bodyPr/>
          <a:lstStyle/>
          <a:p>
            <a:r>
              <a:rPr lang="ru-RU" dirty="0"/>
              <a:t>Реляционная модель данных</a:t>
            </a:r>
          </a:p>
        </p:txBody>
      </p:sp>
      <p:sp>
        <p:nvSpPr>
          <p:cNvPr id="3" name="Объект 2">
            <a:extLst>
              <a:ext uri="{FF2B5EF4-FFF2-40B4-BE49-F238E27FC236}">
                <a16:creationId xmlns:a16="http://schemas.microsoft.com/office/drawing/2014/main" id="{C17B4821-89E6-0AA0-F38B-83AFC1FE5648}"/>
              </a:ext>
            </a:extLst>
          </p:cNvPr>
          <p:cNvSpPr>
            <a:spLocks noGrp="1"/>
          </p:cNvSpPr>
          <p:nvPr>
            <p:ph idx="1"/>
          </p:nvPr>
        </p:nvSpPr>
        <p:spPr/>
        <p:txBody>
          <a:bodyPr>
            <a:normAutofit lnSpcReduction="10000"/>
          </a:bodyPr>
          <a:lstStyle/>
          <a:p>
            <a:r>
              <a:rPr lang="ru-RU" dirty="0"/>
              <a:t>К числу достоинств реляционного подхода можно отнести:</a:t>
            </a:r>
          </a:p>
          <a:p>
            <a:pPr marL="457200" indent="-457200">
              <a:buFont typeface="Arial" panose="020B0604020202020204" pitchFamily="34" charset="0"/>
              <a:buChar char="•"/>
            </a:pPr>
            <a:r>
              <a:rPr lang="ru-RU" dirty="0"/>
              <a:t>наличие небольшого набора абстракций, которые позволяют</a:t>
            </a:r>
            <a:r>
              <a:rPr lang="en-US" dirty="0"/>
              <a:t> </a:t>
            </a:r>
            <a:r>
              <a:rPr lang="ru-RU" dirty="0"/>
              <a:t>сравнительно просто моделировать большую часть</a:t>
            </a:r>
            <a:r>
              <a:rPr lang="en-US" dirty="0"/>
              <a:t> </a:t>
            </a:r>
            <a:r>
              <a:rPr lang="ru-RU" dirty="0"/>
              <a:t>распространенных предметных областей и допускают точные</a:t>
            </a:r>
            <a:r>
              <a:rPr lang="en-US" dirty="0"/>
              <a:t> </a:t>
            </a:r>
            <a:r>
              <a:rPr lang="ru-RU" dirty="0"/>
              <a:t>формальные определения, оставаясь интуитивно понятными;</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ru-RU" dirty="0"/>
              <a:t>наличие простого и в то же время мощного математического</a:t>
            </a:r>
            <a:r>
              <a:rPr lang="en-US" dirty="0"/>
              <a:t> </a:t>
            </a:r>
            <a:r>
              <a:rPr lang="ru-RU" dirty="0"/>
              <a:t>аппарата, опирающегося главным образом на теорию множеств и</a:t>
            </a:r>
            <a:r>
              <a:rPr lang="en-US" dirty="0"/>
              <a:t> </a:t>
            </a:r>
            <a:r>
              <a:rPr lang="ru-RU" dirty="0"/>
              <a:t>математическую логику и обеспечивающего теоретический базис</a:t>
            </a:r>
            <a:r>
              <a:rPr lang="en-US" dirty="0"/>
              <a:t> </a:t>
            </a:r>
            <a:r>
              <a:rPr lang="ru-RU" dirty="0"/>
              <a:t>реляционного подхода к организации БД;</a:t>
            </a:r>
          </a:p>
          <a:p>
            <a:pPr marL="457200" indent="-457200">
              <a:buFont typeface="Arial" panose="020B0604020202020204" pitchFamily="34" charset="0"/>
              <a:buChar char="•"/>
            </a:pPr>
            <a:endParaRPr lang="ru-RU" dirty="0"/>
          </a:p>
          <a:p>
            <a:pPr marL="457200" indent="-457200">
              <a:buFont typeface="Arial" panose="020B0604020202020204" pitchFamily="34" charset="0"/>
              <a:buChar char="•"/>
            </a:pPr>
            <a:r>
              <a:rPr lang="ru-RU" dirty="0"/>
              <a:t>возможность ненавигационного манипулирования данными без</a:t>
            </a:r>
            <a:r>
              <a:rPr lang="en-US" dirty="0"/>
              <a:t> </a:t>
            </a:r>
            <a:r>
              <a:rPr lang="ru-RU" dirty="0"/>
              <a:t>необходимости знания конкретной физической организации баз</a:t>
            </a:r>
            <a:r>
              <a:rPr lang="en-US" dirty="0"/>
              <a:t> </a:t>
            </a:r>
            <a:r>
              <a:rPr lang="ru-RU" dirty="0"/>
              <a:t>данных во внешней памяти.</a:t>
            </a:r>
          </a:p>
        </p:txBody>
      </p:sp>
    </p:spTree>
    <p:extLst>
      <p:ext uri="{BB962C8B-B14F-4D97-AF65-F5344CB8AC3E}">
        <p14:creationId xmlns:p14="http://schemas.microsoft.com/office/powerpoint/2010/main" val="3061048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3AED9E-3C52-181B-E318-22E80CA6F24B}"/>
              </a:ext>
            </a:extLst>
          </p:cNvPr>
          <p:cNvSpPr>
            <a:spLocks noGrp="1"/>
          </p:cNvSpPr>
          <p:nvPr>
            <p:ph type="title"/>
          </p:nvPr>
        </p:nvSpPr>
        <p:spPr/>
        <p:txBody>
          <a:bodyPr/>
          <a:lstStyle/>
          <a:p>
            <a:r>
              <a:rPr lang="ru-RU" dirty="0"/>
              <a:t>Реляционная модель данных</a:t>
            </a:r>
          </a:p>
        </p:txBody>
      </p:sp>
      <p:sp>
        <p:nvSpPr>
          <p:cNvPr id="3" name="Объект 2">
            <a:extLst>
              <a:ext uri="{FF2B5EF4-FFF2-40B4-BE49-F238E27FC236}">
                <a16:creationId xmlns:a16="http://schemas.microsoft.com/office/drawing/2014/main" id="{4E9E1A69-9340-8DF9-39FF-6223C63BDBC1}"/>
              </a:ext>
            </a:extLst>
          </p:cNvPr>
          <p:cNvSpPr>
            <a:spLocks noGrp="1"/>
          </p:cNvSpPr>
          <p:nvPr>
            <p:ph idx="1"/>
          </p:nvPr>
        </p:nvSpPr>
        <p:spPr/>
        <p:txBody>
          <a:bodyPr>
            <a:normAutofit lnSpcReduction="10000"/>
          </a:bodyPr>
          <a:lstStyle/>
          <a:p>
            <a:pPr lvl="1"/>
            <a:r>
              <a:rPr lang="ru-RU" dirty="0"/>
              <a:t>1. Правило информации. Вся информация в базе данных должна быть</a:t>
            </a:r>
            <a:r>
              <a:rPr lang="en-US" dirty="0"/>
              <a:t> </a:t>
            </a:r>
            <a:r>
              <a:rPr lang="ru-RU" dirty="0"/>
              <a:t>представлена исключительно на логическом уровне и только одним</a:t>
            </a:r>
            <a:r>
              <a:rPr lang="en-US" dirty="0"/>
              <a:t> </a:t>
            </a:r>
            <a:r>
              <a:rPr lang="ru-RU" dirty="0"/>
              <a:t>способом — в виде значений, содержащихся в таблицах.</a:t>
            </a:r>
          </a:p>
          <a:p>
            <a:pPr lvl="1"/>
            <a:endParaRPr lang="en-US" dirty="0"/>
          </a:p>
          <a:p>
            <a:pPr lvl="1"/>
            <a:r>
              <a:rPr lang="ru-RU" dirty="0"/>
              <a:t>2. Правило гарантированного доступа. Логический доступ ко всем и</a:t>
            </a:r>
            <a:r>
              <a:rPr lang="en-US" dirty="0"/>
              <a:t> </a:t>
            </a:r>
            <a:r>
              <a:rPr lang="ru-RU" dirty="0"/>
              <a:t>каждому элементу данных (атомарному значению) в реляционной</a:t>
            </a:r>
            <a:r>
              <a:rPr lang="en-US" dirty="0"/>
              <a:t> </a:t>
            </a:r>
            <a:r>
              <a:rPr lang="ru-RU" dirty="0"/>
              <a:t>базе данных должен обеспечиваться путем использования</a:t>
            </a:r>
            <a:r>
              <a:rPr lang="en-US" dirty="0"/>
              <a:t> </a:t>
            </a:r>
            <a:r>
              <a:rPr lang="ru-RU" dirty="0"/>
              <a:t>комбинации имени таблицы, первичного ключа и имени столбца.</a:t>
            </a:r>
          </a:p>
          <a:p>
            <a:pPr lvl="1"/>
            <a:endParaRPr lang="en-US" dirty="0"/>
          </a:p>
          <a:p>
            <a:pPr lvl="1"/>
            <a:r>
              <a:rPr lang="ru-RU" dirty="0"/>
              <a:t>3. Правило поддержки недействительных значений. В настоящей</a:t>
            </a:r>
            <a:r>
              <a:rPr lang="en-US" dirty="0"/>
              <a:t> </a:t>
            </a:r>
            <a:r>
              <a:rPr lang="ru-RU" dirty="0"/>
              <a:t>реляционной базе данных должна быть реализована поддержка</a:t>
            </a:r>
            <a:r>
              <a:rPr lang="en-US" dirty="0"/>
              <a:t> </a:t>
            </a:r>
            <a:r>
              <a:rPr lang="ru-RU" dirty="0"/>
              <a:t>недействительных значений, которые отличаются от строки</a:t>
            </a:r>
            <a:r>
              <a:rPr lang="en-US" dirty="0"/>
              <a:t> </a:t>
            </a:r>
            <a:r>
              <a:rPr lang="ru-RU" dirty="0"/>
              <a:t>символов нулевой длины, строки пробельных символов и от нуля</a:t>
            </a:r>
            <a:r>
              <a:rPr lang="en-US" dirty="0"/>
              <a:t> </a:t>
            </a:r>
            <a:r>
              <a:rPr lang="ru-RU" dirty="0"/>
              <a:t>или любого другого числа и используются для представления</a:t>
            </a:r>
            <a:r>
              <a:rPr lang="en-US" dirty="0"/>
              <a:t> </a:t>
            </a:r>
            <a:r>
              <a:rPr lang="ru-RU" dirty="0"/>
              <a:t>отсутствующих данных независимо от типа этих данных.</a:t>
            </a:r>
          </a:p>
        </p:txBody>
      </p:sp>
    </p:spTree>
    <p:extLst>
      <p:ext uri="{BB962C8B-B14F-4D97-AF65-F5344CB8AC3E}">
        <p14:creationId xmlns:p14="http://schemas.microsoft.com/office/powerpoint/2010/main" val="96442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812A71-C6C0-E776-74EE-2E635A27F34B}"/>
              </a:ext>
            </a:extLst>
          </p:cNvPr>
          <p:cNvSpPr>
            <a:spLocks noGrp="1"/>
          </p:cNvSpPr>
          <p:nvPr>
            <p:ph type="title"/>
          </p:nvPr>
        </p:nvSpPr>
        <p:spPr/>
        <p:txBody>
          <a:bodyPr/>
          <a:lstStyle/>
          <a:p>
            <a:r>
              <a:rPr lang="ru-RU" dirty="0"/>
              <a:t>Реляционная модель данных</a:t>
            </a:r>
          </a:p>
        </p:txBody>
      </p:sp>
      <p:sp>
        <p:nvSpPr>
          <p:cNvPr id="3" name="Объект 2">
            <a:extLst>
              <a:ext uri="{FF2B5EF4-FFF2-40B4-BE49-F238E27FC236}">
                <a16:creationId xmlns:a16="http://schemas.microsoft.com/office/drawing/2014/main" id="{0C22C753-7B09-A562-6461-E6E96C6CE4F9}"/>
              </a:ext>
            </a:extLst>
          </p:cNvPr>
          <p:cNvSpPr>
            <a:spLocks noGrp="1"/>
          </p:cNvSpPr>
          <p:nvPr>
            <p:ph idx="1"/>
          </p:nvPr>
        </p:nvSpPr>
        <p:spPr/>
        <p:txBody>
          <a:bodyPr>
            <a:normAutofit/>
          </a:bodyPr>
          <a:lstStyle/>
          <a:p>
            <a:pPr lvl="1"/>
            <a:r>
              <a:rPr lang="ru-RU" dirty="0"/>
              <a:t>4. Правило динамического каталога, основанного на реляционной</a:t>
            </a:r>
            <a:r>
              <a:rPr lang="en-US" dirty="0"/>
              <a:t> </a:t>
            </a:r>
            <a:r>
              <a:rPr lang="ru-RU" dirty="0"/>
              <a:t>модели. Описание базы данных на логическом уровне должно быть</a:t>
            </a:r>
            <a:r>
              <a:rPr lang="en-US" dirty="0"/>
              <a:t> </a:t>
            </a:r>
            <a:r>
              <a:rPr lang="ru-RU" dirty="0"/>
              <a:t>представлено в том же виде, что и основные данные, чтобы</a:t>
            </a:r>
            <a:r>
              <a:rPr lang="en-US" dirty="0"/>
              <a:t> </a:t>
            </a:r>
            <a:r>
              <a:rPr lang="ru-RU" dirty="0"/>
              <a:t>пользователи, обладающие соответствующими правами, могли</a:t>
            </a:r>
            <a:r>
              <a:rPr lang="en-US" dirty="0"/>
              <a:t> </a:t>
            </a:r>
            <a:r>
              <a:rPr lang="ru-RU" dirty="0"/>
              <a:t>работать с ним с помощью того же реляционного языка, который они</a:t>
            </a:r>
            <a:r>
              <a:rPr lang="en-US" dirty="0"/>
              <a:t> </a:t>
            </a:r>
            <a:r>
              <a:rPr lang="ru-RU" dirty="0"/>
              <a:t>применяют для работы с основными данными.</a:t>
            </a:r>
          </a:p>
        </p:txBody>
      </p:sp>
    </p:spTree>
    <p:extLst>
      <p:ext uri="{BB962C8B-B14F-4D97-AF65-F5344CB8AC3E}">
        <p14:creationId xmlns:p14="http://schemas.microsoft.com/office/powerpoint/2010/main" val="286784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D39061-FD53-B476-85F4-442335C56273}"/>
              </a:ext>
            </a:extLst>
          </p:cNvPr>
          <p:cNvSpPr>
            <a:spLocks noGrp="1"/>
          </p:cNvSpPr>
          <p:nvPr>
            <p:ph type="title"/>
          </p:nvPr>
        </p:nvSpPr>
        <p:spPr/>
        <p:txBody>
          <a:bodyPr/>
          <a:lstStyle/>
          <a:p>
            <a:r>
              <a:rPr lang="ru-RU" dirty="0"/>
              <a:t>Реляционная модель данных</a:t>
            </a:r>
          </a:p>
        </p:txBody>
      </p:sp>
      <p:sp>
        <p:nvSpPr>
          <p:cNvPr id="3" name="Объект 2">
            <a:extLst>
              <a:ext uri="{FF2B5EF4-FFF2-40B4-BE49-F238E27FC236}">
                <a16:creationId xmlns:a16="http://schemas.microsoft.com/office/drawing/2014/main" id="{C54919A7-8CA7-E3D1-2633-577828B354A7}"/>
              </a:ext>
            </a:extLst>
          </p:cNvPr>
          <p:cNvSpPr>
            <a:spLocks noGrp="1"/>
          </p:cNvSpPr>
          <p:nvPr>
            <p:ph idx="1"/>
          </p:nvPr>
        </p:nvSpPr>
        <p:spPr/>
        <p:txBody>
          <a:bodyPr>
            <a:normAutofit fontScale="92500" lnSpcReduction="10000"/>
          </a:bodyPr>
          <a:lstStyle/>
          <a:p>
            <a:pPr algn="l"/>
            <a:r>
              <a:rPr lang="ru-RU" sz="2800" b="0" i="0" u="none" strike="noStrike" baseline="0" dirty="0">
                <a:latin typeface="TimesNewRomanPSMT"/>
              </a:rPr>
              <a:t>5. Правило исчерпывающего подъязыка данных. Реляционная система</a:t>
            </a:r>
            <a:r>
              <a:rPr lang="en-US" sz="2800" b="0" i="0" u="none" strike="noStrike" baseline="0" dirty="0">
                <a:latin typeface="TimesNewRomanPSMT"/>
              </a:rPr>
              <a:t> </a:t>
            </a:r>
            <a:r>
              <a:rPr lang="ru-RU" sz="2800" b="0" i="0" u="none" strike="noStrike" baseline="0" dirty="0">
                <a:latin typeface="TimesNewRomanPSMT"/>
              </a:rPr>
              <a:t>может поддерживать различные языки и режимы взаимодействия с</a:t>
            </a:r>
            <a:r>
              <a:rPr lang="en-US" sz="2800" b="0" i="0" u="none" strike="noStrike" baseline="0" dirty="0">
                <a:latin typeface="TimesNewRomanPSMT"/>
              </a:rPr>
              <a:t> </a:t>
            </a:r>
            <a:r>
              <a:rPr lang="ru-RU" sz="2800" b="0" i="0" u="none" strike="noStrike" baseline="0" dirty="0">
                <a:latin typeface="TimesNewRomanPSMT"/>
              </a:rPr>
              <a:t>пользователем (например, режим вопросов и ответов). Однако</a:t>
            </a:r>
            <a:r>
              <a:rPr lang="en-US" sz="2800" b="0" i="0" u="none" strike="noStrike" baseline="0" dirty="0">
                <a:latin typeface="TimesNewRomanPSMT"/>
              </a:rPr>
              <a:t> </a:t>
            </a:r>
            <a:r>
              <a:rPr lang="ru-RU" sz="2800" b="0" i="0" u="none" strike="noStrike" baseline="0" dirty="0">
                <a:latin typeface="TimesNewRomanPSMT"/>
              </a:rPr>
              <a:t>должен существовать, по крайней мере, один язык, операторы</a:t>
            </a:r>
            <a:r>
              <a:rPr lang="en-US" sz="2800" b="0" i="0" u="none" strike="noStrike" baseline="0" dirty="0">
                <a:latin typeface="TimesNewRomanPSMT"/>
              </a:rPr>
              <a:t> </a:t>
            </a:r>
            <a:r>
              <a:rPr lang="ru-RU" sz="2800" b="0" i="0" u="none" strike="noStrike" baseline="0" dirty="0">
                <a:latin typeface="TimesNewRomanPSMT"/>
              </a:rPr>
              <a:t>которого можно представить в виде строк символов в соответствии с</a:t>
            </a:r>
            <a:r>
              <a:rPr lang="en-US" sz="2800" b="0" i="0" u="none" strike="noStrike" baseline="0" dirty="0">
                <a:latin typeface="TimesNewRomanPSMT"/>
              </a:rPr>
              <a:t> </a:t>
            </a:r>
            <a:r>
              <a:rPr lang="ru-RU" sz="2800" b="0" i="0" u="none" strike="noStrike" baseline="0" dirty="0">
                <a:latin typeface="TimesNewRomanPSMT"/>
              </a:rPr>
              <a:t>некоторым четко определенным синтаксисом и который в полной</a:t>
            </a:r>
            <a:r>
              <a:rPr lang="en-US" sz="2800" b="0" i="0" u="none" strike="noStrike" baseline="0" dirty="0">
                <a:latin typeface="TimesNewRomanPSMT"/>
              </a:rPr>
              <a:t> </a:t>
            </a:r>
            <a:r>
              <a:rPr lang="ru-RU" sz="2800" b="0" i="0" u="none" strike="noStrike" baseline="0" dirty="0">
                <a:latin typeface="TimesNewRomanPSMT"/>
              </a:rPr>
              <a:t>мере поддерживает следующие элементы:</a:t>
            </a:r>
          </a:p>
          <a:p>
            <a:pPr marL="457200" indent="-457200" algn="l">
              <a:buFont typeface="Arial" panose="020B0604020202020204" pitchFamily="34" charset="0"/>
              <a:buChar char="•"/>
            </a:pPr>
            <a:r>
              <a:rPr lang="ru-RU" sz="2800" b="0" i="0" u="none" strike="noStrike" baseline="0" dirty="0">
                <a:latin typeface="TimesNewRomanPSMT"/>
              </a:rPr>
              <a:t>определение данных;</a:t>
            </a:r>
          </a:p>
          <a:p>
            <a:pPr marL="457200" indent="-457200" algn="l">
              <a:buFont typeface="Arial" panose="020B0604020202020204" pitchFamily="34" charset="0"/>
              <a:buChar char="•"/>
            </a:pPr>
            <a:r>
              <a:rPr lang="ru-RU" sz="2800" b="0" i="0" u="none" strike="noStrike" baseline="0" dirty="0">
                <a:latin typeface="TimesNewRomanPSMT"/>
              </a:rPr>
              <a:t>определение представлений;</a:t>
            </a:r>
          </a:p>
          <a:p>
            <a:pPr marL="457200" indent="-457200" algn="l">
              <a:buFont typeface="Arial" panose="020B0604020202020204" pitchFamily="34" charset="0"/>
              <a:buChar char="•"/>
            </a:pPr>
            <a:r>
              <a:rPr lang="ru-RU" sz="2800" b="0" i="0" u="none" strike="noStrike" baseline="0" dirty="0">
                <a:latin typeface="TimesNewRomanPSMT"/>
              </a:rPr>
              <a:t>обработку данных (интерактивную и программную);</a:t>
            </a:r>
          </a:p>
          <a:p>
            <a:pPr marL="457200" indent="-457200" algn="l">
              <a:buFont typeface="Arial" panose="020B0604020202020204" pitchFamily="34" charset="0"/>
              <a:buChar char="•"/>
            </a:pPr>
            <a:r>
              <a:rPr lang="ru-RU" sz="2800" b="0" i="0" u="none" strike="noStrike" baseline="0" dirty="0">
                <a:latin typeface="TimesNewRomanPSMT"/>
              </a:rPr>
              <a:t>условия целостности;</a:t>
            </a:r>
          </a:p>
          <a:p>
            <a:pPr marL="457200" indent="-457200" algn="l">
              <a:buFont typeface="Arial" panose="020B0604020202020204" pitchFamily="34" charset="0"/>
              <a:buChar char="•"/>
            </a:pPr>
            <a:r>
              <a:rPr lang="ru-RU" sz="2800" b="0" i="0" u="none" strike="noStrike" baseline="0" dirty="0">
                <a:latin typeface="TimesNewRomanPSMT"/>
              </a:rPr>
              <a:t>идентификацию прав доступа;</a:t>
            </a:r>
          </a:p>
          <a:p>
            <a:pPr marL="457200" indent="-457200" algn="l">
              <a:buFont typeface="Arial" panose="020B0604020202020204" pitchFamily="34" charset="0"/>
              <a:buChar char="•"/>
            </a:pPr>
            <a:r>
              <a:rPr lang="ru-RU" sz="2800" b="0" i="0" u="none" strike="noStrike" baseline="0" dirty="0">
                <a:latin typeface="TimesNewRomanPSMT"/>
              </a:rPr>
              <a:t>границы транзакций (начало, завершение и отмена).</a:t>
            </a:r>
            <a:endParaRPr lang="ru-RU" dirty="0"/>
          </a:p>
        </p:txBody>
      </p:sp>
    </p:spTree>
    <p:extLst>
      <p:ext uri="{BB962C8B-B14F-4D97-AF65-F5344CB8AC3E}">
        <p14:creationId xmlns:p14="http://schemas.microsoft.com/office/powerpoint/2010/main" val="3130556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518AF7-E834-455A-983F-BF63425CBA8F}"/>
              </a:ext>
            </a:extLst>
          </p:cNvPr>
          <p:cNvSpPr>
            <a:spLocks noGrp="1"/>
          </p:cNvSpPr>
          <p:nvPr>
            <p:ph type="title"/>
          </p:nvPr>
        </p:nvSpPr>
        <p:spPr/>
        <p:txBody>
          <a:bodyPr/>
          <a:lstStyle/>
          <a:p>
            <a:r>
              <a:rPr lang="ru-RU" dirty="0"/>
              <a:t>Реляционная модель данных</a:t>
            </a:r>
          </a:p>
        </p:txBody>
      </p:sp>
      <p:sp>
        <p:nvSpPr>
          <p:cNvPr id="3" name="Объект 2">
            <a:extLst>
              <a:ext uri="{FF2B5EF4-FFF2-40B4-BE49-F238E27FC236}">
                <a16:creationId xmlns:a16="http://schemas.microsoft.com/office/drawing/2014/main" id="{BA8E851A-CA0A-AFF5-90A6-202102FA3D7B}"/>
              </a:ext>
            </a:extLst>
          </p:cNvPr>
          <p:cNvSpPr>
            <a:spLocks noGrp="1"/>
          </p:cNvSpPr>
          <p:nvPr>
            <p:ph idx="1"/>
          </p:nvPr>
        </p:nvSpPr>
        <p:spPr/>
        <p:txBody>
          <a:bodyPr>
            <a:normAutofit/>
          </a:bodyPr>
          <a:lstStyle/>
          <a:p>
            <a:pPr lvl="1" algn="l"/>
            <a:r>
              <a:rPr lang="ru-RU" sz="2000" b="0" i="0" u="none" strike="noStrike" baseline="0" dirty="0"/>
              <a:t>6. Правило обновления представлений. Все представления, которые</a:t>
            </a:r>
            <a:r>
              <a:rPr lang="en-US" sz="2000" b="0" i="0" u="none" strike="noStrike" baseline="0" dirty="0"/>
              <a:t> </a:t>
            </a:r>
            <a:r>
              <a:rPr lang="ru-RU" sz="2000" b="0" i="0" u="none" strike="noStrike" baseline="0" dirty="0"/>
              <a:t>теоретически можно обновить, должны быть доступны для</a:t>
            </a:r>
            <a:r>
              <a:rPr lang="en-US" sz="2000" b="0" i="0" u="none" strike="noStrike" baseline="0" dirty="0"/>
              <a:t> </a:t>
            </a:r>
            <a:r>
              <a:rPr lang="ru-RU" sz="2000" b="0" i="0" u="none" strike="noStrike" baseline="0" dirty="0"/>
              <a:t>обновления</a:t>
            </a:r>
            <a:endParaRPr lang="en-US" sz="2000" b="0" i="0" u="none" strike="noStrike" baseline="0" dirty="0"/>
          </a:p>
          <a:p>
            <a:pPr lvl="1" algn="l"/>
            <a:endParaRPr lang="en-US" sz="2000" dirty="0"/>
          </a:p>
          <a:p>
            <a:pPr lvl="1"/>
            <a:r>
              <a:rPr lang="ru-RU" sz="2000" b="0" i="0" u="none" strike="noStrike" baseline="0" dirty="0"/>
              <a:t>7. Правило добавления, обновления и удаления. Возможность работать</a:t>
            </a:r>
            <a:r>
              <a:rPr lang="en-US" sz="2000" b="0" i="0" u="none" strike="noStrike" baseline="0" dirty="0"/>
              <a:t> </a:t>
            </a:r>
            <a:r>
              <a:rPr lang="ru-RU" sz="2000" b="0" i="0" u="none" strike="noStrike" baseline="0" dirty="0"/>
              <a:t>с отношением как с одним операндом должна</a:t>
            </a:r>
            <a:r>
              <a:rPr lang="en-US" sz="2000" b="0" i="0" u="none" strike="noStrike" baseline="0" dirty="0"/>
              <a:t> </a:t>
            </a:r>
            <a:r>
              <a:rPr lang="ru-RU" sz="2000" b="0" i="0" u="none" strike="noStrike" baseline="0" dirty="0"/>
              <a:t>существовать не</a:t>
            </a:r>
            <a:r>
              <a:rPr lang="en-US" sz="2000" b="0" i="0" u="none" strike="noStrike" baseline="0" dirty="0"/>
              <a:t> </a:t>
            </a:r>
            <a:r>
              <a:rPr lang="ru-RU" sz="2000" dirty="0"/>
              <a:t>только при чтении данных, но и при добавлении, обновлении и</a:t>
            </a:r>
            <a:r>
              <a:rPr lang="en-US" sz="2000" dirty="0"/>
              <a:t> </a:t>
            </a:r>
            <a:r>
              <a:rPr lang="ru-RU" sz="2000" dirty="0"/>
              <a:t>удалении данных.</a:t>
            </a:r>
            <a:endParaRPr lang="en-US" sz="2000" dirty="0"/>
          </a:p>
          <a:p>
            <a:pPr lvl="1"/>
            <a:endParaRPr lang="en-US" sz="2000" dirty="0"/>
          </a:p>
          <a:p>
            <a:pPr lvl="1"/>
            <a:r>
              <a:rPr lang="ru-RU" sz="2000" dirty="0"/>
              <a:t>8. Правило независимости физических данных. Прикладные</a:t>
            </a:r>
          </a:p>
          <a:p>
            <a:pPr lvl="1"/>
            <a:r>
              <a:rPr lang="ru-RU" sz="2000" dirty="0"/>
              <a:t>программы и утилиты для работы с данными должны на логическом</a:t>
            </a:r>
          </a:p>
          <a:p>
            <a:pPr lvl="1"/>
            <a:r>
              <a:rPr lang="ru-RU" sz="2000" dirty="0"/>
              <a:t>уровне оставаться нетронутыми при любых изменениях способов</a:t>
            </a:r>
          </a:p>
          <a:p>
            <a:pPr lvl="1"/>
            <a:r>
              <a:rPr lang="ru-RU" sz="2000" dirty="0"/>
              <a:t>хранения данных или методов доступа к ним.</a:t>
            </a:r>
          </a:p>
        </p:txBody>
      </p:sp>
    </p:spTree>
    <p:extLst>
      <p:ext uri="{BB962C8B-B14F-4D97-AF65-F5344CB8AC3E}">
        <p14:creationId xmlns:p14="http://schemas.microsoft.com/office/powerpoint/2010/main" val="3473769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E0E689-11F9-EDF7-08BF-1F3C3F8CDC86}"/>
              </a:ext>
            </a:extLst>
          </p:cNvPr>
          <p:cNvSpPr>
            <a:spLocks noGrp="1"/>
          </p:cNvSpPr>
          <p:nvPr>
            <p:ph type="title"/>
          </p:nvPr>
        </p:nvSpPr>
        <p:spPr/>
        <p:txBody>
          <a:bodyPr/>
          <a:lstStyle/>
          <a:p>
            <a:r>
              <a:rPr lang="ru-RU" dirty="0"/>
              <a:t>Реляционная модель данных</a:t>
            </a:r>
          </a:p>
        </p:txBody>
      </p:sp>
      <p:sp>
        <p:nvSpPr>
          <p:cNvPr id="3" name="Объект 2">
            <a:extLst>
              <a:ext uri="{FF2B5EF4-FFF2-40B4-BE49-F238E27FC236}">
                <a16:creationId xmlns:a16="http://schemas.microsoft.com/office/drawing/2014/main" id="{B6A99488-1B93-9CBF-9AF4-E46658ED21DF}"/>
              </a:ext>
            </a:extLst>
          </p:cNvPr>
          <p:cNvSpPr>
            <a:spLocks noGrp="1"/>
          </p:cNvSpPr>
          <p:nvPr>
            <p:ph idx="1"/>
          </p:nvPr>
        </p:nvSpPr>
        <p:spPr/>
        <p:txBody>
          <a:bodyPr>
            <a:normAutofit/>
          </a:bodyPr>
          <a:lstStyle/>
          <a:p>
            <a:pPr lvl="1"/>
            <a:r>
              <a:rPr lang="ru-RU" dirty="0"/>
              <a:t>9. Правило независимости логических данных. Прикладные программы</a:t>
            </a:r>
            <a:r>
              <a:rPr lang="en-US" dirty="0"/>
              <a:t> </a:t>
            </a:r>
            <a:r>
              <a:rPr lang="ru-RU" dirty="0"/>
              <a:t>и утилиты для работы с данными должны на логическом уровне</a:t>
            </a:r>
            <a:r>
              <a:rPr lang="en-US" dirty="0"/>
              <a:t> </a:t>
            </a:r>
            <a:r>
              <a:rPr lang="ru-RU" dirty="0"/>
              <a:t>оставаться нетронутыми при внесении в базовые таблицы любых</a:t>
            </a:r>
            <a:r>
              <a:rPr lang="en-US" dirty="0"/>
              <a:t> </a:t>
            </a:r>
            <a:r>
              <a:rPr lang="ru-RU" dirty="0"/>
              <a:t>изменений, которые теоретически позволяют сохранить</a:t>
            </a:r>
            <a:r>
              <a:rPr lang="en-US" dirty="0"/>
              <a:t> </a:t>
            </a:r>
            <a:r>
              <a:rPr lang="ru-RU" dirty="0"/>
              <a:t>нетронутыми содержащиеся в этих таблицах данные.</a:t>
            </a:r>
            <a:endParaRPr lang="en-US" dirty="0"/>
          </a:p>
          <a:p>
            <a:pPr lvl="1"/>
            <a:endParaRPr lang="en-US" dirty="0"/>
          </a:p>
          <a:p>
            <a:pPr lvl="1"/>
            <a:r>
              <a:rPr lang="ru-RU" dirty="0"/>
              <a:t>10.Правило независимости условий целостности. Должна существовать</a:t>
            </a:r>
            <a:r>
              <a:rPr lang="en-US" dirty="0"/>
              <a:t> </a:t>
            </a:r>
            <a:r>
              <a:rPr lang="ru-RU" dirty="0"/>
              <a:t>возможность определять условия целостности, специфические для</a:t>
            </a:r>
            <a:r>
              <a:rPr lang="en-US" dirty="0"/>
              <a:t> </a:t>
            </a:r>
            <a:r>
              <a:rPr lang="ru-RU" dirty="0"/>
              <a:t>конкретной реляционной базы данных, на подъязыке реляционной</a:t>
            </a:r>
            <a:r>
              <a:rPr lang="en-US" dirty="0"/>
              <a:t> </a:t>
            </a:r>
            <a:r>
              <a:rPr lang="ru-RU" dirty="0"/>
              <a:t>базы данных и хранить их в каталоге, а не в прикладной программе.</a:t>
            </a:r>
            <a:endParaRPr lang="en-US" dirty="0"/>
          </a:p>
        </p:txBody>
      </p:sp>
    </p:spTree>
    <p:extLst>
      <p:ext uri="{BB962C8B-B14F-4D97-AF65-F5344CB8AC3E}">
        <p14:creationId xmlns:p14="http://schemas.microsoft.com/office/powerpoint/2010/main" val="544048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B2FE7E-5397-572B-18CA-A62649B23006}"/>
              </a:ext>
            </a:extLst>
          </p:cNvPr>
          <p:cNvSpPr>
            <a:spLocks noGrp="1"/>
          </p:cNvSpPr>
          <p:nvPr>
            <p:ph type="title"/>
          </p:nvPr>
        </p:nvSpPr>
        <p:spPr/>
        <p:txBody>
          <a:bodyPr/>
          <a:lstStyle/>
          <a:p>
            <a:r>
              <a:rPr lang="ru-RU" dirty="0"/>
              <a:t>Реляционная модель данных</a:t>
            </a:r>
          </a:p>
        </p:txBody>
      </p:sp>
      <p:sp>
        <p:nvSpPr>
          <p:cNvPr id="3" name="Объект 2">
            <a:extLst>
              <a:ext uri="{FF2B5EF4-FFF2-40B4-BE49-F238E27FC236}">
                <a16:creationId xmlns:a16="http://schemas.microsoft.com/office/drawing/2014/main" id="{90464B4F-1FA3-2138-7540-55A3AC4C7CC0}"/>
              </a:ext>
            </a:extLst>
          </p:cNvPr>
          <p:cNvSpPr>
            <a:spLocks noGrp="1"/>
          </p:cNvSpPr>
          <p:nvPr>
            <p:ph idx="1"/>
          </p:nvPr>
        </p:nvSpPr>
        <p:spPr/>
        <p:txBody>
          <a:bodyPr>
            <a:normAutofit/>
          </a:bodyPr>
          <a:lstStyle/>
          <a:p>
            <a:pPr lvl="1" algn="l"/>
            <a:r>
              <a:rPr lang="ru-RU" sz="2000" b="0" i="0" u="none" strike="noStrike" baseline="0" dirty="0"/>
              <a:t>11.</a:t>
            </a:r>
            <a:r>
              <a:rPr lang="en-US" sz="2000" b="0" i="0" u="none" strike="noStrike" baseline="0" dirty="0"/>
              <a:t> </a:t>
            </a:r>
            <a:r>
              <a:rPr lang="ru-RU" sz="2000" b="0" i="0" u="none" strike="noStrike" baseline="0" dirty="0"/>
              <a:t>Правило независимости распространения. Реляционная СУБД не</a:t>
            </a:r>
            <a:r>
              <a:rPr lang="en-US" sz="2000" b="0" i="0" u="none" strike="noStrike" baseline="0" dirty="0"/>
              <a:t> </a:t>
            </a:r>
            <a:r>
              <a:rPr lang="ru-RU" sz="2000" b="0" i="0" u="none" strike="noStrike" baseline="0" dirty="0"/>
              <a:t>должна зависеть от потребностей конкретного клиента.</a:t>
            </a:r>
            <a:endParaRPr lang="en-US" sz="2000" b="0" i="0" u="none" strike="noStrike" baseline="0" dirty="0"/>
          </a:p>
          <a:p>
            <a:pPr lvl="1" algn="l"/>
            <a:endParaRPr lang="en-US" sz="2000" dirty="0">
              <a:latin typeface="TimesNewRomanPSMT"/>
            </a:endParaRPr>
          </a:p>
          <a:p>
            <a:pPr lvl="1"/>
            <a:r>
              <a:rPr lang="ru-RU" sz="2000" dirty="0"/>
              <a:t>12.Правило единственности. Если в реляционной системе есть</a:t>
            </a:r>
          </a:p>
          <a:p>
            <a:pPr lvl="1"/>
            <a:r>
              <a:rPr lang="ru-RU" sz="2000" dirty="0"/>
              <a:t>низкоуровневый язык (обрабатывающий одну запись за один раз), то</a:t>
            </a:r>
          </a:p>
          <a:p>
            <a:pPr lvl="1"/>
            <a:r>
              <a:rPr lang="ru-RU" sz="2000" dirty="0"/>
              <a:t>должна отсутствовать возможность использования его для того,</a:t>
            </a:r>
          </a:p>
          <a:p>
            <a:pPr lvl="1"/>
            <a:r>
              <a:rPr lang="ru-RU" sz="2000" dirty="0"/>
              <a:t>чтобы обойти правила и условия целостности, выраженные на</a:t>
            </a:r>
          </a:p>
          <a:p>
            <a:pPr lvl="1"/>
            <a:r>
              <a:rPr lang="ru-RU" sz="2000" dirty="0"/>
              <a:t>реляционном языке высокого уровня (обрабатывающем несколько</a:t>
            </a:r>
          </a:p>
          <a:p>
            <a:pPr lvl="1"/>
            <a:r>
              <a:rPr lang="ru-RU" sz="2000" dirty="0"/>
              <a:t>записей за один раз).</a:t>
            </a:r>
          </a:p>
        </p:txBody>
      </p:sp>
    </p:spTree>
    <p:extLst>
      <p:ext uri="{BB962C8B-B14F-4D97-AF65-F5344CB8AC3E}">
        <p14:creationId xmlns:p14="http://schemas.microsoft.com/office/powerpoint/2010/main" val="951295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011E94-1893-4CC1-5FEA-84899CD615D7}"/>
              </a:ext>
            </a:extLst>
          </p:cNvPr>
          <p:cNvSpPr>
            <a:spLocks noGrp="1"/>
          </p:cNvSpPr>
          <p:nvPr>
            <p:ph type="title"/>
          </p:nvPr>
        </p:nvSpPr>
        <p:spPr/>
        <p:txBody>
          <a:bodyPr/>
          <a:lstStyle/>
          <a:p>
            <a:r>
              <a:rPr lang="ru-RU" dirty="0"/>
              <a:t>Структурная часть реляционной модели</a:t>
            </a:r>
          </a:p>
        </p:txBody>
      </p:sp>
      <p:sp>
        <p:nvSpPr>
          <p:cNvPr id="3" name="Объект 2">
            <a:extLst>
              <a:ext uri="{FF2B5EF4-FFF2-40B4-BE49-F238E27FC236}">
                <a16:creationId xmlns:a16="http://schemas.microsoft.com/office/drawing/2014/main" id="{FA6D8144-EC41-75E3-2981-8BE4BEFF189F}"/>
              </a:ext>
            </a:extLst>
          </p:cNvPr>
          <p:cNvSpPr>
            <a:spLocks noGrp="1"/>
          </p:cNvSpPr>
          <p:nvPr>
            <p:ph idx="1"/>
          </p:nvPr>
        </p:nvSpPr>
        <p:spPr/>
        <p:txBody>
          <a:bodyPr>
            <a:normAutofit/>
          </a:bodyPr>
          <a:lstStyle/>
          <a:p>
            <a:r>
              <a:rPr lang="ru-RU" b="1" dirty="0"/>
              <a:t>Отношение</a:t>
            </a:r>
            <a:endParaRPr lang="en-US" b="1" dirty="0"/>
          </a:p>
          <a:p>
            <a:pPr lvl="1"/>
            <a:r>
              <a:rPr lang="ru-RU" dirty="0"/>
              <a:t>Реляционная база данных — это конечный (ограниченный) набор</a:t>
            </a:r>
            <a:r>
              <a:rPr lang="en-US" dirty="0"/>
              <a:t> </a:t>
            </a:r>
            <a:r>
              <a:rPr lang="ru-RU" dirty="0"/>
              <a:t>отношений. Отношения используются для представления сущностей, а</a:t>
            </a:r>
            <a:r>
              <a:rPr lang="en-US" dirty="0"/>
              <a:t> </a:t>
            </a:r>
            <a:r>
              <a:rPr lang="ru-RU" dirty="0"/>
              <a:t>также для представления связей между сущностями. Отношение — это</a:t>
            </a:r>
            <a:r>
              <a:rPr lang="en-US" dirty="0"/>
              <a:t> </a:t>
            </a:r>
            <a:r>
              <a:rPr lang="ru-RU" dirty="0"/>
              <a:t>двумерная таблица, имеющая уникальное имя и состоящая из строк и</a:t>
            </a:r>
            <a:r>
              <a:rPr lang="en-US" dirty="0"/>
              <a:t> </a:t>
            </a:r>
            <a:r>
              <a:rPr lang="ru-RU" dirty="0"/>
              <a:t>столбцов, где строки соответствуют записям, а столбцы — атрибутам.</a:t>
            </a:r>
          </a:p>
          <a:p>
            <a:pPr lvl="1"/>
            <a:r>
              <a:rPr lang="ru-RU" dirty="0"/>
              <a:t>Каждая строка в таблице представляет некоторый объект реального мира</a:t>
            </a:r>
            <a:r>
              <a:rPr lang="en-US" dirty="0"/>
              <a:t> </a:t>
            </a:r>
            <a:r>
              <a:rPr lang="ru-RU" dirty="0"/>
              <a:t>или соотношения между объектами.</a:t>
            </a:r>
          </a:p>
        </p:txBody>
      </p:sp>
    </p:spTree>
    <p:extLst>
      <p:ext uri="{BB962C8B-B14F-4D97-AF65-F5344CB8AC3E}">
        <p14:creationId xmlns:p14="http://schemas.microsoft.com/office/powerpoint/2010/main" val="2472308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D7C62E-5504-4616-23EE-2CE420DB2739}"/>
              </a:ext>
            </a:extLst>
          </p:cNvPr>
          <p:cNvSpPr>
            <a:spLocks noGrp="1"/>
          </p:cNvSpPr>
          <p:nvPr>
            <p:ph type="title"/>
          </p:nvPr>
        </p:nvSpPr>
        <p:spPr/>
        <p:txBody>
          <a:bodyPr/>
          <a:lstStyle/>
          <a:p>
            <a:r>
              <a:rPr lang="ru-RU" dirty="0"/>
              <a:t>Структурная часть реляционной модели</a:t>
            </a:r>
          </a:p>
        </p:txBody>
      </p:sp>
      <p:sp>
        <p:nvSpPr>
          <p:cNvPr id="3" name="Объект 2">
            <a:extLst>
              <a:ext uri="{FF2B5EF4-FFF2-40B4-BE49-F238E27FC236}">
                <a16:creationId xmlns:a16="http://schemas.microsoft.com/office/drawing/2014/main" id="{227A1D4F-54B3-FB51-9A24-3F809B469FEE}"/>
              </a:ext>
            </a:extLst>
          </p:cNvPr>
          <p:cNvSpPr>
            <a:spLocks noGrp="1"/>
          </p:cNvSpPr>
          <p:nvPr>
            <p:ph idx="1"/>
          </p:nvPr>
        </p:nvSpPr>
        <p:spPr/>
        <p:txBody>
          <a:bodyPr>
            <a:normAutofit/>
          </a:bodyPr>
          <a:lstStyle/>
          <a:p>
            <a:pPr lvl="1">
              <a:lnSpc>
                <a:spcPct val="100000"/>
              </a:lnSpc>
            </a:pPr>
            <a:r>
              <a:rPr lang="ru-RU" dirty="0"/>
              <a:t>Атрибут — это поименованный столбец отношения. Свойства</a:t>
            </a:r>
            <a:r>
              <a:rPr lang="en-US" dirty="0"/>
              <a:t> </a:t>
            </a:r>
            <a:r>
              <a:rPr lang="ru-RU" dirty="0"/>
              <a:t>сущности, его характеристики определяются значениями атрибутов.</a:t>
            </a:r>
            <a:r>
              <a:rPr lang="en-US" dirty="0"/>
              <a:t> </a:t>
            </a:r>
            <a:r>
              <a:rPr lang="ru-RU" dirty="0"/>
              <a:t>Порядок следования атрибутов не влияет на само отношение.</a:t>
            </a:r>
            <a:endParaRPr lang="en-US" dirty="0"/>
          </a:p>
          <a:p>
            <a:pPr lvl="1"/>
            <a:endParaRPr lang="en-US" dirty="0"/>
          </a:p>
          <a:p>
            <a:pPr lvl="1"/>
            <a:r>
              <a:rPr lang="ru-RU" dirty="0"/>
              <a:t>Эти отображения называются </a:t>
            </a:r>
            <a:r>
              <a:rPr lang="ru-RU" i="1" dirty="0"/>
              <a:t>кортежами. </a:t>
            </a:r>
            <a:r>
              <a:rPr lang="ru-RU" dirty="0"/>
              <a:t>Каждый кортеж</a:t>
            </a:r>
            <a:r>
              <a:rPr lang="en-US" dirty="0"/>
              <a:t> </a:t>
            </a:r>
            <a:r>
              <a:rPr lang="ru-RU" dirty="0"/>
              <a:t>отношения отображает экземпляр сущности, а атрибут отношения</a:t>
            </a:r>
            <a:r>
              <a:rPr lang="en-US" dirty="0"/>
              <a:t> </a:t>
            </a:r>
            <a:r>
              <a:rPr lang="ru-RU" dirty="0"/>
              <a:t>отображает атрибут сущности.</a:t>
            </a:r>
            <a:endParaRPr lang="en-US" dirty="0"/>
          </a:p>
          <a:p>
            <a:pPr lvl="1"/>
            <a:endParaRPr lang="en-US" dirty="0"/>
          </a:p>
          <a:p>
            <a:pPr lvl="1"/>
            <a:r>
              <a:rPr lang="ru-RU" dirty="0"/>
              <a:t>Множество кортежей называется телом отношения.</a:t>
            </a:r>
            <a:endParaRPr lang="en-US" dirty="0"/>
          </a:p>
          <a:p>
            <a:pPr lvl="1"/>
            <a:endParaRPr lang="en-US" dirty="0"/>
          </a:p>
          <a:p>
            <a:pPr lvl="1"/>
            <a:r>
              <a:rPr lang="ru-RU" dirty="0"/>
              <a:t>Тело отношения характеризуется кардинальным числом, которое</a:t>
            </a:r>
          </a:p>
          <a:p>
            <a:pPr lvl="1"/>
            <a:r>
              <a:rPr lang="ru-RU" dirty="0"/>
              <a:t>равно количеству содержащихся в нем кортежей.</a:t>
            </a:r>
          </a:p>
        </p:txBody>
      </p:sp>
    </p:spTree>
    <p:extLst>
      <p:ext uri="{BB962C8B-B14F-4D97-AF65-F5344CB8AC3E}">
        <p14:creationId xmlns:p14="http://schemas.microsoft.com/office/powerpoint/2010/main" val="2566202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E66F75-5EDB-2196-6C31-61AB6EDF25D1}"/>
              </a:ext>
            </a:extLst>
          </p:cNvPr>
          <p:cNvSpPr>
            <a:spLocks noGrp="1"/>
          </p:cNvSpPr>
          <p:nvPr>
            <p:ph type="title"/>
          </p:nvPr>
        </p:nvSpPr>
        <p:spPr/>
        <p:txBody>
          <a:bodyPr/>
          <a:lstStyle/>
          <a:p>
            <a:r>
              <a:rPr lang="ru-RU" dirty="0"/>
              <a:t>Структурная часть реляционной модели</a:t>
            </a:r>
          </a:p>
        </p:txBody>
      </p:sp>
      <p:sp>
        <p:nvSpPr>
          <p:cNvPr id="3" name="Объект 2">
            <a:extLst>
              <a:ext uri="{FF2B5EF4-FFF2-40B4-BE49-F238E27FC236}">
                <a16:creationId xmlns:a16="http://schemas.microsoft.com/office/drawing/2014/main" id="{FC691358-ED04-3639-0AD8-543C1C83A86F}"/>
              </a:ext>
            </a:extLst>
          </p:cNvPr>
          <p:cNvSpPr>
            <a:spLocks noGrp="1"/>
          </p:cNvSpPr>
          <p:nvPr>
            <p:ph idx="1"/>
          </p:nvPr>
        </p:nvSpPr>
        <p:spPr/>
        <p:txBody>
          <a:bodyPr/>
          <a:lstStyle/>
          <a:p>
            <a:pPr lvl="1"/>
            <a:r>
              <a:rPr lang="ru-RU" dirty="0"/>
              <a:t>Степень отношения определяется количеством атрибутов, которое в нем</a:t>
            </a:r>
            <a:r>
              <a:rPr lang="en-US" dirty="0"/>
              <a:t> </a:t>
            </a:r>
            <a:r>
              <a:rPr lang="ru-RU" dirty="0"/>
              <a:t>присутствует. Эта характеристика отношения имеет еще названия: ранг и</a:t>
            </a:r>
            <a:r>
              <a:rPr lang="en-US" dirty="0"/>
              <a:t> </a:t>
            </a:r>
            <a:r>
              <a:rPr lang="ru-RU" dirty="0"/>
              <a:t>арность.</a:t>
            </a:r>
            <a:endParaRPr lang="en-US" dirty="0"/>
          </a:p>
          <a:p>
            <a:pPr lvl="1"/>
            <a:endParaRPr lang="en-US" dirty="0"/>
          </a:p>
          <a:p>
            <a:pPr lvl="1"/>
            <a:r>
              <a:rPr lang="ru-RU" dirty="0"/>
              <a:t>Отношение с одним атрибутом называется унарным, с двумя</a:t>
            </a:r>
            <a:r>
              <a:rPr lang="en-US" dirty="0"/>
              <a:t> </a:t>
            </a:r>
            <a:r>
              <a:rPr lang="ru-RU" dirty="0"/>
              <a:t>атрибутами — бинарным, с тремя — тернарным, с n атрибутами n-</a:t>
            </a:r>
            <a:r>
              <a:rPr lang="ru-RU" dirty="0" err="1"/>
              <a:t>арным</a:t>
            </a:r>
            <a:r>
              <a:rPr lang="ru-RU" dirty="0"/>
              <a:t>.</a:t>
            </a:r>
          </a:p>
        </p:txBody>
      </p:sp>
    </p:spTree>
    <p:extLst>
      <p:ext uri="{BB962C8B-B14F-4D97-AF65-F5344CB8AC3E}">
        <p14:creationId xmlns:p14="http://schemas.microsoft.com/office/powerpoint/2010/main" val="423073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83B937-2660-883F-1840-B93C2401060B}"/>
              </a:ext>
            </a:extLst>
          </p:cNvPr>
          <p:cNvSpPr>
            <a:spLocks noGrp="1"/>
          </p:cNvSpPr>
          <p:nvPr>
            <p:ph type="title"/>
          </p:nvPr>
        </p:nvSpPr>
        <p:spPr/>
        <p:txBody>
          <a:bodyPr/>
          <a:lstStyle/>
          <a:p>
            <a:r>
              <a:rPr lang="ru-RU" dirty="0"/>
              <a:t>Свойства и виды отношений</a:t>
            </a:r>
          </a:p>
        </p:txBody>
      </p:sp>
      <p:sp>
        <p:nvSpPr>
          <p:cNvPr id="3" name="Объект 2">
            <a:extLst>
              <a:ext uri="{FF2B5EF4-FFF2-40B4-BE49-F238E27FC236}">
                <a16:creationId xmlns:a16="http://schemas.microsoft.com/office/drawing/2014/main" id="{CA9E0751-FA24-94B0-7CEB-AE48811EEB4D}"/>
              </a:ext>
            </a:extLst>
          </p:cNvPr>
          <p:cNvSpPr>
            <a:spLocks noGrp="1"/>
          </p:cNvSpPr>
          <p:nvPr>
            <p:ph idx="1"/>
          </p:nvPr>
        </p:nvSpPr>
        <p:spPr/>
        <p:txBody>
          <a:bodyPr>
            <a:normAutofit/>
          </a:bodyPr>
          <a:lstStyle/>
          <a:p>
            <a:pPr lvl="2"/>
            <a:r>
              <a:rPr lang="ru-RU" dirty="0"/>
              <a:t>Отношение по структуре подобно таблице, но таблице, обладающей</a:t>
            </a:r>
            <a:r>
              <a:rPr lang="en-US" dirty="0"/>
              <a:t> </a:t>
            </a:r>
            <a:r>
              <a:rPr lang="ru-RU" dirty="0"/>
              <a:t>определенными свойствами. Сведем воедино все свойства отношения</a:t>
            </a:r>
            <a:r>
              <a:rPr lang="en-US" dirty="0"/>
              <a:t>:</a:t>
            </a:r>
          </a:p>
          <a:p>
            <a:pPr lvl="2"/>
            <a:endParaRPr lang="en-US" dirty="0"/>
          </a:p>
          <a:p>
            <a:pPr marL="1257300" lvl="2" indent="-342900">
              <a:buFont typeface="Arial" panose="020B0604020202020204" pitchFamily="34" charset="0"/>
              <a:buChar char="•"/>
            </a:pPr>
            <a:r>
              <a:rPr lang="ru-RU" dirty="0"/>
              <a:t>Отношение имеет имя, которое отличается от имен всех других</a:t>
            </a:r>
            <a:r>
              <a:rPr lang="en-US" dirty="0"/>
              <a:t> </a:t>
            </a:r>
            <a:r>
              <a:rPr lang="ru-RU" dirty="0"/>
              <a:t>отношений.</a:t>
            </a:r>
          </a:p>
          <a:p>
            <a:pPr marL="1257300" lvl="2" indent="-342900">
              <a:buFont typeface="Arial" panose="020B0604020202020204" pitchFamily="34" charset="0"/>
              <a:buChar char="•"/>
            </a:pPr>
            <a:r>
              <a:rPr lang="ru-RU" dirty="0"/>
              <a:t>Отношение представляется в виде табличной структуры.</a:t>
            </a:r>
          </a:p>
          <a:p>
            <a:pPr marL="1257300" lvl="2" indent="-342900">
              <a:buFont typeface="Arial" panose="020B0604020202020204" pitchFamily="34" charset="0"/>
              <a:buChar char="•"/>
            </a:pPr>
            <a:r>
              <a:rPr lang="ru-RU" dirty="0"/>
              <a:t>Каждый атрибут имеет уникальное имя, его значения берутся из</a:t>
            </a:r>
            <a:r>
              <a:rPr lang="en-US" dirty="0"/>
              <a:t> </a:t>
            </a:r>
            <a:r>
              <a:rPr lang="ru-RU" dirty="0"/>
              <a:t>одного и того же домена.</a:t>
            </a:r>
          </a:p>
          <a:p>
            <a:pPr marL="1257300" lvl="2" indent="-342900">
              <a:buFont typeface="Arial" panose="020B0604020202020204" pitchFamily="34" charset="0"/>
              <a:buChar char="•"/>
            </a:pPr>
            <a:r>
              <a:rPr lang="ru-RU" dirty="0"/>
              <a:t>Каждый компонент кортежа является простым, атомарным</a:t>
            </a:r>
            <a:r>
              <a:rPr lang="en-US" dirty="0"/>
              <a:t> </a:t>
            </a:r>
            <a:r>
              <a:rPr lang="ru-RU" dirty="0"/>
              <a:t>значением, не состоящим из группы значений.</a:t>
            </a:r>
          </a:p>
          <a:p>
            <a:pPr marL="1257300" lvl="2" indent="-342900">
              <a:buFont typeface="Arial" panose="020B0604020202020204" pitchFamily="34" charset="0"/>
              <a:buChar char="•"/>
            </a:pPr>
            <a:r>
              <a:rPr lang="ru-RU" dirty="0"/>
              <a:t>Упорядочение атрибутов теоретически несущественно, однако оно</a:t>
            </a:r>
            <a:r>
              <a:rPr lang="en-US" dirty="0"/>
              <a:t> </a:t>
            </a:r>
            <a:r>
              <a:rPr lang="ru-RU" dirty="0"/>
              <a:t>может влиять на эффективность доступа к кортежам.</a:t>
            </a:r>
          </a:p>
          <a:p>
            <a:pPr marL="1257300" lvl="2" indent="-342900">
              <a:buFont typeface="Arial" panose="020B0604020202020204" pitchFamily="34" charset="0"/>
              <a:buChar char="•"/>
            </a:pPr>
            <a:r>
              <a:rPr lang="ru-RU" dirty="0"/>
              <a:t>Все строки (кортежи) должны быть различны.</a:t>
            </a:r>
            <a:endParaRPr lang="en-US" dirty="0"/>
          </a:p>
          <a:p>
            <a:pPr marL="1257300" lvl="2" indent="-342900">
              <a:buFont typeface="Arial" panose="020B0604020202020204" pitchFamily="34" charset="0"/>
              <a:buChar char="•"/>
            </a:pPr>
            <a:r>
              <a:rPr lang="ru-RU" dirty="0"/>
              <a:t>Теоретически порядок следования кортежей не имеет значения.</a:t>
            </a:r>
          </a:p>
        </p:txBody>
      </p:sp>
    </p:spTree>
    <p:extLst>
      <p:ext uri="{BB962C8B-B14F-4D97-AF65-F5344CB8AC3E}">
        <p14:creationId xmlns:p14="http://schemas.microsoft.com/office/powerpoint/2010/main" val="806866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FD7C42-A7C5-2B20-32DB-4CBDDBE49601}"/>
              </a:ext>
            </a:extLst>
          </p:cNvPr>
          <p:cNvSpPr>
            <a:spLocks noGrp="1"/>
          </p:cNvSpPr>
          <p:nvPr>
            <p:ph type="title"/>
          </p:nvPr>
        </p:nvSpPr>
        <p:spPr/>
        <p:txBody>
          <a:bodyPr/>
          <a:lstStyle/>
          <a:p>
            <a:r>
              <a:rPr lang="ru-RU" dirty="0"/>
              <a:t>Свойства и виды отношений</a:t>
            </a:r>
          </a:p>
        </p:txBody>
      </p:sp>
      <p:sp>
        <p:nvSpPr>
          <p:cNvPr id="3" name="Объект 2">
            <a:extLst>
              <a:ext uri="{FF2B5EF4-FFF2-40B4-BE49-F238E27FC236}">
                <a16:creationId xmlns:a16="http://schemas.microsoft.com/office/drawing/2014/main" id="{2B936E55-F920-B002-AFB0-DD37C9E64FC4}"/>
              </a:ext>
            </a:extLst>
          </p:cNvPr>
          <p:cNvSpPr>
            <a:spLocks noGrp="1"/>
          </p:cNvSpPr>
          <p:nvPr>
            <p:ph idx="1"/>
          </p:nvPr>
        </p:nvSpPr>
        <p:spPr/>
        <p:txBody>
          <a:bodyPr>
            <a:normAutofit/>
          </a:bodyPr>
          <a:lstStyle/>
          <a:p>
            <a:pPr lvl="1"/>
            <a:r>
              <a:rPr lang="ru-RU" dirty="0"/>
              <a:t>В реляционной теории встречается несколько видов отношений, но</a:t>
            </a:r>
            <a:r>
              <a:rPr lang="en-US" dirty="0"/>
              <a:t> </a:t>
            </a:r>
            <a:r>
              <a:rPr lang="ru-RU" dirty="0"/>
              <a:t>не все они поддерживаются реальными системами. </a:t>
            </a:r>
            <a:endParaRPr lang="en-US" dirty="0"/>
          </a:p>
          <a:p>
            <a:pPr lvl="1"/>
            <a:r>
              <a:rPr lang="ru-RU" dirty="0"/>
              <a:t>Различают:</a:t>
            </a:r>
            <a:endParaRPr lang="en-US" dirty="0"/>
          </a:p>
          <a:p>
            <a:pPr marL="800100" lvl="1" indent="-342900" algn="l">
              <a:buFont typeface="Arial" panose="020B0604020202020204" pitchFamily="34" charset="0"/>
              <a:buChar char="•"/>
            </a:pPr>
            <a:r>
              <a:rPr lang="ru-RU" sz="2000" b="0" i="0" u="none" strike="noStrike" baseline="0" dirty="0">
                <a:latin typeface="TimesNewRomanPSMT"/>
              </a:rPr>
              <a:t>именованное отношение — это переменная отношения,</a:t>
            </a:r>
            <a:r>
              <a:rPr lang="en-US" sz="2000" b="0" i="0" u="none" strike="noStrike" baseline="0" dirty="0">
                <a:latin typeface="TimesNewRomanPSMT"/>
              </a:rPr>
              <a:t> </a:t>
            </a:r>
            <a:r>
              <a:rPr lang="ru-RU" sz="2000" b="0" i="0" u="none" strike="noStrike" baseline="0" dirty="0">
                <a:latin typeface="TimesNewRomanPSMT"/>
              </a:rPr>
              <a:t>определенная в СУБД посредством специальных операторов;</a:t>
            </a:r>
          </a:p>
          <a:p>
            <a:pPr marL="800100" lvl="1" indent="-342900" algn="l">
              <a:buFont typeface="Arial" panose="020B0604020202020204" pitchFamily="34" charset="0"/>
              <a:buChar char="•"/>
            </a:pPr>
            <a:r>
              <a:rPr lang="ru-RU" sz="2000" b="0" i="0" u="none" strike="noStrike" baseline="0" dirty="0">
                <a:latin typeface="TimesNewRomanPSMT"/>
              </a:rPr>
              <a:t>базовое отношение — это именованное отношение, являющееся</a:t>
            </a:r>
            <a:r>
              <a:rPr lang="en-US" sz="2000" b="0" i="0" u="none" strike="noStrike" baseline="0" dirty="0">
                <a:latin typeface="TimesNewRomanPSMT"/>
              </a:rPr>
              <a:t> </a:t>
            </a:r>
            <a:r>
              <a:rPr lang="ru-RU" sz="2000" b="0" i="0" u="none" strike="noStrike" baseline="0" dirty="0">
                <a:latin typeface="TimesNewRomanPSMT"/>
              </a:rPr>
              <a:t>частью базы данных;</a:t>
            </a:r>
          </a:p>
          <a:p>
            <a:pPr marL="800100" lvl="1" indent="-342900" algn="l">
              <a:buFont typeface="Arial" panose="020B0604020202020204" pitchFamily="34" charset="0"/>
              <a:buChar char="•"/>
            </a:pPr>
            <a:r>
              <a:rPr lang="ru-RU" sz="2000" b="0" i="0" u="none" strike="noStrike" baseline="0" dirty="0">
                <a:latin typeface="TimesNewRomanPSMT"/>
              </a:rPr>
              <a:t>производное отношение — это отношение, определенное</a:t>
            </a:r>
            <a:r>
              <a:rPr lang="en-US" sz="2000" b="0" i="0" u="none" strike="noStrike" baseline="0" dirty="0">
                <a:latin typeface="TimesNewRomanPSMT"/>
              </a:rPr>
              <a:t> </a:t>
            </a:r>
            <a:r>
              <a:rPr lang="ru-RU" sz="2000" b="0" i="0" u="none" strike="noStrike" baseline="0" dirty="0">
                <a:latin typeface="TimesNewRomanPSMT"/>
              </a:rPr>
              <a:t>посредством реляционного выражения через базовые отношения;</a:t>
            </a:r>
          </a:p>
          <a:p>
            <a:pPr marL="800100" lvl="1" indent="-342900" algn="l">
              <a:buFont typeface="Arial" panose="020B0604020202020204" pitchFamily="34" charset="0"/>
              <a:buChar char="•"/>
            </a:pPr>
            <a:r>
              <a:rPr lang="ru-RU" sz="2000" b="0" i="0" u="none" strike="noStrike" baseline="0" dirty="0">
                <a:latin typeface="TimesNewRomanPSMT"/>
              </a:rPr>
              <a:t>представление — это именованное виртуальное производное</a:t>
            </a:r>
            <a:r>
              <a:rPr lang="en-US" sz="2000" b="0" i="0" u="none" strike="noStrike" baseline="0" dirty="0">
                <a:latin typeface="TimesNewRomanPSMT"/>
              </a:rPr>
              <a:t> </a:t>
            </a:r>
            <a:r>
              <a:rPr lang="ru-RU" sz="2000" b="0" i="0" u="none" strike="noStrike" baseline="0" dirty="0">
                <a:latin typeface="TimesNewRomanPSMT"/>
              </a:rPr>
              <a:t>отношение,</a:t>
            </a:r>
            <a:r>
              <a:rPr lang="en-US" sz="2000" b="0" i="0" u="none" strike="noStrike" baseline="0" dirty="0">
                <a:latin typeface="TimesNewRomanPSMT"/>
              </a:rPr>
              <a:t> </a:t>
            </a:r>
            <a:r>
              <a:rPr lang="ru-RU" sz="2000" b="0" i="0" u="none" strike="noStrike" baseline="0" dirty="0">
                <a:latin typeface="TimesNewRomanPSMT"/>
              </a:rPr>
              <a:t>представленное в системе исключительно через</a:t>
            </a:r>
            <a:r>
              <a:rPr lang="en-US" sz="2000" b="0" i="0" u="none" strike="noStrike" baseline="0" dirty="0">
                <a:latin typeface="TimesNewRomanPSMT"/>
              </a:rPr>
              <a:t> </a:t>
            </a:r>
            <a:r>
              <a:rPr lang="ru-RU" sz="2000" b="0" i="0" u="none" strike="noStrike" baseline="0" dirty="0">
                <a:latin typeface="TimesNewRomanPSMT"/>
              </a:rPr>
              <a:t>определение в терминах других именованных отношений;</a:t>
            </a:r>
          </a:p>
        </p:txBody>
      </p:sp>
    </p:spTree>
    <p:extLst>
      <p:ext uri="{BB962C8B-B14F-4D97-AF65-F5344CB8AC3E}">
        <p14:creationId xmlns:p14="http://schemas.microsoft.com/office/powerpoint/2010/main" val="3346426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8B6E88-497E-D315-2361-9F4F02BBBFD4}"/>
              </a:ext>
            </a:extLst>
          </p:cNvPr>
          <p:cNvSpPr>
            <a:spLocks noGrp="1"/>
          </p:cNvSpPr>
          <p:nvPr>
            <p:ph type="title"/>
          </p:nvPr>
        </p:nvSpPr>
        <p:spPr/>
        <p:txBody>
          <a:bodyPr/>
          <a:lstStyle/>
          <a:p>
            <a:r>
              <a:rPr lang="ru-RU" dirty="0"/>
              <a:t>Свойства и виды отношений</a:t>
            </a:r>
          </a:p>
        </p:txBody>
      </p:sp>
      <p:sp>
        <p:nvSpPr>
          <p:cNvPr id="3" name="Объект 2">
            <a:extLst>
              <a:ext uri="{FF2B5EF4-FFF2-40B4-BE49-F238E27FC236}">
                <a16:creationId xmlns:a16="http://schemas.microsoft.com/office/drawing/2014/main" id="{927A8E63-D4C6-D72F-FB52-775938831AE2}"/>
              </a:ext>
            </a:extLst>
          </p:cNvPr>
          <p:cNvSpPr>
            <a:spLocks noGrp="1"/>
          </p:cNvSpPr>
          <p:nvPr>
            <p:ph idx="1"/>
          </p:nvPr>
        </p:nvSpPr>
        <p:spPr/>
        <p:txBody>
          <a:bodyPr/>
          <a:lstStyle/>
          <a:p>
            <a:pPr marL="1257300" lvl="2" indent="-342900" algn="l">
              <a:buFont typeface="Arial" panose="020B0604020202020204" pitchFamily="34" charset="0"/>
              <a:buChar char="•"/>
            </a:pPr>
            <a:r>
              <a:rPr lang="ru-RU" b="0" i="0" u="none" strike="noStrike" baseline="0" dirty="0">
                <a:latin typeface="TimesNewRomanPSMT"/>
              </a:rPr>
              <a:t>снимки — это отношения, подобные представлениям, но они</a:t>
            </a:r>
            <a:r>
              <a:rPr lang="en-US" b="0" i="0" u="none" strike="noStrike" baseline="0" dirty="0">
                <a:latin typeface="TimesNewRomanPSMT"/>
              </a:rPr>
              <a:t> </a:t>
            </a:r>
            <a:r>
              <a:rPr lang="ru-RU" b="0" i="0" u="none" strike="noStrike" baseline="0" dirty="0">
                <a:latin typeface="TimesNewRomanPSMT"/>
              </a:rPr>
              <a:t>сохраняются, доступны для чтения и периодически обновляются;</a:t>
            </a:r>
          </a:p>
          <a:p>
            <a:pPr marL="1257300" lvl="2" indent="-342900" algn="l">
              <a:buFont typeface="Arial" panose="020B0604020202020204" pitchFamily="34" charset="0"/>
              <a:buChar char="•"/>
            </a:pPr>
            <a:r>
              <a:rPr lang="ru-RU" b="0" i="0" u="none" strike="noStrike" baseline="0" dirty="0">
                <a:latin typeface="TimesNewRomanPSMT"/>
              </a:rPr>
              <a:t>результат запроса — это неименованное производное отношение,</a:t>
            </a:r>
            <a:r>
              <a:rPr lang="en-US" b="0" i="0" u="none" strike="noStrike" baseline="0" dirty="0">
                <a:latin typeface="TimesNewRomanPSMT"/>
              </a:rPr>
              <a:t> </a:t>
            </a:r>
            <a:r>
              <a:rPr lang="ru-RU" b="0" i="0" u="none" strike="noStrike" baseline="0" dirty="0">
                <a:latin typeface="TimesNewRomanPSMT"/>
              </a:rPr>
              <a:t>получаемое в результате запроса, которое для сохранения</a:t>
            </a:r>
            <a:r>
              <a:rPr lang="en-US" b="0" i="0" u="none" strike="noStrike" baseline="0" dirty="0">
                <a:latin typeface="TimesNewRomanPSMT"/>
              </a:rPr>
              <a:t> </a:t>
            </a:r>
            <a:r>
              <a:rPr lang="ru-RU" b="0" i="0" u="none" strike="noStrike" baseline="0" dirty="0">
                <a:latin typeface="TimesNewRomanPSMT"/>
              </a:rPr>
              <a:t>необходимо преобразовать в именованное отношение;</a:t>
            </a:r>
            <a:r>
              <a:rPr lang="en-US" b="0" i="0" u="none" strike="noStrike" baseline="0" dirty="0">
                <a:latin typeface="TimesNewRomanPSMT"/>
              </a:rPr>
              <a:t> </a:t>
            </a:r>
            <a:endParaRPr lang="ru-RU" b="0" i="0" u="none" strike="noStrike" baseline="0" dirty="0">
              <a:latin typeface="TimesNewRomanPSMT"/>
            </a:endParaRPr>
          </a:p>
          <a:p>
            <a:pPr marL="1257300" lvl="2" indent="-342900" algn="l">
              <a:buFont typeface="Arial" panose="020B0604020202020204" pitchFamily="34" charset="0"/>
              <a:buChar char="•"/>
            </a:pPr>
            <a:r>
              <a:rPr lang="ru-RU" b="0" i="0" u="none" strike="noStrike" baseline="0" dirty="0">
                <a:latin typeface="TimesNewRomanPSMT"/>
              </a:rPr>
              <a:t>хранимое отношение — это отношение, которое поддерживается в</a:t>
            </a:r>
            <a:r>
              <a:rPr lang="en-US" b="0" i="0" u="none" strike="noStrike" baseline="0" dirty="0">
                <a:latin typeface="TimesNewRomanPSMT"/>
              </a:rPr>
              <a:t> </a:t>
            </a:r>
            <a:r>
              <a:rPr lang="ru-RU" b="0" i="0" u="none" strike="noStrike" baseline="0" dirty="0">
                <a:latin typeface="TimesNewRomanPSMT"/>
              </a:rPr>
              <a:t>физической памяти.</a:t>
            </a:r>
            <a:endParaRPr lang="ru-RU" dirty="0"/>
          </a:p>
        </p:txBody>
      </p:sp>
    </p:spTree>
    <p:extLst>
      <p:ext uri="{BB962C8B-B14F-4D97-AF65-F5344CB8AC3E}">
        <p14:creationId xmlns:p14="http://schemas.microsoft.com/office/powerpoint/2010/main" val="3124246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2363E6-AF5B-A73C-3B45-951DAD6BAAB0}"/>
              </a:ext>
            </a:extLst>
          </p:cNvPr>
          <p:cNvSpPr>
            <a:spLocks noGrp="1"/>
          </p:cNvSpPr>
          <p:nvPr>
            <p:ph type="title"/>
          </p:nvPr>
        </p:nvSpPr>
        <p:spPr/>
        <p:txBody>
          <a:bodyPr/>
          <a:lstStyle/>
          <a:p>
            <a:r>
              <a:rPr lang="ru-RU" dirty="0"/>
              <a:t>Реляционные ключи</a:t>
            </a:r>
          </a:p>
        </p:txBody>
      </p:sp>
      <p:sp>
        <p:nvSpPr>
          <p:cNvPr id="3" name="Объект 2">
            <a:extLst>
              <a:ext uri="{FF2B5EF4-FFF2-40B4-BE49-F238E27FC236}">
                <a16:creationId xmlns:a16="http://schemas.microsoft.com/office/drawing/2014/main" id="{9E88BEBD-4803-9C81-13E9-CB7E274FEE10}"/>
              </a:ext>
            </a:extLst>
          </p:cNvPr>
          <p:cNvSpPr>
            <a:spLocks noGrp="1"/>
          </p:cNvSpPr>
          <p:nvPr>
            <p:ph idx="1"/>
          </p:nvPr>
        </p:nvSpPr>
        <p:spPr/>
        <p:txBody>
          <a:bodyPr/>
          <a:lstStyle/>
          <a:p>
            <a:pPr lvl="1"/>
            <a:r>
              <a:rPr lang="ru-RU" dirty="0"/>
              <a:t>В отношении могут существовать несколько одиночных или</a:t>
            </a:r>
            <a:r>
              <a:rPr lang="en-US" dirty="0"/>
              <a:t> </a:t>
            </a:r>
            <a:r>
              <a:rPr lang="ru-RU" dirty="0"/>
              <a:t>составных атрибутов, которые однозначно идентифицируют кортеж</a:t>
            </a:r>
            <a:r>
              <a:rPr lang="en-US" dirty="0"/>
              <a:t> </a:t>
            </a:r>
            <a:r>
              <a:rPr lang="ru-RU" dirty="0"/>
              <a:t>отношения. Это — </a:t>
            </a:r>
            <a:r>
              <a:rPr lang="ru-RU" b="1" dirty="0"/>
              <a:t>потенциальные ключи</a:t>
            </a:r>
            <a:r>
              <a:rPr lang="ru-RU" dirty="0"/>
              <a:t>.</a:t>
            </a:r>
            <a:endParaRPr lang="en-US" dirty="0"/>
          </a:p>
          <a:p>
            <a:pPr lvl="1"/>
            <a:endParaRPr lang="en-US" dirty="0"/>
          </a:p>
          <a:p>
            <a:pPr lvl="1"/>
            <a:r>
              <a:rPr lang="ru-RU" dirty="0"/>
              <a:t>Свойства ключа</a:t>
            </a:r>
            <a:r>
              <a:rPr lang="en-US" dirty="0"/>
              <a:t>: </a:t>
            </a:r>
          </a:p>
          <a:p>
            <a:pPr marL="800100" lvl="1" indent="-342900">
              <a:buFont typeface="Arial" panose="020B0604020202020204" pitchFamily="34" charset="0"/>
              <a:buChar char="•"/>
            </a:pPr>
            <a:r>
              <a:rPr lang="ru-RU" dirty="0"/>
              <a:t>Уникальность</a:t>
            </a:r>
          </a:p>
          <a:p>
            <a:pPr marL="800100" lvl="1" indent="-342900">
              <a:buFont typeface="Arial" panose="020B0604020202020204" pitchFamily="34" charset="0"/>
              <a:buChar char="•"/>
            </a:pPr>
            <a:r>
              <a:rPr lang="ru-RU" dirty="0"/>
              <a:t>Минимальность</a:t>
            </a:r>
          </a:p>
          <a:p>
            <a:pPr lvl="1"/>
            <a:endParaRPr lang="ru-RU" dirty="0"/>
          </a:p>
        </p:txBody>
      </p:sp>
    </p:spTree>
    <p:extLst>
      <p:ext uri="{BB962C8B-B14F-4D97-AF65-F5344CB8AC3E}">
        <p14:creationId xmlns:p14="http://schemas.microsoft.com/office/powerpoint/2010/main" val="3796126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F33D40-4CEB-C486-55BA-EF6304100D18}"/>
              </a:ext>
            </a:extLst>
          </p:cNvPr>
          <p:cNvSpPr>
            <a:spLocks noGrp="1"/>
          </p:cNvSpPr>
          <p:nvPr>
            <p:ph type="title"/>
          </p:nvPr>
        </p:nvSpPr>
        <p:spPr/>
        <p:txBody>
          <a:bodyPr/>
          <a:lstStyle/>
          <a:p>
            <a:endParaRPr lang="ru-RU" dirty="0"/>
          </a:p>
        </p:txBody>
      </p:sp>
      <p:sp>
        <p:nvSpPr>
          <p:cNvPr id="3" name="Объект 2">
            <a:extLst>
              <a:ext uri="{FF2B5EF4-FFF2-40B4-BE49-F238E27FC236}">
                <a16:creationId xmlns:a16="http://schemas.microsoft.com/office/drawing/2014/main" id="{47122918-636D-EEAB-4C21-231912D00D08}"/>
              </a:ext>
            </a:extLst>
          </p:cNvPr>
          <p:cNvSpPr>
            <a:spLocks noGrp="1"/>
          </p:cNvSpPr>
          <p:nvPr>
            <p:ph idx="1"/>
          </p:nvPr>
        </p:nvSpPr>
        <p:spPr/>
        <p:txBody>
          <a:bodyPr>
            <a:normAutofit/>
          </a:bodyPr>
          <a:lstStyle/>
          <a:p>
            <a:pPr lvl="1"/>
            <a:r>
              <a:rPr lang="ru-RU" dirty="0"/>
              <a:t>Внешний ключ — это набор атрибутов одного отношения, являющийся потенциальным ключом другого отношения.</a:t>
            </a:r>
          </a:p>
          <a:p>
            <a:pPr lvl="1"/>
            <a:endParaRPr lang="ru-RU" dirty="0"/>
          </a:p>
          <a:p>
            <a:pPr lvl="1"/>
            <a:r>
              <a:rPr lang="ru-RU" dirty="0"/>
              <a:t>Благодаря наличию связок между потенциальными и внешними ключами обеспечивается взаимосвязь кортежей определенных отношений.</a:t>
            </a:r>
          </a:p>
          <a:p>
            <a:pPr lvl="1"/>
            <a:endParaRPr lang="ru-RU" dirty="0"/>
          </a:p>
          <a:p>
            <a:pPr lvl="1"/>
            <a:r>
              <a:rPr lang="ru-RU" dirty="0"/>
              <a:t>Отношение, содержащее внешний ключ, называется дочерним или ссылающимся отношением. А отношение, содержащее связанный с внешним ключом потенциальный ключ, — родительским или целевым отношением.</a:t>
            </a:r>
          </a:p>
        </p:txBody>
      </p:sp>
    </p:spTree>
    <p:extLst>
      <p:ext uri="{BB962C8B-B14F-4D97-AF65-F5344CB8AC3E}">
        <p14:creationId xmlns:p14="http://schemas.microsoft.com/office/powerpoint/2010/main" val="1366352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EEC867-1192-ABB6-4184-ABCBB4E26E2F}"/>
              </a:ext>
            </a:extLst>
          </p:cNvPr>
          <p:cNvSpPr>
            <a:spLocks noGrp="1"/>
          </p:cNvSpPr>
          <p:nvPr>
            <p:ph type="title"/>
          </p:nvPr>
        </p:nvSpPr>
        <p:spPr/>
        <p:txBody>
          <a:bodyPr/>
          <a:lstStyle/>
          <a:p>
            <a:r>
              <a:rPr lang="ru-RU" dirty="0"/>
              <a:t>Реляционные ключи</a:t>
            </a:r>
          </a:p>
        </p:txBody>
      </p:sp>
      <p:pic>
        <p:nvPicPr>
          <p:cNvPr id="5" name="Объект 4">
            <a:extLst>
              <a:ext uri="{FF2B5EF4-FFF2-40B4-BE49-F238E27FC236}">
                <a16:creationId xmlns:a16="http://schemas.microsoft.com/office/drawing/2014/main" id="{CC76ED0F-3FE2-9E07-A929-BCC04E9068FA}"/>
              </a:ext>
            </a:extLst>
          </p:cNvPr>
          <p:cNvPicPr>
            <a:picLocks noGrp="1" noChangeAspect="1"/>
          </p:cNvPicPr>
          <p:nvPr>
            <p:ph idx="1"/>
          </p:nvPr>
        </p:nvPicPr>
        <p:blipFill>
          <a:blip r:embed="rId2"/>
          <a:stretch>
            <a:fillRect/>
          </a:stretch>
        </p:blipFill>
        <p:spPr>
          <a:xfrm>
            <a:off x="2280138" y="1690688"/>
            <a:ext cx="6309902" cy="4351338"/>
          </a:xfrm>
          <a:prstGeom prst="rect">
            <a:avLst/>
          </a:prstGeom>
        </p:spPr>
      </p:pic>
    </p:spTree>
    <p:extLst>
      <p:ext uri="{BB962C8B-B14F-4D97-AF65-F5344CB8AC3E}">
        <p14:creationId xmlns:p14="http://schemas.microsoft.com/office/powerpoint/2010/main" val="1597966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D6A47F-DD7B-9DA4-AAAD-37C2C7CC977D}"/>
              </a:ext>
            </a:extLst>
          </p:cNvPr>
          <p:cNvSpPr>
            <a:spLocks noGrp="1"/>
          </p:cNvSpPr>
          <p:nvPr>
            <p:ph type="title"/>
          </p:nvPr>
        </p:nvSpPr>
        <p:spPr/>
        <p:txBody>
          <a:bodyPr/>
          <a:lstStyle/>
          <a:p>
            <a:r>
              <a:rPr lang="ru-RU" dirty="0"/>
              <a:t>Реляционные ключи</a:t>
            </a:r>
          </a:p>
        </p:txBody>
      </p:sp>
      <p:sp>
        <p:nvSpPr>
          <p:cNvPr id="3" name="Объект 2">
            <a:extLst>
              <a:ext uri="{FF2B5EF4-FFF2-40B4-BE49-F238E27FC236}">
                <a16:creationId xmlns:a16="http://schemas.microsoft.com/office/drawing/2014/main" id="{A4E5B5FA-4A12-EB35-8625-3C81C3D30A0F}"/>
              </a:ext>
            </a:extLst>
          </p:cNvPr>
          <p:cNvSpPr>
            <a:spLocks noGrp="1"/>
          </p:cNvSpPr>
          <p:nvPr>
            <p:ph idx="1"/>
          </p:nvPr>
        </p:nvSpPr>
        <p:spPr/>
        <p:txBody>
          <a:bodyPr/>
          <a:lstStyle/>
          <a:p>
            <a:endParaRPr lang="ru-RU" dirty="0"/>
          </a:p>
        </p:txBody>
      </p:sp>
      <p:pic>
        <p:nvPicPr>
          <p:cNvPr id="5" name="Рисунок 4">
            <a:extLst>
              <a:ext uri="{FF2B5EF4-FFF2-40B4-BE49-F238E27FC236}">
                <a16:creationId xmlns:a16="http://schemas.microsoft.com/office/drawing/2014/main" id="{647DE34A-1E2D-24DE-D2C2-385A3AD42DD9}"/>
              </a:ext>
            </a:extLst>
          </p:cNvPr>
          <p:cNvPicPr>
            <a:picLocks noChangeAspect="1"/>
          </p:cNvPicPr>
          <p:nvPr/>
        </p:nvPicPr>
        <p:blipFill>
          <a:blip r:embed="rId2"/>
          <a:stretch>
            <a:fillRect/>
          </a:stretch>
        </p:blipFill>
        <p:spPr>
          <a:xfrm>
            <a:off x="838200" y="1825624"/>
            <a:ext cx="8367957" cy="4351337"/>
          </a:xfrm>
          <a:prstGeom prst="rect">
            <a:avLst/>
          </a:prstGeom>
        </p:spPr>
      </p:pic>
    </p:spTree>
    <p:extLst>
      <p:ext uri="{BB962C8B-B14F-4D97-AF65-F5344CB8AC3E}">
        <p14:creationId xmlns:p14="http://schemas.microsoft.com/office/powerpoint/2010/main" val="1953006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FF92E9-0718-C2B1-E98E-7A55838AE8AC}"/>
              </a:ext>
            </a:extLst>
          </p:cNvPr>
          <p:cNvSpPr>
            <a:spLocks noGrp="1"/>
          </p:cNvSpPr>
          <p:nvPr>
            <p:ph type="title"/>
          </p:nvPr>
        </p:nvSpPr>
        <p:spPr/>
        <p:txBody>
          <a:bodyPr/>
          <a:lstStyle/>
          <a:p>
            <a:r>
              <a:rPr lang="ru-RU" dirty="0"/>
              <a:t>Реляционные ключи</a:t>
            </a:r>
          </a:p>
        </p:txBody>
      </p:sp>
      <p:sp>
        <p:nvSpPr>
          <p:cNvPr id="3" name="Объект 2">
            <a:extLst>
              <a:ext uri="{FF2B5EF4-FFF2-40B4-BE49-F238E27FC236}">
                <a16:creationId xmlns:a16="http://schemas.microsoft.com/office/drawing/2014/main" id="{DD08AD6D-5405-0EFC-DF17-154366697D67}"/>
              </a:ext>
            </a:extLst>
          </p:cNvPr>
          <p:cNvSpPr>
            <a:spLocks noGrp="1"/>
          </p:cNvSpPr>
          <p:nvPr>
            <p:ph idx="1"/>
          </p:nvPr>
        </p:nvSpPr>
        <p:spPr/>
        <p:txBody>
          <a:bodyPr/>
          <a:lstStyle/>
          <a:p>
            <a:endParaRPr lang="ru-RU" dirty="0"/>
          </a:p>
        </p:txBody>
      </p:sp>
      <p:pic>
        <p:nvPicPr>
          <p:cNvPr id="5" name="Рисунок 4">
            <a:extLst>
              <a:ext uri="{FF2B5EF4-FFF2-40B4-BE49-F238E27FC236}">
                <a16:creationId xmlns:a16="http://schemas.microsoft.com/office/drawing/2014/main" id="{0FACF02F-82BA-0B93-1D57-43FABA65EA3F}"/>
              </a:ext>
            </a:extLst>
          </p:cNvPr>
          <p:cNvPicPr>
            <a:picLocks noChangeAspect="1"/>
          </p:cNvPicPr>
          <p:nvPr/>
        </p:nvPicPr>
        <p:blipFill>
          <a:blip r:embed="rId2"/>
          <a:stretch>
            <a:fillRect/>
          </a:stretch>
        </p:blipFill>
        <p:spPr>
          <a:xfrm>
            <a:off x="838200" y="1779856"/>
            <a:ext cx="6005731" cy="4442876"/>
          </a:xfrm>
          <a:prstGeom prst="rect">
            <a:avLst/>
          </a:prstGeom>
        </p:spPr>
      </p:pic>
    </p:spTree>
    <p:extLst>
      <p:ext uri="{BB962C8B-B14F-4D97-AF65-F5344CB8AC3E}">
        <p14:creationId xmlns:p14="http://schemas.microsoft.com/office/powerpoint/2010/main" val="15174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436805-3E4C-68ED-43A4-1525A87CD740}"/>
              </a:ext>
            </a:extLst>
          </p:cNvPr>
          <p:cNvSpPr>
            <a:spLocks noGrp="1"/>
          </p:cNvSpPr>
          <p:nvPr>
            <p:ph type="title"/>
          </p:nvPr>
        </p:nvSpPr>
        <p:spPr/>
        <p:txBody>
          <a:bodyPr/>
          <a:lstStyle/>
          <a:p>
            <a:r>
              <a:rPr lang="ru-RU" dirty="0"/>
              <a:t>Обновление отношений</a:t>
            </a:r>
          </a:p>
        </p:txBody>
      </p:sp>
      <p:sp>
        <p:nvSpPr>
          <p:cNvPr id="3" name="Объект 2">
            <a:extLst>
              <a:ext uri="{FF2B5EF4-FFF2-40B4-BE49-F238E27FC236}">
                <a16:creationId xmlns:a16="http://schemas.microsoft.com/office/drawing/2014/main" id="{070C1D21-9634-9249-E44E-61A63EE08063}"/>
              </a:ext>
            </a:extLst>
          </p:cNvPr>
          <p:cNvSpPr>
            <a:spLocks noGrp="1"/>
          </p:cNvSpPr>
          <p:nvPr>
            <p:ph idx="1"/>
          </p:nvPr>
        </p:nvSpPr>
        <p:spPr/>
        <p:txBody>
          <a:bodyPr/>
          <a:lstStyle/>
          <a:p>
            <a:r>
              <a:rPr lang="ru-RU" dirty="0"/>
              <a:t>Для обновления отношений необходимо иметь возможность</a:t>
            </a:r>
          </a:p>
          <a:p>
            <a:r>
              <a:rPr lang="ru-RU" dirty="0"/>
              <a:t>выполнять следующие операции;</a:t>
            </a:r>
          </a:p>
          <a:p>
            <a:pPr marL="914400" lvl="1" indent="-457200">
              <a:buFont typeface="Arial" panose="020B0604020202020204" pitchFamily="34" charset="0"/>
              <a:buChar char="•"/>
            </a:pPr>
            <a:r>
              <a:rPr lang="ru-RU" dirty="0"/>
              <a:t>добавление кортежа;</a:t>
            </a:r>
          </a:p>
          <a:p>
            <a:pPr marL="914400" lvl="1" indent="-457200">
              <a:buFont typeface="Arial" panose="020B0604020202020204" pitchFamily="34" charset="0"/>
              <a:buChar char="•"/>
            </a:pPr>
            <a:r>
              <a:rPr lang="ru-RU" dirty="0"/>
              <a:t>удаление кортежа;</a:t>
            </a:r>
          </a:p>
          <a:p>
            <a:pPr marL="914400" lvl="1" indent="-457200">
              <a:buFont typeface="Arial" panose="020B0604020202020204" pitchFamily="34" charset="0"/>
              <a:buChar char="•"/>
            </a:pPr>
            <a:r>
              <a:rPr lang="ru-RU" dirty="0"/>
              <a:t>изменение кортежа.</a:t>
            </a:r>
          </a:p>
        </p:txBody>
      </p:sp>
    </p:spTree>
    <p:extLst>
      <p:ext uri="{BB962C8B-B14F-4D97-AF65-F5344CB8AC3E}">
        <p14:creationId xmlns:p14="http://schemas.microsoft.com/office/powerpoint/2010/main" val="1148053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9520FD-EBC1-3504-307E-AADB06DD38A3}"/>
              </a:ext>
            </a:extLst>
          </p:cNvPr>
          <p:cNvSpPr>
            <a:spLocks noGrp="1"/>
          </p:cNvSpPr>
          <p:nvPr>
            <p:ph type="title"/>
          </p:nvPr>
        </p:nvSpPr>
        <p:spPr/>
        <p:txBody>
          <a:bodyPr/>
          <a:lstStyle/>
          <a:p>
            <a:r>
              <a:rPr lang="ru-RU" dirty="0"/>
              <a:t>Ограничение операции добавления</a:t>
            </a:r>
          </a:p>
        </p:txBody>
      </p:sp>
      <p:sp>
        <p:nvSpPr>
          <p:cNvPr id="3" name="Объект 2">
            <a:extLst>
              <a:ext uri="{FF2B5EF4-FFF2-40B4-BE49-F238E27FC236}">
                <a16:creationId xmlns:a16="http://schemas.microsoft.com/office/drawing/2014/main" id="{D55E7DD0-39B6-9F75-2592-75E7927207C0}"/>
              </a:ext>
            </a:extLst>
          </p:cNvPr>
          <p:cNvSpPr>
            <a:spLocks noGrp="1"/>
          </p:cNvSpPr>
          <p:nvPr>
            <p:ph idx="1"/>
          </p:nvPr>
        </p:nvSpPr>
        <p:spPr/>
        <p:txBody>
          <a:bodyPr/>
          <a:lstStyle/>
          <a:p>
            <a:pPr marL="914400" lvl="1" indent="-457200">
              <a:buFont typeface="Arial" panose="020B0604020202020204" pitchFamily="34" charset="0"/>
              <a:buChar char="•"/>
            </a:pPr>
            <a:r>
              <a:rPr lang="ru-RU" dirty="0"/>
              <a:t>добавляемый кортеж не соответствует схеме определенного отношения;</a:t>
            </a:r>
          </a:p>
          <a:p>
            <a:pPr marL="914400" lvl="1" indent="-457200">
              <a:buFont typeface="Arial" panose="020B0604020202020204" pitchFamily="34" charset="0"/>
              <a:buChar char="•"/>
            </a:pPr>
            <a:r>
              <a:rPr lang="ru-RU" dirty="0"/>
              <a:t>некоторые значения кортежей не принадлежат соответствующим доменам;</a:t>
            </a:r>
          </a:p>
          <a:p>
            <a:pPr marL="914400" lvl="1" indent="-457200">
              <a:buFont typeface="Arial" panose="020B0604020202020204" pitchFamily="34" charset="0"/>
              <a:buChar char="•"/>
            </a:pPr>
            <a:r>
              <a:rPr lang="ru-RU" dirty="0"/>
              <a:t>описанный кортеж совпадает по ключу с кортежем, уже находящимся в отношении.</a:t>
            </a:r>
          </a:p>
        </p:txBody>
      </p:sp>
    </p:spTree>
    <p:extLst>
      <p:ext uri="{BB962C8B-B14F-4D97-AF65-F5344CB8AC3E}">
        <p14:creationId xmlns:p14="http://schemas.microsoft.com/office/powerpoint/2010/main" val="84172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3CBFFE-E40A-F615-0ACB-297F7C8E385B}"/>
              </a:ext>
            </a:extLst>
          </p:cNvPr>
          <p:cNvSpPr>
            <a:spLocks noGrp="1"/>
          </p:cNvSpPr>
          <p:nvPr>
            <p:ph type="title"/>
          </p:nvPr>
        </p:nvSpPr>
        <p:spPr/>
        <p:txBody>
          <a:bodyPr/>
          <a:lstStyle/>
          <a:p>
            <a:r>
              <a:rPr lang="ru-RU" dirty="0"/>
              <a:t>Целостность базы данных</a:t>
            </a:r>
          </a:p>
        </p:txBody>
      </p:sp>
      <p:sp>
        <p:nvSpPr>
          <p:cNvPr id="3" name="Объект 2">
            <a:extLst>
              <a:ext uri="{FF2B5EF4-FFF2-40B4-BE49-F238E27FC236}">
                <a16:creationId xmlns:a16="http://schemas.microsoft.com/office/drawing/2014/main" id="{73BBB0BE-1D59-AA60-FEB0-41FFCE09259C}"/>
              </a:ext>
            </a:extLst>
          </p:cNvPr>
          <p:cNvSpPr>
            <a:spLocks noGrp="1"/>
          </p:cNvSpPr>
          <p:nvPr>
            <p:ph idx="1"/>
          </p:nvPr>
        </p:nvSpPr>
        <p:spPr/>
        <p:txBody>
          <a:bodyPr>
            <a:normAutofit/>
          </a:bodyPr>
          <a:lstStyle/>
          <a:p>
            <a:pPr lvl="1"/>
            <a:r>
              <a:rPr lang="ru-RU" dirty="0"/>
              <a:t>Поддержка целостности базы данных реализуется посредством ряда ограничений, накладываемых на данные.</a:t>
            </a:r>
          </a:p>
          <a:p>
            <a:endParaRPr lang="ru-RU" dirty="0"/>
          </a:p>
          <a:p>
            <a:pPr lvl="1"/>
            <a:r>
              <a:rPr lang="ru-RU" dirty="0"/>
              <a:t>Первый тип ограничений проистекает из того факта, что каждый атрибут определяется на своем домене, или наоборот: домен атрибута задает множество значений, которые может принимать атрибут. Указанное ограничение называется ограничением атрибута.</a:t>
            </a:r>
          </a:p>
        </p:txBody>
      </p:sp>
    </p:spTree>
    <p:extLst>
      <p:ext uri="{BB962C8B-B14F-4D97-AF65-F5344CB8AC3E}">
        <p14:creationId xmlns:p14="http://schemas.microsoft.com/office/powerpoint/2010/main" val="45947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E5BE8B-88F4-CDFE-3F9A-3F6B2BADAA7B}"/>
              </a:ext>
            </a:extLst>
          </p:cNvPr>
          <p:cNvSpPr>
            <a:spLocks noGrp="1"/>
          </p:cNvSpPr>
          <p:nvPr>
            <p:ph type="title"/>
          </p:nvPr>
        </p:nvSpPr>
        <p:spPr/>
        <p:txBody>
          <a:bodyPr/>
          <a:lstStyle/>
          <a:p>
            <a:r>
              <a:rPr lang="ru-RU" dirty="0" err="1"/>
              <a:t>Категорная</a:t>
            </a:r>
            <a:r>
              <a:rPr lang="ru-RU" dirty="0"/>
              <a:t> целостность</a:t>
            </a:r>
          </a:p>
        </p:txBody>
      </p:sp>
      <p:sp>
        <p:nvSpPr>
          <p:cNvPr id="3" name="Объект 2">
            <a:extLst>
              <a:ext uri="{FF2B5EF4-FFF2-40B4-BE49-F238E27FC236}">
                <a16:creationId xmlns:a16="http://schemas.microsoft.com/office/drawing/2014/main" id="{0CE3F2A9-054C-1A3B-4948-34B9978A039D}"/>
              </a:ext>
            </a:extLst>
          </p:cNvPr>
          <p:cNvSpPr>
            <a:spLocks noGrp="1"/>
          </p:cNvSpPr>
          <p:nvPr>
            <p:ph idx="1"/>
          </p:nvPr>
        </p:nvSpPr>
        <p:spPr/>
        <p:txBody>
          <a:bodyPr>
            <a:normAutofit/>
          </a:bodyPr>
          <a:lstStyle/>
          <a:p>
            <a:r>
              <a:rPr lang="ru-RU" dirty="0" err="1"/>
              <a:t>Категорная</a:t>
            </a:r>
            <a:r>
              <a:rPr lang="ru-RU" dirty="0"/>
              <a:t> целостность ограничивает набор значений первичных ключей базовых отношений. Такого рода целостность заключается в следующем: кортеж не может записываться в БД до тех пор, пока значения его ключевых атрибутов не будут полностью определены. </a:t>
            </a:r>
          </a:p>
          <a:p>
            <a:r>
              <a:rPr lang="ru-RU" dirty="0"/>
              <a:t>Иными словами: никакой ключевой атрибут любого кортежа отношения не может содержать отсутствующего значения, обозначаемого определителем </a:t>
            </a:r>
            <a:r>
              <a:rPr lang="de-CH" dirty="0"/>
              <a:t>NULL.</a:t>
            </a:r>
            <a:endParaRPr lang="ru-RU" dirty="0"/>
          </a:p>
        </p:txBody>
      </p:sp>
    </p:spTree>
    <p:extLst>
      <p:ext uri="{BB962C8B-B14F-4D97-AF65-F5344CB8AC3E}">
        <p14:creationId xmlns:p14="http://schemas.microsoft.com/office/powerpoint/2010/main" val="1189397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B5FB57-BC72-EDCF-00FC-6731A6A1867F}"/>
              </a:ext>
            </a:extLst>
          </p:cNvPr>
          <p:cNvSpPr>
            <a:spLocks noGrp="1"/>
          </p:cNvSpPr>
          <p:nvPr>
            <p:ph type="title"/>
          </p:nvPr>
        </p:nvSpPr>
        <p:spPr/>
        <p:txBody>
          <a:bodyPr/>
          <a:lstStyle/>
          <a:p>
            <a:r>
              <a:rPr lang="ru-RU" dirty="0"/>
              <a:t>Целостность на уровне ссылок</a:t>
            </a:r>
          </a:p>
        </p:txBody>
      </p:sp>
      <p:sp>
        <p:nvSpPr>
          <p:cNvPr id="3" name="Объект 2">
            <a:extLst>
              <a:ext uri="{FF2B5EF4-FFF2-40B4-BE49-F238E27FC236}">
                <a16:creationId xmlns:a16="http://schemas.microsoft.com/office/drawing/2014/main" id="{98C03F99-F449-55B5-01A1-B6B1EA6E2962}"/>
              </a:ext>
            </a:extLst>
          </p:cNvPr>
          <p:cNvSpPr>
            <a:spLocks noGrp="1"/>
          </p:cNvSpPr>
          <p:nvPr>
            <p:ph idx="1"/>
          </p:nvPr>
        </p:nvSpPr>
        <p:spPr/>
        <p:txBody>
          <a:bodyPr/>
          <a:lstStyle/>
          <a:p>
            <a:r>
              <a:rPr lang="ru-RU" dirty="0"/>
              <a:t>При построении отношений для связывания строк одной таблицы со строками другой таблицы используются внешние ключи. </a:t>
            </a:r>
          </a:p>
          <a:p>
            <a:r>
              <a:rPr lang="ru-RU" dirty="0"/>
              <a:t>База данных, в которой все непустые внешние ключи ссылаются на текущие значения ключей другого отношения, обладает целостностью на уровне ссылок.</a:t>
            </a:r>
          </a:p>
        </p:txBody>
      </p:sp>
    </p:spTree>
    <p:extLst>
      <p:ext uri="{BB962C8B-B14F-4D97-AF65-F5344CB8AC3E}">
        <p14:creationId xmlns:p14="http://schemas.microsoft.com/office/powerpoint/2010/main" val="981642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59D560-A9D0-A889-EE16-70F4096872E5}"/>
              </a:ext>
            </a:extLst>
          </p:cNvPr>
          <p:cNvSpPr txBox="1"/>
          <p:nvPr/>
        </p:nvSpPr>
        <p:spPr>
          <a:xfrm>
            <a:off x="788193" y="1120676"/>
            <a:ext cx="10803731" cy="2308324"/>
          </a:xfrm>
          <a:prstGeom prst="rect">
            <a:avLst/>
          </a:prstGeom>
          <a:noFill/>
        </p:spPr>
        <p:txBody>
          <a:bodyPr wrap="square">
            <a:spAutoFit/>
          </a:bodyPr>
          <a:lstStyle/>
          <a:p>
            <a:r>
              <a:rPr lang="ru-RU" sz="2400" dirty="0">
                <a:solidFill>
                  <a:schemeClr val="accent1">
                    <a:lumMod val="75000"/>
                  </a:schemeClr>
                </a:solidFill>
                <a:latin typeface="Arial" panose="020B0604020202020204" pitchFamily="34" charset="0"/>
                <a:cs typeface="Arial" panose="020B0604020202020204" pitchFamily="34" charset="0"/>
              </a:rPr>
              <a:t>Как правило, определение условия целостности данных осуществляется при установлении взаимосвязи между родительским и дочерним отношениями; при этом пользователю часто предоставляется  возможность самому решить, каким путем сохранять целостность базы</a:t>
            </a:r>
          </a:p>
          <a:p>
            <a:r>
              <a:rPr lang="ru-RU" sz="2400" dirty="0">
                <a:solidFill>
                  <a:schemeClr val="accent1">
                    <a:lumMod val="75000"/>
                  </a:schemeClr>
                </a:solidFill>
                <a:latin typeface="Arial" panose="020B0604020202020204" pitchFamily="34" charset="0"/>
                <a:cs typeface="Arial" panose="020B0604020202020204" pitchFamily="34" charset="0"/>
              </a:rPr>
              <a:t>данных и насколько жестко должно соблюдаться условие целостности при различных операциях изменения данных.</a:t>
            </a:r>
          </a:p>
        </p:txBody>
      </p:sp>
    </p:spTree>
    <p:extLst>
      <p:ext uri="{BB962C8B-B14F-4D97-AF65-F5344CB8AC3E}">
        <p14:creationId xmlns:p14="http://schemas.microsoft.com/office/powerpoint/2010/main" val="967810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E55F3E-36F2-74C5-032C-2CF2491D45D1}"/>
              </a:ext>
            </a:extLst>
          </p:cNvPr>
          <p:cNvSpPr txBox="1"/>
          <p:nvPr/>
        </p:nvSpPr>
        <p:spPr>
          <a:xfrm>
            <a:off x="578643" y="414248"/>
            <a:ext cx="11222831" cy="5262979"/>
          </a:xfrm>
          <a:prstGeom prst="rect">
            <a:avLst/>
          </a:prstGeom>
          <a:noFill/>
        </p:spPr>
        <p:txBody>
          <a:bodyPr wrap="square">
            <a:spAutoFit/>
          </a:bodyPr>
          <a:lstStyle/>
          <a:p>
            <a:r>
              <a:rPr lang="ru-RU" sz="2400" dirty="0">
                <a:solidFill>
                  <a:schemeClr val="accent1">
                    <a:lumMod val="75000"/>
                  </a:schemeClr>
                </a:solidFill>
              </a:rPr>
              <a:t>Так, например, при изменении значения первичного ключа в родительском отношении часто разрешены следующие варианты действий, из которых два первых — обеспечивают нахождение базы данных в целостном непротиворечивом состоянии.</a:t>
            </a:r>
          </a:p>
          <a:p>
            <a:endParaRPr lang="ru-RU" sz="2400" dirty="0">
              <a:solidFill>
                <a:schemeClr val="accent1">
                  <a:lumMod val="75000"/>
                </a:schemeClr>
              </a:solidFill>
            </a:endParaRPr>
          </a:p>
          <a:p>
            <a:pPr marL="342900" indent="-342900">
              <a:buFont typeface="Arial" panose="020B0604020202020204" pitchFamily="34" charset="0"/>
              <a:buChar char="•"/>
            </a:pPr>
            <a:r>
              <a:rPr lang="ru-RU" sz="2400" dirty="0">
                <a:solidFill>
                  <a:schemeClr val="accent1">
                    <a:lumMod val="75000"/>
                  </a:schemeClr>
                </a:solidFill>
              </a:rPr>
              <a:t>При изменении значений полей первичного ключа в родительском отношении автоматически осуществляется каскадное изменение всех соответствующих значений в дочернем отношении.</a:t>
            </a:r>
          </a:p>
          <a:p>
            <a:pPr marL="342900" indent="-342900">
              <a:buFont typeface="Arial" panose="020B0604020202020204" pitchFamily="34" charset="0"/>
              <a:buChar char="•"/>
            </a:pPr>
            <a:r>
              <a:rPr lang="ru-RU" sz="2400" dirty="0">
                <a:solidFill>
                  <a:schemeClr val="accent1">
                    <a:lumMod val="75000"/>
                  </a:schemeClr>
                </a:solidFill>
              </a:rPr>
              <a:t>Не позволяется изменять значения полей первичного ключа в родительском отношении, если в дочернем отношении имеется хотя бы одна запись, содержащая ссылку на изменяемую запись.</a:t>
            </a:r>
          </a:p>
          <a:p>
            <a:pPr marL="342900" indent="-342900">
              <a:buFont typeface="Arial" panose="020B0604020202020204" pitchFamily="34" charset="0"/>
              <a:buChar char="•"/>
            </a:pPr>
            <a:r>
              <a:rPr lang="ru-RU" sz="2400" dirty="0">
                <a:solidFill>
                  <a:schemeClr val="accent1">
                    <a:lumMod val="75000"/>
                  </a:schemeClr>
                </a:solidFill>
              </a:rPr>
              <a:t>Позволяется изменять значения полей первичного ключа в родительском отношении, независимо от существования связанных  записей в дочернем отношении. Целостность данных при этом не поддерживается.</a:t>
            </a:r>
          </a:p>
        </p:txBody>
      </p:sp>
    </p:spTree>
    <p:extLst>
      <p:ext uri="{BB962C8B-B14F-4D97-AF65-F5344CB8AC3E}">
        <p14:creationId xmlns:p14="http://schemas.microsoft.com/office/powerpoint/2010/main" val="622095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30E838-88AE-9C28-0257-F31E4D37A64D}"/>
              </a:ext>
            </a:extLst>
          </p:cNvPr>
          <p:cNvSpPr txBox="1"/>
          <p:nvPr/>
        </p:nvSpPr>
        <p:spPr>
          <a:xfrm>
            <a:off x="635794" y="595997"/>
            <a:ext cx="11251406" cy="4893647"/>
          </a:xfrm>
          <a:prstGeom prst="rect">
            <a:avLst/>
          </a:prstGeom>
          <a:noFill/>
        </p:spPr>
        <p:txBody>
          <a:bodyPr wrap="square">
            <a:spAutoFit/>
          </a:bodyPr>
          <a:lstStyle/>
          <a:p>
            <a:r>
              <a:rPr lang="ru-RU" sz="2400" dirty="0">
                <a:solidFill>
                  <a:schemeClr val="accent1">
                    <a:lumMod val="75000"/>
                  </a:schemeClr>
                </a:solidFill>
              </a:rPr>
              <a:t>При удалении записи в родительском отношении также возможны</a:t>
            </a:r>
          </a:p>
          <a:p>
            <a:r>
              <a:rPr lang="ru-RU" sz="2400" dirty="0">
                <a:solidFill>
                  <a:schemeClr val="accent1">
                    <a:lumMod val="75000"/>
                  </a:schemeClr>
                </a:solidFill>
              </a:rPr>
              <a:t>несколько вариантов действий.</a:t>
            </a:r>
          </a:p>
          <a:p>
            <a:endParaRPr lang="ru-RU" sz="2400" dirty="0">
              <a:solidFill>
                <a:schemeClr val="accent1">
                  <a:lumMod val="75000"/>
                </a:schemeClr>
              </a:solidFill>
            </a:endParaRPr>
          </a:p>
          <a:p>
            <a:pPr marL="285750" indent="-285750">
              <a:buFont typeface="Arial" panose="020B0604020202020204" pitchFamily="34" charset="0"/>
              <a:buChar char="•"/>
            </a:pPr>
            <a:r>
              <a:rPr lang="ru-RU" sz="2400" dirty="0">
                <a:solidFill>
                  <a:schemeClr val="accent1">
                    <a:lumMod val="75000"/>
                  </a:schemeClr>
                </a:solidFill>
              </a:rPr>
              <a:t>При удалении записи в родительском отношении автоматически осуществляется каскадное удаление всех записей из дочернего отношения, связанных с удаляемой записью.</a:t>
            </a:r>
          </a:p>
          <a:p>
            <a:pPr marL="285750" indent="-285750">
              <a:buFont typeface="Arial" panose="020B0604020202020204" pitchFamily="34" charset="0"/>
              <a:buChar char="•"/>
            </a:pPr>
            <a:r>
              <a:rPr lang="ru-RU" sz="2400" dirty="0">
                <a:solidFill>
                  <a:schemeClr val="accent1">
                    <a:lumMod val="75000"/>
                  </a:schemeClr>
                </a:solidFill>
              </a:rPr>
              <a:t>Не позволяется удалять записи в родительском отношении, если в дочернем отношении имеется хотя бы одна запись, содержащая ссылку на удаляемую запись. При попытке удаления записи возникает ошибка, которую можно обработать </a:t>
            </a:r>
            <a:r>
              <a:rPr lang="ru-RU" sz="2400" dirty="0" err="1">
                <a:solidFill>
                  <a:schemeClr val="accent1">
                    <a:lumMod val="75000"/>
                  </a:schemeClr>
                </a:solidFill>
              </a:rPr>
              <a:t>программно</a:t>
            </a:r>
            <a:r>
              <a:rPr lang="ru-RU" sz="2400" dirty="0">
                <a:solidFill>
                  <a:schemeClr val="accent1">
                    <a:lumMod val="75000"/>
                  </a:schemeClr>
                </a:solidFill>
              </a:rPr>
              <a:t>.</a:t>
            </a:r>
          </a:p>
          <a:p>
            <a:pPr marL="285750" indent="-285750">
              <a:buFont typeface="Arial" panose="020B0604020202020204" pitchFamily="34" charset="0"/>
              <a:buChar char="•"/>
            </a:pPr>
            <a:r>
              <a:rPr lang="ru-RU" sz="2400" dirty="0">
                <a:solidFill>
                  <a:schemeClr val="accent1">
                    <a:lumMod val="75000"/>
                  </a:schemeClr>
                </a:solidFill>
              </a:rPr>
              <a:t>Позволяется удалять записи в родительском отношении независимо от существования связанных записей в дочернем отношении. Очевидно, что целостность данных при этом не поддерживается.</a:t>
            </a:r>
          </a:p>
        </p:txBody>
      </p:sp>
    </p:spTree>
    <p:extLst>
      <p:ext uri="{BB962C8B-B14F-4D97-AF65-F5344CB8AC3E}">
        <p14:creationId xmlns:p14="http://schemas.microsoft.com/office/powerpoint/2010/main" val="3691973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EC9B2E-7C0A-B0D4-F14E-C0C56BC9D8CE}"/>
              </a:ext>
            </a:extLst>
          </p:cNvPr>
          <p:cNvSpPr txBox="1"/>
          <p:nvPr/>
        </p:nvSpPr>
        <p:spPr>
          <a:xfrm>
            <a:off x="914400" y="1076325"/>
            <a:ext cx="10086975" cy="3416320"/>
          </a:xfrm>
          <a:prstGeom prst="rect">
            <a:avLst/>
          </a:prstGeom>
          <a:noFill/>
        </p:spPr>
        <p:txBody>
          <a:bodyPr wrap="square" rtlCol="0">
            <a:spAutoFit/>
          </a:bodyPr>
          <a:lstStyle/>
          <a:p>
            <a:pPr algn="l"/>
            <a:r>
              <a:rPr lang="ru-RU" sz="2400" b="0" i="0" u="none" strike="noStrike" baseline="0" dirty="0">
                <a:solidFill>
                  <a:schemeClr val="accent1">
                    <a:lumMod val="75000"/>
                  </a:schemeClr>
                </a:solidFill>
                <a:latin typeface="TimesNewRomanPSMT"/>
              </a:rPr>
              <a:t>При добавлении новой записи в дочернее отношение или редактировании в нем существующей записи возможно выбрать один из вариантов:</a:t>
            </a:r>
          </a:p>
          <a:p>
            <a:pPr algn="l"/>
            <a:endParaRPr lang="ru-RU" sz="2400" dirty="0">
              <a:solidFill>
                <a:schemeClr val="accent1">
                  <a:lumMod val="75000"/>
                </a:schemeClr>
              </a:solidFill>
              <a:latin typeface="TimesNewRomanPSMT"/>
            </a:endParaRPr>
          </a:p>
          <a:p>
            <a:pPr marL="285750" indent="-285750" algn="l">
              <a:buFont typeface="Arial" panose="020B0604020202020204" pitchFamily="34" charset="0"/>
              <a:buChar char="•"/>
            </a:pPr>
            <a:r>
              <a:rPr lang="ru-RU" sz="2400" b="0" i="0" u="none" strike="noStrike" baseline="0" dirty="0">
                <a:solidFill>
                  <a:schemeClr val="accent1">
                    <a:lumMod val="75000"/>
                  </a:schemeClr>
                </a:solidFill>
                <a:latin typeface="TimesNewRomanPSMT"/>
              </a:rPr>
              <a:t>не позволяется вводить запись, если значение индексного выражения дочернего отношения не соответствует одной из записей в родительском отношении;</a:t>
            </a:r>
          </a:p>
          <a:p>
            <a:pPr marL="285750" indent="-285750" algn="l">
              <a:buFont typeface="Arial" panose="020B0604020202020204" pitchFamily="34" charset="0"/>
              <a:buChar char="•"/>
            </a:pPr>
            <a:r>
              <a:rPr lang="ru-RU" sz="2400" b="0" i="0" u="none" strike="noStrike" baseline="0" dirty="0">
                <a:solidFill>
                  <a:schemeClr val="accent1">
                    <a:lumMod val="75000"/>
                  </a:schemeClr>
                </a:solidFill>
                <a:latin typeface="TimesNewRomanPSMT"/>
              </a:rPr>
              <a:t>при вводе данных в дочернее отношение не анализируется значение индексного выражения. Целостность данных при этом не поддерживается.</a:t>
            </a:r>
            <a:endParaRPr lang="ru-RU" sz="2400" dirty="0">
              <a:solidFill>
                <a:schemeClr val="accent1">
                  <a:lumMod val="75000"/>
                </a:schemeClr>
              </a:solidFill>
            </a:endParaRPr>
          </a:p>
        </p:txBody>
      </p:sp>
    </p:spTree>
    <p:extLst>
      <p:ext uri="{BB962C8B-B14F-4D97-AF65-F5344CB8AC3E}">
        <p14:creationId xmlns:p14="http://schemas.microsoft.com/office/powerpoint/2010/main" val="1905983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C50A7D-5C0C-964C-F0C3-14D6EF5A9F11}"/>
              </a:ext>
            </a:extLst>
          </p:cNvPr>
          <p:cNvSpPr txBox="1"/>
          <p:nvPr/>
        </p:nvSpPr>
        <p:spPr>
          <a:xfrm>
            <a:off x="902494" y="823823"/>
            <a:ext cx="10908506" cy="4154984"/>
          </a:xfrm>
          <a:prstGeom prst="rect">
            <a:avLst/>
          </a:prstGeom>
          <a:noFill/>
        </p:spPr>
        <p:txBody>
          <a:bodyPr wrap="square">
            <a:spAutoFit/>
          </a:bodyPr>
          <a:lstStyle/>
          <a:p>
            <a:pPr algn="l"/>
            <a:r>
              <a:rPr lang="ru-RU" sz="2400" b="0" i="0" u="none" strike="noStrike" baseline="0" dirty="0">
                <a:solidFill>
                  <a:schemeClr val="accent1">
                    <a:lumMod val="75000"/>
                  </a:schemeClr>
                </a:solidFill>
                <a:latin typeface="Arial" panose="020B0604020202020204" pitchFamily="34" charset="0"/>
                <a:cs typeface="Arial" panose="020B0604020202020204" pitchFamily="34" charset="0"/>
              </a:rPr>
              <a:t>Еще один вид ограничений, накладываемый на информацию, содержащуюся в отношениях, связан с теми бизнес-правилами, которые существуют в моделируемой предметной области.</a:t>
            </a:r>
          </a:p>
          <a:p>
            <a:pPr algn="l"/>
            <a:endParaRPr lang="ru-RU" sz="2400" dirty="0">
              <a:solidFill>
                <a:schemeClr val="accent1">
                  <a:lumMod val="75000"/>
                </a:schemeClr>
              </a:solidFill>
              <a:latin typeface="Arial" panose="020B0604020202020204" pitchFamily="34" charset="0"/>
              <a:cs typeface="Arial" panose="020B0604020202020204" pitchFamily="34" charset="0"/>
            </a:endParaRPr>
          </a:p>
          <a:p>
            <a:pPr algn="l"/>
            <a:endParaRPr lang="ru-RU" sz="2400" dirty="0">
              <a:solidFill>
                <a:schemeClr val="accent1">
                  <a:lumMod val="75000"/>
                </a:schemeClr>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ru-RU" sz="2400" dirty="0">
                <a:solidFill>
                  <a:schemeClr val="accent1">
                    <a:lumMod val="75000"/>
                  </a:schemeClr>
                </a:solidFill>
                <a:latin typeface="Arial" panose="020B0604020202020204" pitchFamily="34" charset="0"/>
                <a:cs typeface="Arial" panose="020B0604020202020204" pitchFamily="34" charset="0"/>
              </a:rPr>
              <a:t>студентам нельзя планировать занятия продолжительностью </a:t>
            </a:r>
            <a:r>
              <a:rPr lang="ru-RU" sz="2400" dirty="0" err="1">
                <a:solidFill>
                  <a:schemeClr val="accent1">
                    <a:lumMod val="75000"/>
                  </a:schemeClr>
                </a:solidFill>
                <a:latin typeface="Arial" panose="020B0604020202020204" pitchFamily="34" charset="0"/>
                <a:cs typeface="Arial" panose="020B0604020202020204" pitchFamily="34" charset="0"/>
              </a:rPr>
              <a:t>болеевосьми</a:t>
            </a:r>
            <a:r>
              <a:rPr lang="ru-RU" sz="2400" dirty="0">
                <a:solidFill>
                  <a:schemeClr val="accent1">
                    <a:lumMod val="75000"/>
                  </a:schemeClr>
                </a:solidFill>
                <a:latin typeface="Arial" panose="020B0604020202020204" pitchFamily="34" charset="0"/>
                <a:cs typeface="Arial" panose="020B0604020202020204" pitchFamily="34" charset="0"/>
              </a:rPr>
              <a:t> часов в день;</a:t>
            </a:r>
          </a:p>
          <a:p>
            <a:pPr marL="342900" indent="-342900">
              <a:buFont typeface="Arial" panose="020B0604020202020204" pitchFamily="34" charset="0"/>
              <a:buChar char="•"/>
            </a:pPr>
            <a:r>
              <a:rPr lang="ru-RU" sz="2400" dirty="0">
                <a:solidFill>
                  <a:schemeClr val="accent1">
                    <a:lumMod val="75000"/>
                  </a:schemeClr>
                </a:solidFill>
                <a:latin typeface="Arial" panose="020B0604020202020204" pitchFamily="34" charset="0"/>
                <a:cs typeface="Arial" panose="020B0604020202020204" pitchFamily="34" charset="0"/>
              </a:rPr>
              <a:t>студенты весь день должны заниматься в одном корпусе вуза, </a:t>
            </a:r>
            <a:r>
              <a:rPr lang="ru-RU" sz="2400" dirty="0" err="1">
                <a:solidFill>
                  <a:schemeClr val="accent1">
                    <a:lumMod val="75000"/>
                  </a:schemeClr>
                </a:solidFill>
                <a:latin typeface="Arial" panose="020B0604020202020204" pitchFamily="34" charset="0"/>
                <a:cs typeface="Arial" panose="020B0604020202020204" pitchFamily="34" charset="0"/>
              </a:rPr>
              <a:t>чтобыне</a:t>
            </a:r>
            <a:r>
              <a:rPr lang="ru-RU" sz="2400" dirty="0">
                <a:solidFill>
                  <a:schemeClr val="accent1">
                    <a:lumMod val="75000"/>
                  </a:schemeClr>
                </a:solidFill>
                <a:latin typeface="Arial" panose="020B0604020202020204" pitchFamily="34" charset="0"/>
                <a:cs typeface="Arial" panose="020B0604020202020204" pitchFamily="34" charset="0"/>
              </a:rPr>
              <a:t> требовалось дополнительное время на переходы из одного здания в другое.</a:t>
            </a:r>
          </a:p>
          <a:p>
            <a:pPr algn="l"/>
            <a:endParaRPr lang="ru-RU" sz="2400" dirty="0">
              <a:solidFill>
                <a:schemeClr val="accent1">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9441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4AFC72-6730-66B0-72F2-AA6A17974FD9}"/>
              </a:ext>
            </a:extLst>
          </p:cNvPr>
          <p:cNvSpPr>
            <a:spLocks noGrp="1"/>
          </p:cNvSpPr>
          <p:nvPr>
            <p:ph type="title"/>
          </p:nvPr>
        </p:nvSpPr>
        <p:spPr/>
        <p:txBody>
          <a:bodyPr>
            <a:normAutofit fontScale="90000"/>
          </a:bodyPr>
          <a:lstStyle/>
          <a:p>
            <a:r>
              <a:rPr lang="ru-RU" b="1" dirty="0"/>
              <a:t>Избыточность данных и аномалии обновления в БД</a:t>
            </a:r>
            <a:endParaRPr lang="ru-RU" dirty="0"/>
          </a:p>
        </p:txBody>
      </p:sp>
      <p:sp>
        <p:nvSpPr>
          <p:cNvPr id="3" name="Объект 2">
            <a:extLst>
              <a:ext uri="{FF2B5EF4-FFF2-40B4-BE49-F238E27FC236}">
                <a16:creationId xmlns:a16="http://schemas.microsoft.com/office/drawing/2014/main" id="{79563AA7-1207-0D7E-B8EF-B86E9C68EA32}"/>
              </a:ext>
            </a:extLst>
          </p:cNvPr>
          <p:cNvSpPr>
            <a:spLocks noGrp="1"/>
          </p:cNvSpPr>
          <p:nvPr>
            <p:ph idx="1"/>
          </p:nvPr>
        </p:nvSpPr>
        <p:spPr/>
        <p:txBody>
          <a:bodyPr/>
          <a:lstStyle/>
          <a:p>
            <a:pPr marL="0" indent="0">
              <a:buNone/>
            </a:pPr>
            <a:r>
              <a:rPr lang="ru-RU" dirty="0">
                <a:latin typeface="Arial" panose="020B0604020202020204" pitchFamily="34" charset="0"/>
                <a:cs typeface="Arial" panose="020B0604020202020204" pitchFamily="34" charset="0"/>
              </a:rPr>
              <a:t>Избыточность данных в БД относится к нежелательным явлениям, поскольку ведет к увеличению объема памяти, необходимого для физического хранения отношений. Избыточность вызывается, прежде всего, дублированием данных.</a:t>
            </a:r>
          </a:p>
        </p:txBody>
      </p:sp>
    </p:spTree>
    <p:extLst>
      <p:ext uri="{BB962C8B-B14F-4D97-AF65-F5344CB8AC3E}">
        <p14:creationId xmlns:p14="http://schemas.microsoft.com/office/powerpoint/2010/main" val="276799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75A8D1-33AA-C7FC-2605-BB0F4459CDAD}"/>
              </a:ext>
            </a:extLst>
          </p:cNvPr>
          <p:cNvSpPr>
            <a:spLocks noGrp="1"/>
          </p:cNvSpPr>
          <p:nvPr>
            <p:ph type="title"/>
          </p:nvPr>
        </p:nvSpPr>
        <p:spPr/>
        <p:txBody>
          <a:bodyPr/>
          <a:lstStyle/>
          <a:p>
            <a:endParaRPr lang="ru-RU"/>
          </a:p>
        </p:txBody>
      </p:sp>
      <p:pic>
        <p:nvPicPr>
          <p:cNvPr id="5" name="Объект 4">
            <a:extLst>
              <a:ext uri="{FF2B5EF4-FFF2-40B4-BE49-F238E27FC236}">
                <a16:creationId xmlns:a16="http://schemas.microsoft.com/office/drawing/2014/main" id="{A6373F2C-E19D-A607-4F22-BC57D5176113}"/>
              </a:ext>
            </a:extLst>
          </p:cNvPr>
          <p:cNvPicPr>
            <a:picLocks noGrp="1" noChangeAspect="1"/>
          </p:cNvPicPr>
          <p:nvPr>
            <p:ph idx="1"/>
          </p:nvPr>
        </p:nvPicPr>
        <p:blipFill>
          <a:blip r:embed="rId2"/>
          <a:stretch>
            <a:fillRect/>
          </a:stretch>
        </p:blipFill>
        <p:spPr>
          <a:xfrm>
            <a:off x="838200" y="2096167"/>
            <a:ext cx="10439400" cy="2837783"/>
          </a:xfrm>
          <a:prstGeom prst="rect">
            <a:avLst/>
          </a:prstGeom>
        </p:spPr>
      </p:pic>
    </p:spTree>
    <p:extLst>
      <p:ext uri="{BB962C8B-B14F-4D97-AF65-F5344CB8AC3E}">
        <p14:creationId xmlns:p14="http://schemas.microsoft.com/office/powerpoint/2010/main" val="3034458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BA6107-86D9-95BC-D96E-76C4EF64C435}"/>
              </a:ext>
            </a:extLst>
          </p:cNvPr>
          <p:cNvSpPr txBox="1"/>
          <p:nvPr/>
        </p:nvSpPr>
        <p:spPr>
          <a:xfrm>
            <a:off x="1035843" y="581322"/>
            <a:ext cx="10460831" cy="3539430"/>
          </a:xfrm>
          <a:prstGeom prst="rect">
            <a:avLst/>
          </a:prstGeom>
          <a:noFill/>
        </p:spPr>
        <p:txBody>
          <a:bodyPr wrap="square">
            <a:spAutoFit/>
          </a:bodyPr>
          <a:lstStyle/>
          <a:p>
            <a:pPr algn="l"/>
            <a:r>
              <a:rPr lang="ru-RU" sz="2400" b="0" i="0" u="none" strike="noStrike" baseline="0" dirty="0">
                <a:solidFill>
                  <a:schemeClr val="accent1">
                    <a:lumMod val="75000"/>
                  </a:schemeClr>
                </a:solidFill>
                <a:latin typeface="Arial" panose="020B0604020202020204" pitchFamily="34" charset="0"/>
                <a:cs typeface="Arial" panose="020B0604020202020204" pitchFamily="34" charset="0"/>
              </a:rPr>
              <a:t>При работе с отношениями, содержащими избыточные данные, могут возникнуть проблемы, которые называются аномалиями обновления.</a:t>
            </a:r>
          </a:p>
          <a:p>
            <a:pPr algn="l"/>
            <a:endParaRPr lang="ru-RU" sz="2400" dirty="0">
              <a:solidFill>
                <a:schemeClr val="accent1">
                  <a:lumMod val="75000"/>
                </a:schemeClr>
              </a:solidFill>
              <a:latin typeface="Arial" panose="020B0604020202020204" pitchFamily="34" charset="0"/>
              <a:cs typeface="Arial" panose="020B0604020202020204" pitchFamily="34" charset="0"/>
            </a:endParaRPr>
          </a:p>
          <a:p>
            <a:pPr algn="l"/>
            <a:endParaRPr lang="ru-RU" sz="2400" dirty="0">
              <a:solidFill>
                <a:schemeClr val="accent1">
                  <a:lumMod val="75000"/>
                </a:schemeClr>
              </a:solidFill>
              <a:latin typeface="Arial" panose="020B0604020202020204" pitchFamily="34" charset="0"/>
              <a:cs typeface="Arial" panose="020B0604020202020204" pitchFamily="34" charset="0"/>
            </a:endParaRPr>
          </a:p>
          <a:p>
            <a:r>
              <a:rPr lang="ru-RU" sz="2000" dirty="0">
                <a:solidFill>
                  <a:schemeClr val="accent1">
                    <a:lumMod val="75000"/>
                  </a:schemeClr>
                </a:solidFill>
                <a:latin typeface="Arial" panose="020B0604020202020204" pitchFamily="34" charset="0"/>
                <a:cs typeface="Arial" panose="020B0604020202020204" pitchFamily="34" charset="0"/>
              </a:rPr>
              <a:t>Различают три вида аномалий в базе данных:</a:t>
            </a:r>
          </a:p>
          <a:p>
            <a:pPr marL="342900" indent="-342900">
              <a:buFont typeface="Arial" panose="020B0604020202020204" pitchFamily="34" charset="0"/>
              <a:buChar char="•"/>
            </a:pPr>
            <a:r>
              <a:rPr lang="ru-RU" sz="2000" dirty="0">
                <a:solidFill>
                  <a:schemeClr val="accent1">
                    <a:lumMod val="75000"/>
                  </a:schemeClr>
                </a:solidFill>
                <a:latin typeface="Arial" panose="020B0604020202020204" pitchFamily="34" charset="0"/>
                <a:cs typeface="Arial" panose="020B0604020202020204" pitchFamily="34" charset="0"/>
              </a:rPr>
              <a:t>аномалии включения;</a:t>
            </a:r>
          </a:p>
          <a:p>
            <a:pPr marL="342900" indent="-342900">
              <a:buFont typeface="Arial" panose="020B0604020202020204" pitchFamily="34" charset="0"/>
              <a:buChar char="•"/>
            </a:pPr>
            <a:r>
              <a:rPr lang="ru-RU" sz="2000" dirty="0">
                <a:solidFill>
                  <a:schemeClr val="accent1">
                    <a:lumMod val="75000"/>
                  </a:schemeClr>
                </a:solidFill>
                <a:latin typeface="Arial" panose="020B0604020202020204" pitchFamily="34" charset="0"/>
                <a:cs typeface="Arial" panose="020B0604020202020204" pitchFamily="34" charset="0"/>
              </a:rPr>
              <a:t>аномалии удаления;</a:t>
            </a:r>
          </a:p>
          <a:p>
            <a:pPr marL="342900" indent="-342900">
              <a:buFont typeface="Arial" panose="020B0604020202020204" pitchFamily="34" charset="0"/>
              <a:buChar char="•"/>
            </a:pPr>
            <a:r>
              <a:rPr lang="ru-RU" sz="2000" dirty="0">
                <a:solidFill>
                  <a:schemeClr val="accent1">
                    <a:lumMod val="75000"/>
                  </a:schemeClr>
                </a:solidFill>
                <a:latin typeface="Arial" panose="020B0604020202020204" pitchFamily="34" charset="0"/>
                <a:cs typeface="Arial" panose="020B0604020202020204" pitchFamily="34" charset="0"/>
              </a:rPr>
              <a:t>аномалии модификации</a:t>
            </a:r>
            <a:endParaRPr lang="ru-RU" sz="2000" b="0" i="0" u="none" strike="noStrike" baseline="0" dirty="0">
              <a:solidFill>
                <a:schemeClr val="accent1">
                  <a:lumMod val="75000"/>
                </a:schemeClr>
              </a:solidFill>
              <a:latin typeface="Arial" panose="020B0604020202020204" pitchFamily="34" charset="0"/>
              <a:cs typeface="Arial" panose="020B0604020202020204" pitchFamily="34" charset="0"/>
            </a:endParaRPr>
          </a:p>
          <a:p>
            <a:pPr algn="l"/>
            <a:endParaRPr lang="ru-RU" sz="2400" dirty="0">
              <a:solidFill>
                <a:schemeClr val="accent1">
                  <a:lumMod val="75000"/>
                </a:schemeClr>
              </a:solidFill>
              <a:latin typeface="Arial" panose="020B0604020202020204" pitchFamily="34" charset="0"/>
              <a:cs typeface="Arial" panose="020B0604020202020204" pitchFamily="34" charset="0"/>
            </a:endParaRPr>
          </a:p>
          <a:p>
            <a:pPr algn="l"/>
            <a:endParaRPr lang="ru-RU" sz="2400" dirty="0">
              <a:solidFill>
                <a:schemeClr val="accent1">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4672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1A9BBF-551A-DD7C-DEB0-D0A032DA99EC}"/>
              </a:ext>
            </a:extLst>
          </p:cNvPr>
          <p:cNvSpPr>
            <a:spLocks noGrp="1"/>
          </p:cNvSpPr>
          <p:nvPr>
            <p:ph type="title"/>
          </p:nvPr>
        </p:nvSpPr>
        <p:spPr/>
        <p:txBody>
          <a:bodyPr/>
          <a:lstStyle/>
          <a:p>
            <a:r>
              <a:rPr lang="ru-RU" dirty="0">
                <a:solidFill>
                  <a:schemeClr val="accent1">
                    <a:lumMod val="75000"/>
                  </a:schemeClr>
                </a:solidFill>
              </a:rPr>
              <a:t>Аномалии включения</a:t>
            </a:r>
          </a:p>
        </p:txBody>
      </p:sp>
      <p:sp>
        <p:nvSpPr>
          <p:cNvPr id="3" name="Объект 2">
            <a:extLst>
              <a:ext uri="{FF2B5EF4-FFF2-40B4-BE49-F238E27FC236}">
                <a16:creationId xmlns:a16="http://schemas.microsoft.com/office/drawing/2014/main" id="{2503AA76-B5A6-ADDC-E8B9-3F8105426D7D}"/>
              </a:ext>
            </a:extLst>
          </p:cNvPr>
          <p:cNvSpPr>
            <a:spLocks noGrp="1"/>
          </p:cNvSpPr>
          <p:nvPr>
            <p:ph idx="1"/>
          </p:nvPr>
        </p:nvSpPr>
        <p:spPr/>
        <p:txBody>
          <a:bodyPr>
            <a:normAutofit/>
          </a:bodyPr>
          <a:lstStyle/>
          <a:p>
            <a:pPr algn="l"/>
            <a:r>
              <a:rPr lang="ru-RU" sz="2800" b="0" i="0" u="none" strike="noStrike" baseline="0" dirty="0">
                <a:solidFill>
                  <a:schemeClr val="accent1">
                    <a:lumMod val="75000"/>
                  </a:schemeClr>
                </a:solidFill>
                <a:latin typeface="TimesNewRomanPSMT"/>
              </a:rPr>
              <a:t>В приведенном выше отношении аномалии включения возникают при попытке создать новую группу и ввести ее в отношение при том условии, что в нее еще не зачислен ни один студент. Ввод такой информации в подобной ситуации требует присвоения значения NULL всем атрибутам описания студента, в том числе и атрибуту </a:t>
            </a:r>
            <a:r>
              <a:rPr lang="ru-RU" sz="2800" b="1" i="0" u="none" strike="noStrike" baseline="0" dirty="0" err="1">
                <a:solidFill>
                  <a:schemeClr val="accent1">
                    <a:lumMod val="75000"/>
                  </a:schemeClr>
                </a:solidFill>
                <a:latin typeface="TimesNewRomanPS-BoldMT"/>
              </a:rPr>
              <a:t>Ном_зач_кн</a:t>
            </a:r>
            <a:r>
              <a:rPr lang="ru-RU" sz="2800" b="0" i="0" u="none" strike="noStrike" baseline="0" dirty="0">
                <a:solidFill>
                  <a:schemeClr val="accent1">
                    <a:lumMod val="75000"/>
                  </a:schemeClr>
                </a:solidFill>
                <a:latin typeface="TimesNewRomanPSMT"/>
              </a:rPr>
              <a:t>, который является первичным ключом данного отношения. Но реализация такой попытки приведет к нарушению </a:t>
            </a:r>
            <a:r>
              <a:rPr lang="ru-RU" sz="2800" b="0" i="0" u="none" strike="noStrike" baseline="0" dirty="0" err="1">
                <a:solidFill>
                  <a:schemeClr val="accent1">
                    <a:lumMod val="75000"/>
                  </a:schemeClr>
                </a:solidFill>
                <a:latin typeface="TimesNewRomanPSMT"/>
              </a:rPr>
              <a:t>категорней</a:t>
            </a:r>
            <a:r>
              <a:rPr lang="ru-RU" sz="2800" b="0" i="0" u="none" strike="noStrike" baseline="0" dirty="0">
                <a:solidFill>
                  <a:schemeClr val="accent1">
                    <a:lumMod val="75000"/>
                  </a:schemeClr>
                </a:solidFill>
                <a:latin typeface="TimesNewRomanPSMT"/>
              </a:rPr>
              <a:t> целостности, а значит, система ее обязана отклонить.</a:t>
            </a:r>
            <a:endParaRPr lang="ru-RU" dirty="0">
              <a:solidFill>
                <a:schemeClr val="accent1">
                  <a:lumMod val="75000"/>
                </a:schemeClr>
              </a:solidFill>
            </a:endParaRPr>
          </a:p>
        </p:txBody>
      </p:sp>
    </p:spTree>
    <p:extLst>
      <p:ext uri="{BB962C8B-B14F-4D97-AF65-F5344CB8AC3E}">
        <p14:creationId xmlns:p14="http://schemas.microsoft.com/office/powerpoint/2010/main" val="3524206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A3B3690F-ECBB-A241-A2A9-E2B83F50DC15}"/>
              </a:ext>
            </a:extLst>
          </p:cNvPr>
          <p:cNvPicPr>
            <a:picLocks noChangeAspect="1"/>
          </p:cNvPicPr>
          <p:nvPr/>
        </p:nvPicPr>
        <p:blipFill>
          <a:blip r:embed="rId2"/>
          <a:stretch>
            <a:fillRect/>
          </a:stretch>
        </p:blipFill>
        <p:spPr>
          <a:xfrm>
            <a:off x="1324740" y="1128613"/>
            <a:ext cx="6986180" cy="1938437"/>
          </a:xfrm>
          <a:prstGeom prst="rect">
            <a:avLst/>
          </a:prstGeom>
        </p:spPr>
      </p:pic>
      <p:sp>
        <p:nvSpPr>
          <p:cNvPr id="6" name="TextBox 5">
            <a:extLst>
              <a:ext uri="{FF2B5EF4-FFF2-40B4-BE49-F238E27FC236}">
                <a16:creationId xmlns:a16="http://schemas.microsoft.com/office/drawing/2014/main" id="{2E4A045F-C58C-066B-AB5F-A6F30EA912B1}"/>
              </a:ext>
            </a:extLst>
          </p:cNvPr>
          <p:cNvSpPr txBox="1"/>
          <p:nvPr/>
        </p:nvSpPr>
        <p:spPr>
          <a:xfrm>
            <a:off x="3195280" y="676275"/>
            <a:ext cx="3204723" cy="461665"/>
          </a:xfrm>
          <a:prstGeom prst="rect">
            <a:avLst/>
          </a:prstGeom>
          <a:noFill/>
        </p:spPr>
        <p:txBody>
          <a:bodyPr wrap="none" rtlCol="0">
            <a:spAutoFit/>
          </a:bodyPr>
          <a:lstStyle/>
          <a:p>
            <a:r>
              <a:rPr lang="ru-RU" sz="2400" b="1" dirty="0">
                <a:solidFill>
                  <a:schemeClr val="accent1">
                    <a:lumMod val="75000"/>
                  </a:schemeClr>
                </a:solidFill>
                <a:latin typeface="Arial" panose="020B0604020202020204" pitchFamily="34" charset="0"/>
                <a:cs typeface="Arial" panose="020B0604020202020204" pitchFamily="34" charset="0"/>
              </a:rPr>
              <a:t>Отношение студент</a:t>
            </a:r>
          </a:p>
        </p:txBody>
      </p:sp>
      <p:pic>
        <p:nvPicPr>
          <p:cNvPr id="8" name="Рисунок 7">
            <a:extLst>
              <a:ext uri="{FF2B5EF4-FFF2-40B4-BE49-F238E27FC236}">
                <a16:creationId xmlns:a16="http://schemas.microsoft.com/office/drawing/2014/main" id="{9D3CB70A-875C-2287-AB57-A50DA6AFF3B3}"/>
              </a:ext>
            </a:extLst>
          </p:cNvPr>
          <p:cNvPicPr>
            <a:picLocks noChangeAspect="1"/>
          </p:cNvPicPr>
          <p:nvPr/>
        </p:nvPicPr>
        <p:blipFill>
          <a:blip r:embed="rId3"/>
          <a:stretch>
            <a:fillRect/>
          </a:stretch>
        </p:blipFill>
        <p:spPr>
          <a:xfrm>
            <a:off x="1360432" y="3676464"/>
            <a:ext cx="6921907" cy="1733736"/>
          </a:xfrm>
          <a:prstGeom prst="rect">
            <a:avLst/>
          </a:prstGeom>
        </p:spPr>
      </p:pic>
      <p:sp>
        <p:nvSpPr>
          <p:cNvPr id="9" name="TextBox 8">
            <a:extLst>
              <a:ext uri="{FF2B5EF4-FFF2-40B4-BE49-F238E27FC236}">
                <a16:creationId xmlns:a16="http://schemas.microsoft.com/office/drawing/2014/main" id="{3D98C5DB-972A-7C67-6F79-37BFAB6C58C1}"/>
              </a:ext>
            </a:extLst>
          </p:cNvPr>
          <p:cNvSpPr txBox="1"/>
          <p:nvPr/>
        </p:nvSpPr>
        <p:spPr>
          <a:xfrm>
            <a:off x="3195280" y="3244334"/>
            <a:ext cx="3038011" cy="461665"/>
          </a:xfrm>
          <a:prstGeom prst="rect">
            <a:avLst/>
          </a:prstGeom>
          <a:noFill/>
        </p:spPr>
        <p:txBody>
          <a:bodyPr wrap="none" rtlCol="0">
            <a:spAutoFit/>
          </a:bodyPr>
          <a:lstStyle/>
          <a:p>
            <a:r>
              <a:rPr lang="ru-RU" sz="2400" b="1" dirty="0">
                <a:solidFill>
                  <a:schemeClr val="accent1">
                    <a:lumMod val="75000"/>
                  </a:schemeClr>
                </a:solidFill>
                <a:latin typeface="Arial" panose="020B0604020202020204" pitchFamily="34" charset="0"/>
                <a:cs typeface="Arial" panose="020B0604020202020204" pitchFamily="34" charset="0"/>
              </a:rPr>
              <a:t>Отношение группа</a:t>
            </a:r>
          </a:p>
        </p:txBody>
      </p:sp>
    </p:spTree>
    <p:extLst>
      <p:ext uri="{BB962C8B-B14F-4D97-AF65-F5344CB8AC3E}">
        <p14:creationId xmlns:p14="http://schemas.microsoft.com/office/powerpoint/2010/main" val="250407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DDD98-E250-AB9A-7B46-0968AFC009C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D62005-FEE5-DE0B-1043-498722614A12}"/>
              </a:ext>
            </a:extLst>
          </p:cNvPr>
          <p:cNvSpPr>
            <a:spLocks noGrp="1"/>
          </p:cNvSpPr>
          <p:nvPr>
            <p:ph type="title"/>
          </p:nvPr>
        </p:nvSpPr>
        <p:spPr/>
        <p:txBody>
          <a:bodyPr/>
          <a:lstStyle/>
          <a:p>
            <a:r>
              <a:rPr lang="ru-RU" dirty="0"/>
              <a:t>Аномалии удаления</a:t>
            </a:r>
          </a:p>
        </p:txBody>
      </p:sp>
      <p:sp>
        <p:nvSpPr>
          <p:cNvPr id="3" name="Объект 2">
            <a:extLst>
              <a:ext uri="{FF2B5EF4-FFF2-40B4-BE49-F238E27FC236}">
                <a16:creationId xmlns:a16="http://schemas.microsoft.com/office/drawing/2014/main" id="{207E6A52-CBA3-120D-71DE-0E119855BFEA}"/>
              </a:ext>
            </a:extLst>
          </p:cNvPr>
          <p:cNvSpPr>
            <a:spLocks noGrp="1"/>
          </p:cNvSpPr>
          <p:nvPr>
            <p:ph idx="1"/>
          </p:nvPr>
        </p:nvSpPr>
        <p:spPr/>
        <p:txBody>
          <a:bodyPr>
            <a:normAutofit/>
          </a:bodyPr>
          <a:lstStyle/>
          <a:p>
            <a:pPr algn="l"/>
            <a:r>
              <a:rPr lang="ru-RU" sz="2800" b="0" i="0" u="none" strike="noStrike" baseline="0" dirty="0">
                <a:latin typeface="TimesNewRomanPSMT"/>
              </a:rPr>
              <a:t>При удалении из этого отношения кортежа:</a:t>
            </a:r>
          </a:p>
          <a:p>
            <a:pPr algn="l"/>
            <a:r>
              <a:rPr lang="ru-RU" sz="2800" b="0" i="0" u="none" strike="noStrike" baseline="0" dirty="0">
                <a:latin typeface="TimesNewRomanPSMT"/>
              </a:rPr>
              <a:t>20-Т-215 Петров Я.P. 20-T-12 Сизов М.М. Доц. Докин С.С.</a:t>
            </a:r>
          </a:p>
          <a:p>
            <a:pPr algn="l"/>
            <a:r>
              <a:rPr lang="ru-RU" sz="2800" b="0" i="0" u="none" strike="noStrike" baseline="0" dirty="0">
                <a:latin typeface="TimesNewRomanPSMT"/>
              </a:rPr>
              <a:t>из базы данных будут удалены все сведения о группе 20-Т-12. Такая ситуация представляет собой аномалию удаления. Для исключения из базы данных аномалии удаления это отношение должно быть преобразовано. Причем преобразования должны быть проведены точно такие же, какие были проведены для исключения аномалии включения.</a:t>
            </a:r>
            <a:endParaRPr lang="ru-RU" dirty="0"/>
          </a:p>
        </p:txBody>
      </p:sp>
    </p:spTree>
    <p:extLst>
      <p:ext uri="{BB962C8B-B14F-4D97-AF65-F5344CB8AC3E}">
        <p14:creationId xmlns:p14="http://schemas.microsoft.com/office/powerpoint/2010/main" val="3602623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0C2265-A8FA-D20E-073C-1867F2F04128}"/>
              </a:ext>
            </a:extLst>
          </p:cNvPr>
          <p:cNvSpPr>
            <a:spLocks noGrp="1"/>
          </p:cNvSpPr>
          <p:nvPr>
            <p:ph type="title"/>
          </p:nvPr>
        </p:nvSpPr>
        <p:spPr/>
        <p:txBody>
          <a:bodyPr/>
          <a:lstStyle/>
          <a:p>
            <a:r>
              <a:rPr lang="ru-RU" dirty="0"/>
              <a:t>Аномалии модификации</a:t>
            </a:r>
          </a:p>
        </p:txBody>
      </p:sp>
      <p:sp>
        <p:nvSpPr>
          <p:cNvPr id="3" name="Объект 2">
            <a:extLst>
              <a:ext uri="{FF2B5EF4-FFF2-40B4-BE49-F238E27FC236}">
                <a16:creationId xmlns:a16="http://schemas.microsoft.com/office/drawing/2014/main" id="{83ED310F-9C50-6599-787C-22816319683C}"/>
              </a:ext>
            </a:extLst>
          </p:cNvPr>
          <p:cNvSpPr>
            <a:spLocks noGrp="1"/>
          </p:cNvSpPr>
          <p:nvPr>
            <p:ph idx="1"/>
          </p:nvPr>
        </p:nvSpPr>
        <p:spPr/>
        <p:txBody>
          <a:bodyPr>
            <a:normAutofit/>
          </a:bodyPr>
          <a:lstStyle/>
          <a:p>
            <a:pPr lvl="1" algn="l"/>
            <a:r>
              <a:rPr lang="ru-RU" b="0" i="0" u="none" strike="noStrike" baseline="0" dirty="0">
                <a:latin typeface="TimesNewRomanPSMT"/>
              </a:rPr>
              <a:t>Такая аномалия возникает при попытке изменить что-либо касающееся сведений о группе обучения студента. </a:t>
            </a:r>
          </a:p>
          <a:p>
            <a:pPr lvl="1" algn="l"/>
            <a:r>
              <a:rPr lang="ru-RU" b="0" i="0" u="none" strike="noStrike" baseline="0" dirty="0">
                <a:latin typeface="TimesNewRomanPSMT"/>
              </a:rPr>
              <a:t>Допустим, что в группе 20-Т-11 решили назначить нового старосту, например, </a:t>
            </a:r>
            <a:r>
              <a:rPr lang="ru-RU" b="0" i="0" u="none" strike="noStrike" baseline="0" dirty="0" err="1">
                <a:latin typeface="TimesNewRomanPSMT"/>
              </a:rPr>
              <a:t>Сенову</a:t>
            </a:r>
            <a:r>
              <a:rPr lang="ru-RU" b="0" i="0" u="none" strike="noStrike" baseline="0" dirty="0">
                <a:latin typeface="TimesNewRomanPSMT"/>
              </a:rPr>
              <a:t> А.Л. В такой ситуации необходимо просмотреть все кортежи отношения и в каждом кортеже значение </a:t>
            </a:r>
            <a:r>
              <a:rPr lang="ru-RU" b="0" i="0" u="none" strike="noStrike" baseline="0" dirty="0" err="1">
                <a:latin typeface="TimesNewRomanPSMT"/>
              </a:rPr>
              <a:t>атрибута</a:t>
            </a:r>
            <a:r>
              <a:rPr lang="ru-RU" b="1" i="0" u="none" strike="noStrike" baseline="0" dirty="0" err="1">
                <a:latin typeface="TimesNewRomanPS-BoldMT"/>
              </a:rPr>
              <a:t>ФИО_старосты</a:t>
            </a:r>
            <a:r>
              <a:rPr lang="ru-RU" b="1" i="0" u="none" strike="noStrike" baseline="0" dirty="0">
                <a:latin typeface="TimesNewRomanPS-BoldMT"/>
              </a:rPr>
              <a:t> </a:t>
            </a:r>
            <a:r>
              <a:rPr lang="ru-RU" b="0" i="0" u="none" strike="noStrike" baseline="0" dirty="0">
                <a:latin typeface="TimesNewRomanPSMT"/>
              </a:rPr>
              <a:t>заменить Рябов В.С. на </a:t>
            </a:r>
            <a:r>
              <a:rPr lang="ru-RU" b="0" i="0" u="none" strike="noStrike" baseline="0" dirty="0" err="1">
                <a:latin typeface="TimesNewRomanPSMT"/>
              </a:rPr>
              <a:t>Сенова</a:t>
            </a:r>
            <a:r>
              <a:rPr lang="ru-RU" b="0" i="0" u="none" strike="noStrike" baseline="0" dirty="0">
                <a:latin typeface="TimesNewRomanPSMT"/>
              </a:rPr>
              <a:t> А.Л. Появление аномалии модификации можно заблокировать, если опять же прибегнуть к преобразованию отношения. Эти преобразования точно такие же, которые были использованы для исключения аномалий включения и удаления. Действительно, смена старосты группы требует изменения значения атрибута </a:t>
            </a:r>
            <a:r>
              <a:rPr lang="ru-RU" b="1" i="0" u="none" strike="noStrike" baseline="0" dirty="0" err="1">
                <a:latin typeface="TimesNewRomanPS-BoldMT"/>
              </a:rPr>
              <a:t>ФИО_старосты</a:t>
            </a:r>
            <a:r>
              <a:rPr lang="ru-RU" b="1" i="0" u="none" strike="noStrike" baseline="0" dirty="0">
                <a:latin typeface="TimesNewRomanPS-BoldMT"/>
              </a:rPr>
              <a:t> </a:t>
            </a:r>
            <a:r>
              <a:rPr lang="ru-RU" b="0" i="0" u="none" strike="noStrike" baseline="0" dirty="0">
                <a:latin typeface="TimesNewRomanPSMT"/>
              </a:rPr>
              <a:t>только в одном кортеже отношения</a:t>
            </a:r>
            <a:endParaRPr lang="ru-RU" dirty="0"/>
          </a:p>
        </p:txBody>
      </p:sp>
    </p:spTree>
    <p:extLst>
      <p:ext uri="{BB962C8B-B14F-4D97-AF65-F5344CB8AC3E}">
        <p14:creationId xmlns:p14="http://schemas.microsoft.com/office/powerpoint/2010/main" val="743399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B28A2A-9518-B518-44BF-500D73ED79DD}"/>
              </a:ext>
            </a:extLst>
          </p:cNvPr>
          <p:cNvSpPr>
            <a:spLocks noGrp="1"/>
          </p:cNvSpPr>
          <p:nvPr>
            <p:ph type="title"/>
          </p:nvPr>
        </p:nvSpPr>
        <p:spPr/>
        <p:txBody>
          <a:bodyPr/>
          <a:lstStyle/>
          <a:p>
            <a:r>
              <a:rPr lang="ru-RU" dirty="0"/>
              <a:t>Проблема обратимости</a:t>
            </a:r>
          </a:p>
        </p:txBody>
      </p:sp>
      <p:sp>
        <p:nvSpPr>
          <p:cNvPr id="3" name="Объект 2">
            <a:extLst>
              <a:ext uri="{FF2B5EF4-FFF2-40B4-BE49-F238E27FC236}">
                <a16:creationId xmlns:a16="http://schemas.microsoft.com/office/drawing/2014/main" id="{CB0A33B9-2FE1-F8DF-1DFA-495A861CDE32}"/>
              </a:ext>
            </a:extLst>
          </p:cNvPr>
          <p:cNvSpPr>
            <a:spLocks noGrp="1"/>
          </p:cNvSpPr>
          <p:nvPr>
            <p:ph idx="1"/>
          </p:nvPr>
        </p:nvSpPr>
        <p:spPr/>
        <p:txBody>
          <a:bodyPr>
            <a:normAutofit/>
          </a:bodyPr>
          <a:lstStyle/>
          <a:p>
            <a:pPr lvl="1"/>
            <a:r>
              <a:rPr lang="ru-RU" sz="2000" dirty="0"/>
              <a:t>Чтобы исключить различного рода аномалии из отношения, его подвергают процессу декомпозиции. При решении задачи декомпозиции возникают две проблемы.</a:t>
            </a:r>
          </a:p>
          <a:p>
            <a:pPr lvl="1"/>
            <a:endParaRPr lang="ru-RU" sz="2000" dirty="0"/>
          </a:p>
          <a:p>
            <a:pPr lvl="1"/>
            <a:r>
              <a:rPr lang="ru-RU" sz="2000" dirty="0"/>
              <a:t>Первая проблема — это проблема обратимости, заключающаяся в</a:t>
            </a:r>
          </a:p>
          <a:p>
            <a:pPr lvl="1"/>
            <a:r>
              <a:rPr lang="ru-RU" sz="2000" dirty="0"/>
              <a:t>возможности восстановления исходной схемы, а именно — </a:t>
            </a:r>
          </a:p>
          <a:p>
            <a:pPr lvl="1"/>
            <a:r>
              <a:rPr lang="ru-RU" sz="2000" dirty="0"/>
              <a:t>восстановления любого кортежа исходного отношения, используя кортежи полученных в результате декомпозиции отношений. Декомпозиция, удовлетворяющая этому требованию, называется декомпозицией, гарантирующей отсутствие потерь.</a:t>
            </a:r>
          </a:p>
        </p:txBody>
      </p:sp>
    </p:spTree>
    <p:extLst>
      <p:ext uri="{BB962C8B-B14F-4D97-AF65-F5344CB8AC3E}">
        <p14:creationId xmlns:p14="http://schemas.microsoft.com/office/powerpoint/2010/main" val="3152569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1B4819-1177-85A6-3653-0D9FCCB74F58}"/>
              </a:ext>
            </a:extLst>
          </p:cNvPr>
          <p:cNvSpPr>
            <a:spLocks noGrp="1"/>
          </p:cNvSpPr>
          <p:nvPr>
            <p:ph type="title"/>
          </p:nvPr>
        </p:nvSpPr>
        <p:spPr/>
        <p:txBody>
          <a:bodyPr/>
          <a:lstStyle/>
          <a:p>
            <a:r>
              <a:rPr lang="ru-RU" dirty="0"/>
              <a:t> </a:t>
            </a:r>
          </a:p>
        </p:txBody>
      </p:sp>
      <p:sp>
        <p:nvSpPr>
          <p:cNvPr id="3" name="Объект 2">
            <a:extLst>
              <a:ext uri="{FF2B5EF4-FFF2-40B4-BE49-F238E27FC236}">
                <a16:creationId xmlns:a16="http://schemas.microsoft.com/office/drawing/2014/main" id="{59E7A6B9-B222-0B84-04C6-779D5F86A922}"/>
              </a:ext>
            </a:extLst>
          </p:cNvPr>
          <p:cNvSpPr>
            <a:spLocks noGrp="1"/>
          </p:cNvSpPr>
          <p:nvPr>
            <p:ph idx="1"/>
          </p:nvPr>
        </p:nvSpPr>
        <p:spPr/>
        <p:txBody>
          <a:bodyPr>
            <a:normAutofit/>
          </a:bodyPr>
          <a:lstStyle/>
          <a:p>
            <a:pPr lvl="2"/>
            <a:r>
              <a:rPr lang="ru-RU" dirty="0"/>
              <a:t>Вторая проблема связана с сохранением зависимостей. Следует напомнить, что проектирование базы данных включает в себя и определение ограничений, накладываемых на ее отношения. В процессе декомпозиции получаются новые отношения и ограничения, которые приписываются им, должны быть такими, чтобы были сохранены исходные ограничения.</a:t>
            </a:r>
          </a:p>
        </p:txBody>
      </p:sp>
    </p:spTree>
    <p:extLst>
      <p:ext uri="{BB962C8B-B14F-4D97-AF65-F5344CB8AC3E}">
        <p14:creationId xmlns:p14="http://schemas.microsoft.com/office/powerpoint/2010/main" val="4177746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ED9F6F-CDC9-FB74-D28D-5228BBC9657F}"/>
              </a:ext>
            </a:extLst>
          </p:cNvPr>
          <p:cNvSpPr>
            <a:spLocks noGrp="1"/>
          </p:cNvSpPr>
          <p:nvPr>
            <p:ph type="title"/>
          </p:nvPr>
        </p:nvSpPr>
        <p:spPr/>
        <p:txBody>
          <a:bodyPr/>
          <a:lstStyle/>
          <a:p>
            <a:r>
              <a:rPr lang="ru-RU" dirty="0"/>
              <a:t>Первая нормальная форма</a:t>
            </a:r>
          </a:p>
        </p:txBody>
      </p:sp>
      <p:sp>
        <p:nvSpPr>
          <p:cNvPr id="3" name="Объект 2">
            <a:extLst>
              <a:ext uri="{FF2B5EF4-FFF2-40B4-BE49-F238E27FC236}">
                <a16:creationId xmlns:a16="http://schemas.microsoft.com/office/drawing/2014/main" id="{61094B53-398E-A7EF-487A-3B4C725422C0}"/>
              </a:ext>
            </a:extLst>
          </p:cNvPr>
          <p:cNvSpPr>
            <a:spLocks noGrp="1"/>
          </p:cNvSpPr>
          <p:nvPr>
            <p:ph idx="1"/>
          </p:nvPr>
        </p:nvSpPr>
        <p:spPr/>
        <p:txBody>
          <a:bodyPr/>
          <a:lstStyle/>
          <a:p>
            <a:r>
              <a:rPr lang="ru-RU" dirty="0"/>
              <a:t>Отношение находится в первой нормальной форме, если все его</a:t>
            </a:r>
            <a:r>
              <a:rPr lang="en-US" dirty="0"/>
              <a:t> </a:t>
            </a:r>
            <a:r>
              <a:rPr lang="ru-RU" dirty="0"/>
              <a:t>атрибуты имеют простые (атомарные) значения. Другими словами,</a:t>
            </a:r>
            <a:r>
              <a:rPr lang="en-US" dirty="0"/>
              <a:t> </a:t>
            </a:r>
            <a:r>
              <a:rPr lang="ru-RU" dirty="0"/>
              <a:t>значения в домене каждого атрибута отношения не являются ни списками,</a:t>
            </a:r>
            <a:r>
              <a:rPr lang="en-US" dirty="0"/>
              <a:t> </a:t>
            </a:r>
            <a:r>
              <a:rPr lang="ru-RU" dirty="0"/>
              <a:t>ни множествами простых или сложных значений.</a:t>
            </a:r>
          </a:p>
        </p:txBody>
      </p:sp>
    </p:spTree>
    <p:extLst>
      <p:ext uri="{BB962C8B-B14F-4D97-AF65-F5344CB8AC3E}">
        <p14:creationId xmlns:p14="http://schemas.microsoft.com/office/powerpoint/2010/main" val="112264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7485A586-58A8-CBE2-F807-C82335DCD84D}"/>
              </a:ext>
            </a:extLst>
          </p:cNvPr>
          <p:cNvPicPr>
            <a:picLocks noChangeAspect="1"/>
          </p:cNvPicPr>
          <p:nvPr/>
        </p:nvPicPr>
        <p:blipFill>
          <a:blip r:embed="rId2"/>
          <a:stretch>
            <a:fillRect/>
          </a:stretch>
        </p:blipFill>
        <p:spPr>
          <a:xfrm>
            <a:off x="1538049" y="873638"/>
            <a:ext cx="4796601" cy="1975070"/>
          </a:xfrm>
          <a:prstGeom prst="rect">
            <a:avLst/>
          </a:prstGeom>
        </p:spPr>
      </p:pic>
      <p:pic>
        <p:nvPicPr>
          <p:cNvPr id="7" name="Рисунок 6">
            <a:extLst>
              <a:ext uri="{FF2B5EF4-FFF2-40B4-BE49-F238E27FC236}">
                <a16:creationId xmlns:a16="http://schemas.microsoft.com/office/drawing/2014/main" id="{1A8A8C51-28AC-3060-DCEA-47F38C554701}"/>
              </a:ext>
            </a:extLst>
          </p:cNvPr>
          <p:cNvPicPr>
            <a:picLocks noChangeAspect="1"/>
          </p:cNvPicPr>
          <p:nvPr/>
        </p:nvPicPr>
        <p:blipFill>
          <a:blip r:embed="rId3"/>
          <a:stretch>
            <a:fillRect/>
          </a:stretch>
        </p:blipFill>
        <p:spPr>
          <a:xfrm>
            <a:off x="1538049" y="3761543"/>
            <a:ext cx="8781053" cy="1975070"/>
          </a:xfrm>
          <a:prstGeom prst="rect">
            <a:avLst/>
          </a:prstGeom>
        </p:spPr>
      </p:pic>
    </p:spTree>
    <p:extLst>
      <p:ext uri="{BB962C8B-B14F-4D97-AF65-F5344CB8AC3E}">
        <p14:creationId xmlns:p14="http://schemas.microsoft.com/office/powerpoint/2010/main" val="2647065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CCA44D-9FA8-BEE1-BD8C-304DF4540F9F}"/>
              </a:ext>
            </a:extLst>
          </p:cNvPr>
          <p:cNvSpPr>
            <a:spLocks noGrp="1"/>
          </p:cNvSpPr>
          <p:nvPr>
            <p:ph type="title"/>
          </p:nvPr>
        </p:nvSpPr>
        <p:spPr/>
        <p:txBody>
          <a:bodyPr/>
          <a:lstStyle/>
          <a:p>
            <a:r>
              <a:rPr lang="ru-RU" dirty="0"/>
              <a:t>Вторая нормальная форма</a:t>
            </a:r>
          </a:p>
        </p:txBody>
      </p:sp>
      <p:sp>
        <p:nvSpPr>
          <p:cNvPr id="3" name="Объект 2">
            <a:extLst>
              <a:ext uri="{FF2B5EF4-FFF2-40B4-BE49-F238E27FC236}">
                <a16:creationId xmlns:a16="http://schemas.microsoft.com/office/drawing/2014/main" id="{6C510BF5-A247-36DE-64FB-FAF568CD66A8}"/>
              </a:ext>
            </a:extLst>
          </p:cNvPr>
          <p:cNvSpPr>
            <a:spLocks noGrp="1"/>
          </p:cNvSpPr>
          <p:nvPr>
            <p:ph idx="1"/>
          </p:nvPr>
        </p:nvSpPr>
        <p:spPr/>
        <p:txBody>
          <a:bodyPr/>
          <a:lstStyle/>
          <a:p>
            <a:pPr lvl="1"/>
            <a:r>
              <a:rPr lang="ru-RU" dirty="0"/>
              <a:t>Вторая и третья нормальные формы возникли в результате</a:t>
            </a:r>
            <a:r>
              <a:rPr lang="en-US" dirty="0"/>
              <a:t> </a:t>
            </a:r>
            <a:r>
              <a:rPr lang="ru-RU" dirty="0"/>
              <a:t>стремления избежать аномалий обновления данных при работе с БД и</a:t>
            </a:r>
            <a:r>
              <a:rPr lang="en-US" dirty="0"/>
              <a:t> </a:t>
            </a:r>
            <a:r>
              <a:rPr lang="ru-RU" dirty="0"/>
              <a:t>избавиться от информационной избыточности в отношениях</a:t>
            </a:r>
          </a:p>
          <a:p>
            <a:pPr lvl="1"/>
            <a:endParaRPr lang="ru-RU" dirty="0"/>
          </a:p>
          <a:p>
            <a:pPr lvl="1"/>
            <a:r>
              <a:rPr lang="ru-RU" dirty="0"/>
              <a:t>Переменная отношения находится во второй нормальной форме тогда и только тогда, когда она находится в </a:t>
            </a:r>
            <a:r>
              <a:rPr lang="ru-RU" dirty="0">
                <a:hlinkClick r:id="rId2" tooltip="Первая нормальная форма"/>
              </a:rPr>
              <a:t>первой нормальной форме</a:t>
            </a:r>
            <a:r>
              <a:rPr lang="ru-RU" dirty="0"/>
              <a:t> и каждый неключевой атрибут </a:t>
            </a:r>
            <a:r>
              <a:rPr lang="ru-RU" i="1" dirty="0"/>
              <a:t>неприводимо</a:t>
            </a:r>
            <a:r>
              <a:rPr lang="ru-RU" dirty="0"/>
              <a:t> </a:t>
            </a:r>
            <a:r>
              <a:rPr lang="ru-RU" dirty="0">
                <a:hlinkClick r:id="rId3" tooltip="Функциональная зависимость (программирование)"/>
              </a:rPr>
              <a:t>зависит</a:t>
            </a:r>
            <a:r>
              <a:rPr lang="ru-RU" dirty="0"/>
              <a:t> от (каждого) её </a:t>
            </a:r>
            <a:r>
              <a:rPr lang="ru-RU" dirty="0">
                <a:hlinkClick r:id="rId4" tooltip="Потенциальный ключ"/>
              </a:rPr>
              <a:t>потенциального ключа</a:t>
            </a:r>
            <a:r>
              <a:rPr lang="ru-RU" baseline="30000" dirty="0">
                <a:hlinkClick r:id="rId5"/>
              </a:rPr>
              <a:t>[1]</a:t>
            </a:r>
            <a:r>
              <a:rPr lang="ru-RU" dirty="0"/>
              <a:t>.</a:t>
            </a:r>
          </a:p>
        </p:txBody>
      </p:sp>
    </p:spTree>
    <p:extLst>
      <p:ext uri="{BB962C8B-B14F-4D97-AF65-F5344CB8AC3E}">
        <p14:creationId xmlns:p14="http://schemas.microsoft.com/office/powerpoint/2010/main" val="3191777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DCE17525-0A21-C1FF-175A-64C1FC7CA790}"/>
              </a:ext>
            </a:extLst>
          </p:cNvPr>
          <p:cNvPicPr>
            <a:picLocks noChangeAspect="1"/>
          </p:cNvPicPr>
          <p:nvPr/>
        </p:nvPicPr>
        <p:blipFill>
          <a:blip r:embed="rId2"/>
          <a:stretch>
            <a:fillRect/>
          </a:stretch>
        </p:blipFill>
        <p:spPr>
          <a:xfrm>
            <a:off x="1053860" y="598976"/>
            <a:ext cx="6954220" cy="1771897"/>
          </a:xfrm>
          <a:prstGeom prst="rect">
            <a:avLst/>
          </a:prstGeom>
        </p:spPr>
      </p:pic>
      <p:pic>
        <p:nvPicPr>
          <p:cNvPr id="6" name="Рисунок 5">
            <a:extLst>
              <a:ext uri="{FF2B5EF4-FFF2-40B4-BE49-F238E27FC236}">
                <a16:creationId xmlns:a16="http://schemas.microsoft.com/office/drawing/2014/main" id="{17280388-DF42-35F9-B235-DD751213FAC2}"/>
              </a:ext>
            </a:extLst>
          </p:cNvPr>
          <p:cNvPicPr>
            <a:picLocks noChangeAspect="1"/>
          </p:cNvPicPr>
          <p:nvPr/>
        </p:nvPicPr>
        <p:blipFill>
          <a:blip r:embed="rId3"/>
          <a:stretch>
            <a:fillRect/>
          </a:stretch>
        </p:blipFill>
        <p:spPr>
          <a:xfrm>
            <a:off x="1053860" y="3011246"/>
            <a:ext cx="4629796" cy="1714739"/>
          </a:xfrm>
          <a:prstGeom prst="rect">
            <a:avLst/>
          </a:prstGeom>
        </p:spPr>
      </p:pic>
      <p:pic>
        <p:nvPicPr>
          <p:cNvPr id="8" name="Рисунок 7">
            <a:extLst>
              <a:ext uri="{FF2B5EF4-FFF2-40B4-BE49-F238E27FC236}">
                <a16:creationId xmlns:a16="http://schemas.microsoft.com/office/drawing/2014/main" id="{F02D2F37-EE59-0F14-9148-FC196D9CE089}"/>
              </a:ext>
            </a:extLst>
          </p:cNvPr>
          <p:cNvPicPr>
            <a:picLocks noChangeAspect="1"/>
          </p:cNvPicPr>
          <p:nvPr/>
        </p:nvPicPr>
        <p:blipFill>
          <a:blip r:embed="rId4"/>
          <a:stretch>
            <a:fillRect/>
          </a:stretch>
        </p:blipFill>
        <p:spPr>
          <a:xfrm>
            <a:off x="1053860" y="5205683"/>
            <a:ext cx="3801005" cy="1352739"/>
          </a:xfrm>
          <a:prstGeom prst="rect">
            <a:avLst/>
          </a:prstGeom>
        </p:spPr>
      </p:pic>
    </p:spTree>
    <p:extLst>
      <p:ext uri="{BB962C8B-B14F-4D97-AF65-F5344CB8AC3E}">
        <p14:creationId xmlns:p14="http://schemas.microsoft.com/office/powerpoint/2010/main" val="2467621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1AED1A-617E-55DF-1404-9A114EED37FF}"/>
              </a:ext>
            </a:extLst>
          </p:cNvPr>
          <p:cNvSpPr>
            <a:spLocks noGrp="1"/>
          </p:cNvSpPr>
          <p:nvPr>
            <p:ph type="title"/>
          </p:nvPr>
        </p:nvSpPr>
        <p:spPr/>
        <p:txBody>
          <a:bodyPr/>
          <a:lstStyle/>
          <a:p>
            <a:r>
              <a:rPr lang="ru-RU" b="0" dirty="0"/>
              <a:t>Третья нормальная форма</a:t>
            </a:r>
            <a:endParaRPr lang="ru-RU" dirty="0"/>
          </a:p>
        </p:txBody>
      </p:sp>
      <p:sp>
        <p:nvSpPr>
          <p:cNvPr id="3" name="Объект 2">
            <a:extLst>
              <a:ext uri="{FF2B5EF4-FFF2-40B4-BE49-F238E27FC236}">
                <a16:creationId xmlns:a16="http://schemas.microsoft.com/office/drawing/2014/main" id="{C94A0045-5E7B-EE5E-EED8-A93550CEDB20}"/>
              </a:ext>
            </a:extLst>
          </p:cNvPr>
          <p:cNvSpPr>
            <a:spLocks noGrp="1"/>
          </p:cNvSpPr>
          <p:nvPr>
            <p:ph idx="1"/>
          </p:nvPr>
        </p:nvSpPr>
        <p:spPr/>
        <p:txBody>
          <a:bodyPr/>
          <a:lstStyle/>
          <a:p>
            <a:pPr lvl="1"/>
            <a:r>
              <a:rPr lang="ru-RU" dirty="0"/>
              <a:t>Переменная отношения  находится в 3NF тогда и только тогда, когда выполняются следующие условия:</a:t>
            </a:r>
          </a:p>
          <a:p>
            <a:pPr marL="800100" lvl="1" indent="-342900">
              <a:buFont typeface="Arial" panose="020B0604020202020204" pitchFamily="34" charset="0"/>
              <a:buChar char="•"/>
            </a:pPr>
            <a:r>
              <a:rPr lang="ru-RU" dirty="0"/>
              <a:t>отношение находится во </a:t>
            </a:r>
            <a:r>
              <a:rPr lang="ru-RU" dirty="0">
                <a:hlinkClick r:id="rId2" tooltip="Вторая нормальная форма"/>
              </a:rPr>
              <a:t>второй нормальной форме</a:t>
            </a:r>
            <a:r>
              <a:rPr lang="ru-RU" dirty="0"/>
              <a:t>.</a:t>
            </a:r>
          </a:p>
          <a:p>
            <a:pPr marL="800100" lvl="1" indent="-342900">
              <a:buFont typeface="Arial" panose="020B0604020202020204" pitchFamily="34" charset="0"/>
              <a:buChar char="•"/>
            </a:pPr>
            <a:r>
              <a:rPr lang="ru-RU" dirty="0"/>
              <a:t>ни один неключевой атрибут </a:t>
            </a:r>
            <a:r>
              <a:rPr lang="ru-RU" i="1" dirty="0"/>
              <a:t>R</a:t>
            </a:r>
            <a:r>
              <a:rPr lang="ru-RU" dirty="0"/>
              <a:t> не находится в транзитивной </a:t>
            </a:r>
            <a:r>
              <a:rPr lang="ru-RU" dirty="0">
                <a:hlinkClick r:id="rId3" tooltip="Функциональная зависимость (программирование)"/>
              </a:rPr>
              <a:t>функциональной зависимости</a:t>
            </a:r>
            <a:r>
              <a:rPr lang="ru-RU" dirty="0"/>
              <a:t> от </a:t>
            </a:r>
            <a:r>
              <a:rPr lang="ru-RU" dirty="0">
                <a:hlinkClick r:id="rId4" tooltip="Потенциальный ключ"/>
              </a:rPr>
              <a:t>потенциального ключа</a:t>
            </a:r>
            <a:r>
              <a:rPr lang="ru-RU" dirty="0"/>
              <a:t> .</a:t>
            </a:r>
          </a:p>
          <a:p>
            <a:endParaRPr lang="ru-RU" dirty="0"/>
          </a:p>
        </p:txBody>
      </p:sp>
    </p:spTree>
    <p:extLst>
      <p:ext uri="{BB962C8B-B14F-4D97-AF65-F5344CB8AC3E}">
        <p14:creationId xmlns:p14="http://schemas.microsoft.com/office/powerpoint/2010/main" val="2833225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653F437A-08D2-060E-C275-14D8BCEE707F}"/>
              </a:ext>
            </a:extLst>
          </p:cNvPr>
          <p:cNvPicPr>
            <a:picLocks noChangeAspect="1"/>
          </p:cNvPicPr>
          <p:nvPr/>
        </p:nvPicPr>
        <p:blipFill>
          <a:blip r:embed="rId2"/>
          <a:stretch>
            <a:fillRect/>
          </a:stretch>
        </p:blipFill>
        <p:spPr>
          <a:xfrm>
            <a:off x="1248247" y="560752"/>
            <a:ext cx="3734321" cy="1762371"/>
          </a:xfrm>
          <a:prstGeom prst="rect">
            <a:avLst/>
          </a:prstGeom>
        </p:spPr>
      </p:pic>
      <p:pic>
        <p:nvPicPr>
          <p:cNvPr id="7" name="Рисунок 6">
            <a:extLst>
              <a:ext uri="{FF2B5EF4-FFF2-40B4-BE49-F238E27FC236}">
                <a16:creationId xmlns:a16="http://schemas.microsoft.com/office/drawing/2014/main" id="{B2AFE110-AA7E-B22B-24F6-98CE4EE49790}"/>
              </a:ext>
            </a:extLst>
          </p:cNvPr>
          <p:cNvPicPr>
            <a:picLocks noChangeAspect="1"/>
          </p:cNvPicPr>
          <p:nvPr/>
        </p:nvPicPr>
        <p:blipFill>
          <a:blip r:embed="rId3"/>
          <a:stretch>
            <a:fillRect/>
          </a:stretch>
        </p:blipFill>
        <p:spPr>
          <a:xfrm>
            <a:off x="1248247" y="2724875"/>
            <a:ext cx="5134692" cy="1810003"/>
          </a:xfrm>
          <a:prstGeom prst="rect">
            <a:avLst/>
          </a:prstGeom>
        </p:spPr>
      </p:pic>
    </p:spTree>
    <p:extLst>
      <p:ext uri="{BB962C8B-B14F-4D97-AF65-F5344CB8AC3E}">
        <p14:creationId xmlns:p14="http://schemas.microsoft.com/office/powerpoint/2010/main" val="3427398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A5F2CF-B57D-FDAB-D224-804EE55DA2FE}"/>
              </a:ext>
            </a:extLst>
          </p:cNvPr>
          <p:cNvSpPr>
            <a:spLocks noGrp="1"/>
          </p:cNvSpPr>
          <p:nvPr>
            <p:ph type="title"/>
          </p:nvPr>
        </p:nvSpPr>
        <p:spPr/>
        <p:txBody>
          <a:bodyPr/>
          <a:lstStyle/>
          <a:p>
            <a:r>
              <a:rPr lang="ru-RU" b="0" dirty="0"/>
              <a:t>Нормальная форма Бойса — Кодда</a:t>
            </a:r>
            <a:endParaRPr lang="ru-RU" dirty="0"/>
          </a:p>
        </p:txBody>
      </p:sp>
      <p:sp>
        <p:nvSpPr>
          <p:cNvPr id="3" name="Объект 2">
            <a:extLst>
              <a:ext uri="{FF2B5EF4-FFF2-40B4-BE49-F238E27FC236}">
                <a16:creationId xmlns:a16="http://schemas.microsoft.com/office/drawing/2014/main" id="{E1E149A2-BA25-3576-A538-2DF29CF6FADD}"/>
              </a:ext>
            </a:extLst>
          </p:cNvPr>
          <p:cNvSpPr>
            <a:spLocks noGrp="1"/>
          </p:cNvSpPr>
          <p:nvPr>
            <p:ph idx="1"/>
          </p:nvPr>
        </p:nvSpPr>
        <p:spPr/>
        <p:txBody>
          <a:bodyPr/>
          <a:lstStyle/>
          <a:p>
            <a:pPr lvl="1"/>
            <a:r>
              <a:rPr lang="ru-RU" dirty="0"/>
              <a:t>Иногда нормальную форму Бойса — Кодда называют </a:t>
            </a:r>
            <a:r>
              <a:rPr lang="ru-RU" i="1" dirty="0"/>
              <a:t>усиленной </a:t>
            </a:r>
            <a:r>
              <a:rPr lang="ru-RU" i="1" dirty="0">
                <a:hlinkClick r:id="rId2" tooltip="Третья нормальная форма"/>
              </a:rPr>
              <a:t>третьей нормальной формой</a:t>
            </a:r>
            <a:r>
              <a:rPr lang="ru-RU" dirty="0"/>
              <a:t>, поскольку она во всех отношениях сильнее (строже) по сравнению с ранее определённой 3НФ.</a:t>
            </a:r>
          </a:p>
          <a:p>
            <a:pPr lvl="1"/>
            <a:endParaRPr lang="ru-RU" dirty="0"/>
          </a:p>
          <a:p>
            <a:pPr lvl="1"/>
            <a:r>
              <a:rPr lang="ru-RU" dirty="0"/>
              <a:t>Переменная отношения находится в BCNF </a:t>
            </a:r>
            <a:r>
              <a:rPr lang="ru-RU" dirty="0">
                <a:hlinkClick r:id="rId3" tooltip="Тогда и только тогда"/>
              </a:rPr>
              <a:t>тогда и только тогда</a:t>
            </a:r>
            <a:r>
              <a:rPr lang="ru-RU" dirty="0"/>
              <a:t>, когда каждая её нетривиальная и неприводимая слева функциональная зависимость имеет в качестве своего детерминанта некоторый </a:t>
            </a:r>
            <a:r>
              <a:rPr lang="ru-RU" dirty="0">
                <a:hlinkClick r:id="rId4" tooltip="Потенциальный ключ"/>
              </a:rPr>
              <a:t>потенциальный ключ</a:t>
            </a:r>
            <a:r>
              <a:rPr lang="ru-RU" dirty="0"/>
              <a:t>.</a:t>
            </a:r>
          </a:p>
        </p:txBody>
      </p:sp>
    </p:spTree>
    <p:extLst>
      <p:ext uri="{BB962C8B-B14F-4D97-AF65-F5344CB8AC3E}">
        <p14:creationId xmlns:p14="http://schemas.microsoft.com/office/powerpoint/2010/main" val="1973096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F8547704-F83D-C14B-A6A6-547778773B47}"/>
              </a:ext>
            </a:extLst>
          </p:cNvPr>
          <p:cNvPicPr>
            <a:picLocks noChangeAspect="1"/>
          </p:cNvPicPr>
          <p:nvPr/>
        </p:nvPicPr>
        <p:blipFill>
          <a:blip r:embed="rId2"/>
          <a:stretch>
            <a:fillRect/>
          </a:stretch>
        </p:blipFill>
        <p:spPr>
          <a:xfrm>
            <a:off x="2099705" y="960467"/>
            <a:ext cx="7992590" cy="3296110"/>
          </a:xfrm>
          <a:prstGeom prst="rect">
            <a:avLst/>
          </a:prstGeom>
        </p:spPr>
      </p:pic>
    </p:spTree>
    <p:extLst>
      <p:ext uri="{BB962C8B-B14F-4D97-AF65-F5344CB8AC3E}">
        <p14:creationId xmlns:p14="http://schemas.microsoft.com/office/powerpoint/2010/main" val="575018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F2338BED-D7B5-7ED3-E154-8A5E9248CB44}"/>
              </a:ext>
            </a:extLst>
          </p:cNvPr>
          <p:cNvPicPr>
            <a:picLocks noChangeAspect="1"/>
          </p:cNvPicPr>
          <p:nvPr/>
        </p:nvPicPr>
        <p:blipFill>
          <a:blip r:embed="rId2"/>
          <a:stretch>
            <a:fillRect/>
          </a:stretch>
        </p:blipFill>
        <p:spPr>
          <a:xfrm>
            <a:off x="2665444" y="542745"/>
            <a:ext cx="6544588" cy="2572109"/>
          </a:xfrm>
          <a:prstGeom prst="rect">
            <a:avLst/>
          </a:prstGeom>
        </p:spPr>
      </p:pic>
    </p:spTree>
    <p:extLst>
      <p:ext uri="{BB962C8B-B14F-4D97-AF65-F5344CB8AC3E}">
        <p14:creationId xmlns:p14="http://schemas.microsoft.com/office/powerpoint/2010/main" val="2732294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502AE1C7-5D81-284C-9C63-52A95AB98977}"/>
              </a:ext>
            </a:extLst>
          </p:cNvPr>
          <p:cNvPicPr>
            <a:picLocks noChangeAspect="1"/>
          </p:cNvPicPr>
          <p:nvPr/>
        </p:nvPicPr>
        <p:blipFill>
          <a:blip r:embed="rId2"/>
          <a:stretch>
            <a:fillRect/>
          </a:stretch>
        </p:blipFill>
        <p:spPr>
          <a:xfrm>
            <a:off x="2707579" y="884863"/>
            <a:ext cx="6477904" cy="3277057"/>
          </a:xfrm>
          <a:prstGeom prst="rect">
            <a:avLst/>
          </a:prstGeom>
        </p:spPr>
      </p:pic>
    </p:spTree>
    <p:extLst>
      <p:ext uri="{BB962C8B-B14F-4D97-AF65-F5344CB8AC3E}">
        <p14:creationId xmlns:p14="http://schemas.microsoft.com/office/powerpoint/2010/main" val="2819977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0A181510-1C03-6D3C-54B0-EB77B85B24FD}"/>
              </a:ext>
            </a:extLst>
          </p:cNvPr>
          <p:cNvSpPr>
            <a:spLocks noGrp="1"/>
          </p:cNvSpPr>
          <p:nvPr>
            <p:ph type="title"/>
          </p:nvPr>
        </p:nvSpPr>
        <p:spPr/>
        <p:txBody>
          <a:bodyPr/>
          <a:lstStyle/>
          <a:p>
            <a:r>
              <a:rPr lang="ru-RU" b="0" dirty="0"/>
              <a:t>Четвёртая нормальная форма</a:t>
            </a:r>
            <a:endParaRPr lang="ru-RU" dirty="0"/>
          </a:p>
        </p:txBody>
      </p:sp>
      <p:sp>
        <p:nvSpPr>
          <p:cNvPr id="5" name="Объект 4">
            <a:extLst>
              <a:ext uri="{FF2B5EF4-FFF2-40B4-BE49-F238E27FC236}">
                <a16:creationId xmlns:a16="http://schemas.microsoft.com/office/drawing/2014/main" id="{CF4007B4-7019-9A10-88CD-D9DC5020AA1C}"/>
              </a:ext>
            </a:extLst>
          </p:cNvPr>
          <p:cNvSpPr>
            <a:spLocks noGrp="1"/>
          </p:cNvSpPr>
          <p:nvPr>
            <p:ph idx="1"/>
          </p:nvPr>
        </p:nvSpPr>
        <p:spPr/>
        <p:txBody>
          <a:bodyPr/>
          <a:lstStyle/>
          <a:p>
            <a:pPr lvl="1"/>
            <a:r>
              <a:rPr lang="ru-RU" dirty="0"/>
              <a:t>Переменная отношения </a:t>
            </a:r>
            <a:r>
              <a:rPr lang="ru-RU" i="1" dirty="0"/>
              <a:t>R</a:t>
            </a:r>
            <a:r>
              <a:rPr lang="ru-RU" dirty="0"/>
              <a:t> находится в четвёртой нормальной форме, если она находится в </a:t>
            </a:r>
            <a:r>
              <a:rPr lang="ru-RU" dirty="0">
                <a:hlinkClick r:id="rId2" tooltip="BCNF"/>
              </a:rPr>
              <a:t>НФБК</a:t>
            </a:r>
            <a:r>
              <a:rPr lang="ru-RU" dirty="0"/>
              <a:t> и все </a:t>
            </a:r>
            <a:r>
              <a:rPr lang="ru-RU" dirty="0">
                <a:hlinkClick r:id="rId3" tooltip="Многозначная зависимость"/>
              </a:rPr>
              <a:t>нетривиальные многозначные зависимости</a:t>
            </a:r>
            <a:r>
              <a:rPr lang="ru-RU" dirty="0"/>
              <a:t> фактически являются </a:t>
            </a:r>
            <a:r>
              <a:rPr lang="ru-RU" dirty="0">
                <a:hlinkClick r:id="rId4" tooltip="Функциональная зависимость (программирование)"/>
              </a:rPr>
              <a:t>функциональными зависимостями</a:t>
            </a:r>
            <a:r>
              <a:rPr lang="ru-RU" dirty="0"/>
              <a:t> от её </a:t>
            </a:r>
            <a:r>
              <a:rPr lang="ru-RU" dirty="0">
                <a:hlinkClick r:id="rId5" tooltip="Потенциальный ключ"/>
              </a:rPr>
              <a:t>потенциальных ключей</a:t>
            </a:r>
            <a:r>
              <a:rPr lang="ru-RU" dirty="0"/>
              <a:t>.</a:t>
            </a:r>
          </a:p>
        </p:txBody>
      </p:sp>
    </p:spTree>
    <p:extLst>
      <p:ext uri="{BB962C8B-B14F-4D97-AF65-F5344CB8AC3E}">
        <p14:creationId xmlns:p14="http://schemas.microsoft.com/office/powerpoint/2010/main" val="3034798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A53E1034-07F6-35DD-7CD7-7D1D225DD401}"/>
              </a:ext>
            </a:extLst>
          </p:cNvPr>
          <p:cNvPicPr>
            <a:picLocks noChangeAspect="1"/>
          </p:cNvPicPr>
          <p:nvPr/>
        </p:nvPicPr>
        <p:blipFill>
          <a:blip r:embed="rId2"/>
          <a:stretch>
            <a:fillRect/>
          </a:stretch>
        </p:blipFill>
        <p:spPr>
          <a:xfrm>
            <a:off x="2375657" y="1120820"/>
            <a:ext cx="6649378" cy="2857899"/>
          </a:xfrm>
          <a:prstGeom prst="rect">
            <a:avLst/>
          </a:prstGeom>
        </p:spPr>
      </p:pic>
    </p:spTree>
    <p:extLst>
      <p:ext uri="{BB962C8B-B14F-4D97-AF65-F5344CB8AC3E}">
        <p14:creationId xmlns:p14="http://schemas.microsoft.com/office/powerpoint/2010/main" val="3395272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B25CE7F5-2525-A3F5-9891-3214345469C3}"/>
              </a:ext>
            </a:extLst>
          </p:cNvPr>
          <p:cNvPicPr>
            <a:picLocks noChangeAspect="1"/>
          </p:cNvPicPr>
          <p:nvPr/>
        </p:nvPicPr>
        <p:blipFill>
          <a:blip r:embed="rId2"/>
          <a:stretch>
            <a:fillRect/>
          </a:stretch>
        </p:blipFill>
        <p:spPr>
          <a:xfrm>
            <a:off x="2507541" y="1020154"/>
            <a:ext cx="6649378" cy="1705213"/>
          </a:xfrm>
          <a:prstGeom prst="rect">
            <a:avLst/>
          </a:prstGeom>
        </p:spPr>
      </p:pic>
      <p:pic>
        <p:nvPicPr>
          <p:cNvPr id="5" name="Рисунок 4">
            <a:extLst>
              <a:ext uri="{FF2B5EF4-FFF2-40B4-BE49-F238E27FC236}">
                <a16:creationId xmlns:a16="http://schemas.microsoft.com/office/drawing/2014/main" id="{01B3D785-614C-5960-D346-4FE45BA5DCD7}"/>
              </a:ext>
            </a:extLst>
          </p:cNvPr>
          <p:cNvPicPr>
            <a:picLocks noChangeAspect="1"/>
          </p:cNvPicPr>
          <p:nvPr/>
        </p:nvPicPr>
        <p:blipFill>
          <a:blip r:embed="rId3"/>
          <a:stretch>
            <a:fillRect/>
          </a:stretch>
        </p:blipFill>
        <p:spPr>
          <a:xfrm>
            <a:off x="2507541" y="3045601"/>
            <a:ext cx="6563641" cy="2876951"/>
          </a:xfrm>
          <a:prstGeom prst="rect">
            <a:avLst/>
          </a:prstGeom>
        </p:spPr>
      </p:pic>
    </p:spTree>
    <p:extLst>
      <p:ext uri="{BB962C8B-B14F-4D97-AF65-F5344CB8AC3E}">
        <p14:creationId xmlns:p14="http://schemas.microsoft.com/office/powerpoint/2010/main" val="305697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6BEBBC-DE40-EAD8-4B99-0FD9AE2F8B19}"/>
              </a:ext>
            </a:extLst>
          </p:cNvPr>
          <p:cNvSpPr>
            <a:spLocks noGrp="1"/>
          </p:cNvSpPr>
          <p:nvPr>
            <p:ph type="title"/>
          </p:nvPr>
        </p:nvSpPr>
        <p:spPr/>
        <p:txBody>
          <a:bodyPr/>
          <a:lstStyle/>
          <a:p>
            <a:r>
              <a:rPr lang="ru-RU" b="0" dirty="0"/>
              <a:t>Пятая нормальная форма</a:t>
            </a:r>
            <a:endParaRPr lang="ru-RU" dirty="0"/>
          </a:p>
        </p:txBody>
      </p:sp>
      <p:sp>
        <p:nvSpPr>
          <p:cNvPr id="3" name="Объект 2">
            <a:extLst>
              <a:ext uri="{FF2B5EF4-FFF2-40B4-BE49-F238E27FC236}">
                <a16:creationId xmlns:a16="http://schemas.microsoft.com/office/drawing/2014/main" id="{FACB719E-3FE1-679E-D5F4-A9126E1527D4}"/>
              </a:ext>
            </a:extLst>
          </p:cNvPr>
          <p:cNvSpPr>
            <a:spLocks noGrp="1"/>
          </p:cNvSpPr>
          <p:nvPr>
            <p:ph idx="1"/>
          </p:nvPr>
        </p:nvSpPr>
        <p:spPr/>
        <p:txBody>
          <a:bodyPr/>
          <a:lstStyle/>
          <a:p>
            <a:pPr lvl="1"/>
            <a:r>
              <a:rPr lang="ru-RU" dirty="0"/>
              <a:t>Отношение находится в пятой нормальной форме (иначе — в проекционно-соединительной нормальной форме) тогда и только тогда, когда каждая нетривиальная зависимость соединения в нём определяется потенциальным ключом (ключами) этого отношения.</a:t>
            </a:r>
          </a:p>
        </p:txBody>
      </p:sp>
    </p:spTree>
    <p:extLst>
      <p:ext uri="{BB962C8B-B14F-4D97-AF65-F5344CB8AC3E}">
        <p14:creationId xmlns:p14="http://schemas.microsoft.com/office/powerpoint/2010/main" val="379077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A48263EA-9D45-1B8C-D7BE-159C6F8EFEF0}"/>
              </a:ext>
            </a:extLst>
          </p:cNvPr>
          <p:cNvPicPr>
            <a:picLocks noChangeAspect="1"/>
          </p:cNvPicPr>
          <p:nvPr/>
        </p:nvPicPr>
        <p:blipFill>
          <a:blip r:embed="rId2"/>
          <a:stretch>
            <a:fillRect/>
          </a:stretch>
        </p:blipFill>
        <p:spPr>
          <a:xfrm>
            <a:off x="4215611" y="380144"/>
            <a:ext cx="3229426" cy="1771897"/>
          </a:xfrm>
          <a:prstGeom prst="rect">
            <a:avLst/>
          </a:prstGeom>
        </p:spPr>
      </p:pic>
      <p:pic>
        <p:nvPicPr>
          <p:cNvPr id="7" name="Рисунок 6">
            <a:extLst>
              <a:ext uri="{FF2B5EF4-FFF2-40B4-BE49-F238E27FC236}">
                <a16:creationId xmlns:a16="http://schemas.microsoft.com/office/drawing/2014/main" id="{08C1155D-2101-FAC8-7F03-D6729FFADBE0}"/>
              </a:ext>
            </a:extLst>
          </p:cNvPr>
          <p:cNvPicPr>
            <a:picLocks noChangeAspect="1"/>
          </p:cNvPicPr>
          <p:nvPr/>
        </p:nvPicPr>
        <p:blipFill>
          <a:blip r:embed="rId3"/>
          <a:stretch>
            <a:fillRect/>
          </a:stretch>
        </p:blipFill>
        <p:spPr>
          <a:xfrm>
            <a:off x="3863918" y="2848326"/>
            <a:ext cx="4305901" cy="1857634"/>
          </a:xfrm>
          <a:prstGeom prst="rect">
            <a:avLst/>
          </a:prstGeom>
        </p:spPr>
      </p:pic>
    </p:spTree>
    <p:extLst>
      <p:ext uri="{BB962C8B-B14F-4D97-AF65-F5344CB8AC3E}">
        <p14:creationId xmlns:p14="http://schemas.microsoft.com/office/powerpoint/2010/main" val="911295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B8216C8B-13E1-9979-53DB-60C6712B43D0}"/>
              </a:ext>
            </a:extLst>
          </p:cNvPr>
          <p:cNvPicPr>
            <a:picLocks noChangeAspect="1"/>
          </p:cNvPicPr>
          <p:nvPr/>
        </p:nvPicPr>
        <p:blipFill>
          <a:blip r:embed="rId2"/>
          <a:stretch>
            <a:fillRect/>
          </a:stretch>
        </p:blipFill>
        <p:spPr>
          <a:xfrm>
            <a:off x="4043092" y="473700"/>
            <a:ext cx="3877216" cy="5048955"/>
          </a:xfrm>
          <a:prstGeom prst="rect">
            <a:avLst/>
          </a:prstGeom>
        </p:spPr>
      </p:pic>
    </p:spTree>
    <p:extLst>
      <p:ext uri="{BB962C8B-B14F-4D97-AF65-F5344CB8AC3E}">
        <p14:creationId xmlns:p14="http://schemas.microsoft.com/office/powerpoint/2010/main" val="3344947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AAAF88C2-7298-BCDC-EC84-BDC5CBA56479}"/>
              </a:ext>
            </a:extLst>
          </p:cNvPr>
          <p:cNvPicPr>
            <a:picLocks noChangeAspect="1"/>
          </p:cNvPicPr>
          <p:nvPr/>
        </p:nvPicPr>
        <p:blipFill>
          <a:blip r:embed="rId2"/>
          <a:stretch>
            <a:fillRect/>
          </a:stretch>
        </p:blipFill>
        <p:spPr>
          <a:xfrm>
            <a:off x="2027539" y="646610"/>
            <a:ext cx="7925906" cy="5125165"/>
          </a:xfrm>
          <a:prstGeom prst="rect">
            <a:avLst/>
          </a:prstGeom>
        </p:spPr>
      </p:pic>
    </p:spTree>
    <p:extLst>
      <p:ext uri="{BB962C8B-B14F-4D97-AF65-F5344CB8AC3E}">
        <p14:creationId xmlns:p14="http://schemas.microsoft.com/office/powerpoint/2010/main" val="187751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609C5D-3F8D-1A3F-0F28-1581D2BF1BC7}"/>
              </a:ext>
            </a:extLst>
          </p:cNvPr>
          <p:cNvSpPr>
            <a:spLocks noGrp="1"/>
          </p:cNvSpPr>
          <p:nvPr>
            <p:ph type="title"/>
          </p:nvPr>
        </p:nvSpPr>
        <p:spPr/>
        <p:txBody>
          <a:bodyPr/>
          <a:lstStyle/>
          <a:p>
            <a:r>
              <a:rPr lang="ru-RU" b="0" dirty="0"/>
              <a:t>Шестая нормальная форма</a:t>
            </a:r>
            <a:endParaRPr lang="ru-RU" dirty="0"/>
          </a:p>
        </p:txBody>
      </p:sp>
      <p:sp>
        <p:nvSpPr>
          <p:cNvPr id="3" name="Объект 2">
            <a:extLst>
              <a:ext uri="{FF2B5EF4-FFF2-40B4-BE49-F238E27FC236}">
                <a16:creationId xmlns:a16="http://schemas.microsoft.com/office/drawing/2014/main" id="{A5DD70D9-8A17-18C4-BA46-C18D327E7C6D}"/>
              </a:ext>
            </a:extLst>
          </p:cNvPr>
          <p:cNvSpPr>
            <a:spLocks noGrp="1"/>
          </p:cNvSpPr>
          <p:nvPr>
            <p:ph idx="1"/>
          </p:nvPr>
        </p:nvSpPr>
        <p:spPr/>
        <p:txBody>
          <a:bodyPr/>
          <a:lstStyle/>
          <a:p>
            <a:pPr lvl="1"/>
            <a:r>
              <a:rPr lang="ru-RU" dirty="0"/>
              <a:t>Переменная отношения находится в шестой нормальной форме </a:t>
            </a:r>
            <a:r>
              <a:rPr lang="ru-RU" dirty="0">
                <a:hlinkClick r:id="rId2" tooltip="Тогда и только тогда"/>
              </a:rPr>
              <a:t>тогда и только тогда</a:t>
            </a:r>
            <a:r>
              <a:rPr lang="ru-RU" dirty="0"/>
              <a:t>, когда она удовлетворяет всем нетривиальным зависимостям соединения. </a:t>
            </a:r>
          </a:p>
          <a:p>
            <a:pPr lvl="1"/>
            <a:endParaRPr lang="ru-RU" dirty="0"/>
          </a:p>
          <a:p>
            <a:pPr lvl="1"/>
            <a:r>
              <a:rPr lang="ru-RU" dirty="0"/>
              <a:t>Из определения следует, что переменная находится в 6НФ тогда и только тогда, когда она неприводима, то есть не может быть подвергнута дальнейшей </a:t>
            </a:r>
            <a:r>
              <a:rPr lang="ru-RU" dirty="0">
                <a:hlinkClick r:id="rId3" tooltip="Пятая нормальная форма"/>
              </a:rPr>
              <a:t>декомпозиции без потерь</a:t>
            </a:r>
            <a:r>
              <a:rPr lang="ru-RU" dirty="0"/>
              <a:t>. Каждая переменная отношения, которая находится в 6НФ, также находится и в 5НФ.</a:t>
            </a:r>
          </a:p>
        </p:txBody>
      </p:sp>
    </p:spTree>
    <p:extLst>
      <p:ext uri="{BB962C8B-B14F-4D97-AF65-F5344CB8AC3E}">
        <p14:creationId xmlns:p14="http://schemas.microsoft.com/office/powerpoint/2010/main" val="2054943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44975180-A11C-ECD2-8661-C341B232617A}"/>
              </a:ext>
            </a:extLst>
          </p:cNvPr>
          <p:cNvPicPr>
            <a:picLocks noChangeAspect="1"/>
          </p:cNvPicPr>
          <p:nvPr/>
        </p:nvPicPr>
        <p:blipFill>
          <a:blip r:embed="rId2"/>
          <a:stretch>
            <a:fillRect/>
          </a:stretch>
        </p:blipFill>
        <p:spPr>
          <a:xfrm>
            <a:off x="2641629" y="357405"/>
            <a:ext cx="6592220" cy="2133898"/>
          </a:xfrm>
          <a:prstGeom prst="rect">
            <a:avLst/>
          </a:prstGeom>
        </p:spPr>
      </p:pic>
      <p:pic>
        <p:nvPicPr>
          <p:cNvPr id="7" name="Рисунок 6">
            <a:extLst>
              <a:ext uri="{FF2B5EF4-FFF2-40B4-BE49-F238E27FC236}">
                <a16:creationId xmlns:a16="http://schemas.microsoft.com/office/drawing/2014/main" id="{23673884-BF1F-BDCA-5F49-BF6D70E6BE4C}"/>
              </a:ext>
            </a:extLst>
          </p:cNvPr>
          <p:cNvPicPr>
            <a:picLocks noChangeAspect="1"/>
          </p:cNvPicPr>
          <p:nvPr/>
        </p:nvPicPr>
        <p:blipFill>
          <a:blip r:embed="rId3"/>
          <a:stretch>
            <a:fillRect/>
          </a:stretch>
        </p:blipFill>
        <p:spPr>
          <a:xfrm>
            <a:off x="1032756" y="3029908"/>
            <a:ext cx="10126488" cy="2029108"/>
          </a:xfrm>
          <a:prstGeom prst="rect">
            <a:avLst/>
          </a:prstGeom>
        </p:spPr>
      </p:pic>
    </p:spTree>
    <p:extLst>
      <p:ext uri="{BB962C8B-B14F-4D97-AF65-F5344CB8AC3E}">
        <p14:creationId xmlns:p14="http://schemas.microsoft.com/office/powerpoint/2010/main" val="1633350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a:extLst>
              <a:ext uri="{FF2B5EF4-FFF2-40B4-BE49-F238E27FC236}">
                <a16:creationId xmlns:a16="http://schemas.microsoft.com/office/drawing/2014/main" id="{0512BA83-A44B-2A3F-4ABC-9EBFAC420789}"/>
              </a:ext>
            </a:extLst>
          </p:cNvPr>
          <p:cNvGraphicFramePr>
            <a:graphicFrameLocks noGrp="1"/>
          </p:cNvGraphicFramePr>
          <p:nvPr>
            <p:extLst>
              <p:ext uri="{D42A27DB-BD31-4B8C-83A1-F6EECF244321}">
                <p14:modId xmlns:p14="http://schemas.microsoft.com/office/powerpoint/2010/main" val="2387324420"/>
              </p:ext>
            </p:extLst>
          </p:nvPr>
        </p:nvGraphicFramePr>
        <p:xfrm>
          <a:off x="1400174" y="1095339"/>
          <a:ext cx="9134476" cy="4249049"/>
        </p:xfrm>
        <a:graphic>
          <a:graphicData uri="http://schemas.openxmlformats.org/drawingml/2006/table">
            <a:tbl>
              <a:tblPr/>
              <a:tblGrid>
                <a:gridCol w="1395545">
                  <a:extLst>
                    <a:ext uri="{9D8B030D-6E8A-4147-A177-3AD203B41FA5}">
                      <a16:colId xmlns:a16="http://schemas.microsoft.com/office/drawing/2014/main" val="2722751223"/>
                    </a:ext>
                  </a:extLst>
                </a:gridCol>
                <a:gridCol w="1254581">
                  <a:extLst>
                    <a:ext uri="{9D8B030D-6E8A-4147-A177-3AD203B41FA5}">
                      <a16:colId xmlns:a16="http://schemas.microsoft.com/office/drawing/2014/main" val="2903079198"/>
                    </a:ext>
                  </a:extLst>
                </a:gridCol>
                <a:gridCol w="704822">
                  <a:extLst>
                    <a:ext uri="{9D8B030D-6E8A-4147-A177-3AD203B41FA5}">
                      <a16:colId xmlns:a16="http://schemas.microsoft.com/office/drawing/2014/main" val="735882204"/>
                    </a:ext>
                  </a:extLst>
                </a:gridCol>
                <a:gridCol w="592049">
                  <a:extLst>
                    <a:ext uri="{9D8B030D-6E8A-4147-A177-3AD203B41FA5}">
                      <a16:colId xmlns:a16="http://schemas.microsoft.com/office/drawing/2014/main" val="4233392221"/>
                    </a:ext>
                  </a:extLst>
                </a:gridCol>
                <a:gridCol w="1071327">
                  <a:extLst>
                    <a:ext uri="{9D8B030D-6E8A-4147-A177-3AD203B41FA5}">
                      <a16:colId xmlns:a16="http://schemas.microsoft.com/office/drawing/2014/main" val="241917815"/>
                    </a:ext>
                  </a:extLst>
                </a:gridCol>
                <a:gridCol w="972653">
                  <a:extLst>
                    <a:ext uri="{9D8B030D-6E8A-4147-A177-3AD203B41FA5}">
                      <a16:colId xmlns:a16="http://schemas.microsoft.com/office/drawing/2014/main" val="2115227786"/>
                    </a:ext>
                  </a:extLst>
                </a:gridCol>
                <a:gridCol w="1395545">
                  <a:extLst>
                    <a:ext uri="{9D8B030D-6E8A-4147-A177-3AD203B41FA5}">
                      <a16:colId xmlns:a16="http://schemas.microsoft.com/office/drawing/2014/main" val="4225634844"/>
                    </a:ext>
                  </a:extLst>
                </a:gridCol>
                <a:gridCol w="873977">
                  <a:extLst>
                    <a:ext uri="{9D8B030D-6E8A-4147-A177-3AD203B41FA5}">
                      <a16:colId xmlns:a16="http://schemas.microsoft.com/office/drawing/2014/main" val="3066671729"/>
                    </a:ext>
                  </a:extLst>
                </a:gridCol>
                <a:gridCol w="873977">
                  <a:extLst>
                    <a:ext uri="{9D8B030D-6E8A-4147-A177-3AD203B41FA5}">
                      <a16:colId xmlns:a16="http://schemas.microsoft.com/office/drawing/2014/main" val="335861326"/>
                    </a:ext>
                  </a:extLst>
                </a:gridCol>
              </a:tblGrid>
              <a:tr h="803657">
                <a:tc>
                  <a:txBody>
                    <a:bodyPr/>
                    <a:lstStyle/>
                    <a:p>
                      <a:pPr>
                        <a:buNone/>
                      </a:pPr>
                      <a:r>
                        <a:rPr lang="ru-RU" sz="1400">
                          <a:effectLst/>
                        </a:rPr>
                        <a:t>Ф.И.О</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Должность</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Оклад</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Стаж</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Надбавка</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Кафедра</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Дисциплина</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Группа</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Вид занятий</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7693515"/>
                  </a:ext>
                </a:extLst>
              </a:tr>
              <a:tr h="572363">
                <a:tc rowSpan="2">
                  <a:txBody>
                    <a:bodyPr/>
                    <a:lstStyle/>
                    <a:p>
                      <a:pPr>
                        <a:buNone/>
                      </a:pPr>
                      <a:r>
                        <a:rPr lang="ru-RU" sz="1400">
                          <a:effectLst/>
                        </a:rPr>
                        <a:t>Волков И. С.</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ассистент</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dirty="0">
                          <a:effectLst/>
                        </a:rPr>
                        <a:t>1500</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4</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100</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ГиМУ</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dirty="0">
                          <a:effectLst/>
                        </a:rPr>
                        <a:t>СУБД</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81</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Практ.</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737273"/>
                  </a:ext>
                </a:extLst>
              </a:tr>
              <a:tr h="338516">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a:buNone/>
                      </a:pPr>
                      <a:r>
                        <a:rPr lang="ru-RU" sz="1400">
                          <a:effectLst/>
                        </a:rPr>
                        <a:t>ИС</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79</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Практ.</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2633306"/>
                  </a:ext>
                </a:extLst>
              </a:tr>
              <a:tr h="572363">
                <a:tc rowSpan="2">
                  <a:txBody>
                    <a:bodyPr/>
                    <a:lstStyle/>
                    <a:p>
                      <a:pPr>
                        <a:buNone/>
                      </a:pPr>
                      <a:r>
                        <a:rPr lang="ru-RU" sz="1400">
                          <a:effectLst/>
                        </a:rPr>
                        <a:t>Белкин А. М.</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доцент</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2000</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8</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300</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ГиМУ</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СУБД</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81</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Лекция</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8579888"/>
                  </a:ext>
                </a:extLst>
              </a:tr>
              <a:tr h="418237">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a:buNone/>
                      </a:pPr>
                      <a:r>
                        <a:rPr lang="ru-RU" sz="1400">
                          <a:effectLst/>
                        </a:rPr>
                        <a:t>ИТУ</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81</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Практ.</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0926689"/>
                  </a:ext>
                </a:extLst>
              </a:tr>
              <a:tr h="572363">
                <a:tc rowSpan="2">
                  <a:txBody>
                    <a:bodyPr/>
                    <a:lstStyle/>
                    <a:p>
                      <a:pPr>
                        <a:buNone/>
                      </a:pPr>
                      <a:r>
                        <a:rPr lang="ru-RU" sz="1400">
                          <a:effectLst/>
                        </a:rPr>
                        <a:t>Зайцев С. С.</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ассистент</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1500</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10</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400</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rowSpan="2">
                  <a:txBody>
                    <a:bodyPr/>
                    <a:lstStyle/>
                    <a:p>
                      <a:pPr>
                        <a:buNone/>
                      </a:pPr>
                      <a:r>
                        <a:rPr lang="ru-RU" sz="1400">
                          <a:effectLst/>
                        </a:rPr>
                        <a:t>ГиМУ</a:t>
                      </a:r>
                    </a:p>
                  </a:txBody>
                  <a:tcPr marL="50631" marR="50631" marT="50631" marB="50631"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ИС</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79</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Лекция</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2517994"/>
                  </a:ext>
                </a:extLst>
              </a:tr>
              <a:tr h="399187">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a:buNone/>
                      </a:pPr>
                      <a:r>
                        <a:rPr lang="ru-RU" sz="1400">
                          <a:effectLst/>
                        </a:rPr>
                        <a:t>ИТУ</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81</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Лекция</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663567"/>
                  </a:ext>
                </a:extLst>
              </a:tr>
              <a:tr h="572363">
                <a:tc>
                  <a:txBody>
                    <a:bodyPr/>
                    <a:lstStyle/>
                    <a:p>
                      <a:pPr>
                        <a:buNone/>
                      </a:pPr>
                      <a:r>
                        <a:rPr lang="ru-RU" sz="1400">
                          <a:effectLst/>
                        </a:rPr>
                        <a:t>Медведев Е. В.</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ассистент</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1500</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4</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100</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Э</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Экономика</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a:effectLst/>
                        </a:rPr>
                        <a:t>70</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1400" dirty="0">
                          <a:effectLst/>
                        </a:rPr>
                        <a:t>Лекция</a:t>
                      </a:r>
                    </a:p>
                  </a:txBody>
                  <a:tcPr marL="50631" marR="50631" marT="50631" marB="5063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1500255"/>
                  </a:ext>
                </a:extLst>
              </a:tr>
            </a:tbl>
          </a:graphicData>
        </a:graphic>
      </p:graphicFrame>
      <p:sp>
        <p:nvSpPr>
          <p:cNvPr id="5" name="Rectangle 1">
            <a:extLst>
              <a:ext uri="{FF2B5EF4-FFF2-40B4-BE49-F238E27FC236}">
                <a16:creationId xmlns:a16="http://schemas.microsoft.com/office/drawing/2014/main" id="{20BC02D6-DCDB-18FB-2B5C-F0C2AB4A70D7}"/>
              </a:ext>
            </a:extLst>
          </p:cNvPr>
          <p:cNvSpPr>
            <a:spLocks noChangeArrowheads="1"/>
          </p:cNvSpPr>
          <p:nvPr/>
        </p:nvSpPr>
        <p:spPr bwMode="auto">
          <a:xfrm>
            <a:off x="3379788" y="17827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39043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B9BDB-176E-702F-1A58-BF4A1FCE00D9}"/>
              </a:ext>
            </a:extLst>
          </p:cNvPr>
          <p:cNvSpPr txBox="1"/>
          <p:nvPr/>
        </p:nvSpPr>
        <p:spPr>
          <a:xfrm>
            <a:off x="542924" y="707424"/>
            <a:ext cx="10715625" cy="4401205"/>
          </a:xfrm>
          <a:prstGeom prst="rect">
            <a:avLst/>
          </a:prstGeom>
          <a:noFill/>
        </p:spPr>
        <p:txBody>
          <a:bodyPr wrap="square">
            <a:spAutoFit/>
          </a:bodyPr>
          <a:lstStyle/>
          <a:p>
            <a:pPr algn="ctr"/>
            <a:r>
              <a:rPr lang="ru-RU" sz="2000" b="1" dirty="0">
                <a:solidFill>
                  <a:schemeClr val="accent1"/>
                </a:solidFill>
              </a:rPr>
              <a:t>Управление реляционной базой данных</a:t>
            </a:r>
          </a:p>
          <a:p>
            <a:r>
              <a:rPr lang="ru-RU" sz="2000" dirty="0">
                <a:solidFill>
                  <a:schemeClr val="accent1"/>
                </a:solidFill>
              </a:rPr>
              <a:t>Для управления реляционной базой данных Э. Ф. Кодд ввел</a:t>
            </a:r>
            <a:r>
              <a:rPr lang="en-US" sz="2000" dirty="0">
                <a:solidFill>
                  <a:schemeClr val="accent1"/>
                </a:solidFill>
              </a:rPr>
              <a:t> </a:t>
            </a:r>
            <a:r>
              <a:rPr lang="ru-RU" sz="2000" dirty="0">
                <a:solidFill>
                  <a:schemeClr val="accent1"/>
                </a:solidFill>
              </a:rPr>
              <a:t>реляционные языки обработки данных — реляционную алгебру и</a:t>
            </a:r>
            <a:r>
              <a:rPr lang="en-US" sz="2000" dirty="0">
                <a:solidFill>
                  <a:schemeClr val="accent1"/>
                </a:solidFill>
              </a:rPr>
              <a:t> </a:t>
            </a:r>
            <a:r>
              <a:rPr lang="ru-RU" sz="2000" dirty="0">
                <a:solidFill>
                  <a:schemeClr val="accent1"/>
                </a:solidFill>
              </a:rPr>
              <a:t>реляционное исчисление.</a:t>
            </a:r>
          </a:p>
          <a:p>
            <a:r>
              <a:rPr lang="ru-RU" sz="2000" dirty="0">
                <a:solidFill>
                  <a:schemeClr val="accent1"/>
                </a:solidFill>
              </a:rPr>
              <a:t>Реляционная алгебра — это процедурный язык обработки</a:t>
            </a:r>
            <a:r>
              <a:rPr lang="en-US" sz="2000" dirty="0">
                <a:solidFill>
                  <a:schemeClr val="accent1"/>
                </a:solidFill>
              </a:rPr>
              <a:t> </a:t>
            </a:r>
            <a:r>
              <a:rPr lang="ru-RU" sz="2000" dirty="0">
                <a:solidFill>
                  <a:schemeClr val="accent1"/>
                </a:solidFill>
              </a:rPr>
              <a:t>реляционных таблиц. Это означает, что в реляционной алгебре</a:t>
            </a:r>
            <a:r>
              <a:rPr lang="en-US" sz="2000" dirty="0">
                <a:solidFill>
                  <a:schemeClr val="accent1"/>
                </a:solidFill>
              </a:rPr>
              <a:t> </a:t>
            </a:r>
            <a:r>
              <a:rPr lang="ru-RU" sz="2000" dirty="0">
                <a:solidFill>
                  <a:schemeClr val="accent1"/>
                </a:solidFill>
              </a:rPr>
              <a:t>используется пошаговый подход к созданию реляционных таблиц,</a:t>
            </a:r>
            <a:r>
              <a:rPr lang="en-US" sz="2000" dirty="0">
                <a:solidFill>
                  <a:schemeClr val="accent1"/>
                </a:solidFill>
              </a:rPr>
              <a:t> </a:t>
            </a:r>
            <a:r>
              <a:rPr lang="ru-RU" sz="2000" dirty="0">
                <a:solidFill>
                  <a:schemeClr val="accent1"/>
                </a:solidFill>
              </a:rPr>
              <a:t>содержащих ответы на запросы.</a:t>
            </a:r>
          </a:p>
          <a:p>
            <a:r>
              <a:rPr lang="ru-RU" sz="2000" dirty="0">
                <a:solidFill>
                  <a:schemeClr val="accent1"/>
                </a:solidFill>
              </a:rPr>
              <a:t>Реляционное исчисление — непроцедурный язык. В реляционном</a:t>
            </a:r>
            <a:r>
              <a:rPr lang="en-US" sz="2000" dirty="0">
                <a:solidFill>
                  <a:schemeClr val="accent1"/>
                </a:solidFill>
              </a:rPr>
              <a:t> </a:t>
            </a:r>
            <a:r>
              <a:rPr lang="ru-RU" sz="2000" dirty="0">
                <a:solidFill>
                  <a:schemeClr val="accent1"/>
                </a:solidFill>
              </a:rPr>
              <a:t>исчислении запрос создается путем определения таблицы запроса за один</a:t>
            </a:r>
          </a:p>
          <a:p>
            <a:r>
              <a:rPr lang="ru-RU" sz="2000" dirty="0">
                <a:solidFill>
                  <a:schemeClr val="accent1"/>
                </a:solidFill>
              </a:rPr>
              <a:t>шаг.</a:t>
            </a:r>
          </a:p>
          <a:p>
            <a:r>
              <a:rPr lang="ru-RU" sz="2000" dirty="0">
                <a:solidFill>
                  <a:schemeClr val="accent1"/>
                </a:solidFill>
              </a:rPr>
              <a:t>Кодд показал логическую эквивалентность реляционной алгебры и</a:t>
            </a:r>
            <a:r>
              <a:rPr lang="en-US" sz="2000" dirty="0">
                <a:solidFill>
                  <a:schemeClr val="accent1"/>
                </a:solidFill>
              </a:rPr>
              <a:t> </a:t>
            </a:r>
            <a:r>
              <a:rPr lang="ru-RU" sz="2000" dirty="0">
                <a:solidFill>
                  <a:schemeClr val="accent1"/>
                </a:solidFill>
              </a:rPr>
              <a:t>реляционного исчисления. Это означает, что любой запрос, который</a:t>
            </a:r>
            <a:r>
              <a:rPr lang="en-US" sz="2000" dirty="0">
                <a:solidFill>
                  <a:schemeClr val="accent1"/>
                </a:solidFill>
              </a:rPr>
              <a:t> </a:t>
            </a:r>
            <a:r>
              <a:rPr lang="ru-RU" sz="2000" dirty="0">
                <a:solidFill>
                  <a:schemeClr val="accent1"/>
                </a:solidFill>
              </a:rPr>
              <a:t>можно сформулировать при помощи реляционного исчисления, также</a:t>
            </a:r>
            <a:r>
              <a:rPr lang="en-US" sz="2000" dirty="0">
                <a:solidFill>
                  <a:schemeClr val="accent1"/>
                </a:solidFill>
              </a:rPr>
              <a:t> </a:t>
            </a:r>
            <a:r>
              <a:rPr lang="ru-RU" sz="2000" dirty="0">
                <a:solidFill>
                  <a:schemeClr val="accent1"/>
                </a:solidFill>
              </a:rPr>
              <a:t>можно</a:t>
            </a:r>
            <a:r>
              <a:rPr lang="en-US" sz="2000" dirty="0">
                <a:solidFill>
                  <a:schemeClr val="accent1"/>
                </a:solidFill>
              </a:rPr>
              <a:t> </a:t>
            </a:r>
            <a:r>
              <a:rPr lang="ru-RU" sz="2000" dirty="0">
                <a:solidFill>
                  <a:schemeClr val="accent1"/>
                </a:solidFill>
              </a:rPr>
              <a:t>сформулировать, пользуясь реляционной алгеброй, и наоборот.</a:t>
            </a:r>
            <a:r>
              <a:rPr lang="en-US" sz="2000" dirty="0">
                <a:solidFill>
                  <a:schemeClr val="accent1"/>
                </a:solidFill>
              </a:rPr>
              <a:t> </a:t>
            </a:r>
            <a:r>
              <a:rPr lang="ru-RU" sz="2000" dirty="0">
                <a:solidFill>
                  <a:schemeClr val="accent1"/>
                </a:solidFill>
              </a:rPr>
              <a:t>И реляционная алгебра, и реляционное исчисление в том виде, как</a:t>
            </a:r>
            <a:r>
              <a:rPr lang="en-US" sz="2000" dirty="0">
                <a:solidFill>
                  <a:schemeClr val="accent1"/>
                </a:solidFill>
              </a:rPr>
              <a:t> </a:t>
            </a:r>
            <a:r>
              <a:rPr lang="ru-RU" sz="2000" dirty="0">
                <a:solidFill>
                  <a:schemeClr val="accent1"/>
                </a:solidFill>
              </a:rPr>
              <a:t>они были сформулированы Коддом, являются теоретическими языками.</a:t>
            </a:r>
          </a:p>
        </p:txBody>
      </p:sp>
    </p:spTree>
    <p:extLst>
      <p:ext uri="{BB962C8B-B14F-4D97-AF65-F5344CB8AC3E}">
        <p14:creationId xmlns:p14="http://schemas.microsoft.com/office/powerpoint/2010/main" val="335971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37E761-C604-9D8C-E9BA-68E71EF3EE1C}"/>
              </a:ext>
            </a:extLst>
          </p:cNvPr>
          <p:cNvSpPr>
            <a:spLocks noGrp="1"/>
          </p:cNvSpPr>
          <p:nvPr>
            <p:ph type="title"/>
          </p:nvPr>
        </p:nvSpPr>
        <p:spPr/>
        <p:txBody>
          <a:bodyPr/>
          <a:lstStyle/>
          <a:p>
            <a:r>
              <a:rPr lang="ru-RU" dirty="0"/>
              <a:t>Реляционная алгебра</a:t>
            </a:r>
          </a:p>
        </p:txBody>
      </p:sp>
      <p:sp>
        <p:nvSpPr>
          <p:cNvPr id="3" name="Объект 2">
            <a:extLst>
              <a:ext uri="{FF2B5EF4-FFF2-40B4-BE49-F238E27FC236}">
                <a16:creationId xmlns:a16="http://schemas.microsoft.com/office/drawing/2014/main" id="{849B4AEF-E313-6DBD-81EF-677AEA6D8547}"/>
              </a:ext>
            </a:extLst>
          </p:cNvPr>
          <p:cNvSpPr>
            <a:spLocks noGrp="1"/>
          </p:cNvSpPr>
          <p:nvPr>
            <p:ph idx="1"/>
          </p:nvPr>
        </p:nvSpPr>
        <p:spPr/>
        <p:txBody>
          <a:bodyPr>
            <a:normAutofit fontScale="92500" lnSpcReduction="10000"/>
          </a:bodyPr>
          <a:lstStyle/>
          <a:p>
            <a:pPr>
              <a:lnSpc>
                <a:spcPct val="120000"/>
              </a:lnSpc>
            </a:pPr>
            <a:r>
              <a:rPr lang="ru-RU" dirty="0"/>
              <a:t>Операторы реляционной алгебры используют одно или два из</a:t>
            </a:r>
            <a:r>
              <a:rPr lang="en-US" dirty="0"/>
              <a:t> </a:t>
            </a:r>
            <a:r>
              <a:rPr lang="ru-RU" dirty="0"/>
              <a:t>существующих отношений для создания нового отношения. Реляционная</a:t>
            </a:r>
            <a:r>
              <a:rPr lang="en-US" dirty="0"/>
              <a:t> </a:t>
            </a:r>
            <a:r>
              <a:rPr lang="ru-RU" dirty="0"/>
              <a:t>алгебра (или алгебра отношений) представляет собой совокупность</a:t>
            </a:r>
            <a:r>
              <a:rPr lang="en-US" dirty="0"/>
              <a:t> </a:t>
            </a:r>
            <a:r>
              <a:rPr lang="ru-RU" dirty="0"/>
              <a:t>операций высокого уровня над отношениями. Реляционная алгебра</a:t>
            </a:r>
            <a:r>
              <a:rPr lang="en-US" dirty="0"/>
              <a:t> </a:t>
            </a:r>
            <a:r>
              <a:rPr lang="ru-RU" dirty="0"/>
              <a:t>определяет следующие операции:</a:t>
            </a:r>
          </a:p>
          <a:p>
            <a:r>
              <a:rPr lang="ru-RU" dirty="0"/>
              <a:t>• объединение;</a:t>
            </a:r>
          </a:p>
          <a:p>
            <a:r>
              <a:rPr lang="ru-RU" dirty="0"/>
              <a:t>• разность;</a:t>
            </a:r>
          </a:p>
          <a:p>
            <a:r>
              <a:rPr lang="ru-RU" dirty="0"/>
              <a:t>• произведение;</a:t>
            </a:r>
          </a:p>
          <a:p>
            <a:r>
              <a:rPr lang="ru-RU" dirty="0"/>
              <a:t>• пересечение;</a:t>
            </a:r>
          </a:p>
          <a:p>
            <a:r>
              <a:rPr lang="ru-RU" dirty="0"/>
              <a:t>• проекция;</a:t>
            </a:r>
          </a:p>
          <a:p>
            <a:r>
              <a:rPr lang="ru-RU" dirty="0"/>
              <a:t>• выбор;</a:t>
            </a:r>
          </a:p>
          <a:p>
            <a:r>
              <a:rPr lang="ru-RU" dirty="0"/>
              <a:t>• соединение;</a:t>
            </a:r>
          </a:p>
          <a:p>
            <a:r>
              <a:rPr lang="ru-RU" dirty="0"/>
              <a:t>• деление.</a:t>
            </a:r>
          </a:p>
        </p:txBody>
      </p:sp>
    </p:spTree>
    <p:extLst>
      <p:ext uri="{BB962C8B-B14F-4D97-AF65-F5344CB8AC3E}">
        <p14:creationId xmlns:p14="http://schemas.microsoft.com/office/powerpoint/2010/main" val="834186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8C36B6-F142-F58E-837F-577B05961F32}"/>
              </a:ext>
            </a:extLst>
          </p:cNvPr>
          <p:cNvSpPr>
            <a:spLocks noGrp="1"/>
          </p:cNvSpPr>
          <p:nvPr>
            <p:ph type="title"/>
          </p:nvPr>
        </p:nvSpPr>
        <p:spPr/>
        <p:txBody>
          <a:bodyPr/>
          <a:lstStyle/>
          <a:p>
            <a:r>
              <a:rPr lang="ru-RU" dirty="0"/>
              <a:t>Объединение (</a:t>
            </a:r>
            <a:r>
              <a:rPr lang="de-CH" dirty="0"/>
              <a:t>Union)</a:t>
            </a:r>
            <a:endParaRPr lang="ru-RU" dirty="0"/>
          </a:p>
        </p:txBody>
      </p:sp>
      <p:sp>
        <p:nvSpPr>
          <p:cNvPr id="3" name="Объект 2">
            <a:extLst>
              <a:ext uri="{FF2B5EF4-FFF2-40B4-BE49-F238E27FC236}">
                <a16:creationId xmlns:a16="http://schemas.microsoft.com/office/drawing/2014/main" id="{514F86DE-B0CE-5000-1B8E-9861EAC66754}"/>
              </a:ext>
            </a:extLst>
          </p:cNvPr>
          <p:cNvSpPr>
            <a:spLocks noGrp="1"/>
          </p:cNvSpPr>
          <p:nvPr>
            <p:ph idx="1"/>
          </p:nvPr>
        </p:nvSpPr>
        <p:spPr/>
        <p:txBody>
          <a:bodyPr/>
          <a:lstStyle/>
          <a:p>
            <a:pPr algn="l"/>
            <a:r>
              <a:rPr lang="ru-RU" sz="2800" b="0" i="0" u="none" strike="noStrike" baseline="0" dirty="0">
                <a:latin typeface="TimesNewRomanPSMT"/>
              </a:rPr>
              <a:t>Пусть имеются отношения г и s, тогда отношение t = r </a:t>
            </a:r>
            <a:r>
              <a:rPr lang="ru-RU" sz="2800" b="0" i="0" u="none" strike="noStrike" baseline="0" dirty="0">
                <a:latin typeface="SymbolMT"/>
              </a:rPr>
              <a:t>∪ </a:t>
            </a:r>
            <a:r>
              <a:rPr lang="ru-RU" sz="2800" b="0" i="0" u="none" strike="noStrike" baseline="0" dirty="0">
                <a:latin typeface="TimesNewRomanPSMT"/>
              </a:rPr>
              <a:t>s</a:t>
            </a:r>
            <a:r>
              <a:rPr lang="en-US" sz="2800" b="0" i="0" u="none" strike="noStrike" baseline="0" dirty="0">
                <a:latin typeface="TimesNewRomanPSMT"/>
              </a:rPr>
              <a:t> </a:t>
            </a:r>
            <a:r>
              <a:rPr lang="ru-RU" sz="2800" b="0" i="0" u="none" strike="noStrike" baseline="0" dirty="0">
                <a:latin typeface="TimesNewRomanPSMT"/>
              </a:rPr>
              <a:t>называется объединением r и s, если каждый кортеж, принадлежащий t,</a:t>
            </a:r>
            <a:r>
              <a:rPr lang="en-US" sz="2800" b="0" i="0" u="none" strike="noStrike" baseline="0" dirty="0">
                <a:latin typeface="TimesNewRomanPSMT"/>
              </a:rPr>
              <a:t> </a:t>
            </a:r>
            <a:r>
              <a:rPr lang="ru-RU" sz="2800" b="0" i="0" u="none" strike="noStrike" baseline="0" dirty="0">
                <a:latin typeface="TimesNewRomanPSMT"/>
              </a:rPr>
              <a:t>принадлежит или </a:t>
            </a:r>
            <a:r>
              <a:rPr lang="en-US" sz="2800" b="0" i="0" u="none" strike="noStrike" baseline="0" dirty="0">
                <a:latin typeface="TimesNewRomanPSMT"/>
              </a:rPr>
              <a:t>r</a:t>
            </a:r>
            <a:r>
              <a:rPr lang="ru-RU" sz="2800" b="0" i="0" u="none" strike="noStrike" baseline="0" dirty="0">
                <a:latin typeface="TimesNewRomanPSMT"/>
              </a:rPr>
              <a:t>, или s, или им обоим.</a:t>
            </a:r>
            <a:endParaRPr lang="ru-RU" dirty="0"/>
          </a:p>
        </p:txBody>
      </p:sp>
    </p:spTree>
    <p:extLst>
      <p:ext uri="{BB962C8B-B14F-4D97-AF65-F5344CB8AC3E}">
        <p14:creationId xmlns:p14="http://schemas.microsoft.com/office/powerpoint/2010/main" val="3107271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964BA52-3A3C-839A-B481-C4C3C99FCA66}"/>
              </a:ext>
            </a:extLst>
          </p:cNvPr>
          <p:cNvSpPr>
            <a:spLocks noGrp="1"/>
          </p:cNvSpPr>
          <p:nvPr>
            <p:ph idx="1"/>
          </p:nvPr>
        </p:nvSpPr>
        <p:spPr>
          <a:xfrm>
            <a:off x="838200" y="561975"/>
            <a:ext cx="10515600" cy="5614988"/>
          </a:xfrm>
        </p:spPr>
        <p:txBody>
          <a:bodyPr>
            <a:normAutofit/>
          </a:bodyPr>
          <a:lstStyle/>
          <a:p>
            <a:r>
              <a:rPr lang="ru-RU" b="1" dirty="0"/>
              <a:t>Пример</a:t>
            </a:r>
          </a:p>
          <a:p>
            <a:r>
              <a:rPr lang="ru-RU" dirty="0"/>
              <a:t>Пусть даны отношения:</a:t>
            </a:r>
            <a:endParaRPr lang="en-US" dirty="0"/>
          </a:p>
          <a:p>
            <a:endParaRPr lang="en-US" dirty="0"/>
          </a:p>
          <a:p>
            <a:endParaRPr lang="en-US" dirty="0"/>
          </a:p>
          <a:p>
            <a:endParaRPr lang="en-US" dirty="0"/>
          </a:p>
          <a:p>
            <a:endParaRPr lang="en-US" dirty="0"/>
          </a:p>
          <a:p>
            <a:r>
              <a:rPr lang="ru-RU" sz="2400" dirty="0"/>
              <a:t>Необходимо сформировать ответ на следующий запрос: какие типы</a:t>
            </a:r>
            <a:r>
              <a:rPr lang="en-US" sz="2400" dirty="0"/>
              <a:t> </a:t>
            </a:r>
            <a:r>
              <a:rPr lang="ru-RU" sz="2400" dirty="0"/>
              <a:t>деталей входят в состав обоих изделий? Для достижения этой цели</a:t>
            </a:r>
            <a:r>
              <a:rPr lang="en-US" sz="2400" dirty="0"/>
              <a:t> </a:t>
            </a:r>
            <a:r>
              <a:rPr lang="ru-RU" sz="2400" dirty="0"/>
              <a:t>необходимо выполнить операцию t=r ∪ s. Результирующее отношение</a:t>
            </a:r>
            <a:r>
              <a:rPr lang="en-US" sz="2400" dirty="0"/>
              <a:t> </a:t>
            </a:r>
            <a:r>
              <a:rPr lang="ru-RU" sz="2400" dirty="0"/>
              <a:t>содержит все детали, которые входят в состав обоих изделий.</a:t>
            </a:r>
          </a:p>
        </p:txBody>
      </p:sp>
      <p:pic>
        <p:nvPicPr>
          <p:cNvPr id="5" name="Рисунок 4">
            <a:extLst>
              <a:ext uri="{FF2B5EF4-FFF2-40B4-BE49-F238E27FC236}">
                <a16:creationId xmlns:a16="http://schemas.microsoft.com/office/drawing/2014/main" id="{2E0B09AE-2139-4887-D6CD-82DA51DC34C4}"/>
              </a:ext>
            </a:extLst>
          </p:cNvPr>
          <p:cNvPicPr>
            <a:picLocks noChangeAspect="1"/>
          </p:cNvPicPr>
          <p:nvPr/>
        </p:nvPicPr>
        <p:blipFill>
          <a:blip r:embed="rId2"/>
          <a:stretch>
            <a:fillRect/>
          </a:stretch>
        </p:blipFill>
        <p:spPr>
          <a:xfrm>
            <a:off x="1590675" y="1519140"/>
            <a:ext cx="7134225" cy="1588986"/>
          </a:xfrm>
          <a:prstGeom prst="rect">
            <a:avLst/>
          </a:prstGeom>
        </p:spPr>
      </p:pic>
    </p:spTree>
    <p:extLst>
      <p:ext uri="{BB962C8B-B14F-4D97-AF65-F5344CB8AC3E}">
        <p14:creationId xmlns:p14="http://schemas.microsoft.com/office/powerpoint/2010/main" val="2397089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DA1CC968-AB09-37D3-5366-EDECAE52DB5D}"/>
              </a:ext>
            </a:extLst>
          </p:cNvPr>
          <p:cNvPicPr>
            <a:picLocks noGrp="1" noChangeAspect="1"/>
          </p:cNvPicPr>
          <p:nvPr>
            <p:ph idx="1"/>
          </p:nvPr>
        </p:nvPicPr>
        <p:blipFill>
          <a:blip r:embed="rId2"/>
          <a:stretch>
            <a:fillRect/>
          </a:stretch>
        </p:blipFill>
        <p:spPr>
          <a:xfrm>
            <a:off x="2858829" y="1769171"/>
            <a:ext cx="6474342" cy="2888553"/>
          </a:xfrm>
          <a:prstGeom prst="rect">
            <a:avLst/>
          </a:prstGeom>
        </p:spPr>
      </p:pic>
    </p:spTree>
    <p:extLst>
      <p:ext uri="{BB962C8B-B14F-4D97-AF65-F5344CB8AC3E}">
        <p14:creationId xmlns:p14="http://schemas.microsoft.com/office/powerpoint/2010/main" val="294209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B15872-1BB4-300D-1CF2-A9F9CD363649}"/>
              </a:ext>
            </a:extLst>
          </p:cNvPr>
          <p:cNvSpPr>
            <a:spLocks noGrp="1"/>
          </p:cNvSpPr>
          <p:nvPr>
            <p:ph type="title"/>
          </p:nvPr>
        </p:nvSpPr>
        <p:spPr/>
        <p:txBody>
          <a:bodyPr/>
          <a:lstStyle/>
          <a:p>
            <a:r>
              <a:rPr lang="ru-RU" dirty="0"/>
              <a:t>Разность</a:t>
            </a:r>
          </a:p>
        </p:txBody>
      </p:sp>
      <p:sp>
        <p:nvSpPr>
          <p:cNvPr id="3" name="Объект 2">
            <a:extLst>
              <a:ext uri="{FF2B5EF4-FFF2-40B4-BE49-F238E27FC236}">
                <a16:creationId xmlns:a16="http://schemas.microsoft.com/office/drawing/2014/main" id="{73A5E012-6FB0-DA96-3EED-BECF2D79D6AA}"/>
              </a:ext>
            </a:extLst>
          </p:cNvPr>
          <p:cNvSpPr>
            <a:spLocks noGrp="1"/>
          </p:cNvSpPr>
          <p:nvPr>
            <p:ph idx="1"/>
          </p:nvPr>
        </p:nvSpPr>
        <p:spPr/>
        <p:txBody>
          <a:bodyPr>
            <a:normAutofit/>
          </a:bodyPr>
          <a:lstStyle/>
          <a:p>
            <a:pPr>
              <a:lnSpc>
                <a:spcPct val="150000"/>
              </a:lnSpc>
            </a:pPr>
            <a:r>
              <a:rPr lang="ru-RU" sz="2000" dirty="0"/>
              <a:t>Пусть имеются два отношения г и s, тогда отношение t = r—s</a:t>
            </a:r>
            <a:r>
              <a:rPr lang="en-US" sz="2000" dirty="0"/>
              <a:t> </a:t>
            </a:r>
            <a:r>
              <a:rPr lang="ru-RU" sz="2000" dirty="0"/>
              <a:t>называется разностью r и s, если каждый кортеж, принадлежащий t,</a:t>
            </a:r>
            <a:r>
              <a:rPr lang="en-US" sz="2000" dirty="0"/>
              <a:t> </a:t>
            </a:r>
            <a:r>
              <a:rPr lang="ru-RU" sz="2000" dirty="0"/>
              <a:t>принадлежит r, но не принадлежит s. Операция применяется к отношениям</a:t>
            </a:r>
            <a:r>
              <a:rPr lang="en-US" sz="2000" dirty="0"/>
              <a:t> </a:t>
            </a:r>
            <a:r>
              <a:rPr lang="ru-RU" sz="2000" dirty="0"/>
              <a:t>одной арности. Пусть отношение r представляет потребности в некоторых</a:t>
            </a:r>
            <a:r>
              <a:rPr lang="en-US" sz="2000" dirty="0"/>
              <a:t> </a:t>
            </a:r>
            <a:r>
              <a:rPr lang="ru-RU" sz="2000" dirty="0"/>
              <a:t>видах деталей, а отношение s — сведения о тех видах деталей, которые</a:t>
            </a:r>
            <a:r>
              <a:rPr lang="en-US" sz="2000" dirty="0"/>
              <a:t> </a:t>
            </a:r>
            <a:r>
              <a:rPr lang="ru-RU" sz="2000" dirty="0"/>
              <a:t>фирма может произвести сама, тогда отношение t = r—s содержит</a:t>
            </a:r>
            <a:r>
              <a:rPr lang="en-US" sz="2000" dirty="0"/>
              <a:t> </a:t>
            </a:r>
            <a:r>
              <a:rPr lang="ru-RU" sz="2000" dirty="0"/>
              <a:t>сведения о тех видах деталей, которые нужно приобрести.</a:t>
            </a:r>
          </a:p>
        </p:txBody>
      </p:sp>
    </p:spTree>
    <p:extLst>
      <p:ext uri="{BB962C8B-B14F-4D97-AF65-F5344CB8AC3E}">
        <p14:creationId xmlns:p14="http://schemas.microsoft.com/office/powerpoint/2010/main" val="2088335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1A373362-E22C-013D-82A1-F70C57D16275}"/>
              </a:ext>
            </a:extLst>
          </p:cNvPr>
          <p:cNvPicPr>
            <a:picLocks noGrp="1" noChangeAspect="1"/>
          </p:cNvPicPr>
          <p:nvPr>
            <p:ph idx="1"/>
          </p:nvPr>
        </p:nvPicPr>
        <p:blipFill>
          <a:blip r:embed="rId2"/>
          <a:stretch>
            <a:fillRect/>
          </a:stretch>
        </p:blipFill>
        <p:spPr>
          <a:xfrm>
            <a:off x="1718804" y="968936"/>
            <a:ext cx="9155460" cy="4650814"/>
          </a:xfrm>
          <a:prstGeom prst="rect">
            <a:avLst/>
          </a:prstGeom>
        </p:spPr>
      </p:pic>
    </p:spTree>
    <p:extLst>
      <p:ext uri="{BB962C8B-B14F-4D97-AF65-F5344CB8AC3E}">
        <p14:creationId xmlns:p14="http://schemas.microsoft.com/office/powerpoint/2010/main" val="398319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A07807-4058-A599-C450-5C5904E7D51B}"/>
              </a:ext>
            </a:extLst>
          </p:cNvPr>
          <p:cNvSpPr>
            <a:spLocks noGrp="1"/>
          </p:cNvSpPr>
          <p:nvPr>
            <p:ph type="title"/>
          </p:nvPr>
        </p:nvSpPr>
        <p:spPr/>
        <p:txBody>
          <a:bodyPr/>
          <a:lstStyle/>
          <a:p>
            <a:r>
              <a:rPr lang="ru-RU" dirty="0"/>
              <a:t>Декартово произведение</a:t>
            </a:r>
          </a:p>
        </p:txBody>
      </p:sp>
      <p:sp>
        <p:nvSpPr>
          <p:cNvPr id="3" name="Объект 2">
            <a:extLst>
              <a:ext uri="{FF2B5EF4-FFF2-40B4-BE49-F238E27FC236}">
                <a16:creationId xmlns:a16="http://schemas.microsoft.com/office/drawing/2014/main" id="{3D2A02A8-5597-F174-0EE4-724971535E59}"/>
              </a:ext>
            </a:extLst>
          </p:cNvPr>
          <p:cNvSpPr>
            <a:spLocks noGrp="1"/>
          </p:cNvSpPr>
          <p:nvPr>
            <p:ph idx="1"/>
          </p:nvPr>
        </p:nvSpPr>
        <p:spPr/>
        <p:txBody>
          <a:bodyPr>
            <a:normAutofit/>
          </a:bodyPr>
          <a:lstStyle/>
          <a:p>
            <a:pPr algn="l"/>
            <a:r>
              <a:rPr lang="ru-RU" sz="2800" b="0" i="0" u="none" strike="noStrike" baseline="0" dirty="0">
                <a:latin typeface="TimesNewRomanPSMT"/>
              </a:rPr>
              <a:t>Эта операция не накладывает никаких ограничений на схемы</a:t>
            </a:r>
            <a:r>
              <a:rPr lang="en-US" sz="2800" b="0" i="0" u="none" strike="noStrike" baseline="0" dirty="0">
                <a:latin typeface="TimesNewRomanPSMT"/>
              </a:rPr>
              <a:t> </a:t>
            </a:r>
            <a:r>
              <a:rPr lang="ru-RU" sz="2800" b="0" i="0" u="none" strike="noStrike" baseline="0" dirty="0">
                <a:latin typeface="TimesNewRomanPSMT"/>
              </a:rPr>
              <a:t>исходных отношений, и поэтому она допустима для любых двух</a:t>
            </a:r>
            <a:r>
              <a:rPr lang="en-US" sz="2800" b="0" i="0" u="none" strike="noStrike" baseline="0" dirty="0">
                <a:latin typeface="TimesNewRomanPSMT"/>
              </a:rPr>
              <a:t> </a:t>
            </a:r>
            <a:r>
              <a:rPr lang="ru-RU" sz="2800" b="0" i="0" u="none" strike="noStrike" baseline="0" dirty="0">
                <a:latin typeface="TimesNewRomanPSMT"/>
              </a:rPr>
              <a:t>отношений.</a:t>
            </a:r>
          </a:p>
          <a:p>
            <a:pPr algn="l"/>
            <a:r>
              <a:rPr lang="ru-RU" sz="2800" b="0" i="0" u="none" strike="noStrike" baseline="0" dirty="0">
                <a:latin typeface="TimesNewRomanPSMT"/>
              </a:rPr>
              <a:t>Под декартовым произведением двух отношений понимается</a:t>
            </a:r>
            <a:r>
              <a:rPr lang="en-US" sz="2800" b="0" i="0" u="none" strike="noStrike" baseline="0" dirty="0">
                <a:latin typeface="TimesNewRomanPSMT"/>
              </a:rPr>
              <a:t> </a:t>
            </a:r>
            <a:r>
              <a:rPr lang="ru-RU" sz="2800" b="0" i="0" u="none" strike="noStrike" baseline="0" dirty="0">
                <a:latin typeface="TimesNewRomanPSMT"/>
              </a:rPr>
              <a:t>множество упорядоченных пар кортежей. Пусть имеются два</a:t>
            </a:r>
            <a:r>
              <a:rPr lang="en-US" sz="2800" b="0" i="0" u="none" strike="noStrike" baseline="0" dirty="0">
                <a:latin typeface="TimesNewRomanPSMT"/>
              </a:rPr>
              <a:t> </a:t>
            </a:r>
            <a:r>
              <a:rPr lang="ru-RU" sz="2800" b="0" i="0" u="none" strike="noStrike" baseline="0" dirty="0">
                <a:latin typeface="TimesNewRomanPSMT"/>
              </a:rPr>
              <a:t>отношения r</a:t>
            </a:r>
            <a:r>
              <a:rPr lang="en-US" sz="2800" b="0" i="0" u="none" strike="noStrike" baseline="0" dirty="0">
                <a:latin typeface="TimesNewRomanPSMT"/>
              </a:rPr>
              <a:t> </a:t>
            </a:r>
            <a:r>
              <a:rPr lang="ru-RU" sz="2800" b="0" i="0" u="none" strike="noStrike" baseline="0" dirty="0">
                <a:latin typeface="TimesNewRomanPSMT"/>
              </a:rPr>
              <a:t>и s, тогда отношение t = r * s арности к = к</a:t>
            </a:r>
            <a:r>
              <a:rPr lang="ru-RU" sz="1400" b="0" i="0" u="none" strike="noStrike" baseline="0" dirty="0">
                <a:latin typeface="TimesNewRomanPSMT"/>
              </a:rPr>
              <a:t>1 </a:t>
            </a:r>
            <a:r>
              <a:rPr lang="ru-RU" sz="2800" b="0" i="0" u="none" strike="noStrike" baseline="0" dirty="0">
                <a:latin typeface="TimesNewRomanPSMT"/>
              </a:rPr>
              <a:t>+ k</a:t>
            </a:r>
            <a:r>
              <a:rPr lang="ru-RU" sz="1400" b="0" i="0" u="none" strike="noStrike" baseline="0" dirty="0">
                <a:latin typeface="TimesNewRomanPSMT"/>
              </a:rPr>
              <a:t>2</a:t>
            </a:r>
            <a:r>
              <a:rPr lang="ru-RU" sz="2800" b="0" i="0" u="none" strike="noStrike" baseline="0" dirty="0">
                <a:latin typeface="TimesNewRomanPSMT"/>
              </a:rPr>
              <a:t>, где к</a:t>
            </a:r>
            <a:r>
              <a:rPr lang="ru-RU" sz="1400" b="0" i="0" u="none" strike="noStrike" baseline="0" dirty="0">
                <a:latin typeface="TimesNewRomanPSMT"/>
              </a:rPr>
              <a:t>1 </a:t>
            </a:r>
            <a:r>
              <a:rPr lang="ru-RU" sz="2800" b="0" i="0" u="none" strike="noStrike" baseline="0" dirty="0">
                <a:latin typeface="TimesNewRomanPSMT"/>
              </a:rPr>
              <a:t>- арность r, a k</a:t>
            </a:r>
            <a:r>
              <a:rPr lang="ru-RU" sz="1400" b="0" i="0" u="none" strike="noStrike" baseline="0" dirty="0">
                <a:latin typeface="TimesNewRomanPSMT"/>
              </a:rPr>
              <a:t>2 </a:t>
            </a:r>
            <a:r>
              <a:rPr lang="ru-RU" sz="2800" b="0" i="0" u="none" strike="noStrike" baseline="0" dirty="0">
                <a:latin typeface="TimesNewRomanPSMT"/>
              </a:rPr>
              <a:t>—</a:t>
            </a:r>
            <a:r>
              <a:rPr lang="en-US" sz="2800" b="0" i="0" u="none" strike="noStrike" baseline="0" dirty="0">
                <a:latin typeface="TimesNewRomanPSMT"/>
              </a:rPr>
              <a:t> </a:t>
            </a:r>
            <a:r>
              <a:rPr lang="ru-RU" sz="2800" b="0" i="0" u="none" strike="noStrike" baseline="0" dirty="0">
                <a:latin typeface="TimesNewRomanPSMT"/>
              </a:rPr>
              <a:t>арность s, называется декартовым произведением r и s, если оно состоит из</a:t>
            </a:r>
            <a:r>
              <a:rPr lang="en-US" sz="2800" b="0" i="0" u="none" strike="noStrike" baseline="0" dirty="0">
                <a:latin typeface="TimesNewRomanPSMT"/>
              </a:rPr>
              <a:t> </a:t>
            </a:r>
            <a:r>
              <a:rPr lang="ru-RU" sz="2800" b="0" i="0" u="none" strike="noStrike" baseline="0" dirty="0">
                <a:latin typeface="TimesNewRomanPSMT"/>
              </a:rPr>
              <a:t>кортежей, первые k</a:t>
            </a:r>
            <a:r>
              <a:rPr lang="ru-RU" sz="1400" b="0" i="0" u="none" strike="noStrike" baseline="0" dirty="0">
                <a:latin typeface="TimesNewRomanPSMT"/>
              </a:rPr>
              <a:t>1 </a:t>
            </a:r>
            <a:r>
              <a:rPr lang="ru-RU" sz="2800" b="0" i="0" u="none" strike="noStrike" baseline="0" dirty="0">
                <a:latin typeface="TimesNewRomanPSMT"/>
              </a:rPr>
              <a:t>компонентов которых образуют кортежи из r, а</a:t>
            </a:r>
            <a:r>
              <a:rPr lang="en-US" sz="2800" b="0" i="0" u="none" strike="noStrike" baseline="0" dirty="0">
                <a:latin typeface="TimesNewRomanPSMT"/>
              </a:rPr>
              <a:t> </a:t>
            </a:r>
            <a:r>
              <a:rPr lang="ru-RU" sz="2800" b="0" i="0" u="none" strike="noStrike" baseline="0" dirty="0">
                <a:latin typeface="TimesNewRomanPSMT"/>
              </a:rPr>
              <a:t>остальные </a:t>
            </a:r>
            <a:r>
              <a:rPr lang="de-CH" sz="2800" b="0" i="0" u="none" strike="noStrike" baseline="0" dirty="0">
                <a:latin typeface="TimesNewRomanPSMT"/>
              </a:rPr>
              <a:t>k</a:t>
            </a:r>
            <a:r>
              <a:rPr lang="de-CH" sz="1400" b="0" i="0" u="none" strike="noStrike" baseline="0" dirty="0">
                <a:latin typeface="TimesNewRomanPSMT"/>
              </a:rPr>
              <a:t>2 </a:t>
            </a:r>
            <a:r>
              <a:rPr lang="de-CH" sz="2800" b="0" i="0" u="none" strike="noStrike" baseline="0" dirty="0">
                <a:latin typeface="TimesNewRomanPSMT"/>
              </a:rPr>
              <a:t>— </a:t>
            </a:r>
            <a:r>
              <a:rPr lang="ru-RU" sz="2800" b="0" i="0" u="none" strike="noStrike" baseline="0" dirty="0">
                <a:latin typeface="TimesNewRomanPSMT"/>
              </a:rPr>
              <a:t>из </a:t>
            </a:r>
            <a:r>
              <a:rPr lang="de-CH" sz="2800" b="0" i="0" u="none" strike="noStrike" baseline="0" dirty="0">
                <a:latin typeface="TimesNewRomanPSMT"/>
              </a:rPr>
              <a:t>s.</a:t>
            </a:r>
            <a:endParaRPr lang="ru-RU" dirty="0"/>
          </a:p>
        </p:txBody>
      </p:sp>
    </p:spTree>
    <p:extLst>
      <p:ext uri="{BB962C8B-B14F-4D97-AF65-F5344CB8AC3E}">
        <p14:creationId xmlns:p14="http://schemas.microsoft.com/office/powerpoint/2010/main" val="3999271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82F38F5-8FDB-9B34-FE38-8EE66458580E}"/>
              </a:ext>
            </a:extLst>
          </p:cNvPr>
          <p:cNvSpPr>
            <a:spLocks noGrp="1"/>
          </p:cNvSpPr>
          <p:nvPr>
            <p:ph idx="1"/>
          </p:nvPr>
        </p:nvSpPr>
        <p:spPr>
          <a:xfrm>
            <a:off x="838200" y="504825"/>
            <a:ext cx="10515600" cy="5672138"/>
          </a:xfrm>
        </p:spPr>
        <p:txBody>
          <a:bodyPr/>
          <a:lstStyle/>
          <a:p>
            <a:r>
              <a:rPr lang="ru-RU" b="1" dirty="0"/>
              <a:t>Пример</a:t>
            </a:r>
          </a:p>
          <a:p>
            <a:r>
              <a:rPr lang="ru-RU" sz="1800" dirty="0"/>
              <a:t>Пусть r → </a:t>
            </a:r>
            <a:r>
              <a:rPr lang="ru-RU" sz="1800" b="1" dirty="0"/>
              <a:t>СТУДЕНТЫ (</a:t>
            </a:r>
            <a:r>
              <a:rPr lang="ru-RU" sz="1800" b="1" dirty="0" err="1"/>
              <a:t>Ном_зач_кн</a:t>
            </a:r>
            <a:r>
              <a:rPr lang="ru-RU" sz="1800" b="1" dirty="0"/>
              <a:t>, ФИО);</a:t>
            </a:r>
          </a:p>
          <a:p>
            <a:r>
              <a:rPr lang="ru-RU" sz="1800" dirty="0"/>
              <a:t>s → </a:t>
            </a:r>
            <a:r>
              <a:rPr lang="ru-RU" sz="1800" b="1" dirty="0"/>
              <a:t>ЭКЗАМЕНЫ (</a:t>
            </a:r>
            <a:r>
              <a:rPr lang="ru-RU" sz="1800" b="1" dirty="0" err="1"/>
              <a:t>Код_дисц</a:t>
            </a:r>
            <a:r>
              <a:rPr lang="ru-RU" sz="1800" b="1" dirty="0"/>
              <a:t>, </a:t>
            </a:r>
            <a:r>
              <a:rPr lang="ru-RU" sz="1800" b="1" dirty="0" err="1"/>
              <a:t>Назв_дисц</a:t>
            </a:r>
            <a:r>
              <a:rPr lang="ru-RU" sz="1800" b="1" dirty="0"/>
              <a:t>, Дата, Оценка),</a:t>
            </a:r>
          </a:p>
          <a:p>
            <a:r>
              <a:rPr lang="ru-RU" sz="1800" dirty="0"/>
              <a:t>тогда r * s → </a:t>
            </a:r>
            <a:r>
              <a:rPr lang="ru-RU" sz="1800" b="1" dirty="0"/>
              <a:t>ЭКЗАМ_ВЕД (</a:t>
            </a:r>
            <a:r>
              <a:rPr lang="ru-RU" sz="1800" b="1" dirty="0" err="1"/>
              <a:t>Ном_зач_кн</a:t>
            </a:r>
            <a:r>
              <a:rPr lang="ru-RU" sz="1800" b="1" dirty="0"/>
              <a:t>, ФИО, </a:t>
            </a:r>
            <a:r>
              <a:rPr lang="ru-RU" sz="1800" b="1" dirty="0" err="1"/>
              <a:t>Код_дисц</a:t>
            </a:r>
            <a:r>
              <a:rPr lang="ru-RU" sz="1800" b="1" dirty="0"/>
              <a:t>,</a:t>
            </a:r>
          </a:p>
          <a:p>
            <a:r>
              <a:rPr lang="ru-RU" sz="1800" b="1" dirty="0" err="1"/>
              <a:t>Назв_дисц</a:t>
            </a:r>
            <a:r>
              <a:rPr lang="ru-RU" sz="1800" b="1" dirty="0"/>
              <a:t>, Дата, Оценка).</a:t>
            </a:r>
            <a:endParaRPr lang="ru-RU" sz="1800" dirty="0"/>
          </a:p>
        </p:txBody>
      </p:sp>
      <p:pic>
        <p:nvPicPr>
          <p:cNvPr id="7" name="Рисунок 6">
            <a:extLst>
              <a:ext uri="{FF2B5EF4-FFF2-40B4-BE49-F238E27FC236}">
                <a16:creationId xmlns:a16="http://schemas.microsoft.com/office/drawing/2014/main" id="{D994FBA6-C5BA-ACBC-7AC1-E1F00887DB4F}"/>
              </a:ext>
            </a:extLst>
          </p:cNvPr>
          <p:cNvPicPr>
            <a:picLocks noChangeAspect="1"/>
          </p:cNvPicPr>
          <p:nvPr/>
        </p:nvPicPr>
        <p:blipFill>
          <a:blip r:embed="rId2"/>
          <a:stretch>
            <a:fillRect/>
          </a:stretch>
        </p:blipFill>
        <p:spPr>
          <a:xfrm>
            <a:off x="838200" y="2557367"/>
            <a:ext cx="6906589" cy="1362265"/>
          </a:xfrm>
          <a:prstGeom prst="rect">
            <a:avLst/>
          </a:prstGeom>
        </p:spPr>
      </p:pic>
      <p:pic>
        <p:nvPicPr>
          <p:cNvPr id="9" name="Рисунок 8">
            <a:extLst>
              <a:ext uri="{FF2B5EF4-FFF2-40B4-BE49-F238E27FC236}">
                <a16:creationId xmlns:a16="http://schemas.microsoft.com/office/drawing/2014/main" id="{A76A75A6-F472-9CE8-320E-6A627DFA3D37}"/>
              </a:ext>
            </a:extLst>
          </p:cNvPr>
          <p:cNvPicPr>
            <a:picLocks noChangeAspect="1"/>
          </p:cNvPicPr>
          <p:nvPr/>
        </p:nvPicPr>
        <p:blipFill>
          <a:blip r:embed="rId3"/>
          <a:stretch>
            <a:fillRect/>
          </a:stretch>
        </p:blipFill>
        <p:spPr>
          <a:xfrm>
            <a:off x="838200" y="3919632"/>
            <a:ext cx="6449325" cy="1476581"/>
          </a:xfrm>
          <a:prstGeom prst="rect">
            <a:avLst/>
          </a:prstGeom>
        </p:spPr>
      </p:pic>
      <p:pic>
        <p:nvPicPr>
          <p:cNvPr id="11" name="Рисунок 10">
            <a:extLst>
              <a:ext uri="{FF2B5EF4-FFF2-40B4-BE49-F238E27FC236}">
                <a16:creationId xmlns:a16="http://schemas.microsoft.com/office/drawing/2014/main" id="{C411382C-4EB0-8E0C-B846-67BD21264103}"/>
              </a:ext>
            </a:extLst>
          </p:cNvPr>
          <p:cNvPicPr>
            <a:picLocks noChangeAspect="1"/>
          </p:cNvPicPr>
          <p:nvPr/>
        </p:nvPicPr>
        <p:blipFill>
          <a:blip r:embed="rId4"/>
          <a:srcRect t="7560"/>
          <a:stretch>
            <a:fillRect/>
          </a:stretch>
        </p:blipFill>
        <p:spPr>
          <a:xfrm>
            <a:off x="957278" y="5403581"/>
            <a:ext cx="6211167" cy="986287"/>
          </a:xfrm>
          <a:prstGeom prst="rect">
            <a:avLst/>
          </a:prstGeom>
        </p:spPr>
      </p:pic>
    </p:spTree>
    <p:extLst>
      <p:ext uri="{BB962C8B-B14F-4D97-AF65-F5344CB8AC3E}">
        <p14:creationId xmlns:p14="http://schemas.microsoft.com/office/powerpoint/2010/main" val="3716373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85EF01-4854-D0E8-EDE9-68409B0EE7FF}"/>
              </a:ext>
            </a:extLst>
          </p:cNvPr>
          <p:cNvSpPr>
            <a:spLocks noGrp="1"/>
          </p:cNvSpPr>
          <p:nvPr>
            <p:ph type="title"/>
          </p:nvPr>
        </p:nvSpPr>
        <p:spPr/>
        <p:txBody>
          <a:bodyPr/>
          <a:lstStyle/>
          <a:p>
            <a:r>
              <a:rPr lang="ru-RU" dirty="0"/>
              <a:t>Пересечение</a:t>
            </a:r>
          </a:p>
        </p:txBody>
      </p:sp>
      <p:sp>
        <p:nvSpPr>
          <p:cNvPr id="3" name="Объект 2">
            <a:extLst>
              <a:ext uri="{FF2B5EF4-FFF2-40B4-BE49-F238E27FC236}">
                <a16:creationId xmlns:a16="http://schemas.microsoft.com/office/drawing/2014/main" id="{7FC39DEC-B9A8-E01F-0BC2-8269C0EF35F3}"/>
              </a:ext>
            </a:extLst>
          </p:cNvPr>
          <p:cNvSpPr>
            <a:spLocks noGrp="1"/>
          </p:cNvSpPr>
          <p:nvPr>
            <p:ph idx="1"/>
          </p:nvPr>
        </p:nvSpPr>
        <p:spPr/>
        <p:txBody>
          <a:bodyPr>
            <a:normAutofit/>
          </a:bodyPr>
          <a:lstStyle/>
          <a:p>
            <a:pPr>
              <a:lnSpc>
                <a:spcPct val="100000"/>
              </a:lnSpc>
            </a:pPr>
            <a:r>
              <a:rPr lang="ru-RU" sz="2000" dirty="0"/>
              <a:t>Пусть имеются два отношения r и s, тогда отношение t = r ∩ s</a:t>
            </a:r>
            <a:r>
              <a:rPr lang="en-US" sz="2000" dirty="0"/>
              <a:t> </a:t>
            </a:r>
            <a:r>
              <a:rPr lang="ru-RU" sz="2000" dirty="0"/>
              <a:t>называется пересечением r и s, если каждый кортеж, принадлежащий t,</a:t>
            </a:r>
            <a:r>
              <a:rPr lang="en-US" sz="2000" dirty="0"/>
              <a:t> </a:t>
            </a:r>
            <a:r>
              <a:rPr lang="ru-RU" sz="2000" dirty="0"/>
              <a:t>одновременно принадлежит r и s. Операция применяется к отношениям</a:t>
            </a:r>
            <a:r>
              <a:rPr lang="en-US" sz="2000" dirty="0"/>
              <a:t> </a:t>
            </a:r>
            <a:r>
              <a:rPr lang="ru-RU" sz="2000" dirty="0"/>
              <a:t>одной арности. Справедлива следующая формула: t = r ∩ s = r - (r - s).</a:t>
            </a:r>
          </a:p>
        </p:txBody>
      </p:sp>
    </p:spTree>
    <p:extLst>
      <p:ext uri="{BB962C8B-B14F-4D97-AF65-F5344CB8AC3E}">
        <p14:creationId xmlns:p14="http://schemas.microsoft.com/office/powerpoint/2010/main" val="1361174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1F85CEA9-EB41-95CC-9C69-EEA60CF8697F}"/>
              </a:ext>
            </a:extLst>
          </p:cNvPr>
          <p:cNvPicPr>
            <a:picLocks noGrp="1" noChangeAspect="1"/>
          </p:cNvPicPr>
          <p:nvPr>
            <p:ph idx="1"/>
          </p:nvPr>
        </p:nvPicPr>
        <p:blipFill>
          <a:blip r:embed="rId2"/>
          <a:stretch>
            <a:fillRect/>
          </a:stretch>
        </p:blipFill>
        <p:spPr>
          <a:xfrm>
            <a:off x="1294948" y="611857"/>
            <a:ext cx="6477904" cy="1781424"/>
          </a:xfrm>
          <a:prstGeom prst="rect">
            <a:avLst/>
          </a:prstGeom>
        </p:spPr>
      </p:pic>
      <p:sp>
        <p:nvSpPr>
          <p:cNvPr id="7" name="TextBox 6">
            <a:extLst>
              <a:ext uri="{FF2B5EF4-FFF2-40B4-BE49-F238E27FC236}">
                <a16:creationId xmlns:a16="http://schemas.microsoft.com/office/drawing/2014/main" id="{9D9F261D-2911-ED08-7446-9661F830BAA7}"/>
              </a:ext>
            </a:extLst>
          </p:cNvPr>
          <p:cNvSpPr txBox="1"/>
          <p:nvPr/>
        </p:nvSpPr>
        <p:spPr>
          <a:xfrm>
            <a:off x="1294948" y="2707606"/>
            <a:ext cx="7767636" cy="1200329"/>
          </a:xfrm>
          <a:prstGeom prst="rect">
            <a:avLst/>
          </a:prstGeom>
          <a:noFill/>
        </p:spPr>
        <p:txBody>
          <a:bodyPr wrap="square">
            <a:spAutoFit/>
          </a:bodyPr>
          <a:lstStyle/>
          <a:p>
            <a:pPr algn="l"/>
            <a:r>
              <a:rPr lang="ru-RU" sz="1800" b="0" i="0" u="none" strike="noStrike" baseline="0" dirty="0">
                <a:solidFill>
                  <a:schemeClr val="accent1"/>
                </a:solidFill>
                <a:latin typeface="TimesNewRomanPSMT"/>
              </a:rPr>
              <a:t>Сформируем ответ на такой запрос: определить детали, входящие в</a:t>
            </a:r>
          </a:p>
          <a:p>
            <a:pPr algn="l"/>
            <a:r>
              <a:rPr lang="ru-RU" sz="1800" b="0" i="0" u="none" strike="noStrike" baseline="0" dirty="0">
                <a:solidFill>
                  <a:schemeClr val="accent1"/>
                </a:solidFill>
                <a:latin typeface="TimesNewRomanPSMT"/>
              </a:rPr>
              <a:t>состав обоих изделий. Для этого необходимо выполнить операцию</a:t>
            </a:r>
          </a:p>
          <a:p>
            <a:pPr algn="l"/>
            <a:r>
              <a:rPr lang="ru-RU" sz="1800" b="0" i="0" u="none" strike="noStrike" baseline="0" dirty="0">
                <a:solidFill>
                  <a:schemeClr val="accent1"/>
                </a:solidFill>
                <a:latin typeface="TimesNewRomanPSMT"/>
              </a:rPr>
              <a:t>пересечения двух исходных отношений. Результат представляется</a:t>
            </a:r>
          </a:p>
          <a:p>
            <a:pPr algn="l"/>
            <a:r>
              <a:rPr lang="ru-RU" sz="1800" b="0" i="0" u="none" strike="noStrike" baseline="0" dirty="0">
                <a:solidFill>
                  <a:schemeClr val="accent1"/>
                </a:solidFill>
                <a:latin typeface="TimesNewRomanPSMT"/>
              </a:rPr>
              <a:t>отношением:</a:t>
            </a:r>
            <a:endParaRPr lang="ru-RU" dirty="0">
              <a:solidFill>
                <a:schemeClr val="accent1"/>
              </a:solidFill>
            </a:endParaRPr>
          </a:p>
        </p:txBody>
      </p:sp>
      <p:pic>
        <p:nvPicPr>
          <p:cNvPr id="9" name="Рисунок 8">
            <a:extLst>
              <a:ext uri="{FF2B5EF4-FFF2-40B4-BE49-F238E27FC236}">
                <a16:creationId xmlns:a16="http://schemas.microsoft.com/office/drawing/2014/main" id="{7F758C30-894D-2E89-ABE5-4725EB8C3C10}"/>
              </a:ext>
            </a:extLst>
          </p:cNvPr>
          <p:cNvPicPr>
            <a:picLocks noChangeAspect="1"/>
          </p:cNvPicPr>
          <p:nvPr/>
        </p:nvPicPr>
        <p:blipFill>
          <a:blip r:embed="rId3"/>
          <a:stretch>
            <a:fillRect/>
          </a:stretch>
        </p:blipFill>
        <p:spPr>
          <a:xfrm>
            <a:off x="1380892" y="4150394"/>
            <a:ext cx="3334215" cy="971686"/>
          </a:xfrm>
          <a:prstGeom prst="rect">
            <a:avLst/>
          </a:prstGeom>
        </p:spPr>
      </p:pic>
    </p:spTree>
    <p:extLst>
      <p:ext uri="{BB962C8B-B14F-4D97-AF65-F5344CB8AC3E}">
        <p14:creationId xmlns:p14="http://schemas.microsoft.com/office/powerpoint/2010/main" val="715916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E11488-9B67-2F6A-00FD-9B704951F8A4}"/>
              </a:ext>
            </a:extLst>
          </p:cNvPr>
          <p:cNvSpPr>
            <a:spLocks noGrp="1"/>
          </p:cNvSpPr>
          <p:nvPr>
            <p:ph type="title"/>
          </p:nvPr>
        </p:nvSpPr>
        <p:spPr/>
        <p:txBody>
          <a:bodyPr/>
          <a:lstStyle/>
          <a:p>
            <a:r>
              <a:rPr lang="ru-RU" dirty="0"/>
              <a:t>Проекция (</a:t>
            </a:r>
            <a:r>
              <a:rPr lang="de-CH" dirty="0"/>
              <a:t>Project)</a:t>
            </a:r>
            <a:endParaRPr lang="ru-RU" dirty="0"/>
          </a:p>
        </p:txBody>
      </p:sp>
      <p:sp>
        <p:nvSpPr>
          <p:cNvPr id="3" name="Объект 2">
            <a:extLst>
              <a:ext uri="{FF2B5EF4-FFF2-40B4-BE49-F238E27FC236}">
                <a16:creationId xmlns:a16="http://schemas.microsoft.com/office/drawing/2014/main" id="{3E527591-4023-814A-273B-FA833E29F122}"/>
              </a:ext>
            </a:extLst>
          </p:cNvPr>
          <p:cNvSpPr>
            <a:spLocks noGrp="1"/>
          </p:cNvSpPr>
          <p:nvPr>
            <p:ph idx="1"/>
          </p:nvPr>
        </p:nvSpPr>
        <p:spPr>
          <a:xfrm>
            <a:off x="838200" y="1690688"/>
            <a:ext cx="10515600" cy="4351338"/>
          </a:xfrm>
        </p:spPr>
        <p:txBody>
          <a:bodyPr>
            <a:normAutofit lnSpcReduction="10000"/>
          </a:bodyPr>
          <a:lstStyle/>
          <a:p>
            <a:pPr>
              <a:lnSpc>
                <a:spcPct val="100000"/>
              </a:lnSpc>
            </a:pPr>
            <a:r>
              <a:rPr lang="ru-RU" sz="2400" dirty="0"/>
              <a:t>Оператор проекции (вертикальное подмножество) является унарным</a:t>
            </a:r>
            <a:r>
              <a:rPr lang="en-US" sz="2400" dirty="0"/>
              <a:t> </a:t>
            </a:r>
            <a:r>
              <a:rPr lang="ru-RU" sz="2400" dirty="0"/>
              <a:t>оператором на отношениях. Он осуществляет выбор на множестве</a:t>
            </a:r>
            <a:r>
              <a:rPr lang="en-US" sz="2400" dirty="0"/>
              <a:t> </a:t>
            </a:r>
            <a:r>
              <a:rPr lang="ru-RU" sz="2400" dirty="0"/>
              <a:t>столбцов.</a:t>
            </a:r>
            <a:r>
              <a:rPr lang="en-US" sz="2400" dirty="0"/>
              <a:t> </a:t>
            </a:r>
          </a:p>
          <a:p>
            <a:pPr>
              <a:lnSpc>
                <a:spcPct val="100000"/>
              </a:lnSpc>
            </a:pPr>
            <a:r>
              <a:rPr lang="ru-RU" sz="2400" dirty="0"/>
              <a:t>Пусть в отношении r(R) выделено некоторое множество атрибутов</a:t>
            </a:r>
            <a:r>
              <a:rPr lang="en-US" sz="2400" dirty="0"/>
              <a:t> </a:t>
            </a:r>
            <a:r>
              <a:rPr lang="ru-RU" sz="2400" dirty="0"/>
              <a:t>Y, тогда отношение t = πY(г) называется проекцией отношения r, если оно</a:t>
            </a:r>
            <a:r>
              <a:rPr lang="en-US" sz="2400" dirty="0"/>
              <a:t> </a:t>
            </a:r>
            <a:r>
              <a:rPr lang="ru-RU" sz="2400" dirty="0"/>
              <a:t>является вертикальным подмножеством столбцов отношения r из</a:t>
            </a:r>
            <a:r>
              <a:rPr lang="en-US" sz="2400" dirty="0"/>
              <a:t> </a:t>
            </a:r>
            <a:r>
              <a:rPr lang="ru-RU" sz="2400" dirty="0"/>
              <a:t>множества R.</a:t>
            </a:r>
            <a:r>
              <a:rPr lang="en-US" sz="2400" dirty="0"/>
              <a:t> </a:t>
            </a:r>
          </a:p>
          <a:p>
            <a:pPr>
              <a:lnSpc>
                <a:spcPct val="100000"/>
              </a:lnSpc>
            </a:pPr>
            <a:r>
              <a:rPr lang="ru-RU" sz="2400" dirty="0"/>
              <a:t>Иными словами, проекция R на Y есть также отношение, полученное</a:t>
            </a:r>
            <a:r>
              <a:rPr lang="en-US" sz="2400" dirty="0"/>
              <a:t> </a:t>
            </a:r>
            <a:r>
              <a:rPr lang="ru-RU" sz="2400" dirty="0"/>
              <a:t>вычеркиванием столбцов, соответствующих атрибутам R — Y, и</a:t>
            </a:r>
            <a:r>
              <a:rPr lang="en-US" sz="2400" dirty="0"/>
              <a:t> </a:t>
            </a:r>
            <a:r>
              <a:rPr lang="ru-RU" sz="2400" dirty="0"/>
              <a:t>исключением, по определению отношения, из оставшихся столбцов</a:t>
            </a:r>
            <a:r>
              <a:rPr lang="en-US" sz="2400" dirty="0"/>
              <a:t> </a:t>
            </a:r>
            <a:r>
              <a:rPr lang="ru-RU" sz="2400" dirty="0"/>
              <a:t>повторяющихся строк.</a:t>
            </a:r>
          </a:p>
        </p:txBody>
      </p:sp>
    </p:spTree>
    <p:extLst>
      <p:ext uri="{BB962C8B-B14F-4D97-AF65-F5344CB8AC3E}">
        <p14:creationId xmlns:p14="http://schemas.microsoft.com/office/powerpoint/2010/main" val="510247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499AAF65-9B68-A02C-B2A1-3E19901BFB06}"/>
              </a:ext>
            </a:extLst>
          </p:cNvPr>
          <p:cNvPicPr>
            <a:picLocks noChangeAspect="1"/>
          </p:cNvPicPr>
          <p:nvPr/>
        </p:nvPicPr>
        <p:blipFill>
          <a:blip r:embed="rId2"/>
          <a:stretch>
            <a:fillRect/>
          </a:stretch>
        </p:blipFill>
        <p:spPr>
          <a:xfrm>
            <a:off x="3509765" y="390260"/>
            <a:ext cx="4538860" cy="6082378"/>
          </a:xfrm>
          <a:prstGeom prst="rect">
            <a:avLst/>
          </a:prstGeom>
        </p:spPr>
      </p:pic>
    </p:spTree>
    <p:extLst>
      <p:ext uri="{BB962C8B-B14F-4D97-AF65-F5344CB8AC3E}">
        <p14:creationId xmlns:p14="http://schemas.microsoft.com/office/powerpoint/2010/main" val="133912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8B720E-0380-895A-C506-F1D8716C3DAD}"/>
              </a:ext>
            </a:extLst>
          </p:cNvPr>
          <p:cNvSpPr>
            <a:spLocks noGrp="1"/>
          </p:cNvSpPr>
          <p:nvPr>
            <p:ph type="title"/>
          </p:nvPr>
        </p:nvSpPr>
        <p:spPr/>
        <p:txBody>
          <a:bodyPr/>
          <a:lstStyle/>
          <a:p>
            <a:r>
              <a:rPr lang="ru-RU" dirty="0"/>
              <a:t>Выбор (</a:t>
            </a:r>
            <a:r>
              <a:rPr lang="de-CH" dirty="0"/>
              <a:t>Select)</a:t>
            </a:r>
            <a:endParaRPr lang="ru-RU" dirty="0"/>
          </a:p>
        </p:txBody>
      </p:sp>
      <p:sp>
        <p:nvSpPr>
          <p:cNvPr id="3" name="Объект 2">
            <a:extLst>
              <a:ext uri="{FF2B5EF4-FFF2-40B4-BE49-F238E27FC236}">
                <a16:creationId xmlns:a16="http://schemas.microsoft.com/office/drawing/2014/main" id="{8D160062-406A-4E38-5711-A2114019CDA7}"/>
              </a:ext>
            </a:extLst>
          </p:cNvPr>
          <p:cNvSpPr>
            <a:spLocks noGrp="1"/>
          </p:cNvSpPr>
          <p:nvPr>
            <p:ph idx="1"/>
          </p:nvPr>
        </p:nvSpPr>
        <p:spPr/>
        <p:txBody>
          <a:bodyPr>
            <a:normAutofit fontScale="92500"/>
          </a:bodyPr>
          <a:lstStyle/>
          <a:p>
            <a:pPr>
              <a:lnSpc>
                <a:spcPct val="120000"/>
              </a:lnSpc>
            </a:pPr>
            <a:r>
              <a:rPr lang="ru-RU" dirty="0"/>
              <a:t>Выбор или селекция — это одна из важнейших операций обработки</a:t>
            </a:r>
            <a:r>
              <a:rPr lang="en-US" dirty="0"/>
              <a:t> </a:t>
            </a:r>
            <a:r>
              <a:rPr lang="ru-RU" dirty="0"/>
              <a:t>информации. Она также как и предыдущая, относится к унарным</a:t>
            </a:r>
            <a:r>
              <a:rPr lang="en-US" dirty="0"/>
              <a:t> </a:t>
            </a:r>
            <a:r>
              <a:rPr lang="ru-RU" dirty="0"/>
              <a:t>операциям над отношением. Результатом ее применения к отношению r</a:t>
            </a:r>
            <a:r>
              <a:rPr lang="en-US" dirty="0"/>
              <a:t> </a:t>
            </a:r>
            <a:r>
              <a:rPr lang="ru-RU" dirty="0"/>
              <a:t>является другое отношение, которое представляет собой подмножество</a:t>
            </a:r>
            <a:r>
              <a:rPr lang="en-US" dirty="0"/>
              <a:t> </a:t>
            </a:r>
            <a:r>
              <a:rPr lang="ru-RU" dirty="0"/>
              <a:t>кортежей отношения r, с определенным значением в выделенном атрибуте.</a:t>
            </a:r>
          </a:p>
          <a:p>
            <a:pPr>
              <a:lnSpc>
                <a:spcPct val="120000"/>
              </a:lnSpc>
            </a:pPr>
            <a:r>
              <a:rPr lang="ru-RU" dirty="0"/>
              <a:t>Итак, результатом селекции отношения r по некоторому Θ будем</a:t>
            </a:r>
            <a:r>
              <a:rPr lang="en-US" dirty="0"/>
              <a:t> </a:t>
            </a:r>
            <a:r>
              <a:rPr lang="ru-RU" dirty="0"/>
              <a:t>считать отношение t = </a:t>
            </a:r>
            <a:r>
              <a:rPr lang="ru-RU" dirty="0" err="1"/>
              <a:t>δΘ</a:t>
            </a:r>
            <a:r>
              <a:rPr lang="ru-RU" dirty="0"/>
              <a:t> (г), которое включает в себя кортежи отношения</a:t>
            </a:r>
            <a:r>
              <a:rPr lang="en-US" dirty="0"/>
              <a:t> </a:t>
            </a:r>
            <a:r>
              <a:rPr lang="ru-RU" dirty="0"/>
              <a:t>r, удовлетворяющие указанному условию Θ.</a:t>
            </a:r>
          </a:p>
          <a:p>
            <a:pPr>
              <a:lnSpc>
                <a:spcPct val="120000"/>
              </a:lnSpc>
            </a:pPr>
            <a:r>
              <a:rPr lang="ru-RU" dirty="0"/>
              <a:t>Условие Θ — это формула, по которой определяется выборка.</a:t>
            </a:r>
          </a:p>
          <a:p>
            <a:pPr>
              <a:lnSpc>
                <a:spcPct val="120000"/>
              </a:lnSpc>
            </a:pPr>
            <a:r>
              <a:rPr lang="ru-RU" dirty="0"/>
              <a:t>Операндами в такой формуле являются атрибуты отношения, а знаками</a:t>
            </a:r>
            <a:r>
              <a:rPr lang="en-US" dirty="0"/>
              <a:t> </a:t>
            </a:r>
            <a:r>
              <a:rPr lang="ru-RU" dirty="0"/>
              <a:t>операций — логические операции и операции отношений.</a:t>
            </a:r>
          </a:p>
        </p:txBody>
      </p:sp>
    </p:spTree>
    <p:extLst>
      <p:ext uri="{BB962C8B-B14F-4D97-AF65-F5344CB8AC3E}">
        <p14:creationId xmlns:p14="http://schemas.microsoft.com/office/powerpoint/2010/main" val="829620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2AF33523-C647-B18C-1B27-656B7805A218}"/>
              </a:ext>
            </a:extLst>
          </p:cNvPr>
          <p:cNvPicPr>
            <a:picLocks noChangeAspect="1"/>
          </p:cNvPicPr>
          <p:nvPr/>
        </p:nvPicPr>
        <p:blipFill>
          <a:blip r:embed="rId2"/>
          <a:stretch>
            <a:fillRect/>
          </a:stretch>
        </p:blipFill>
        <p:spPr>
          <a:xfrm>
            <a:off x="1328428" y="3895643"/>
            <a:ext cx="9076386" cy="2381331"/>
          </a:xfrm>
          <a:prstGeom prst="rect">
            <a:avLst/>
          </a:prstGeom>
        </p:spPr>
      </p:pic>
      <p:pic>
        <p:nvPicPr>
          <p:cNvPr id="7" name="Рисунок 6">
            <a:extLst>
              <a:ext uri="{FF2B5EF4-FFF2-40B4-BE49-F238E27FC236}">
                <a16:creationId xmlns:a16="http://schemas.microsoft.com/office/drawing/2014/main" id="{467AB95B-A6AD-94B4-01EE-FD78D1AC2155}"/>
              </a:ext>
            </a:extLst>
          </p:cNvPr>
          <p:cNvPicPr>
            <a:picLocks noChangeAspect="1"/>
          </p:cNvPicPr>
          <p:nvPr/>
        </p:nvPicPr>
        <p:blipFill>
          <a:blip r:embed="rId3"/>
          <a:stretch>
            <a:fillRect/>
          </a:stretch>
        </p:blipFill>
        <p:spPr>
          <a:xfrm>
            <a:off x="1328428" y="880966"/>
            <a:ext cx="3910322" cy="2392392"/>
          </a:xfrm>
          <a:prstGeom prst="rect">
            <a:avLst/>
          </a:prstGeom>
        </p:spPr>
      </p:pic>
    </p:spTree>
    <p:extLst>
      <p:ext uri="{BB962C8B-B14F-4D97-AF65-F5344CB8AC3E}">
        <p14:creationId xmlns:p14="http://schemas.microsoft.com/office/powerpoint/2010/main" val="17199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D2DAA1-9BDE-F0CB-AB27-9C599E58258C}"/>
              </a:ext>
            </a:extLst>
          </p:cNvPr>
          <p:cNvSpPr>
            <a:spLocks noGrp="1"/>
          </p:cNvSpPr>
          <p:nvPr>
            <p:ph type="title"/>
          </p:nvPr>
        </p:nvSpPr>
        <p:spPr/>
        <p:txBody>
          <a:bodyPr/>
          <a:lstStyle/>
          <a:p>
            <a:r>
              <a:rPr lang="ru-RU" dirty="0"/>
              <a:t>Соединение (</a:t>
            </a:r>
            <a:r>
              <a:rPr lang="de-CH" dirty="0" err="1"/>
              <a:t>Join</a:t>
            </a:r>
            <a:r>
              <a:rPr lang="de-CH" dirty="0"/>
              <a:t>)</a:t>
            </a:r>
            <a:endParaRPr lang="ru-RU" dirty="0"/>
          </a:p>
        </p:txBody>
      </p:sp>
      <p:sp>
        <p:nvSpPr>
          <p:cNvPr id="3" name="Объект 2">
            <a:extLst>
              <a:ext uri="{FF2B5EF4-FFF2-40B4-BE49-F238E27FC236}">
                <a16:creationId xmlns:a16="http://schemas.microsoft.com/office/drawing/2014/main" id="{61C67C63-9CFF-D77F-320B-B52CCBE2E847}"/>
              </a:ext>
            </a:extLst>
          </p:cNvPr>
          <p:cNvSpPr>
            <a:spLocks noGrp="1"/>
          </p:cNvSpPr>
          <p:nvPr>
            <p:ph idx="1"/>
          </p:nvPr>
        </p:nvSpPr>
        <p:spPr>
          <a:xfrm>
            <a:off x="838200" y="1690688"/>
            <a:ext cx="10515600" cy="4351338"/>
          </a:xfrm>
        </p:spPr>
        <p:txBody>
          <a:bodyPr>
            <a:normAutofit/>
          </a:bodyPr>
          <a:lstStyle/>
          <a:p>
            <a:pPr algn="l"/>
            <a:r>
              <a:rPr lang="ru-RU" sz="2800" b="0" i="0" u="none" strike="noStrike" baseline="0" dirty="0">
                <a:latin typeface="TimesNewRomanPSMT"/>
              </a:rPr>
              <a:t>Пусть имеются два отношения r (X, У) и s (Y, Z) и некоторое условие</a:t>
            </a:r>
            <a:r>
              <a:rPr lang="en-US" sz="2800" b="0" i="0" u="none" strike="noStrike" baseline="0" dirty="0">
                <a:latin typeface="TimesNewRomanPSMT"/>
              </a:rPr>
              <a:t> </a:t>
            </a:r>
            <a:r>
              <a:rPr lang="ru-RU" sz="2800" b="0" i="0" u="none" strike="noStrike" baseline="0" dirty="0">
                <a:latin typeface="SymbolMT"/>
              </a:rPr>
              <a:t>Θ</a:t>
            </a:r>
            <a:r>
              <a:rPr lang="ru-RU" sz="2800" b="0" i="0" u="none" strike="noStrike" baseline="0" dirty="0">
                <a:latin typeface="TimesNewRomanPSMT"/>
              </a:rPr>
              <a:t>, где X, У, Z-— непересекающиеся множества атрибутов и Y—</a:t>
            </a:r>
            <a:r>
              <a:rPr lang="en-US" sz="2800" b="0" i="0" u="none" strike="noStrike" baseline="0" dirty="0">
                <a:latin typeface="TimesNewRomanPSMT"/>
              </a:rPr>
              <a:t> </a:t>
            </a:r>
            <a:r>
              <a:rPr lang="ru-RU" sz="2800" b="0" i="0" u="none" strike="noStrike" baseline="0" dirty="0">
                <a:latin typeface="TimesNewRomanPSMT"/>
              </a:rPr>
              <a:t>множество атрибутов, общих для r и s, тогда отношение</a:t>
            </a:r>
            <a:r>
              <a:rPr lang="en-US" sz="2800" b="0" i="0" u="none" strike="noStrike" baseline="0" dirty="0">
                <a:latin typeface="TimesNewRomanPSMT"/>
              </a:rPr>
              <a:t> </a:t>
            </a:r>
            <a:r>
              <a:rPr lang="de-CH" sz="2800" b="0" i="0" u="none" strike="noStrike" baseline="0" dirty="0">
                <a:latin typeface="TimesNewRomanPSMT"/>
              </a:rPr>
              <a:t>t = r &gt;</a:t>
            </a:r>
            <a:r>
              <a:rPr lang="el-GR" sz="1400" b="0" i="0" u="none" strike="noStrike" baseline="0" dirty="0">
                <a:latin typeface="SymbolMT"/>
              </a:rPr>
              <a:t>Θ</a:t>
            </a:r>
            <a:r>
              <a:rPr lang="el-GR" sz="2800" b="0" i="0" u="none" strike="noStrike" baseline="0" dirty="0">
                <a:latin typeface="TimesNewRomanPSMT"/>
              </a:rPr>
              <a:t>&lt; </a:t>
            </a:r>
            <a:r>
              <a:rPr lang="de-CH" sz="2800" b="0" i="0" u="none" strike="noStrike" baseline="0" dirty="0">
                <a:latin typeface="TimesNewRomanPSMT"/>
              </a:rPr>
              <a:t>s </a:t>
            </a:r>
            <a:r>
              <a:rPr lang="ru-RU" sz="2800" b="0" i="0" u="none" strike="noStrike" baseline="0" dirty="0">
                <a:latin typeface="TimesNewRomanPSMT"/>
              </a:rPr>
              <a:t>называется </a:t>
            </a:r>
            <a:r>
              <a:rPr lang="ru-RU" sz="2800" b="0" i="0" u="none" strike="noStrike" baseline="0" dirty="0">
                <a:latin typeface="SymbolMT"/>
              </a:rPr>
              <a:t>Θ</a:t>
            </a:r>
            <a:r>
              <a:rPr lang="ru-RU" sz="2800" b="0" i="0" u="none" strike="noStrike" baseline="0" dirty="0">
                <a:latin typeface="TimesNewRomanPSMT"/>
              </a:rPr>
              <a:t>-соединением r и s, если каждый кортеж,</a:t>
            </a:r>
            <a:r>
              <a:rPr lang="en-US" sz="2800" b="0" i="0" u="none" strike="noStrike" baseline="0" dirty="0">
                <a:latin typeface="TimesNewRomanPSMT"/>
              </a:rPr>
              <a:t> </a:t>
            </a:r>
            <a:r>
              <a:rPr lang="ru-RU" sz="2800" b="0" i="0" u="none" strike="noStrike" baseline="0" dirty="0">
                <a:latin typeface="TimesNewRomanPSMT"/>
              </a:rPr>
              <a:t>принадлежащий t, состоит из</a:t>
            </a:r>
            <a:r>
              <a:rPr lang="en-US" sz="2800" b="0" i="0" u="none" strike="noStrike" baseline="0" dirty="0">
                <a:latin typeface="TimesNewRomanPSMT"/>
              </a:rPr>
              <a:t> </a:t>
            </a:r>
            <a:r>
              <a:rPr lang="ru-RU" sz="2800" b="0" i="0" u="none" strike="noStrike" baseline="0" dirty="0">
                <a:latin typeface="TimesNewRomanPSMT"/>
              </a:rPr>
              <a:t>кортежей r и s, при выполненном условии </a:t>
            </a:r>
            <a:r>
              <a:rPr lang="ru-RU" sz="2800" b="0" i="0" u="none" strike="noStrike" baseline="0" dirty="0">
                <a:latin typeface="SymbolMT"/>
              </a:rPr>
              <a:t>Θ</a:t>
            </a:r>
            <a:r>
              <a:rPr lang="ru-RU" sz="2800" b="0" i="0" u="none" strike="noStrike" baseline="0" dirty="0">
                <a:latin typeface="TimesNewRomanPSMT"/>
              </a:rPr>
              <a:t>.</a:t>
            </a:r>
          </a:p>
          <a:p>
            <a:pPr algn="l"/>
            <a:r>
              <a:rPr lang="ru-RU" sz="2800" b="0" i="0" u="none" strike="noStrike" baseline="0" dirty="0">
                <a:latin typeface="TimesNewRomanPSMT"/>
              </a:rPr>
              <a:t>Справедлива следующая формула:</a:t>
            </a:r>
          </a:p>
          <a:p>
            <a:pPr algn="l"/>
            <a:r>
              <a:rPr lang="de-CH" sz="2800" b="0" i="0" u="none" strike="noStrike" baseline="0" dirty="0">
                <a:latin typeface="TimesNewRomanPSMT"/>
              </a:rPr>
              <a:t>t = </a:t>
            </a:r>
            <a:r>
              <a:rPr lang="el-GR" sz="2800" b="0" i="0" u="none" strike="noStrike" baseline="0" dirty="0">
                <a:latin typeface="SymbolMT"/>
              </a:rPr>
              <a:t>δ</a:t>
            </a:r>
            <a:r>
              <a:rPr lang="el-GR" sz="1400" b="0" i="0" u="none" strike="noStrike" baseline="0" dirty="0">
                <a:latin typeface="SymbolMT"/>
              </a:rPr>
              <a:t>Θ </a:t>
            </a:r>
            <a:r>
              <a:rPr lang="el-GR" sz="2800" b="0" i="0" u="none" strike="noStrike" baseline="0" dirty="0">
                <a:latin typeface="TimesNewRomanPSMT"/>
              </a:rPr>
              <a:t>(</a:t>
            </a:r>
            <a:r>
              <a:rPr lang="de-CH" sz="2800" b="0" i="0" u="none" strike="noStrike" baseline="0" dirty="0">
                <a:latin typeface="TimesNewRomanPSMT"/>
              </a:rPr>
              <a:t>r * s), </a:t>
            </a:r>
            <a:r>
              <a:rPr lang="ru-RU" sz="2800" b="0" i="0" u="none" strike="noStrike" baseline="0" dirty="0">
                <a:latin typeface="TimesNewRomanPSMT"/>
              </a:rPr>
              <a:t>то есть </a:t>
            </a:r>
            <a:r>
              <a:rPr lang="ru-RU" sz="2800" b="0" i="0" u="none" strike="noStrike" baseline="0" dirty="0">
                <a:latin typeface="SymbolMT"/>
              </a:rPr>
              <a:t>Θ</a:t>
            </a:r>
            <a:r>
              <a:rPr lang="ru-RU" sz="2800" b="0" i="0" u="none" strike="noStrike" baseline="0" dirty="0">
                <a:latin typeface="TimesNewRomanPSMT"/>
              </a:rPr>
              <a:t>-соединение представляет собой декартово произведение r и</a:t>
            </a:r>
            <a:r>
              <a:rPr lang="en-US" sz="2800" b="0" i="0" u="none" strike="noStrike" baseline="0" dirty="0">
                <a:latin typeface="TimesNewRomanPSMT"/>
              </a:rPr>
              <a:t> </a:t>
            </a:r>
            <a:r>
              <a:rPr lang="ru-RU" sz="2800" b="0" i="0" u="none" strike="noStrike" baseline="0" dirty="0">
                <a:latin typeface="TimesNewRomanPSMT"/>
              </a:rPr>
              <a:t>s, над которым выполнена селекция по условию </a:t>
            </a:r>
            <a:r>
              <a:rPr lang="ru-RU" sz="2800" b="0" i="0" u="none" strike="noStrike" baseline="0" dirty="0">
                <a:latin typeface="SymbolMT"/>
              </a:rPr>
              <a:t>Θ</a:t>
            </a:r>
            <a:r>
              <a:rPr lang="ru-RU" sz="2800" b="0" i="0" u="none" strike="noStrike" baseline="0" dirty="0">
                <a:latin typeface="TimesNewRomanPSMT"/>
              </a:rPr>
              <a:t>.</a:t>
            </a:r>
            <a:endParaRPr lang="ru-RU" dirty="0"/>
          </a:p>
        </p:txBody>
      </p:sp>
    </p:spTree>
    <p:extLst>
      <p:ext uri="{BB962C8B-B14F-4D97-AF65-F5344CB8AC3E}">
        <p14:creationId xmlns:p14="http://schemas.microsoft.com/office/powerpoint/2010/main" val="416585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269D7542-5E44-D689-06E9-71B4CC31586B}"/>
              </a:ext>
            </a:extLst>
          </p:cNvPr>
          <p:cNvPicPr>
            <a:picLocks noChangeAspect="1"/>
          </p:cNvPicPr>
          <p:nvPr/>
        </p:nvPicPr>
        <p:blipFill>
          <a:blip r:embed="rId2"/>
          <a:stretch>
            <a:fillRect/>
          </a:stretch>
        </p:blipFill>
        <p:spPr>
          <a:xfrm>
            <a:off x="1790140" y="933165"/>
            <a:ext cx="9557162" cy="4858035"/>
          </a:xfrm>
          <a:prstGeom prst="rect">
            <a:avLst/>
          </a:prstGeom>
        </p:spPr>
      </p:pic>
    </p:spTree>
    <p:extLst>
      <p:ext uri="{BB962C8B-B14F-4D97-AF65-F5344CB8AC3E}">
        <p14:creationId xmlns:p14="http://schemas.microsoft.com/office/powerpoint/2010/main" val="3364741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810408-3D70-259E-F96C-601AAF00DC7D}"/>
              </a:ext>
            </a:extLst>
          </p:cNvPr>
          <p:cNvSpPr>
            <a:spLocks noGrp="1"/>
          </p:cNvSpPr>
          <p:nvPr>
            <p:ph type="title"/>
          </p:nvPr>
        </p:nvSpPr>
        <p:spPr/>
        <p:txBody>
          <a:bodyPr/>
          <a:lstStyle/>
          <a:p>
            <a:r>
              <a:rPr lang="ru-RU" dirty="0"/>
              <a:t>Деление</a:t>
            </a:r>
          </a:p>
        </p:txBody>
      </p:sp>
      <p:sp>
        <p:nvSpPr>
          <p:cNvPr id="3" name="Объект 2">
            <a:extLst>
              <a:ext uri="{FF2B5EF4-FFF2-40B4-BE49-F238E27FC236}">
                <a16:creationId xmlns:a16="http://schemas.microsoft.com/office/drawing/2014/main" id="{D03BA69D-BE2A-B1D7-B5BB-1D58DA2DEC63}"/>
              </a:ext>
            </a:extLst>
          </p:cNvPr>
          <p:cNvSpPr>
            <a:spLocks noGrp="1"/>
          </p:cNvSpPr>
          <p:nvPr>
            <p:ph idx="1"/>
          </p:nvPr>
        </p:nvSpPr>
        <p:spPr/>
        <p:txBody>
          <a:bodyPr>
            <a:normAutofit/>
          </a:bodyPr>
          <a:lstStyle/>
          <a:p>
            <a:r>
              <a:rPr lang="ru-RU" sz="2800" b="0" i="0" u="none" strike="noStrike" baseline="0" dirty="0">
                <a:latin typeface="TimesNewRomanPSMT"/>
              </a:rPr>
              <a:t>Деление — это также бинарная несимметричная операция для получения некоторого отношения из двух исходных, причем степень </a:t>
            </a:r>
          </a:p>
          <a:p>
            <a:r>
              <a:rPr lang="ru-RU" sz="2800" b="0" i="0" u="none" strike="noStrike" baseline="0" dirty="0">
                <a:latin typeface="TimesNewRomanPSMT"/>
              </a:rPr>
              <a:t>результирующего отношения не совпадает со степенью ни одного из операндов, а вычисляется как разность между степенью отношения- делимого и степенью отношения-делителя.</a:t>
            </a:r>
          </a:p>
          <a:p>
            <a:r>
              <a:rPr lang="ru-RU" sz="2800" b="0" i="0" u="none" strike="noStrike" baseline="0" dirty="0">
                <a:latin typeface="TimesNewRomanPSMT"/>
              </a:rPr>
              <a:t>Пусть имеются отношения r(Х, У) арности k</a:t>
            </a:r>
            <a:r>
              <a:rPr lang="ru-RU" sz="1400" b="0" i="0" u="none" strike="noStrike" baseline="0" dirty="0">
                <a:latin typeface="TimesNewRomanPSMT"/>
              </a:rPr>
              <a:t>1 </a:t>
            </a:r>
            <a:r>
              <a:rPr lang="ru-RU" sz="2800" b="0" i="0" u="none" strike="noStrike" baseline="0" dirty="0">
                <a:latin typeface="TimesNewRomanPSMT"/>
              </a:rPr>
              <a:t>и p(Z) арности k</a:t>
            </a:r>
            <a:r>
              <a:rPr lang="ru-RU" sz="1400" b="0" i="0" u="none" strike="noStrike" baseline="0" dirty="0">
                <a:latin typeface="TimesNewRomanPSMT"/>
              </a:rPr>
              <a:t>2</a:t>
            </a:r>
            <a:r>
              <a:rPr lang="ru-RU" sz="2800" b="0" i="0" u="none" strike="noStrike" baseline="0" dirty="0">
                <a:latin typeface="TimesNewRomanPSMT"/>
              </a:rPr>
              <a:t>, где Y и Z определены на одном домене, тогда отношение t = r </a:t>
            </a:r>
            <a:r>
              <a:rPr lang="ru-RU" sz="2800" b="0" i="0" u="none" strike="noStrike" baseline="0" dirty="0">
                <a:latin typeface="SymbolMT"/>
              </a:rPr>
              <a:t>÷ </a:t>
            </a:r>
            <a:r>
              <a:rPr lang="ru-RU" sz="2800" b="0" i="0" u="none" strike="noStrike" baseline="0" dirty="0">
                <a:latin typeface="TimesNewRomanPSMT"/>
              </a:rPr>
              <a:t>p арности k1 – k2 называется делением r на p, если любой кортеж из t вместе с любым кортежем из p образуют кортеж, имеющийся в r.</a:t>
            </a:r>
            <a:endParaRPr lang="ru-RU" dirty="0"/>
          </a:p>
        </p:txBody>
      </p:sp>
    </p:spTree>
    <p:extLst>
      <p:ext uri="{BB962C8B-B14F-4D97-AF65-F5344CB8AC3E}">
        <p14:creationId xmlns:p14="http://schemas.microsoft.com/office/powerpoint/2010/main" val="628547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FFC8728-CC78-17BF-8532-15F6F7B8585B}"/>
              </a:ext>
            </a:extLst>
          </p:cNvPr>
          <p:cNvSpPr>
            <a:spLocks noGrp="1"/>
          </p:cNvSpPr>
          <p:nvPr>
            <p:ph idx="1"/>
          </p:nvPr>
        </p:nvSpPr>
        <p:spPr>
          <a:xfrm>
            <a:off x="838200" y="485775"/>
            <a:ext cx="10515600" cy="5691188"/>
          </a:xfrm>
        </p:spPr>
        <p:txBody>
          <a:bodyPr>
            <a:normAutofit/>
          </a:bodyPr>
          <a:lstStyle/>
          <a:p>
            <a:r>
              <a:rPr lang="ru-RU" sz="2000" dirty="0"/>
              <a:t>Даны отношения, содержащие сведения об экзаменах, которые должны были сдавать студенты, и сведения о результатах сдачи этих экзаменов:</a:t>
            </a:r>
          </a:p>
          <a:p>
            <a:endParaRPr lang="ru-RU" sz="2000" dirty="0"/>
          </a:p>
          <a:p>
            <a:endParaRPr lang="ru-RU" sz="2000" dirty="0"/>
          </a:p>
          <a:p>
            <a:endParaRPr lang="ru-RU" sz="2000" dirty="0"/>
          </a:p>
          <a:p>
            <a:endParaRPr lang="ru-RU" sz="2000" dirty="0"/>
          </a:p>
          <a:p>
            <a:endParaRPr lang="ru-RU" sz="2000" dirty="0"/>
          </a:p>
          <a:p>
            <a:endParaRPr lang="ru-RU" sz="2000" dirty="0"/>
          </a:p>
          <a:p>
            <a:r>
              <a:rPr lang="ru-RU" sz="2000" dirty="0"/>
              <a:t>Сформируем ответ на такой запрос: дать сведения о студентах, сдавших все экзамены. Для получения ответа на данный запрос необходимо выполнить следующую операцию деления:  </a:t>
            </a:r>
            <a:r>
              <a:rPr lang="de-CH" sz="2000" dirty="0"/>
              <a:t>t = r ÷ p</a:t>
            </a:r>
            <a:endParaRPr lang="ru-RU" sz="2000" dirty="0"/>
          </a:p>
          <a:p>
            <a:endParaRPr lang="ru-RU" sz="2400" dirty="0"/>
          </a:p>
          <a:p>
            <a:endParaRPr lang="ru-RU" sz="2400" dirty="0"/>
          </a:p>
        </p:txBody>
      </p:sp>
      <p:pic>
        <p:nvPicPr>
          <p:cNvPr id="5" name="Рисунок 4">
            <a:extLst>
              <a:ext uri="{FF2B5EF4-FFF2-40B4-BE49-F238E27FC236}">
                <a16:creationId xmlns:a16="http://schemas.microsoft.com/office/drawing/2014/main" id="{08CB500C-0301-17E0-BB24-206D07240DC4}"/>
              </a:ext>
            </a:extLst>
          </p:cNvPr>
          <p:cNvPicPr>
            <a:picLocks noChangeAspect="1"/>
          </p:cNvPicPr>
          <p:nvPr/>
        </p:nvPicPr>
        <p:blipFill>
          <a:blip r:embed="rId2"/>
          <a:stretch>
            <a:fillRect/>
          </a:stretch>
        </p:blipFill>
        <p:spPr>
          <a:xfrm>
            <a:off x="838200" y="1188094"/>
            <a:ext cx="6453375" cy="2393305"/>
          </a:xfrm>
          <a:prstGeom prst="rect">
            <a:avLst/>
          </a:prstGeom>
        </p:spPr>
      </p:pic>
      <p:pic>
        <p:nvPicPr>
          <p:cNvPr id="9" name="Рисунок 8">
            <a:extLst>
              <a:ext uri="{FF2B5EF4-FFF2-40B4-BE49-F238E27FC236}">
                <a16:creationId xmlns:a16="http://schemas.microsoft.com/office/drawing/2014/main" id="{FC624A8E-09ED-7B09-E5E5-9E4901D79EED}"/>
              </a:ext>
            </a:extLst>
          </p:cNvPr>
          <p:cNvPicPr>
            <a:picLocks noChangeAspect="1"/>
          </p:cNvPicPr>
          <p:nvPr/>
        </p:nvPicPr>
        <p:blipFill>
          <a:blip r:embed="rId3"/>
          <a:stretch>
            <a:fillRect/>
          </a:stretch>
        </p:blipFill>
        <p:spPr>
          <a:xfrm>
            <a:off x="838199" y="4581435"/>
            <a:ext cx="3648399" cy="1790789"/>
          </a:xfrm>
          <a:prstGeom prst="rect">
            <a:avLst/>
          </a:prstGeom>
        </p:spPr>
      </p:pic>
    </p:spTree>
    <p:extLst>
      <p:ext uri="{BB962C8B-B14F-4D97-AF65-F5344CB8AC3E}">
        <p14:creationId xmlns:p14="http://schemas.microsoft.com/office/powerpoint/2010/main" val="2341309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55AB05E1-EAC2-7BDF-04B4-EFD96FEA6D04}"/>
              </a:ext>
            </a:extLst>
          </p:cNvPr>
          <p:cNvPicPr>
            <a:picLocks noChangeAspect="1"/>
          </p:cNvPicPr>
          <p:nvPr/>
        </p:nvPicPr>
        <p:blipFill>
          <a:blip r:embed="rId2"/>
          <a:stretch>
            <a:fillRect/>
          </a:stretch>
        </p:blipFill>
        <p:spPr>
          <a:xfrm>
            <a:off x="1004177" y="423472"/>
            <a:ext cx="10183646" cy="5591955"/>
          </a:xfrm>
          <a:prstGeom prst="rect">
            <a:avLst/>
          </a:prstGeom>
        </p:spPr>
      </p:pic>
    </p:spTree>
    <p:extLst>
      <p:ext uri="{BB962C8B-B14F-4D97-AF65-F5344CB8AC3E}">
        <p14:creationId xmlns:p14="http://schemas.microsoft.com/office/powerpoint/2010/main" val="55750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0FDDEFF4-6BEB-AE57-5B97-F8D9340A3998}"/>
              </a:ext>
            </a:extLst>
          </p:cNvPr>
          <p:cNvSpPr>
            <a:spLocks noGrp="1"/>
          </p:cNvSpPr>
          <p:nvPr>
            <p:ph idx="1"/>
          </p:nvPr>
        </p:nvSpPr>
        <p:spPr>
          <a:xfrm>
            <a:off x="838200" y="552450"/>
            <a:ext cx="10515600" cy="5624513"/>
          </a:xfrm>
        </p:spPr>
        <p:txBody>
          <a:bodyPr/>
          <a:lstStyle/>
          <a:p>
            <a:pPr marL="457200" indent="-457200">
              <a:buFont typeface="Arial" panose="020B0604020202020204" pitchFamily="34" charset="0"/>
              <a:buChar char="•"/>
            </a:pPr>
            <a:r>
              <a:rPr lang="ru-RU" dirty="0"/>
              <a:t>Получить номера поставщиков, поставляющих или товары из Уяра или для проекта из Красноярска.</a:t>
            </a:r>
          </a:p>
          <a:p>
            <a:pPr marL="457200" indent="-457200">
              <a:buFont typeface="Arial" panose="020B0604020202020204" pitchFamily="34" charset="0"/>
              <a:buChar char="•"/>
            </a:pPr>
            <a:r>
              <a:rPr lang="ru-RU" dirty="0"/>
              <a:t>Получить имена поставщиков и их статус, которые поставляют товар P3.</a:t>
            </a:r>
          </a:p>
          <a:p>
            <a:pPr marL="457200" indent="-457200">
              <a:buFont typeface="Arial" panose="020B0604020202020204" pitchFamily="34" charset="0"/>
              <a:buChar char="•"/>
            </a:pPr>
            <a:r>
              <a:rPr lang="ru-RU" dirty="0"/>
              <a:t>Получить имена поставщиков, которые поставляют по крайней мере один товар – стул.</a:t>
            </a:r>
          </a:p>
          <a:p>
            <a:pPr marL="457200" indent="-457200">
              <a:buFont typeface="Arial" panose="020B0604020202020204" pitchFamily="34" charset="0"/>
              <a:buChar char="•"/>
            </a:pPr>
            <a:r>
              <a:rPr lang="ru-RU" dirty="0"/>
              <a:t>Получить все имена товаров</a:t>
            </a:r>
          </a:p>
          <a:p>
            <a:pPr marL="457200" indent="-457200">
              <a:buFont typeface="Arial" panose="020B0604020202020204" pitchFamily="34" charset="0"/>
              <a:buChar char="•"/>
            </a:pPr>
            <a:r>
              <a:rPr lang="ru-RU" dirty="0"/>
              <a:t>Получить города поставщиков статус который больше 20</a:t>
            </a:r>
          </a:p>
          <a:p>
            <a:pPr marL="457200" indent="-457200">
              <a:buFont typeface="Arial" panose="020B0604020202020204" pitchFamily="34" charset="0"/>
              <a:buChar char="•"/>
            </a:pPr>
            <a:r>
              <a:rPr lang="ru-RU" dirty="0"/>
              <a:t>Получить все сочетания “имя товара-город товара”</a:t>
            </a:r>
          </a:p>
          <a:p>
            <a:pPr marL="457200" indent="-457200">
              <a:buFont typeface="Arial" panose="020B0604020202020204" pitchFamily="34" charset="0"/>
              <a:buChar char="•"/>
            </a:pPr>
            <a:r>
              <a:rPr lang="ru-RU" dirty="0"/>
              <a:t>Получить полную информацию обо всех проектах в Канске</a:t>
            </a:r>
          </a:p>
          <a:p>
            <a:pPr marL="457200" indent="-457200">
              <a:buFont typeface="Arial" panose="020B0604020202020204" pitchFamily="34" charset="0"/>
              <a:buChar char="•"/>
            </a:pPr>
            <a:r>
              <a:rPr lang="ru-RU" dirty="0"/>
              <a:t>Получить полную информацию о поставщиках</a:t>
            </a:r>
          </a:p>
          <a:p>
            <a:endParaRPr lang="ru-RU" dirty="0"/>
          </a:p>
        </p:txBody>
      </p:sp>
    </p:spTree>
    <p:extLst>
      <p:ext uri="{BB962C8B-B14F-4D97-AF65-F5344CB8AC3E}">
        <p14:creationId xmlns:p14="http://schemas.microsoft.com/office/powerpoint/2010/main" val="3211321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C78DD1-75AB-C521-3206-63F0CC8F3EC8}"/>
              </a:ext>
            </a:extLst>
          </p:cNvPr>
          <p:cNvSpPr>
            <a:spLocks noGrp="1"/>
          </p:cNvSpPr>
          <p:nvPr>
            <p:ph type="title"/>
          </p:nvPr>
        </p:nvSpPr>
        <p:spPr/>
        <p:txBody>
          <a:bodyPr/>
          <a:lstStyle/>
          <a:p>
            <a:r>
              <a:rPr lang="de-CH" dirty="0"/>
              <a:t>QL Server </a:t>
            </a:r>
            <a:r>
              <a:rPr lang="ru-RU" dirty="0"/>
              <a:t>и </a:t>
            </a:r>
            <a:r>
              <a:rPr lang="de-CH" dirty="0"/>
              <a:t>T-SQL</a:t>
            </a:r>
            <a:endParaRPr lang="ru-RU" dirty="0"/>
          </a:p>
        </p:txBody>
      </p:sp>
      <p:sp>
        <p:nvSpPr>
          <p:cNvPr id="3" name="Объект 2">
            <a:extLst>
              <a:ext uri="{FF2B5EF4-FFF2-40B4-BE49-F238E27FC236}">
                <a16:creationId xmlns:a16="http://schemas.microsoft.com/office/drawing/2014/main" id="{DB200AE7-8CBB-288A-7629-C516A884E9E0}"/>
              </a:ext>
            </a:extLst>
          </p:cNvPr>
          <p:cNvSpPr>
            <a:spLocks noGrp="1"/>
          </p:cNvSpPr>
          <p:nvPr>
            <p:ph idx="1"/>
          </p:nvPr>
        </p:nvSpPr>
        <p:spPr/>
        <p:txBody>
          <a:bodyPr>
            <a:noAutofit/>
          </a:bodyPr>
          <a:lstStyle/>
          <a:p>
            <a:r>
              <a:rPr lang="ru-RU" sz="2000" dirty="0"/>
              <a:t>SQL Server является одной из наиболее популярных систем управления базами данных (СУБД) в мире. Данная СУБД подходит для самых различных проектов: от небольших приложений до больших высоконагруженных проектов.</a:t>
            </a:r>
          </a:p>
          <a:p>
            <a:endParaRPr lang="ru-RU" sz="2000" dirty="0"/>
          </a:p>
          <a:p>
            <a:r>
              <a:rPr lang="ru-RU" sz="2000" dirty="0"/>
              <a:t>SQL Server был создан компанией Microsoft. Первая версия вышла в 1987 году. А текущей версией является версия 2022, которая вышла в ноябре 2022 году и которая будет использоваться в текущем руководстве.</a:t>
            </a:r>
          </a:p>
          <a:p>
            <a:endParaRPr lang="ru-RU" sz="2000" dirty="0"/>
          </a:p>
          <a:p>
            <a:r>
              <a:rPr lang="ru-RU" sz="2000" dirty="0"/>
              <a:t>SQL Server долгое время был исключительно системой управления базами данных для Windows, однако начиная с версии 16 эта система доступна и на Linux.</a:t>
            </a:r>
          </a:p>
        </p:txBody>
      </p:sp>
    </p:spTree>
    <p:extLst>
      <p:ext uri="{BB962C8B-B14F-4D97-AF65-F5344CB8AC3E}">
        <p14:creationId xmlns:p14="http://schemas.microsoft.com/office/powerpoint/2010/main" val="2694740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6CC870DE-24F5-749D-01F5-DD27B06123FF}"/>
              </a:ext>
            </a:extLst>
          </p:cNvPr>
          <p:cNvSpPr>
            <a:spLocks noGrp="1"/>
          </p:cNvSpPr>
          <p:nvPr>
            <p:ph idx="1"/>
          </p:nvPr>
        </p:nvSpPr>
        <p:spPr>
          <a:xfrm>
            <a:off x="838200" y="606669"/>
            <a:ext cx="10515600" cy="5570294"/>
          </a:xfrm>
        </p:spPr>
        <p:txBody>
          <a:bodyPr>
            <a:normAutofit/>
          </a:bodyPr>
          <a:lstStyle/>
          <a:p>
            <a:r>
              <a:rPr lang="ru-RU" sz="2000" dirty="0"/>
              <a:t>SQL Server характеризуется такими особенностями как:</a:t>
            </a:r>
          </a:p>
          <a:p>
            <a:endParaRPr lang="ru-RU" sz="2000" dirty="0"/>
          </a:p>
          <a:p>
            <a:pPr marL="457200" indent="-457200">
              <a:buFont typeface="Arial" panose="020B0604020202020204" pitchFamily="34" charset="0"/>
              <a:buChar char="•"/>
            </a:pPr>
            <a:r>
              <a:rPr lang="ru-RU" sz="2000" dirty="0"/>
              <a:t>Производительность. SQL Server работает очень быстро.</a:t>
            </a:r>
          </a:p>
          <a:p>
            <a:pPr marL="457200" indent="-457200">
              <a:buFont typeface="Arial" panose="020B0604020202020204" pitchFamily="34" charset="0"/>
              <a:buChar char="•"/>
            </a:pPr>
            <a:endParaRPr lang="ru-RU" sz="2000" dirty="0"/>
          </a:p>
          <a:p>
            <a:pPr marL="457200" indent="-457200">
              <a:buFont typeface="Arial" panose="020B0604020202020204" pitchFamily="34" charset="0"/>
              <a:buChar char="•"/>
            </a:pPr>
            <a:r>
              <a:rPr lang="ru-RU" sz="2000" dirty="0"/>
              <a:t>Надежность и безопасность. SQL Server предоставляет шифрование данных.</a:t>
            </a:r>
          </a:p>
          <a:p>
            <a:pPr marL="457200" indent="-457200">
              <a:buFont typeface="Arial" panose="020B0604020202020204" pitchFamily="34" charset="0"/>
              <a:buChar char="•"/>
            </a:pPr>
            <a:endParaRPr lang="ru-RU" sz="2000" dirty="0"/>
          </a:p>
          <a:p>
            <a:pPr marL="457200" indent="-457200">
              <a:buFont typeface="Arial" panose="020B0604020202020204" pitchFamily="34" charset="0"/>
              <a:buChar char="•"/>
            </a:pPr>
            <a:r>
              <a:rPr lang="ru-RU" sz="2000" dirty="0"/>
              <a:t>Простота. С данной СУБД относительно легко работать и вести администрирование.</a:t>
            </a:r>
          </a:p>
          <a:p>
            <a:endParaRPr lang="ru-RU" sz="2000" dirty="0"/>
          </a:p>
          <a:p>
            <a:r>
              <a:rPr lang="ru-RU" sz="2000" dirty="0"/>
              <a:t>Центральным аспектом в MS SQL Server, как и в любой СУБД, является база данных.</a:t>
            </a:r>
          </a:p>
        </p:txBody>
      </p:sp>
    </p:spTree>
    <p:extLst>
      <p:ext uri="{BB962C8B-B14F-4D97-AF65-F5344CB8AC3E}">
        <p14:creationId xmlns:p14="http://schemas.microsoft.com/office/powerpoint/2010/main" val="3472576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EBAB995-1438-77E0-5180-903C316316FA}"/>
              </a:ext>
            </a:extLst>
          </p:cNvPr>
          <p:cNvSpPr>
            <a:spLocks noGrp="1"/>
          </p:cNvSpPr>
          <p:nvPr>
            <p:ph idx="1"/>
          </p:nvPr>
        </p:nvSpPr>
        <p:spPr>
          <a:xfrm>
            <a:off x="838200" y="518746"/>
            <a:ext cx="10515600" cy="5658217"/>
          </a:xfrm>
        </p:spPr>
        <p:txBody>
          <a:bodyPr>
            <a:normAutofit/>
          </a:bodyPr>
          <a:lstStyle/>
          <a:p>
            <a:pPr>
              <a:lnSpc>
                <a:spcPct val="150000"/>
              </a:lnSpc>
            </a:pPr>
            <a:r>
              <a:rPr lang="ru-RU" sz="2000" b="1" dirty="0"/>
              <a:t>База данных</a:t>
            </a:r>
            <a:r>
              <a:rPr lang="ru-RU" sz="2000" dirty="0"/>
              <a:t> представляет хранилище данных, организованных определенным способом. Нередко физически база данных представляет файл на жестком диске, хотя такое соответствие необязательно. Для хранения и администрирования баз данных применяются системы управления базами данных (</a:t>
            </a:r>
            <a:r>
              <a:rPr lang="ru-RU" sz="2000" dirty="0" err="1"/>
              <a:t>database</a:t>
            </a:r>
            <a:r>
              <a:rPr lang="ru-RU" sz="2000" dirty="0"/>
              <a:t> </a:t>
            </a:r>
            <a:r>
              <a:rPr lang="ru-RU" sz="2000" dirty="0" err="1"/>
              <a:t>management</a:t>
            </a:r>
            <a:r>
              <a:rPr lang="ru-RU" sz="2000" dirty="0"/>
              <a:t> </a:t>
            </a:r>
            <a:r>
              <a:rPr lang="ru-RU" sz="2000" dirty="0" err="1"/>
              <a:t>system</a:t>
            </a:r>
            <a:r>
              <a:rPr lang="ru-RU" sz="2000" dirty="0"/>
              <a:t>) или СУБД (DBMS). И как раз MS SQL Server является одной из такой СУБД.</a:t>
            </a:r>
            <a:endParaRPr lang="en-US" sz="2000" dirty="0"/>
          </a:p>
          <a:p>
            <a:pPr>
              <a:lnSpc>
                <a:spcPct val="150000"/>
              </a:lnSpc>
            </a:pPr>
            <a:endParaRPr lang="en-US" sz="2000" dirty="0"/>
          </a:p>
          <a:p>
            <a:pPr>
              <a:lnSpc>
                <a:spcPct val="150000"/>
              </a:lnSpc>
            </a:pPr>
            <a:r>
              <a:rPr lang="ru-RU" sz="2000" dirty="0"/>
              <a:t>Для организации баз данных MS SQL Server использует реляционную модель. </a:t>
            </a:r>
          </a:p>
        </p:txBody>
      </p:sp>
    </p:spTree>
    <p:extLst>
      <p:ext uri="{BB962C8B-B14F-4D97-AF65-F5344CB8AC3E}">
        <p14:creationId xmlns:p14="http://schemas.microsoft.com/office/powerpoint/2010/main" val="278798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66AA7A1-96C6-7908-FC37-1BE14636161C}"/>
              </a:ext>
            </a:extLst>
          </p:cNvPr>
          <p:cNvSpPr>
            <a:spLocks noGrp="1"/>
          </p:cNvSpPr>
          <p:nvPr>
            <p:ph idx="1"/>
          </p:nvPr>
        </p:nvSpPr>
        <p:spPr/>
        <p:txBody>
          <a:bodyPr/>
          <a:lstStyle/>
          <a:p>
            <a:r>
              <a:rPr lang="ru-RU" sz="2000" dirty="0"/>
              <a:t>Изначально язык SQL был разработан в компании IBM для системы баз данных, которая называлась System/R. При этом сам язык назывался SEQUEL (</a:t>
            </a:r>
            <a:r>
              <a:rPr lang="ru-RU" sz="2000" dirty="0" err="1"/>
              <a:t>Structured</a:t>
            </a:r>
            <a:r>
              <a:rPr lang="ru-RU" sz="2000" dirty="0"/>
              <a:t> English </a:t>
            </a:r>
            <a:r>
              <a:rPr lang="ru-RU" sz="2000" dirty="0" err="1"/>
              <a:t>Query</a:t>
            </a:r>
            <a:r>
              <a:rPr lang="ru-RU" sz="2000" dirty="0"/>
              <a:t> Language). Хотя в итоге ни база данных, ни сам язык не были впоследствии официально опубликованы, по традиции сам термин SQL нередко произносят как "сиквел".</a:t>
            </a:r>
          </a:p>
          <a:p>
            <a:endParaRPr lang="en-US" sz="2000" dirty="0"/>
          </a:p>
          <a:p>
            <a:r>
              <a:rPr lang="ru-RU" sz="2000" dirty="0"/>
              <a:t>В 1979 году компания </a:t>
            </a:r>
            <a:r>
              <a:rPr lang="ru-RU" sz="2000" dirty="0" err="1"/>
              <a:t>Relational</a:t>
            </a:r>
            <a:r>
              <a:rPr lang="ru-RU" sz="2000" dirty="0"/>
              <a:t> Software Inc. разработала первую систему управления баз данных, которая называлась Oracle и которая использовала язык SQL. В связи с успехом данного продукта компания была переименована в Oracle.</a:t>
            </a:r>
          </a:p>
          <a:p>
            <a:endParaRPr lang="en-US" sz="2000" dirty="0"/>
          </a:p>
          <a:p>
            <a:r>
              <a:rPr lang="ru-RU" sz="2000" dirty="0"/>
              <a:t>Впоследствии стали появляться другие системы баз данных, которые использовали SQL. В итоге в 1989 году Американский Национальный Институт Стандартов (ANSI) кодифицировал язык и опубликовал его первый стандарт. После этого стандарт периодически обновлялся и дополнялся. Последнее его обновление состоялось в 2011 году. Но несмотря на наличие стандарта нередко производители СУБД используют свои собственные реализации языка SQL, которые немного отличаются друг от друга</a:t>
            </a:r>
            <a:r>
              <a:rPr lang="ru-RU" dirty="0"/>
              <a:t>.</a:t>
            </a:r>
          </a:p>
          <a:p>
            <a:endParaRPr lang="ru-RU" dirty="0"/>
          </a:p>
        </p:txBody>
      </p:sp>
    </p:spTree>
    <p:extLst>
      <p:ext uri="{BB962C8B-B14F-4D97-AF65-F5344CB8AC3E}">
        <p14:creationId xmlns:p14="http://schemas.microsoft.com/office/powerpoint/2010/main" val="180051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367133EB-C6DC-3E28-31F7-F3D3D8D6F714}"/>
              </a:ext>
            </a:extLst>
          </p:cNvPr>
          <p:cNvSpPr>
            <a:spLocks noGrp="1"/>
          </p:cNvSpPr>
          <p:nvPr>
            <p:ph idx="1"/>
          </p:nvPr>
        </p:nvSpPr>
        <p:spPr/>
        <p:txBody>
          <a:bodyPr/>
          <a:lstStyle/>
          <a:p>
            <a:endParaRPr lang="en-US" dirty="0"/>
          </a:p>
          <a:p>
            <a:endParaRPr lang="en-US" dirty="0"/>
          </a:p>
          <a:p>
            <a:r>
              <a:rPr lang="ru-RU" dirty="0"/>
              <a:t>Выделяются две разновидности языка SQL: PL-SQL и T-SQL. PL-SQL используется в таких СУБД как Oracle и MySQL. T-SQL (</a:t>
            </a:r>
            <a:r>
              <a:rPr lang="ru-RU" dirty="0" err="1"/>
              <a:t>Transact</a:t>
            </a:r>
            <a:r>
              <a:rPr lang="ru-RU" dirty="0"/>
              <a:t>-SQL) применяется в SQL Server. Собственно поэтому в рамках текущего руководства будет рассматриваться именно T-SQL.</a:t>
            </a:r>
          </a:p>
        </p:txBody>
      </p:sp>
    </p:spTree>
    <p:extLst>
      <p:ext uri="{BB962C8B-B14F-4D97-AF65-F5344CB8AC3E}">
        <p14:creationId xmlns:p14="http://schemas.microsoft.com/office/powerpoint/2010/main" val="528031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D6D344D8-C0CC-973F-2149-DDF60B32C1D5}"/>
              </a:ext>
            </a:extLst>
          </p:cNvPr>
          <p:cNvSpPr>
            <a:spLocks noGrp="1"/>
          </p:cNvSpPr>
          <p:nvPr>
            <p:ph idx="1"/>
          </p:nvPr>
        </p:nvSpPr>
        <p:spPr/>
        <p:txBody>
          <a:bodyPr/>
          <a:lstStyle/>
          <a:p>
            <a:endParaRPr lang="en-US" dirty="0"/>
          </a:p>
          <a:p>
            <a:r>
              <a:rPr lang="ru-RU" dirty="0"/>
              <a:t>В зависимости от задачи, которую выполняет команда T-SQL, он может принадлежать к одному из следующих типов:</a:t>
            </a:r>
            <a:endParaRPr lang="en-US" dirty="0"/>
          </a:p>
          <a:p>
            <a:endParaRPr lang="en-US" dirty="0"/>
          </a:p>
          <a:p>
            <a:pPr marL="342900" indent="-342900">
              <a:buFont typeface="Arial" panose="020B0604020202020204" pitchFamily="34" charset="0"/>
              <a:buChar char="•"/>
            </a:pPr>
            <a:r>
              <a:rPr lang="de-CH" b="1" dirty="0"/>
              <a:t>DDL</a:t>
            </a:r>
            <a:r>
              <a:rPr lang="de-CH" dirty="0"/>
              <a:t> (Data Definition Language )</a:t>
            </a:r>
          </a:p>
          <a:p>
            <a:pPr marL="342900" indent="-342900">
              <a:buFont typeface="Arial" panose="020B0604020202020204" pitchFamily="34" charset="0"/>
              <a:buChar char="•"/>
            </a:pPr>
            <a:r>
              <a:rPr lang="de-CH" b="1" dirty="0"/>
              <a:t>DML</a:t>
            </a:r>
            <a:r>
              <a:rPr lang="de-CH" dirty="0"/>
              <a:t> (Data Manipulation Language)</a:t>
            </a:r>
          </a:p>
          <a:p>
            <a:pPr marL="342900" indent="-342900">
              <a:buFont typeface="Arial" panose="020B0604020202020204" pitchFamily="34" charset="0"/>
              <a:buChar char="•"/>
            </a:pPr>
            <a:r>
              <a:rPr lang="de-CH" b="1" dirty="0"/>
              <a:t>DCL</a:t>
            </a:r>
            <a:r>
              <a:rPr lang="de-CH" dirty="0"/>
              <a:t> (Data Control Language )</a:t>
            </a:r>
            <a:endParaRPr lang="en-US" dirty="0"/>
          </a:p>
          <a:p>
            <a:endParaRPr lang="en-US" dirty="0"/>
          </a:p>
          <a:p>
            <a:endParaRPr lang="ru-RU" dirty="0"/>
          </a:p>
        </p:txBody>
      </p:sp>
    </p:spTree>
    <p:extLst>
      <p:ext uri="{BB962C8B-B14F-4D97-AF65-F5344CB8AC3E}">
        <p14:creationId xmlns:p14="http://schemas.microsoft.com/office/powerpoint/2010/main" val="212190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4BF0639-8FEE-B351-D4BB-2347C0767E6C}"/>
              </a:ext>
            </a:extLst>
          </p:cNvPr>
          <p:cNvSpPr>
            <a:spLocks noGrp="1"/>
          </p:cNvSpPr>
          <p:nvPr>
            <p:ph idx="1"/>
          </p:nvPr>
        </p:nvSpPr>
        <p:spPr/>
        <p:txBody>
          <a:bodyPr>
            <a:normAutofit/>
          </a:bodyPr>
          <a:lstStyle/>
          <a:p>
            <a:r>
              <a:rPr lang="ru-RU" b="1" dirty="0"/>
              <a:t>DDL (Data Definition Language / Язык определения данных). </a:t>
            </a:r>
            <a:endParaRPr lang="en-US" b="1" dirty="0"/>
          </a:p>
          <a:p>
            <a:r>
              <a:rPr lang="ru-RU" dirty="0"/>
              <a:t>К этому типу относятся различные команды, которые создают базу данных, таблицы, индексы, хранимые процедуры и т.д. В общем определяют данные.</a:t>
            </a:r>
          </a:p>
          <a:p>
            <a:endParaRPr lang="ru-RU" dirty="0"/>
          </a:p>
          <a:p>
            <a:r>
              <a:rPr lang="ru-RU" dirty="0"/>
              <a:t>В частности, к этому типу мы можем отнести следующие команды:</a:t>
            </a:r>
          </a:p>
          <a:p>
            <a:endParaRPr lang="ru-RU" dirty="0"/>
          </a:p>
          <a:p>
            <a:pPr marL="800100" lvl="1" indent="-342900">
              <a:buFont typeface="Arial" panose="020B0604020202020204" pitchFamily="34" charset="0"/>
              <a:buChar char="•"/>
            </a:pPr>
            <a:r>
              <a:rPr lang="ru-RU" b="1" dirty="0"/>
              <a:t>CREATE</a:t>
            </a:r>
            <a:r>
              <a:rPr lang="ru-RU" dirty="0"/>
              <a:t>: создает объекты базы данных (саму базу </a:t>
            </a:r>
            <a:r>
              <a:rPr lang="ru-RU" dirty="0" err="1"/>
              <a:t>даных</a:t>
            </a:r>
            <a:r>
              <a:rPr lang="ru-RU" dirty="0"/>
              <a:t>, таблицы, индексы и т.д.)</a:t>
            </a:r>
          </a:p>
          <a:p>
            <a:pPr marL="800100" lvl="1" indent="-342900">
              <a:buFont typeface="Arial" panose="020B0604020202020204" pitchFamily="34" charset="0"/>
              <a:buChar char="•"/>
            </a:pPr>
            <a:endParaRPr lang="ru-RU" dirty="0"/>
          </a:p>
          <a:p>
            <a:pPr marL="800100" lvl="1" indent="-342900">
              <a:buFont typeface="Arial" panose="020B0604020202020204" pitchFamily="34" charset="0"/>
              <a:buChar char="•"/>
            </a:pPr>
            <a:r>
              <a:rPr lang="ru-RU" b="1" dirty="0"/>
              <a:t>ALTER</a:t>
            </a:r>
            <a:r>
              <a:rPr lang="ru-RU" dirty="0"/>
              <a:t>: изменяет объекты базы данных</a:t>
            </a:r>
          </a:p>
          <a:p>
            <a:pPr marL="800100" lvl="1" indent="-342900">
              <a:buFont typeface="Arial" panose="020B0604020202020204" pitchFamily="34" charset="0"/>
              <a:buChar char="•"/>
            </a:pPr>
            <a:endParaRPr lang="ru-RU" dirty="0"/>
          </a:p>
          <a:p>
            <a:pPr marL="800100" lvl="1" indent="-342900">
              <a:buFont typeface="Arial" panose="020B0604020202020204" pitchFamily="34" charset="0"/>
              <a:buChar char="•"/>
            </a:pPr>
            <a:r>
              <a:rPr lang="ru-RU" b="1" dirty="0"/>
              <a:t>DROP</a:t>
            </a:r>
            <a:r>
              <a:rPr lang="ru-RU" dirty="0"/>
              <a:t>: удаляет объекты базы данных</a:t>
            </a:r>
          </a:p>
          <a:p>
            <a:pPr marL="800100" lvl="1" indent="-342900">
              <a:buFont typeface="Arial" panose="020B0604020202020204" pitchFamily="34" charset="0"/>
              <a:buChar char="•"/>
            </a:pPr>
            <a:endParaRPr lang="ru-RU" dirty="0"/>
          </a:p>
          <a:p>
            <a:pPr marL="800100" lvl="1" indent="-342900">
              <a:buFont typeface="Arial" panose="020B0604020202020204" pitchFamily="34" charset="0"/>
              <a:buChar char="•"/>
            </a:pPr>
            <a:r>
              <a:rPr lang="ru-RU" b="1" dirty="0"/>
              <a:t>TRUNCATE</a:t>
            </a:r>
            <a:r>
              <a:rPr lang="ru-RU" dirty="0"/>
              <a:t>: удаляет все данные из таблиц</a:t>
            </a:r>
          </a:p>
          <a:p>
            <a:endParaRPr lang="ru-RU" dirty="0"/>
          </a:p>
          <a:p>
            <a:endParaRPr lang="ru-RU" dirty="0"/>
          </a:p>
        </p:txBody>
      </p:sp>
    </p:spTree>
    <p:extLst>
      <p:ext uri="{BB962C8B-B14F-4D97-AF65-F5344CB8AC3E}">
        <p14:creationId xmlns:p14="http://schemas.microsoft.com/office/powerpoint/2010/main" val="3403817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70CB8519-0584-14FF-E916-0E2B9C0D56AD}"/>
              </a:ext>
            </a:extLst>
          </p:cNvPr>
          <p:cNvSpPr>
            <a:spLocks noGrp="1"/>
          </p:cNvSpPr>
          <p:nvPr>
            <p:ph idx="1"/>
          </p:nvPr>
        </p:nvSpPr>
        <p:spPr/>
        <p:txBody>
          <a:bodyPr/>
          <a:lstStyle/>
          <a:p>
            <a:r>
              <a:rPr lang="ru-RU" b="1" dirty="0"/>
              <a:t>DML (Data </a:t>
            </a:r>
            <a:r>
              <a:rPr lang="ru-RU" b="1" dirty="0" err="1"/>
              <a:t>Manipulation</a:t>
            </a:r>
            <a:r>
              <a:rPr lang="ru-RU" b="1" dirty="0"/>
              <a:t> Language / Язык манипуляции данными).</a:t>
            </a:r>
            <a:r>
              <a:rPr lang="ru-RU" dirty="0"/>
              <a:t> </a:t>
            </a:r>
            <a:endParaRPr lang="en-US" dirty="0"/>
          </a:p>
          <a:p>
            <a:r>
              <a:rPr lang="ru-RU" dirty="0"/>
              <a:t>К этому типу относят команды на выбору данных, их обновление, добавление, удаление - в общем все те команды, с помощью которыми мы можем управлять данными.</a:t>
            </a:r>
          </a:p>
          <a:p>
            <a:endParaRPr lang="ru-RU" dirty="0"/>
          </a:p>
          <a:p>
            <a:r>
              <a:rPr lang="ru-RU" dirty="0"/>
              <a:t>К этому типу относятся следующие команды:</a:t>
            </a:r>
          </a:p>
          <a:p>
            <a:endParaRPr lang="ru-RU" dirty="0"/>
          </a:p>
          <a:p>
            <a:pPr marL="800100" lvl="1" indent="-342900">
              <a:buFont typeface="Arial" panose="020B0604020202020204" pitchFamily="34" charset="0"/>
              <a:buChar char="•"/>
            </a:pPr>
            <a:r>
              <a:rPr lang="ru-RU" b="1" dirty="0"/>
              <a:t>SELECT</a:t>
            </a:r>
            <a:r>
              <a:rPr lang="ru-RU" dirty="0"/>
              <a:t>: извлекает данные из БД</a:t>
            </a:r>
          </a:p>
          <a:p>
            <a:pPr marL="800100" lvl="1" indent="-342900">
              <a:buFont typeface="Arial" panose="020B0604020202020204" pitchFamily="34" charset="0"/>
              <a:buChar char="•"/>
            </a:pPr>
            <a:endParaRPr lang="ru-RU" dirty="0"/>
          </a:p>
          <a:p>
            <a:pPr marL="800100" lvl="1" indent="-342900">
              <a:buFont typeface="Arial" panose="020B0604020202020204" pitchFamily="34" charset="0"/>
              <a:buChar char="•"/>
            </a:pPr>
            <a:r>
              <a:rPr lang="ru-RU" b="1" dirty="0"/>
              <a:t>UPDATE</a:t>
            </a:r>
            <a:r>
              <a:rPr lang="ru-RU" dirty="0"/>
              <a:t>: обновляет данные</a:t>
            </a:r>
          </a:p>
          <a:p>
            <a:pPr marL="800100" lvl="1" indent="-342900">
              <a:buFont typeface="Arial" panose="020B0604020202020204" pitchFamily="34" charset="0"/>
              <a:buChar char="•"/>
            </a:pPr>
            <a:endParaRPr lang="ru-RU" dirty="0"/>
          </a:p>
          <a:p>
            <a:pPr marL="800100" lvl="1" indent="-342900">
              <a:buFont typeface="Arial" panose="020B0604020202020204" pitchFamily="34" charset="0"/>
              <a:buChar char="•"/>
            </a:pPr>
            <a:r>
              <a:rPr lang="ru-RU" b="1" dirty="0"/>
              <a:t>INSERT</a:t>
            </a:r>
            <a:r>
              <a:rPr lang="ru-RU" dirty="0"/>
              <a:t>: добавляет новые данные</a:t>
            </a:r>
          </a:p>
          <a:p>
            <a:pPr marL="800100" lvl="1" indent="-342900">
              <a:buFont typeface="Arial" panose="020B0604020202020204" pitchFamily="34" charset="0"/>
              <a:buChar char="•"/>
            </a:pPr>
            <a:endParaRPr lang="ru-RU" dirty="0"/>
          </a:p>
          <a:p>
            <a:pPr marL="800100" lvl="1" indent="-342900">
              <a:buFont typeface="Arial" panose="020B0604020202020204" pitchFamily="34" charset="0"/>
              <a:buChar char="•"/>
            </a:pPr>
            <a:r>
              <a:rPr lang="ru-RU" b="1" dirty="0"/>
              <a:t>DELETE</a:t>
            </a:r>
            <a:r>
              <a:rPr lang="ru-RU" dirty="0"/>
              <a:t>: удаляет данные</a:t>
            </a:r>
          </a:p>
          <a:p>
            <a:endParaRPr lang="ru-RU" dirty="0"/>
          </a:p>
          <a:p>
            <a:endParaRPr lang="ru-RU" dirty="0"/>
          </a:p>
        </p:txBody>
      </p:sp>
    </p:spTree>
    <p:extLst>
      <p:ext uri="{BB962C8B-B14F-4D97-AF65-F5344CB8AC3E}">
        <p14:creationId xmlns:p14="http://schemas.microsoft.com/office/powerpoint/2010/main" val="712182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136BFEF0-94EE-0EB5-7E6C-DED4E8B904F6}"/>
              </a:ext>
            </a:extLst>
          </p:cNvPr>
          <p:cNvSpPr>
            <a:spLocks noGrp="1"/>
          </p:cNvSpPr>
          <p:nvPr>
            <p:ph idx="1"/>
          </p:nvPr>
        </p:nvSpPr>
        <p:spPr/>
        <p:txBody>
          <a:bodyPr/>
          <a:lstStyle/>
          <a:p>
            <a:r>
              <a:rPr lang="ru-RU" b="1" dirty="0"/>
              <a:t>DCL (Data Control Language / Язык управления доступа к данным). </a:t>
            </a:r>
            <a:endParaRPr lang="en-US" b="1" dirty="0"/>
          </a:p>
          <a:p>
            <a:endParaRPr lang="en-US" dirty="0"/>
          </a:p>
          <a:p>
            <a:r>
              <a:rPr lang="ru-RU" dirty="0"/>
              <a:t>К этому типу относят команды, которые управляют правами по доступу к данным. В частности, это следующие команды:</a:t>
            </a:r>
          </a:p>
          <a:p>
            <a:endParaRPr lang="ru-RU" dirty="0"/>
          </a:p>
          <a:p>
            <a:pPr lvl="1"/>
            <a:r>
              <a:rPr lang="ru-RU" b="1" dirty="0"/>
              <a:t>GRANT</a:t>
            </a:r>
            <a:r>
              <a:rPr lang="ru-RU" dirty="0"/>
              <a:t>: предоставляет права для доступа к данным</a:t>
            </a:r>
          </a:p>
          <a:p>
            <a:pPr lvl="1"/>
            <a:endParaRPr lang="ru-RU" dirty="0"/>
          </a:p>
          <a:p>
            <a:pPr lvl="1"/>
            <a:r>
              <a:rPr lang="ru-RU" b="1" dirty="0"/>
              <a:t>REVOKE</a:t>
            </a:r>
            <a:r>
              <a:rPr lang="ru-RU" dirty="0"/>
              <a:t>: отзывает права на доступ к данным</a:t>
            </a:r>
          </a:p>
          <a:p>
            <a:pPr lvl="1"/>
            <a:endParaRPr lang="ru-RU" dirty="0"/>
          </a:p>
          <a:p>
            <a:endParaRPr lang="ru-RU" dirty="0"/>
          </a:p>
        </p:txBody>
      </p:sp>
    </p:spTree>
    <p:extLst>
      <p:ext uri="{BB962C8B-B14F-4D97-AF65-F5344CB8AC3E}">
        <p14:creationId xmlns:p14="http://schemas.microsoft.com/office/powerpoint/2010/main" val="5400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4E625A67-F4D4-D26A-1FE0-C7179E333C63}"/>
              </a:ext>
            </a:extLst>
          </p:cNvPr>
          <p:cNvSpPr>
            <a:spLocks noGrp="1"/>
          </p:cNvSpPr>
          <p:nvPr>
            <p:ph idx="1"/>
          </p:nvPr>
        </p:nvSpPr>
        <p:spPr/>
        <p:txBody>
          <a:bodyPr>
            <a:normAutofit/>
          </a:bodyPr>
          <a:lstStyle/>
          <a:p>
            <a:r>
              <a:rPr lang="ru-RU" b="1" dirty="0"/>
              <a:t>Создание базы данных</a:t>
            </a:r>
          </a:p>
          <a:p>
            <a:endParaRPr lang="en-US" dirty="0"/>
          </a:p>
          <a:p>
            <a:r>
              <a:rPr lang="ru-RU" sz="2000" dirty="0"/>
              <a:t>В MS SQL Server по умолчанию создается четыре системных баз данных:</a:t>
            </a:r>
            <a:endParaRPr lang="en-US" sz="2000" dirty="0"/>
          </a:p>
          <a:p>
            <a:endParaRPr lang="ru-RU" sz="2000" dirty="0"/>
          </a:p>
          <a:p>
            <a:pPr marL="342900" indent="-342900">
              <a:buFont typeface="Arial" panose="020B0604020202020204" pitchFamily="34" charset="0"/>
              <a:buChar char="•"/>
            </a:pPr>
            <a:r>
              <a:rPr lang="ru-RU" sz="2000" b="1" dirty="0" err="1"/>
              <a:t>master</a:t>
            </a:r>
            <a:r>
              <a:rPr lang="ru-RU" sz="2000" dirty="0"/>
              <a:t>: эта главная база данных сервера, в случае ее отсутствия или повреждения сервер не сможет работать. Она хранит все используемые логины пользователей сервера, их роли, различные конфигурационные настройки, имена и информацию о базах данных, которые хранятся на сервере, а также ряд другой информации.</a:t>
            </a:r>
          </a:p>
          <a:p>
            <a:pPr marL="342900" indent="-342900">
              <a:buFont typeface="Arial" panose="020B0604020202020204" pitchFamily="34" charset="0"/>
              <a:buChar char="•"/>
            </a:pPr>
            <a:r>
              <a:rPr lang="ru-RU" sz="2000" b="1" dirty="0" err="1"/>
              <a:t>model</a:t>
            </a:r>
            <a:r>
              <a:rPr lang="ru-RU" sz="2000" dirty="0"/>
              <a:t>: эта база данных представляет шаблон, на основе которого создаются другие базы данных. То есть когда мы создаем через SSMS свою </a:t>
            </a:r>
            <a:r>
              <a:rPr lang="ru-RU" sz="2000" dirty="0" err="1"/>
              <a:t>бд</a:t>
            </a:r>
            <a:r>
              <a:rPr lang="ru-RU" sz="2000" dirty="0"/>
              <a:t>, она создается как копия базы </a:t>
            </a:r>
            <a:r>
              <a:rPr lang="ru-RU" sz="2000" dirty="0" err="1"/>
              <a:t>model</a:t>
            </a:r>
            <a:r>
              <a:rPr lang="ru-RU" sz="2000" dirty="0"/>
              <a:t>.</a:t>
            </a:r>
          </a:p>
          <a:p>
            <a:pPr marL="342900" indent="-342900">
              <a:buFont typeface="Arial" panose="020B0604020202020204" pitchFamily="34" charset="0"/>
              <a:buChar char="•"/>
            </a:pPr>
            <a:r>
              <a:rPr lang="ru-RU" sz="2000" b="1" dirty="0" err="1"/>
              <a:t>msdb</a:t>
            </a:r>
            <a:r>
              <a:rPr lang="ru-RU" sz="2000" dirty="0"/>
              <a:t>: хранит информацию о работе, выполняемой таким компонентом как планировщик SQL. Также она хранит информацию о </a:t>
            </a:r>
            <a:r>
              <a:rPr lang="ru-RU" sz="2000" dirty="0" err="1"/>
              <a:t>бекапах</a:t>
            </a:r>
            <a:r>
              <a:rPr lang="ru-RU" sz="2000" dirty="0"/>
              <a:t> баз данных.</a:t>
            </a:r>
          </a:p>
          <a:p>
            <a:pPr marL="342900" indent="-342900">
              <a:buFont typeface="Arial" panose="020B0604020202020204" pitchFamily="34" charset="0"/>
              <a:buChar char="•"/>
            </a:pPr>
            <a:r>
              <a:rPr lang="ru-RU" sz="2000" b="1" dirty="0" err="1"/>
              <a:t>tempdb</a:t>
            </a:r>
            <a:r>
              <a:rPr lang="ru-RU" sz="2000" dirty="0"/>
              <a:t>: эта база данных используется как хранилище для временных объектов. Она заново пересоздается при каждом запуске сервера.</a:t>
            </a:r>
            <a:endParaRPr lang="en-US" sz="2000" dirty="0"/>
          </a:p>
          <a:p>
            <a:pPr marL="342900" indent="-342900">
              <a:buFont typeface="Arial" panose="020B0604020202020204" pitchFamily="34" charset="0"/>
              <a:buChar char="•"/>
            </a:pPr>
            <a:endParaRPr lang="en-US" sz="2000" dirty="0"/>
          </a:p>
          <a:p>
            <a:r>
              <a:rPr lang="ru-RU" dirty="0">
                <a:solidFill>
                  <a:srgbClr val="FF0000"/>
                </a:solidFill>
              </a:rPr>
              <a:t>Эти базы данных не следует изменять, за исключением </a:t>
            </a:r>
            <a:r>
              <a:rPr lang="ru-RU" dirty="0" err="1">
                <a:solidFill>
                  <a:srgbClr val="FF0000"/>
                </a:solidFill>
              </a:rPr>
              <a:t>бд</a:t>
            </a:r>
            <a:r>
              <a:rPr lang="ru-RU" dirty="0">
                <a:solidFill>
                  <a:srgbClr val="FF0000"/>
                </a:solidFill>
              </a:rPr>
              <a:t> </a:t>
            </a:r>
            <a:r>
              <a:rPr lang="ru-RU" dirty="0" err="1">
                <a:solidFill>
                  <a:srgbClr val="FF0000"/>
                </a:solidFill>
              </a:rPr>
              <a:t>model</a:t>
            </a:r>
            <a:r>
              <a:rPr lang="ru-RU" dirty="0">
                <a:solidFill>
                  <a:srgbClr val="FF0000"/>
                </a:solidFill>
              </a:rPr>
              <a:t>.</a:t>
            </a:r>
            <a:endParaRPr lang="ru-RU" sz="2000" dirty="0">
              <a:solidFill>
                <a:srgbClr val="FF0000"/>
              </a:solidFill>
            </a:endParaRPr>
          </a:p>
          <a:p>
            <a:endParaRPr lang="en-US" dirty="0"/>
          </a:p>
        </p:txBody>
      </p:sp>
    </p:spTree>
    <p:extLst>
      <p:ext uri="{BB962C8B-B14F-4D97-AF65-F5344CB8AC3E}">
        <p14:creationId xmlns:p14="http://schemas.microsoft.com/office/powerpoint/2010/main" val="384011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15CA3E55-2A82-4D1C-88C7-970E48221095}"/>
              </a:ext>
            </a:extLst>
          </p:cNvPr>
          <p:cNvSpPr>
            <a:spLocks noGrp="1"/>
          </p:cNvSpPr>
          <p:nvPr>
            <p:ph idx="1"/>
          </p:nvPr>
        </p:nvSpPr>
        <p:spPr/>
        <p:txBody>
          <a:bodyPr/>
          <a:lstStyle/>
          <a:p>
            <a:r>
              <a:rPr lang="ru-RU" b="1" dirty="0"/>
              <a:t>Создание базы данных в SQL Management Studio</a:t>
            </a:r>
            <a:endParaRPr lang="en-US" b="1" dirty="0"/>
          </a:p>
          <a:p>
            <a:endParaRPr lang="en-US" b="1" dirty="0"/>
          </a:p>
          <a:p>
            <a:endParaRPr lang="ru-RU" b="1" dirty="0"/>
          </a:p>
          <a:p>
            <a:endParaRPr lang="ru-RU" dirty="0"/>
          </a:p>
        </p:txBody>
      </p:sp>
      <p:pic>
        <p:nvPicPr>
          <p:cNvPr id="3" name="Рисунок 2">
            <a:extLst>
              <a:ext uri="{FF2B5EF4-FFF2-40B4-BE49-F238E27FC236}">
                <a16:creationId xmlns:a16="http://schemas.microsoft.com/office/drawing/2014/main" id="{ED78DF57-EED3-FC27-3863-32B1D7F01C7B}"/>
              </a:ext>
            </a:extLst>
          </p:cNvPr>
          <p:cNvPicPr>
            <a:picLocks noChangeAspect="1"/>
          </p:cNvPicPr>
          <p:nvPr/>
        </p:nvPicPr>
        <p:blipFill>
          <a:blip r:embed="rId2"/>
          <a:stretch>
            <a:fillRect/>
          </a:stretch>
        </p:blipFill>
        <p:spPr>
          <a:xfrm>
            <a:off x="933449" y="1076324"/>
            <a:ext cx="6543675" cy="5722697"/>
          </a:xfrm>
          <a:prstGeom prst="rect">
            <a:avLst/>
          </a:prstGeom>
        </p:spPr>
      </p:pic>
    </p:spTree>
    <p:extLst>
      <p:ext uri="{BB962C8B-B14F-4D97-AF65-F5344CB8AC3E}">
        <p14:creationId xmlns:p14="http://schemas.microsoft.com/office/powerpoint/2010/main" val="1459117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FD2DA309-DA51-A966-AB40-964F512A195B}"/>
              </a:ext>
            </a:extLst>
          </p:cNvPr>
          <p:cNvPicPr>
            <a:picLocks noGrp="1" noChangeAspect="1"/>
          </p:cNvPicPr>
          <p:nvPr>
            <p:ph idx="1"/>
          </p:nvPr>
        </p:nvPicPr>
        <p:blipFill>
          <a:blip r:embed="rId2"/>
          <a:stretch>
            <a:fillRect/>
          </a:stretch>
        </p:blipFill>
        <p:spPr>
          <a:xfrm>
            <a:off x="1419225" y="891381"/>
            <a:ext cx="9304434" cy="5461794"/>
          </a:xfrm>
          <a:prstGeom prst="rect">
            <a:avLst/>
          </a:prstGeom>
        </p:spPr>
      </p:pic>
    </p:spTree>
    <p:extLst>
      <p:ext uri="{BB962C8B-B14F-4D97-AF65-F5344CB8AC3E}">
        <p14:creationId xmlns:p14="http://schemas.microsoft.com/office/powerpoint/2010/main" val="97157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748C7897-BA79-ED28-7EAD-B908FB3E21EB}"/>
              </a:ext>
            </a:extLst>
          </p:cNvPr>
          <p:cNvSpPr>
            <a:spLocks noGrp="1"/>
          </p:cNvSpPr>
          <p:nvPr>
            <p:ph idx="1"/>
          </p:nvPr>
        </p:nvSpPr>
        <p:spPr/>
        <p:txBody>
          <a:bodyPr>
            <a:normAutofit fontScale="85000" lnSpcReduction="20000"/>
          </a:bodyPr>
          <a:lstStyle/>
          <a:p>
            <a:r>
              <a:rPr lang="ru-RU" dirty="0"/>
              <a:t>В поле </a:t>
            </a:r>
            <a:r>
              <a:rPr lang="ru-RU" b="1" dirty="0"/>
              <a:t>Database</a:t>
            </a:r>
            <a:r>
              <a:rPr lang="ru-RU" dirty="0"/>
              <a:t> необходимо ввести название новой </a:t>
            </a:r>
            <a:r>
              <a:rPr lang="ru-RU" dirty="0" err="1"/>
              <a:t>бд</a:t>
            </a:r>
            <a:r>
              <a:rPr lang="ru-RU" dirty="0"/>
              <a:t>. Пусть у нас база данных называется </a:t>
            </a:r>
            <a:r>
              <a:rPr lang="ru-RU" b="1" dirty="0" err="1"/>
              <a:t>university</a:t>
            </a:r>
            <a:r>
              <a:rPr lang="ru-RU" dirty="0"/>
              <a:t>.</a:t>
            </a:r>
          </a:p>
          <a:p>
            <a:r>
              <a:rPr lang="ru-RU" dirty="0"/>
              <a:t>Следующее поле </a:t>
            </a:r>
            <a:r>
              <a:rPr lang="ru-RU" b="1" dirty="0" err="1"/>
              <a:t>Owner</a:t>
            </a:r>
            <a:r>
              <a:rPr lang="ru-RU" dirty="0"/>
              <a:t> задает владельца базы данных. По умолчанию оно имеет значение </a:t>
            </a:r>
            <a:r>
              <a:rPr lang="ru-RU" i="1" dirty="0"/>
              <a:t>&lt;</a:t>
            </a:r>
            <a:r>
              <a:rPr lang="ru-RU" i="1" dirty="0" err="1"/>
              <a:t>defult</a:t>
            </a:r>
            <a:r>
              <a:rPr lang="ru-RU" i="1" dirty="0"/>
              <a:t>&gt;</a:t>
            </a:r>
            <a:r>
              <a:rPr lang="ru-RU" dirty="0"/>
              <a:t>, то есть владельцем будет тот, кто создает эту базу данных. Оставим это поле без изменений.</a:t>
            </a:r>
          </a:p>
          <a:p>
            <a:r>
              <a:rPr lang="ru-RU" dirty="0"/>
              <a:t>Далее идет таблица для установки общих настроек базы данных. Она содержит две строки - первая для установки настроек для главного файла, где будут храниться данные, и вторая строка для конфигурации файла </a:t>
            </a:r>
            <a:r>
              <a:rPr lang="ru-RU" dirty="0" err="1"/>
              <a:t>логгирования</a:t>
            </a:r>
            <a:r>
              <a:rPr lang="ru-RU" dirty="0"/>
              <a:t>. В частности, мы можем установить следующие настройки:</a:t>
            </a:r>
          </a:p>
          <a:p>
            <a:r>
              <a:rPr lang="ru-RU" b="1" dirty="0" err="1"/>
              <a:t>Logical</a:t>
            </a:r>
            <a:r>
              <a:rPr lang="ru-RU" b="1" dirty="0"/>
              <a:t> Name</a:t>
            </a:r>
            <a:r>
              <a:rPr lang="ru-RU" dirty="0"/>
              <a:t>: логическое имя, которое присваивается файлу базы данных.</a:t>
            </a:r>
          </a:p>
          <a:p>
            <a:r>
              <a:rPr lang="ru-RU" b="1" dirty="0"/>
              <a:t>File Type</a:t>
            </a:r>
            <a:r>
              <a:rPr lang="ru-RU" dirty="0"/>
              <a:t>: есть несколько типов файлов, но, как правило, основная работа ведется с файлами данных (ROWS Data) и файлом лога (LOG)</a:t>
            </a:r>
          </a:p>
          <a:p>
            <a:r>
              <a:rPr lang="ru-RU" b="1" dirty="0" err="1"/>
              <a:t>Filegroup</a:t>
            </a:r>
            <a:r>
              <a:rPr lang="ru-RU" dirty="0"/>
              <a:t>: </a:t>
            </a:r>
            <a:r>
              <a:rPr lang="ru-RU" dirty="0" err="1"/>
              <a:t>обозначет</a:t>
            </a:r>
            <a:r>
              <a:rPr lang="ru-RU" dirty="0"/>
              <a:t> группу файлов. Группа файлов может хранить множество файлов и может использоваться для разбиения базы данных на части для размещения в разных местах.</a:t>
            </a:r>
          </a:p>
          <a:p>
            <a:r>
              <a:rPr lang="ru-RU" b="1" dirty="0" err="1"/>
              <a:t>Initial</a:t>
            </a:r>
            <a:r>
              <a:rPr lang="ru-RU" b="1" dirty="0"/>
              <a:t> </a:t>
            </a:r>
            <a:r>
              <a:rPr lang="ru-RU" b="1" dirty="0" err="1"/>
              <a:t>Size</a:t>
            </a:r>
            <a:r>
              <a:rPr lang="ru-RU" b="1" dirty="0"/>
              <a:t> (MB)</a:t>
            </a:r>
            <a:r>
              <a:rPr lang="ru-RU" dirty="0"/>
              <a:t>: устанавливает начальный размер файлов при создании (фактический размер может отличаться от этого значения).</a:t>
            </a:r>
          </a:p>
          <a:p>
            <a:r>
              <a:rPr lang="ru-RU" b="1" dirty="0" err="1"/>
              <a:t>Autogrowth</a:t>
            </a:r>
            <a:r>
              <a:rPr lang="ru-RU" b="1" dirty="0"/>
              <a:t>/</a:t>
            </a:r>
            <a:r>
              <a:rPr lang="ru-RU" b="1" dirty="0" err="1"/>
              <a:t>Maxsize</a:t>
            </a:r>
            <a:r>
              <a:rPr lang="ru-RU" dirty="0"/>
              <a:t>: при достижении базой данных начального размера SQL Server использует это значение для увеличения файла.</a:t>
            </a:r>
          </a:p>
          <a:p>
            <a:r>
              <a:rPr lang="ru-RU" b="1" dirty="0" err="1"/>
              <a:t>Path</a:t>
            </a:r>
            <a:r>
              <a:rPr lang="ru-RU" dirty="0"/>
              <a:t>: каталог, где будут храниться базы данных.</a:t>
            </a:r>
          </a:p>
          <a:p>
            <a:r>
              <a:rPr lang="ru-RU" b="1" dirty="0"/>
              <a:t>File Name</a:t>
            </a:r>
            <a:r>
              <a:rPr lang="ru-RU" dirty="0"/>
              <a:t>: непосредственное имя физического файла. Если оно не указано, то применяется логическое имя.</a:t>
            </a:r>
          </a:p>
          <a:p>
            <a:endParaRPr lang="ru-RU" dirty="0"/>
          </a:p>
        </p:txBody>
      </p:sp>
    </p:spTree>
    <p:extLst>
      <p:ext uri="{BB962C8B-B14F-4D97-AF65-F5344CB8AC3E}">
        <p14:creationId xmlns:p14="http://schemas.microsoft.com/office/powerpoint/2010/main" val="1639176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F4E1246-99F5-5C3F-5C98-48397F082F5C}"/>
              </a:ext>
            </a:extLst>
          </p:cNvPr>
          <p:cNvSpPr>
            <a:spLocks noGrp="1"/>
          </p:cNvSpPr>
          <p:nvPr>
            <p:ph idx="1"/>
          </p:nvPr>
        </p:nvSpPr>
        <p:spPr/>
        <p:txBody>
          <a:bodyPr/>
          <a:lstStyle/>
          <a:p>
            <a:r>
              <a:rPr lang="ru-RU" b="1" dirty="0"/>
              <a:t>Создание таблиц</a:t>
            </a:r>
          </a:p>
          <a:p>
            <a:r>
              <a:rPr lang="ru-RU" dirty="0"/>
              <a:t>Ключевым объектом в базе данных являются таблицы. Таблицы состоят из строк и столбцов. Столбцы определяют тип информации, которая хранится, а строки содержат значения для этих столбцов.</a:t>
            </a:r>
          </a:p>
        </p:txBody>
      </p:sp>
      <p:pic>
        <p:nvPicPr>
          <p:cNvPr id="3" name="Рисунок 2">
            <a:extLst>
              <a:ext uri="{FF2B5EF4-FFF2-40B4-BE49-F238E27FC236}">
                <a16:creationId xmlns:a16="http://schemas.microsoft.com/office/drawing/2014/main" id="{8E709891-1386-3863-5DD7-8D3AE2EAD3D6}"/>
              </a:ext>
            </a:extLst>
          </p:cNvPr>
          <p:cNvPicPr>
            <a:picLocks noChangeAspect="1"/>
          </p:cNvPicPr>
          <p:nvPr/>
        </p:nvPicPr>
        <p:blipFill>
          <a:blip r:embed="rId2"/>
          <a:stretch>
            <a:fillRect/>
          </a:stretch>
        </p:blipFill>
        <p:spPr>
          <a:xfrm>
            <a:off x="3343275" y="2193887"/>
            <a:ext cx="5162550" cy="4233291"/>
          </a:xfrm>
          <a:prstGeom prst="rect">
            <a:avLst/>
          </a:prstGeom>
        </p:spPr>
      </p:pic>
    </p:spTree>
    <p:extLst>
      <p:ext uri="{BB962C8B-B14F-4D97-AF65-F5344CB8AC3E}">
        <p14:creationId xmlns:p14="http://schemas.microsoft.com/office/powerpoint/2010/main" val="2193787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BCD3B08C-E065-3F1E-07D5-8271C6FD12A2}"/>
              </a:ext>
            </a:extLst>
          </p:cNvPr>
          <p:cNvSpPr>
            <a:spLocks noGrp="1"/>
          </p:cNvSpPr>
          <p:nvPr>
            <p:ph idx="1"/>
          </p:nvPr>
        </p:nvSpPr>
        <p:spPr/>
        <p:txBody>
          <a:bodyPr/>
          <a:lstStyle/>
          <a:p>
            <a:r>
              <a:rPr lang="ru-RU" dirty="0"/>
              <a:t>Дизайнер содержит три поля:</a:t>
            </a:r>
          </a:p>
          <a:p>
            <a:endParaRPr lang="ru-RU" dirty="0"/>
          </a:p>
          <a:p>
            <a:pPr marL="342900" indent="-342900">
              <a:buFont typeface="Arial" panose="020B0604020202020204" pitchFamily="34" charset="0"/>
              <a:buChar char="•"/>
            </a:pPr>
            <a:r>
              <a:rPr lang="ru-RU" b="1" dirty="0" err="1"/>
              <a:t>Column</a:t>
            </a:r>
            <a:r>
              <a:rPr lang="ru-RU" b="1" dirty="0"/>
              <a:t> Name</a:t>
            </a:r>
            <a:r>
              <a:rPr lang="ru-RU" dirty="0"/>
              <a:t>: имя столбца</a:t>
            </a:r>
          </a:p>
          <a:p>
            <a:pPr marL="342900" indent="-342900">
              <a:buFont typeface="Arial" panose="020B0604020202020204" pitchFamily="34" charset="0"/>
              <a:buChar char="•"/>
            </a:pPr>
            <a:endParaRPr lang="ru-RU" dirty="0"/>
          </a:p>
          <a:p>
            <a:pPr marL="342900" indent="-342900">
              <a:buFont typeface="Arial" panose="020B0604020202020204" pitchFamily="34" charset="0"/>
              <a:buChar char="•"/>
            </a:pPr>
            <a:r>
              <a:rPr lang="ru-RU" b="1" dirty="0"/>
              <a:t>Data Type</a:t>
            </a:r>
            <a:r>
              <a:rPr lang="ru-RU" dirty="0"/>
              <a:t>: тип данных столбца. Тип данных определяет, какие данные могут храниться в этом столбце. Например, если столбец представляет числовой тип, то он может хранить только числа.</a:t>
            </a:r>
          </a:p>
          <a:p>
            <a:pPr marL="342900" indent="-342900">
              <a:buFont typeface="Arial" panose="020B0604020202020204" pitchFamily="34" charset="0"/>
              <a:buChar char="•"/>
            </a:pPr>
            <a:endParaRPr lang="ru-RU" dirty="0"/>
          </a:p>
          <a:p>
            <a:pPr marL="342900" indent="-342900">
              <a:buFont typeface="Arial" panose="020B0604020202020204" pitchFamily="34" charset="0"/>
              <a:buChar char="•"/>
            </a:pPr>
            <a:r>
              <a:rPr lang="ru-RU" b="1" dirty="0" err="1"/>
              <a:t>Allow</a:t>
            </a:r>
            <a:r>
              <a:rPr lang="ru-RU" b="1" dirty="0"/>
              <a:t> </a:t>
            </a:r>
            <a:r>
              <a:rPr lang="ru-RU" b="1" dirty="0" err="1"/>
              <a:t>Nulls</a:t>
            </a:r>
            <a:r>
              <a:rPr lang="ru-RU" dirty="0"/>
              <a:t>: может ли отсутствовать значение у столбца, то есть может ли он быть пустым</a:t>
            </a:r>
          </a:p>
        </p:txBody>
      </p:sp>
    </p:spTree>
    <p:extLst>
      <p:ext uri="{BB962C8B-B14F-4D97-AF65-F5344CB8AC3E}">
        <p14:creationId xmlns:p14="http://schemas.microsoft.com/office/powerpoint/2010/main" val="3272104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311A56B6-3C30-F800-926E-F67E47590BEC}"/>
              </a:ext>
            </a:extLst>
          </p:cNvPr>
          <p:cNvPicPr>
            <a:picLocks noGrp="1" noChangeAspect="1"/>
          </p:cNvPicPr>
          <p:nvPr>
            <p:ph idx="1"/>
          </p:nvPr>
        </p:nvPicPr>
        <p:blipFill>
          <a:blip r:embed="rId2"/>
          <a:stretch>
            <a:fillRect/>
          </a:stretch>
        </p:blipFill>
        <p:spPr>
          <a:xfrm>
            <a:off x="1333500" y="710010"/>
            <a:ext cx="9745102" cy="6057106"/>
          </a:xfrm>
          <a:prstGeom prst="rect">
            <a:avLst/>
          </a:prstGeom>
        </p:spPr>
      </p:pic>
    </p:spTree>
    <p:extLst>
      <p:ext uri="{BB962C8B-B14F-4D97-AF65-F5344CB8AC3E}">
        <p14:creationId xmlns:p14="http://schemas.microsoft.com/office/powerpoint/2010/main" val="3496745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EA73C45-9B55-D817-DEAD-BD45ABD021BD}"/>
              </a:ext>
            </a:extLst>
          </p:cNvPr>
          <p:cNvSpPr>
            <a:spLocks noGrp="1"/>
          </p:cNvSpPr>
          <p:nvPr>
            <p:ph idx="1"/>
          </p:nvPr>
        </p:nvSpPr>
        <p:spPr/>
        <p:txBody>
          <a:bodyPr/>
          <a:lstStyle/>
          <a:p>
            <a:r>
              <a:rPr lang="ru-RU" dirty="0"/>
              <a:t>Для установки первичного ключа нажмем на столбец </a:t>
            </a:r>
            <a:r>
              <a:rPr lang="ru-RU" dirty="0" err="1"/>
              <a:t>Id</a:t>
            </a:r>
            <a:r>
              <a:rPr lang="ru-RU" dirty="0"/>
              <a:t> правой кнопкой мыши и в появившемся меню выберем пункт </a:t>
            </a:r>
            <a:r>
              <a:rPr lang="ru-RU" b="1" dirty="0" err="1"/>
              <a:t>Set</a:t>
            </a:r>
            <a:r>
              <a:rPr lang="ru-RU" b="1" dirty="0"/>
              <a:t> </a:t>
            </a:r>
            <a:r>
              <a:rPr lang="ru-RU" b="1" dirty="0" err="1"/>
              <a:t>Primary</a:t>
            </a:r>
            <a:r>
              <a:rPr lang="ru-RU" b="1" dirty="0"/>
              <a:t> Key</a:t>
            </a:r>
            <a:r>
              <a:rPr lang="ru-RU" dirty="0"/>
              <a:t>.</a:t>
            </a:r>
          </a:p>
        </p:txBody>
      </p:sp>
      <p:pic>
        <p:nvPicPr>
          <p:cNvPr id="4" name="Рисунок 3">
            <a:extLst>
              <a:ext uri="{FF2B5EF4-FFF2-40B4-BE49-F238E27FC236}">
                <a16:creationId xmlns:a16="http://schemas.microsoft.com/office/drawing/2014/main" id="{C9E9AF44-0E99-F221-1196-AB9FB9CA9B4F}"/>
              </a:ext>
            </a:extLst>
          </p:cNvPr>
          <p:cNvPicPr>
            <a:picLocks noChangeAspect="1"/>
          </p:cNvPicPr>
          <p:nvPr/>
        </p:nvPicPr>
        <p:blipFill>
          <a:blip r:embed="rId2"/>
          <a:stretch>
            <a:fillRect/>
          </a:stretch>
        </p:blipFill>
        <p:spPr>
          <a:xfrm>
            <a:off x="1240448" y="1586645"/>
            <a:ext cx="4693386" cy="4295409"/>
          </a:xfrm>
          <a:prstGeom prst="rect">
            <a:avLst/>
          </a:prstGeom>
        </p:spPr>
      </p:pic>
    </p:spTree>
    <p:extLst>
      <p:ext uri="{BB962C8B-B14F-4D97-AF65-F5344CB8AC3E}">
        <p14:creationId xmlns:p14="http://schemas.microsoft.com/office/powerpoint/2010/main" val="2681615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69A371E9-93CA-9018-2023-89A1567F247F}"/>
              </a:ext>
            </a:extLst>
          </p:cNvPr>
          <p:cNvSpPr>
            <a:spLocks noGrp="1"/>
          </p:cNvSpPr>
          <p:nvPr>
            <p:ph idx="1"/>
          </p:nvPr>
        </p:nvSpPr>
        <p:spPr/>
        <p:txBody>
          <a:bodyPr/>
          <a:lstStyle/>
          <a:p>
            <a:r>
              <a:rPr lang="ru-RU" sz="2000" dirty="0"/>
              <a:t>Мы можем заметить, что название таблицы на самом деле начинается с префикса </a:t>
            </a:r>
            <a:r>
              <a:rPr lang="ru-RU" sz="2000" b="1" dirty="0" err="1"/>
              <a:t>dbo</a:t>
            </a:r>
            <a:r>
              <a:rPr lang="ru-RU" sz="2000" dirty="0"/>
              <a:t>. Этот префикс представляет схему. Схема определяет контейнер, который хранит объекты. То есть схема логически разграничивает базы данных. Если схема явным образом не указывается при создании объекта, то объект принадлежит схеме по умолчанию - схеме </a:t>
            </a:r>
            <a:r>
              <a:rPr lang="ru-RU" sz="2000" b="1" dirty="0" err="1"/>
              <a:t>dbo</a:t>
            </a:r>
            <a:r>
              <a:rPr lang="ru-RU" dirty="0"/>
              <a:t>.</a:t>
            </a:r>
          </a:p>
        </p:txBody>
      </p:sp>
      <p:pic>
        <p:nvPicPr>
          <p:cNvPr id="3" name="Рисунок 2">
            <a:extLst>
              <a:ext uri="{FF2B5EF4-FFF2-40B4-BE49-F238E27FC236}">
                <a16:creationId xmlns:a16="http://schemas.microsoft.com/office/drawing/2014/main" id="{67A9C796-4E1B-C7D4-8B39-0D10D3C885DB}"/>
              </a:ext>
            </a:extLst>
          </p:cNvPr>
          <p:cNvPicPr>
            <a:picLocks noChangeAspect="1"/>
          </p:cNvPicPr>
          <p:nvPr/>
        </p:nvPicPr>
        <p:blipFill>
          <a:blip r:embed="rId2"/>
          <a:stretch>
            <a:fillRect/>
          </a:stretch>
        </p:blipFill>
        <p:spPr>
          <a:xfrm>
            <a:off x="838200" y="2073519"/>
            <a:ext cx="4038600" cy="4591050"/>
          </a:xfrm>
          <a:prstGeom prst="rect">
            <a:avLst/>
          </a:prstGeom>
        </p:spPr>
      </p:pic>
    </p:spTree>
    <p:extLst>
      <p:ext uri="{BB962C8B-B14F-4D97-AF65-F5344CB8AC3E}">
        <p14:creationId xmlns:p14="http://schemas.microsoft.com/office/powerpoint/2010/main" val="3429349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35EB374B-59A1-09F8-62C5-0AF8A3413DCF}"/>
              </a:ext>
            </a:extLst>
          </p:cNvPr>
          <p:cNvSpPr>
            <a:spLocks noGrp="1"/>
          </p:cNvSpPr>
          <p:nvPr>
            <p:ph idx="1"/>
          </p:nvPr>
        </p:nvSpPr>
        <p:spPr/>
        <p:txBody>
          <a:bodyPr>
            <a:normAutofit/>
          </a:bodyPr>
          <a:lstStyle/>
          <a:p>
            <a:r>
              <a:rPr lang="ru-RU" sz="2000" dirty="0"/>
              <a:t>Для добавления начальных данных можно выбрать опцию </a:t>
            </a:r>
            <a:r>
              <a:rPr lang="ru-RU" sz="2000" b="1" dirty="0" err="1"/>
              <a:t>Edit</a:t>
            </a:r>
            <a:r>
              <a:rPr lang="ru-RU" sz="2000" b="1" dirty="0"/>
              <a:t> Top 200 </a:t>
            </a:r>
            <a:r>
              <a:rPr lang="ru-RU" sz="2000" b="1" dirty="0" err="1"/>
              <a:t>Rows</a:t>
            </a:r>
            <a:r>
              <a:rPr lang="ru-RU" sz="2000" dirty="0"/>
              <a:t>. Она открывает в виде таблицы 200 первых строк и позволяет их изменить. Но так как у нас таблица только создана, то естественно в ней будет никаких данных. Введем пару строк - пару студентов, указав необходимые данные для столбцов:</a:t>
            </a:r>
          </a:p>
          <a:p>
            <a:endParaRPr lang="ru-RU" sz="2000" dirty="0"/>
          </a:p>
          <a:p>
            <a:endParaRPr lang="ru-RU" sz="2000" dirty="0"/>
          </a:p>
        </p:txBody>
      </p:sp>
      <p:pic>
        <p:nvPicPr>
          <p:cNvPr id="3" name="Рисунок 2">
            <a:extLst>
              <a:ext uri="{FF2B5EF4-FFF2-40B4-BE49-F238E27FC236}">
                <a16:creationId xmlns:a16="http://schemas.microsoft.com/office/drawing/2014/main" id="{BB7EE370-2E22-351E-0DB2-41D1883CFD56}"/>
              </a:ext>
            </a:extLst>
          </p:cNvPr>
          <p:cNvPicPr>
            <a:picLocks noChangeAspect="1"/>
          </p:cNvPicPr>
          <p:nvPr/>
        </p:nvPicPr>
        <p:blipFill>
          <a:blip r:embed="rId2"/>
          <a:stretch>
            <a:fillRect/>
          </a:stretch>
        </p:blipFill>
        <p:spPr>
          <a:xfrm>
            <a:off x="1995121" y="1855543"/>
            <a:ext cx="7740971" cy="3938588"/>
          </a:xfrm>
          <a:prstGeom prst="rect">
            <a:avLst/>
          </a:prstGeom>
        </p:spPr>
      </p:pic>
    </p:spTree>
    <p:extLst>
      <p:ext uri="{BB962C8B-B14F-4D97-AF65-F5344CB8AC3E}">
        <p14:creationId xmlns:p14="http://schemas.microsoft.com/office/powerpoint/2010/main" val="2438707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64C0237-D5E4-89A3-42B4-BB623A3304F4}"/>
              </a:ext>
            </a:extLst>
          </p:cNvPr>
          <p:cNvSpPr>
            <a:spLocks noGrp="1"/>
          </p:cNvSpPr>
          <p:nvPr>
            <p:ph idx="1"/>
          </p:nvPr>
        </p:nvSpPr>
        <p:spPr/>
        <p:txBody>
          <a:bodyPr/>
          <a:lstStyle/>
          <a:p>
            <a:r>
              <a:rPr lang="ru-RU" b="1" dirty="0"/>
              <a:t>Первый запрос на </a:t>
            </a:r>
            <a:r>
              <a:rPr lang="de-CH" b="1" dirty="0"/>
              <a:t>T-SQL</a:t>
            </a:r>
            <a:endParaRPr lang="ru-RU" b="1" dirty="0"/>
          </a:p>
          <a:p>
            <a:endParaRPr lang="ru-RU" b="1" dirty="0"/>
          </a:p>
          <a:p>
            <a:endParaRPr lang="ru-RU" b="1" dirty="0"/>
          </a:p>
          <a:p>
            <a:endParaRPr lang="ru-RU" b="1" dirty="0"/>
          </a:p>
          <a:p>
            <a:endParaRPr lang="ru-RU" b="1" dirty="0"/>
          </a:p>
          <a:p>
            <a:endParaRPr lang="ru-RU" b="1" dirty="0"/>
          </a:p>
          <a:p>
            <a:endParaRPr lang="ru-RU" b="1" dirty="0"/>
          </a:p>
          <a:p>
            <a:r>
              <a:rPr lang="en-US" b="1" dirty="0"/>
              <a:t>	</a:t>
            </a:r>
          </a:p>
          <a:p>
            <a:r>
              <a:rPr lang="ru-RU" b="1" dirty="0"/>
              <a:t>			</a:t>
            </a:r>
            <a:r>
              <a:rPr lang="en-US" b="1" dirty="0"/>
              <a:t>SELECT * FROM </a:t>
            </a:r>
            <a:r>
              <a:rPr lang="en-US" b="1" dirty="0" err="1"/>
              <a:t>university.dbo.Students</a:t>
            </a:r>
            <a:endParaRPr lang="de-CH" b="1" dirty="0"/>
          </a:p>
          <a:p>
            <a:endParaRPr lang="ru-RU" dirty="0"/>
          </a:p>
        </p:txBody>
      </p:sp>
      <p:pic>
        <p:nvPicPr>
          <p:cNvPr id="3" name="Рисунок 2">
            <a:extLst>
              <a:ext uri="{FF2B5EF4-FFF2-40B4-BE49-F238E27FC236}">
                <a16:creationId xmlns:a16="http://schemas.microsoft.com/office/drawing/2014/main" id="{5613322F-5DC5-D2FE-70C0-4CEFA283A7D8}"/>
              </a:ext>
            </a:extLst>
          </p:cNvPr>
          <p:cNvPicPr>
            <a:picLocks noChangeAspect="1"/>
          </p:cNvPicPr>
          <p:nvPr/>
        </p:nvPicPr>
        <p:blipFill>
          <a:blip r:embed="rId2"/>
          <a:stretch>
            <a:fillRect/>
          </a:stretch>
        </p:blipFill>
        <p:spPr>
          <a:xfrm>
            <a:off x="908539" y="1110395"/>
            <a:ext cx="4229100" cy="1876425"/>
          </a:xfrm>
          <a:prstGeom prst="rect">
            <a:avLst/>
          </a:prstGeom>
        </p:spPr>
      </p:pic>
      <p:sp>
        <p:nvSpPr>
          <p:cNvPr id="5" name="TextBox 4">
            <a:extLst>
              <a:ext uri="{FF2B5EF4-FFF2-40B4-BE49-F238E27FC236}">
                <a16:creationId xmlns:a16="http://schemas.microsoft.com/office/drawing/2014/main" id="{CF457D26-EBE5-CED4-5BF5-E3A41E6BBC42}"/>
              </a:ext>
            </a:extLst>
          </p:cNvPr>
          <p:cNvSpPr txBox="1"/>
          <p:nvPr/>
        </p:nvSpPr>
        <p:spPr>
          <a:xfrm>
            <a:off x="1274885" y="3692769"/>
            <a:ext cx="184731" cy="369332"/>
          </a:xfrm>
          <a:prstGeom prst="rect">
            <a:avLst/>
          </a:prstGeom>
          <a:noFill/>
        </p:spPr>
        <p:txBody>
          <a:bodyPr wrap="none" rtlCol="0">
            <a:spAutoFit/>
          </a:bodyPr>
          <a:lstStyle/>
          <a:p>
            <a:endParaRPr lang="ru-RU" dirty="0"/>
          </a:p>
        </p:txBody>
      </p:sp>
    </p:spTree>
    <p:extLst>
      <p:ext uri="{BB962C8B-B14F-4D97-AF65-F5344CB8AC3E}">
        <p14:creationId xmlns:p14="http://schemas.microsoft.com/office/powerpoint/2010/main" val="285170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0D846C51-E536-DFA7-F054-595590A04233}"/>
              </a:ext>
            </a:extLst>
          </p:cNvPr>
          <p:cNvPicPr>
            <a:picLocks noGrp="1" noChangeAspect="1"/>
          </p:cNvPicPr>
          <p:nvPr>
            <p:ph idx="1"/>
          </p:nvPr>
        </p:nvPicPr>
        <p:blipFill>
          <a:blip r:embed="rId2"/>
          <a:stretch>
            <a:fillRect/>
          </a:stretch>
        </p:blipFill>
        <p:spPr>
          <a:xfrm>
            <a:off x="1861405" y="990295"/>
            <a:ext cx="8870351" cy="4355428"/>
          </a:xfrm>
          <a:prstGeom prst="rect">
            <a:avLst/>
          </a:prstGeom>
        </p:spPr>
      </p:pic>
    </p:spTree>
    <p:extLst>
      <p:ext uri="{BB962C8B-B14F-4D97-AF65-F5344CB8AC3E}">
        <p14:creationId xmlns:p14="http://schemas.microsoft.com/office/powerpoint/2010/main" val="355803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F3D9090-87FE-3DE2-80F0-F638D9864900}"/>
              </a:ext>
            </a:extLst>
          </p:cNvPr>
          <p:cNvSpPr>
            <a:spLocks noGrp="1"/>
          </p:cNvSpPr>
          <p:nvPr>
            <p:ph idx="1"/>
          </p:nvPr>
        </p:nvSpPr>
        <p:spPr/>
        <p:txBody>
          <a:bodyPr/>
          <a:lstStyle/>
          <a:p>
            <a:pPr fontAlgn="base"/>
            <a:r>
              <a:rPr lang="en-US" dirty="0"/>
              <a:t>USE university</a:t>
            </a:r>
          </a:p>
          <a:p>
            <a:pPr fontAlgn="base"/>
            <a:r>
              <a:rPr lang="en-US" dirty="0"/>
              <a:t>SELECT * FROM Students</a:t>
            </a:r>
          </a:p>
          <a:p>
            <a:endParaRPr lang="ru-RU" dirty="0"/>
          </a:p>
        </p:txBody>
      </p:sp>
    </p:spTree>
    <p:extLst>
      <p:ext uri="{BB962C8B-B14F-4D97-AF65-F5344CB8AC3E}">
        <p14:creationId xmlns:p14="http://schemas.microsoft.com/office/powerpoint/2010/main" val="1522881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9863906-82FB-DDB5-A83B-2F3058D38DC9}"/>
              </a:ext>
            </a:extLst>
          </p:cNvPr>
          <p:cNvSpPr>
            <a:spLocks noGrp="1"/>
          </p:cNvSpPr>
          <p:nvPr>
            <p:ph idx="1"/>
          </p:nvPr>
        </p:nvSpPr>
        <p:spPr/>
        <p:txBody>
          <a:bodyPr/>
          <a:lstStyle/>
          <a:p>
            <a:r>
              <a:rPr lang="ru-RU" b="1" dirty="0"/>
              <a:t>Основы </a:t>
            </a:r>
            <a:r>
              <a:rPr lang="de-CH" b="1" dirty="0"/>
              <a:t>T-SQL</a:t>
            </a:r>
          </a:p>
          <a:p>
            <a:endParaRPr lang="ru-RU" b="1" dirty="0"/>
          </a:p>
          <a:p>
            <a:r>
              <a:rPr lang="ru-RU" b="1" dirty="0"/>
              <a:t>Создание базы данных</a:t>
            </a:r>
            <a:endParaRPr lang="en-US" b="1" dirty="0"/>
          </a:p>
          <a:p>
            <a:endParaRPr lang="en-US" b="1" dirty="0"/>
          </a:p>
          <a:p>
            <a:r>
              <a:rPr lang="de-CH" dirty="0"/>
              <a:t>		CREATE DATABASE </a:t>
            </a:r>
            <a:r>
              <a:rPr lang="de-CH" dirty="0" err="1"/>
              <a:t>usersdb</a:t>
            </a:r>
            <a:r>
              <a:rPr lang="de-CH" dirty="0"/>
              <a:t>;</a:t>
            </a:r>
          </a:p>
          <a:p>
            <a:endParaRPr lang="de-CH" b="1" dirty="0"/>
          </a:p>
          <a:p>
            <a:r>
              <a:rPr lang="ru-RU" b="1" dirty="0"/>
              <a:t>Удаление базы данных</a:t>
            </a:r>
          </a:p>
          <a:p>
            <a:endParaRPr lang="ru-RU" b="1" dirty="0"/>
          </a:p>
          <a:p>
            <a:r>
              <a:rPr lang="ru-RU" b="1" dirty="0"/>
              <a:t>		</a:t>
            </a:r>
            <a:r>
              <a:rPr lang="de-CH" dirty="0"/>
              <a:t>DROP DATABASE </a:t>
            </a:r>
            <a:r>
              <a:rPr lang="de-CH" dirty="0" err="1"/>
              <a:t>usersdb</a:t>
            </a:r>
            <a:r>
              <a:rPr lang="de-CH" dirty="0"/>
              <a:t>;</a:t>
            </a:r>
            <a:endParaRPr lang="ru-RU" dirty="0"/>
          </a:p>
        </p:txBody>
      </p:sp>
    </p:spTree>
    <p:extLst>
      <p:ext uri="{BB962C8B-B14F-4D97-AF65-F5344CB8AC3E}">
        <p14:creationId xmlns:p14="http://schemas.microsoft.com/office/powerpoint/2010/main" val="206914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BC034052-0232-AE84-5BB5-9004D61FF739}"/>
              </a:ext>
            </a:extLst>
          </p:cNvPr>
          <p:cNvSpPr>
            <a:spLocks noGrp="1"/>
          </p:cNvSpPr>
          <p:nvPr>
            <p:ph idx="1"/>
          </p:nvPr>
        </p:nvSpPr>
        <p:spPr/>
        <p:txBody>
          <a:bodyPr>
            <a:normAutofit/>
          </a:bodyPr>
          <a:lstStyle/>
          <a:p>
            <a:r>
              <a:rPr lang="ru-RU" b="1" dirty="0"/>
              <a:t>Создание и удаление таблиц</a:t>
            </a:r>
          </a:p>
          <a:p>
            <a:endParaRPr lang="ru-RU" dirty="0"/>
          </a:p>
          <a:p>
            <a:r>
              <a:rPr lang="ru-RU" dirty="0"/>
              <a:t>Общий синтаксис создания таблицы выглядит следующим образом:</a:t>
            </a:r>
          </a:p>
          <a:p>
            <a:pPr lvl="2" fontAlgn="base"/>
            <a:endParaRPr lang="ru-RU" sz="1600" dirty="0"/>
          </a:p>
          <a:p>
            <a:pPr lvl="2" fontAlgn="base"/>
            <a:r>
              <a:rPr lang="ru-RU" sz="1600" dirty="0"/>
              <a:t>CREATE TABLE </a:t>
            </a:r>
            <a:r>
              <a:rPr lang="ru-RU" sz="1600" dirty="0" err="1"/>
              <a:t>название_таблицы</a:t>
            </a:r>
            <a:endParaRPr lang="ru-RU" sz="1600" dirty="0"/>
          </a:p>
          <a:p>
            <a:pPr lvl="2" fontAlgn="base"/>
            <a:r>
              <a:rPr lang="ru-RU" sz="1600" dirty="0"/>
              <a:t>(</a:t>
            </a:r>
          </a:p>
          <a:p>
            <a:pPr lvl="3" fontAlgn="base"/>
            <a:r>
              <a:rPr lang="ru-RU" sz="1600" dirty="0"/>
              <a:t> название_столбца1 </a:t>
            </a:r>
            <a:r>
              <a:rPr lang="ru-RU" sz="1600" dirty="0" err="1"/>
              <a:t>тип_данных</a:t>
            </a:r>
            <a:r>
              <a:rPr lang="ru-RU" sz="1600" dirty="0"/>
              <a:t> атрибуты_столбца1, </a:t>
            </a:r>
          </a:p>
          <a:p>
            <a:pPr lvl="3" fontAlgn="base"/>
            <a:r>
              <a:rPr lang="ru-RU" sz="1600" dirty="0"/>
              <a:t> название_столбца2 </a:t>
            </a:r>
            <a:r>
              <a:rPr lang="ru-RU" sz="1600" dirty="0" err="1"/>
              <a:t>тип_данных</a:t>
            </a:r>
            <a:r>
              <a:rPr lang="ru-RU" sz="1600" dirty="0"/>
              <a:t> атрибуты_столбца2,</a:t>
            </a:r>
          </a:p>
          <a:p>
            <a:pPr lvl="3" fontAlgn="base"/>
            <a:r>
              <a:rPr lang="ru-RU" sz="1600" dirty="0"/>
              <a:t> ................................................</a:t>
            </a:r>
          </a:p>
          <a:p>
            <a:pPr lvl="3" fontAlgn="base"/>
            <a:r>
              <a:rPr lang="ru-RU" sz="1600" dirty="0"/>
              <a:t> </a:t>
            </a:r>
            <a:r>
              <a:rPr lang="ru-RU" sz="1600" dirty="0" err="1"/>
              <a:t>название_столбцаN</a:t>
            </a:r>
            <a:r>
              <a:rPr lang="ru-RU" sz="1600" dirty="0"/>
              <a:t> </a:t>
            </a:r>
            <a:r>
              <a:rPr lang="ru-RU" sz="1600" dirty="0" err="1"/>
              <a:t>тип_данных</a:t>
            </a:r>
            <a:r>
              <a:rPr lang="ru-RU" sz="1600" dirty="0"/>
              <a:t> </a:t>
            </a:r>
            <a:r>
              <a:rPr lang="ru-RU" sz="1600" dirty="0" err="1"/>
              <a:t>атрибуты_столбцаN</a:t>
            </a:r>
            <a:r>
              <a:rPr lang="ru-RU" sz="1600" dirty="0"/>
              <a:t>,</a:t>
            </a:r>
          </a:p>
          <a:p>
            <a:pPr lvl="3" fontAlgn="base"/>
            <a:r>
              <a:rPr lang="ru-RU" sz="1600" dirty="0"/>
              <a:t> </a:t>
            </a:r>
            <a:r>
              <a:rPr lang="ru-RU" sz="1600" dirty="0" err="1"/>
              <a:t>атрибуты_таблицы</a:t>
            </a:r>
            <a:endParaRPr lang="ru-RU" sz="1600" dirty="0"/>
          </a:p>
          <a:p>
            <a:pPr lvl="2" fontAlgn="base"/>
            <a:r>
              <a:rPr lang="ru-RU" sz="1600" dirty="0"/>
              <a:t>)</a:t>
            </a:r>
          </a:p>
          <a:p>
            <a:pPr lvl="2" fontAlgn="base"/>
            <a:endParaRPr lang="ru-RU" sz="1600" dirty="0"/>
          </a:p>
          <a:p>
            <a:pPr lvl="2" fontAlgn="base"/>
            <a:endParaRPr lang="ru-RU" sz="1600" dirty="0"/>
          </a:p>
          <a:p>
            <a:endParaRPr lang="ru-RU" dirty="0"/>
          </a:p>
        </p:txBody>
      </p:sp>
    </p:spTree>
    <p:extLst>
      <p:ext uri="{BB962C8B-B14F-4D97-AF65-F5344CB8AC3E}">
        <p14:creationId xmlns:p14="http://schemas.microsoft.com/office/powerpoint/2010/main" val="58394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349DB53-D0D7-E7C7-BE68-2F8D30F2117D}"/>
              </a:ext>
            </a:extLst>
          </p:cNvPr>
          <p:cNvSpPr>
            <a:spLocks noGrp="1"/>
          </p:cNvSpPr>
          <p:nvPr>
            <p:ph idx="1"/>
          </p:nvPr>
        </p:nvSpPr>
        <p:spPr/>
        <p:txBody>
          <a:bodyPr/>
          <a:lstStyle/>
          <a:p>
            <a:pPr lvl="1"/>
            <a:endParaRPr lang="ru-RU" dirty="0"/>
          </a:p>
          <a:p>
            <a:pPr lvl="1"/>
            <a:r>
              <a:rPr lang="ru-RU" sz="2000" dirty="0"/>
              <a:t>В самом просто виде команда CREATE TABLE должна содержать как минимум имя таблицы, имена и типы столбцов.</a:t>
            </a:r>
          </a:p>
          <a:p>
            <a:pPr lvl="1"/>
            <a:endParaRPr lang="ru-RU" sz="2000" dirty="0"/>
          </a:p>
          <a:p>
            <a:pPr lvl="1"/>
            <a:r>
              <a:rPr lang="ru-RU" sz="2000" dirty="0"/>
              <a:t>Таблица может содержать от 1 до 1024 столбцов. Каждый столбец должен иметь уникальное в рамках текущей таблицы имя, и ему должен быть назначен тип данных.</a:t>
            </a:r>
          </a:p>
          <a:p>
            <a:pPr lvl="1"/>
            <a:endParaRPr lang="ru-RU" sz="2000" dirty="0"/>
          </a:p>
          <a:p>
            <a:pPr lvl="2" fontAlgn="base"/>
            <a:r>
              <a:rPr lang="en-US" sz="1600" dirty="0"/>
              <a:t>CREATE TABLE Customers</a:t>
            </a:r>
          </a:p>
          <a:p>
            <a:pPr lvl="2" fontAlgn="base"/>
            <a:r>
              <a:rPr lang="en-US" sz="1600" dirty="0"/>
              <a:t>(</a:t>
            </a:r>
          </a:p>
          <a:p>
            <a:pPr lvl="2" fontAlgn="base"/>
            <a:r>
              <a:rPr lang="en-US" sz="1600" dirty="0"/>
              <a:t>    Id INT,</a:t>
            </a:r>
          </a:p>
          <a:p>
            <a:pPr lvl="2" fontAlgn="base"/>
            <a:r>
              <a:rPr lang="en-US" sz="1600" dirty="0"/>
              <a:t>    Age INT,</a:t>
            </a:r>
          </a:p>
          <a:p>
            <a:pPr lvl="2" fontAlgn="base"/>
            <a:r>
              <a:rPr lang="en-US" sz="1600" dirty="0"/>
              <a:t>    FirstName NVARCHAR(20),</a:t>
            </a:r>
          </a:p>
          <a:p>
            <a:pPr lvl="2" fontAlgn="base"/>
            <a:r>
              <a:rPr lang="en-US" sz="1600" dirty="0"/>
              <a:t>    LastName NVARCHAR(20),</a:t>
            </a:r>
          </a:p>
          <a:p>
            <a:pPr lvl="2" fontAlgn="base"/>
            <a:r>
              <a:rPr lang="en-US" sz="1600" dirty="0"/>
              <a:t>    Email VARCHAR(30),</a:t>
            </a:r>
          </a:p>
          <a:p>
            <a:pPr lvl="2" fontAlgn="base"/>
            <a:r>
              <a:rPr lang="en-US" sz="1600" dirty="0"/>
              <a:t>    Phone VARCHAR(20)</a:t>
            </a:r>
          </a:p>
          <a:p>
            <a:pPr lvl="2" fontAlgn="base"/>
            <a:r>
              <a:rPr lang="en-US" sz="1600" dirty="0"/>
              <a:t>)</a:t>
            </a:r>
          </a:p>
          <a:p>
            <a:pPr lvl="1"/>
            <a:endParaRPr lang="ru-RU" sz="2000" dirty="0"/>
          </a:p>
        </p:txBody>
      </p:sp>
    </p:spTree>
    <p:extLst>
      <p:ext uri="{BB962C8B-B14F-4D97-AF65-F5344CB8AC3E}">
        <p14:creationId xmlns:p14="http://schemas.microsoft.com/office/powerpoint/2010/main" val="18705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642AB0F-60FE-F0E0-9BBE-3295B234ABC2}"/>
              </a:ext>
            </a:extLst>
          </p:cNvPr>
          <p:cNvSpPr>
            <a:spLocks noGrp="1"/>
          </p:cNvSpPr>
          <p:nvPr>
            <p:ph idx="1"/>
          </p:nvPr>
        </p:nvSpPr>
        <p:spPr/>
        <p:txBody>
          <a:bodyPr/>
          <a:lstStyle/>
          <a:p>
            <a:r>
              <a:rPr lang="ru-RU" b="1" dirty="0"/>
              <a:t>Удаление таблиц </a:t>
            </a:r>
          </a:p>
          <a:p>
            <a:endParaRPr lang="ru-RU" dirty="0"/>
          </a:p>
          <a:p>
            <a:r>
              <a:rPr lang="ru-RU" dirty="0"/>
              <a:t>	</a:t>
            </a:r>
            <a:r>
              <a:rPr lang="de-CH" dirty="0"/>
              <a:t>DROP TABLE Customers</a:t>
            </a:r>
            <a:endParaRPr lang="ru-RU" dirty="0"/>
          </a:p>
          <a:p>
            <a:endParaRPr lang="ru-RU" dirty="0"/>
          </a:p>
          <a:p>
            <a:r>
              <a:rPr lang="ru-RU" b="1" dirty="0"/>
              <a:t>Переименование таблицы</a:t>
            </a:r>
          </a:p>
          <a:p>
            <a:endParaRPr lang="ru-RU" dirty="0"/>
          </a:p>
          <a:p>
            <a:r>
              <a:rPr lang="ru-RU" dirty="0"/>
              <a:t>	</a:t>
            </a:r>
            <a:r>
              <a:rPr lang="en-US" dirty="0"/>
              <a:t>EXEC </a:t>
            </a:r>
            <a:r>
              <a:rPr lang="en-US" dirty="0" err="1"/>
              <a:t>sp_rename</a:t>
            </a:r>
            <a:r>
              <a:rPr lang="en-US" dirty="0"/>
              <a:t> 'Users', '</a:t>
            </a:r>
            <a:r>
              <a:rPr lang="en-US" dirty="0" err="1"/>
              <a:t>UserAccounts</a:t>
            </a:r>
            <a:r>
              <a:rPr lang="en-US" dirty="0"/>
              <a:t>';</a:t>
            </a:r>
            <a:endParaRPr lang="ru-RU" dirty="0"/>
          </a:p>
        </p:txBody>
      </p:sp>
    </p:spTree>
    <p:extLst>
      <p:ext uri="{BB962C8B-B14F-4D97-AF65-F5344CB8AC3E}">
        <p14:creationId xmlns:p14="http://schemas.microsoft.com/office/powerpoint/2010/main" val="4206014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71260F49-889F-A4E0-6DDA-BDBAC204F160}"/>
              </a:ext>
            </a:extLst>
          </p:cNvPr>
          <p:cNvSpPr>
            <a:spLocks noGrp="1"/>
          </p:cNvSpPr>
          <p:nvPr>
            <p:ph idx="1"/>
          </p:nvPr>
        </p:nvSpPr>
        <p:spPr/>
        <p:txBody>
          <a:bodyPr>
            <a:normAutofit fontScale="62500" lnSpcReduction="20000"/>
          </a:bodyPr>
          <a:lstStyle/>
          <a:p>
            <a:r>
              <a:rPr lang="ru-RU" b="1" dirty="0"/>
              <a:t>Типы данных </a:t>
            </a:r>
            <a:r>
              <a:rPr lang="de-CH" b="1" dirty="0"/>
              <a:t>T-SQL</a:t>
            </a:r>
          </a:p>
          <a:p>
            <a:r>
              <a:rPr lang="ru-RU" b="1" dirty="0"/>
              <a:t>Числовые типы данных</a:t>
            </a:r>
          </a:p>
          <a:p>
            <a:r>
              <a:rPr lang="ru-RU" sz="2900" b="1" dirty="0"/>
              <a:t>BIT</a:t>
            </a:r>
            <a:r>
              <a:rPr lang="ru-RU" sz="2900" dirty="0"/>
              <a:t>: хранит значение от 0 до 16. Может выступать аналогом </a:t>
            </a:r>
            <a:r>
              <a:rPr lang="ru-RU" sz="2900" dirty="0" err="1"/>
              <a:t>булевого</a:t>
            </a:r>
            <a:r>
              <a:rPr lang="ru-RU" sz="2900" dirty="0"/>
              <a:t> типа в языках программирования (в этом случае значению </a:t>
            </a:r>
            <a:r>
              <a:rPr lang="ru-RU" sz="2900" dirty="0" err="1"/>
              <a:t>true</a:t>
            </a:r>
            <a:r>
              <a:rPr lang="ru-RU" sz="2900" dirty="0"/>
              <a:t> соответствует 1, а значению </a:t>
            </a:r>
            <a:r>
              <a:rPr lang="ru-RU" sz="2900" dirty="0" err="1"/>
              <a:t>false</a:t>
            </a:r>
            <a:r>
              <a:rPr lang="ru-RU" sz="2900" dirty="0"/>
              <a:t> - 0). При значениях до 8 (включительно) занимает 1 байт, при значениях от 9 до 16 - 2 байта.</a:t>
            </a:r>
          </a:p>
          <a:p>
            <a:r>
              <a:rPr lang="ru-RU" sz="2900" b="1" dirty="0"/>
              <a:t>TINYINT</a:t>
            </a:r>
            <a:r>
              <a:rPr lang="ru-RU" sz="2900" dirty="0"/>
              <a:t>: хранит числа от 0 до 255. Занимает 1 байт. Хорошо подходит для хранения небольших чисел.</a:t>
            </a:r>
          </a:p>
          <a:p>
            <a:r>
              <a:rPr lang="ru-RU" sz="2900" b="1" dirty="0"/>
              <a:t>SMALLINT</a:t>
            </a:r>
            <a:r>
              <a:rPr lang="ru-RU" sz="2900" dirty="0"/>
              <a:t>: хранит числа от –32 768 до 32 767. Занимает 2 байта</a:t>
            </a:r>
          </a:p>
          <a:p>
            <a:r>
              <a:rPr lang="ru-RU" sz="2900" b="1" dirty="0"/>
              <a:t>INT</a:t>
            </a:r>
            <a:r>
              <a:rPr lang="ru-RU" sz="2900" dirty="0"/>
              <a:t>: хранит числа от –2 147 483 648 до 2 147 483 647. Занимает 4 байта. Наиболее используемый тип для хранения чисел.</a:t>
            </a:r>
          </a:p>
          <a:p>
            <a:r>
              <a:rPr lang="ru-RU" sz="2900" b="1" dirty="0"/>
              <a:t>BIGINT</a:t>
            </a:r>
            <a:r>
              <a:rPr lang="ru-RU" sz="2900" dirty="0"/>
              <a:t>: хранит очень большие числа от -9 223 372 036 854 775 808 до 9 223 372 036 854 775 807, которые занимают в памяти 8 байт.</a:t>
            </a:r>
          </a:p>
          <a:p>
            <a:r>
              <a:rPr lang="ru-RU" sz="2900" b="1" dirty="0"/>
              <a:t>DECIMAL</a:t>
            </a:r>
            <a:r>
              <a:rPr lang="ru-RU" sz="2900" dirty="0"/>
              <a:t>: хранит числа c фиксированной точностью. Занимает от 5 до 17 байт в зависимости от количества чисел после запятой.</a:t>
            </a:r>
          </a:p>
          <a:p>
            <a:r>
              <a:rPr lang="ru-RU" sz="2900" dirty="0"/>
              <a:t>Данный тип может принимать два параметра </a:t>
            </a:r>
            <a:r>
              <a:rPr lang="ru-RU" sz="2900" dirty="0" err="1"/>
              <a:t>precision</a:t>
            </a:r>
            <a:r>
              <a:rPr lang="ru-RU" sz="2900" dirty="0"/>
              <a:t> и </a:t>
            </a:r>
            <a:r>
              <a:rPr lang="ru-RU" sz="2900" dirty="0" err="1"/>
              <a:t>scale</a:t>
            </a:r>
            <a:r>
              <a:rPr lang="ru-RU" sz="2900" dirty="0"/>
              <a:t>: DECIMAL(</a:t>
            </a:r>
            <a:r>
              <a:rPr lang="ru-RU" sz="2900" dirty="0" err="1"/>
              <a:t>precision</a:t>
            </a:r>
            <a:r>
              <a:rPr lang="ru-RU" sz="2900" dirty="0"/>
              <a:t>, </a:t>
            </a:r>
            <a:r>
              <a:rPr lang="ru-RU" sz="2900" dirty="0" err="1"/>
              <a:t>scale</a:t>
            </a:r>
            <a:r>
              <a:rPr lang="ru-RU" sz="2900" dirty="0"/>
              <a:t>).</a:t>
            </a:r>
          </a:p>
          <a:p>
            <a:r>
              <a:rPr lang="ru-RU" sz="2900" dirty="0"/>
              <a:t>Параметр </a:t>
            </a:r>
            <a:r>
              <a:rPr lang="ru-RU" sz="2900" dirty="0" err="1"/>
              <a:t>precision</a:t>
            </a:r>
            <a:r>
              <a:rPr lang="ru-RU" sz="2900" dirty="0"/>
              <a:t> представляет максимальное количество цифр, которые может хранить число. Это значение должно находиться в диапазоне от 1 до 38. По умолчанию оно равно 18.</a:t>
            </a:r>
          </a:p>
          <a:p>
            <a:r>
              <a:rPr lang="ru-RU" sz="2900" dirty="0"/>
              <a:t>Параметр </a:t>
            </a:r>
            <a:r>
              <a:rPr lang="ru-RU" sz="2900" dirty="0" err="1"/>
              <a:t>scale</a:t>
            </a:r>
            <a:r>
              <a:rPr lang="ru-RU" sz="2900" dirty="0"/>
              <a:t> представляет максимальное количество цифр, которые может содержать число после запятой. Это значение должно находиться в диапазоне от 0 до значения параметра </a:t>
            </a:r>
            <a:r>
              <a:rPr lang="ru-RU" sz="2900" dirty="0" err="1"/>
              <a:t>precision</a:t>
            </a:r>
            <a:r>
              <a:rPr lang="ru-RU" sz="2900" dirty="0"/>
              <a:t>. По умолчанию оно равно 0.</a:t>
            </a:r>
          </a:p>
          <a:p>
            <a:endParaRPr lang="ru-RU" dirty="0"/>
          </a:p>
        </p:txBody>
      </p:sp>
    </p:spTree>
    <p:extLst>
      <p:ext uri="{BB962C8B-B14F-4D97-AF65-F5344CB8AC3E}">
        <p14:creationId xmlns:p14="http://schemas.microsoft.com/office/powerpoint/2010/main" val="3705193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5FED6706-A6B3-D4C4-2D60-4914A601356B}"/>
              </a:ext>
            </a:extLst>
          </p:cNvPr>
          <p:cNvSpPr>
            <a:spLocks noGrp="1"/>
          </p:cNvSpPr>
          <p:nvPr>
            <p:ph idx="1"/>
          </p:nvPr>
        </p:nvSpPr>
        <p:spPr/>
        <p:txBody>
          <a:bodyPr/>
          <a:lstStyle/>
          <a:p>
            <a:r>
              <a:rPr lang="ru-RU" sz="2000" b="1" dirty="0"/>
              <a:t>NUMERIC</a:t>
            </a:r>
            <a:r>
              <a:rPr lang="ru-RU" sz="2000" dirty="0"/>
              <a:t>: данный тип аналогичен типу DECIMAL.</a:t>
            </a:r>
          </a:p>
          <a:p>
            <a:r>
              <a:rPr lang="ru-RU" sz="2000" b="1" dirty="0"/>
              <a:t>SMALLMONEY</a:t>
            </a:r>
            <a:r>
              <a:rPr lang="ru-RU" sz="2000" dirty="0"/>
              <a:t>: хранит дробные значения от -214 748.3648 до 214 748.3647. Предназначено для хранения денежных величин. Занимает 4 байта. Эквивалентен типу DECIMAL(10,4).</a:t>
            </a:r>
          </a:p>
          <a:p>
            <a:r>
              <a:rPr lang="ru-RU" sz="2000" b="1" dirty="0"/>
              <a:t>MONEY</a:t>
            </a:r>
            <a:r>
              <a:rPr lang="ru-RU" sz="2000" dirty="0"/>
              <a:t>: хранит дробные значения от -922 337 203 685 477.5808 до 922 337 203 685 477.5807. Представляет денежные величины и занимает 8 байт. Эквивалентен типу DECIMAL(19,4).</a:t>
            </a:r>
          </a:p>
          <a:p>
            <a:r>
              <a:rPr lang="ru-RU" sz="2000" b="1" dirty="0"/>
              <a:t>FLOAT</a:t>
            </a:r>
            <a:r>
              <a:rPr lang="ru-RU" sz="2000" dirty="0"/>
              <a:t>: хранит числа от –1.79E+308 до 1.79E+308. Занимает от 4 до 8 байт в зависимости от дробной части.</a:t>
            </a:r>
          </a:p>
          <a:p>
            <a:r>
              <a:rPr lang="ru-RU" sz="2000" dirty="0"/>
              <a:t>Может иметь форму </a:t>
            </a:r>
            <a:r>
              <a:rPr lang="ru-RU" sz="2000" dirty="0" err="1"/>
              <a:t>опредеения</a:t>
            </a:r>
            <a:r>
              <a:rPr lang="ru-RU" sz="2000" dirty="0"/>
              <a:t> в виде FLOAT(n), где n представляет число бит, которые используются для хранения десятичной части числа (мантиссы). По умолчанию n = 53.</a:t>
            </a:r>
          </a:p>
          <a:p>
            <a:r>
              <a:rPr lang="ru-RU" sz="2000" b="1" dirty="0"/>
              <a:t>REAL</a:t>
            </a:r>
            <a:r>
              <a:rPr lang="ru-RU" sz="2000" dirty="0"/>
              <a:t>: хранит числа от –340E+38 </a:t>
            </a:r>
            <a:r>
              <a:rPr lang="ru-RU" sz="2000" dirty="0" err="1"/>
              <a:t>to</a:t>
            </a:r>
            <a:r>
              <a:rPr lang="ru-RU" sz="2000" dirty="0"/>
              <a:t> 3.40E+38. Занимает 4 байта. Эквивалентен типу FLOAT(24).</a:t>
            </a:r>
          </a:p>
          <a:p>
            <a:endParaRPr lang="de-CH" b="1" dirty="0"/>
          </a:p>
          <a:p>
            <a:endParaRPr lang="ru-RU" dirty="0"/>
          </a:p>
        </p:txBody>
      </p:sp>
    </p:spTree>
    <p:extLst>
      <p:ext uri="{BB962C8B-B14F-4D97-AF65-F5344CB8AC3E}">
        <p14:creationId xmlns:p14="http://schemas.microsoft.com/office/powerpoint/2010/main" val="230263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6232AF2-A903-65C1-321B-D6EE4EEC6CC3}"/>
              </a:ext>
            </a:extLst>
          </p:cNvPr>
          <p:cNvSpPr>
            <a:spLocks noGrp="1"/>
          </p:cNvSpPr>
          <p:nvPr>
            <p:ph idx="1"/>
          </p:nvPr>
        </p:nvSpPr>
        <p:spPr/>
        <p:txBody>
          <a:bodyPr>
            <a:normAutofit fontScale="92500" lnSpcReduction="20000"/>
          </a:bodyPr>
          <a:lstStyle/>
          <a:p>
            <a:r>
              <a:rPr lang="ru-RU" b="1" dirty="0"/>
              <a:t>Типы данных, представляющие дату и время</a:t>
            </a:r>
          </a:p>
          <a:p>
            <a:endParaRPr lang="en-US" b="1" dirty="0"/>
          </a:p>
          <a:p>
            <a:r>
              <a:rPr lang="ru-RU" b="1" dirty="0"/>
              <a:t>DATE</a:t>
            </a:r>
            <a:r>
              <a:rPr lang="ru-RU" dirty="0"/>
              <a:t>: хранит даты от 0001-01-01 (1 января 0001 года) до 9999-12-31 (31 декабря 9999 года). Занимает 3 байта.</a:t>
            </a:r>
          </a:p>
          <a:p>
            <a:r>
              <a:rPr lang="ru-RU" b="1" dirty="0"/>
              <a:t>TIME</a:t>
            </a:r>
            <a:r>
              <a:rPr lang="ru-RU" dirty="0"/>
              <a:t>: хранит время в диапазоне от 00:00:00.0000000 до 23:59:59.9999999. Занимает от 3 до 5 байт.</a:t>
            </a:r>
          </a:p>
          <a:p>
            <a:r>
              <a:rPr lang="ru-RU" dirty="0"/>
              <a:t>Может иметь форму TIME(n), где n представляет количество цифр от 0 до 7 в дробной части секунд.</a:t>
            </a:r>
          </a:p>
          <a:p>
            <a:r>
              <a:rPr lang="ru-RU" b="1" dirty="0"/>
              <a:t>DATETIME</a:t>
            </a:r>
            <a:r>
              <a:rPr lang="ru-RU" dirty="0"/>
              <a:t>: хранит даты и время от 01/01/1753 до 31/12/9999. Занимает 8 байт.</a:t>
            </a:r>
          </a:p>
          <a:p>
            <a:r>
              <a:rPr lang="ru-RU" b="1" dirty="0"/>
              <a:t>DATETIME2</a:t>
            </a:r>
            <a:r>
              <a:rPr lang="ru-RU" dirty="0"/>
              <a:t>: хранит даты и время в диапазоне от 01/01/0001 00:00:00.0000000 до 31/12/9999 23:59:59.9999999. Занимает от 6 до 8 байт в зависимости от точности времени.</a:t>
            </a:r>
          </a:p>
          <a:p>
            <a:r>
              <a:rPr lang="ru-RU" dirty="0"/>
              <a:t>Может иметь форму DATETIME2(n), где n представляет количество цифр от 0 до 7 в дробной части секунд.</a:t>
            </a:r>
          </a:p>
          <a:p>
            <a:r>
              <a:rPr lang="ru-RU" b="1" dirty="0"/>
              <a:t>SMALLDATETIME</a:t>
            </a:r>
            <a:r>
              <a:rPr lang="ru-RU" dirty="0"/>
              <a:t>: хранит даты и время в диапазоне от 01/01/1900 до 06/06/2079, то есть ближайшие даты. Занимает от 4 байта.</a:t>
            </a:r>
          </a:p>
          <a:p>
            <a:r>
              <a:rPr lang="ru-RU" b="1" dirty="0"/>
              <a:t>DATETIMEOFFSET</a:t>
            </a:r>
            <a:r>
              <a:rPr lang="ru-RU" dirty="0"/>
              <a:t>: хранит даты и время в диапазоне от 0001-01-01 до 9999-12-31. Сохраняет детальную информацию о времени с точностью до 100 наносекунд. Занимает 10 байт.</a:t>
            </a:r>
          </a:p>
          <a:p>
            <a:endParaRPr lang="ru-RU" dirty="0"/>
          </a:p>
        </p:txBody>
      </p:sp>
    </p:spTree>
    <p:extLst>
      <p:ext uri="{BB962C8B-B14F-4D97-AF65-F5344CB8AC3E}">
        <p14:creationId xmlns:p14="http://schemas.microsoft.com/office/powerpoint/2010/main" val="32120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C53ACD3-3A64-C092-7844-AE2366CE9491}"/>
              </a:ext>
            </a:extLst>
          </p:cNvPr>
          <p:cNvSpPr>
            <a:spLocks noGrp="1"/>
          </p:cNvSpPr>
          <p:nvPr>
            <p:ph idx="1"/>
          </p:nvPr>
        </p:nvSpPr>
        <p:spPr/>
        <p:txBody>
          <a:bodyPr>
            <a:normAutofit lnSpcReduction="10000"/>
          </a:bodyPr>
          <a:lstStyle/>
          <a:p>
            <a:r>
              <a:rPr lang="ru-RU" dirty="0"/>
              <a:t>Распространенные форматы времени:</a:t>
            </a:r>
          </a:p>
          <a:p>
            <a:r>
              <a:rPr lang="de-CH" dirty="0" err="1"/>
              <a:t>hh:mi</a:t>
            </a:r>
            <a:r>
              <a:rPr lang="de-CH" dirty="0"/>
              <a:t> - 13:21</a:t>
            </a:r>
          </a:p>
          <a:p>
            <a:r>
              <a:rPr lang="de-CH" dirty="0" err="1"/>
              <a:t>hh:mi</a:t>
            </a:r>
            <a:r>
              <a:rPr lang="de-CH" dirty="0"/>
              <a:t> am/</a:t>
            </a:r>
            <a:r>
              <a:rPr lang="de-CH" dirty="0" err="1"/>
              <a:t>pm</a:t>
            </a:r>
            <a:r>
              <a:rPr lang="de-CH" dirty="0"/>
              <a:t> - 1:21 </a:t>
            </a:r>
            <a:r>
              <a:rPr lang="de-CH" dirty="0" err="1"/>
              <a:t>pm</a:t>
            </a:r>
            <a:endParaRPr lang="de-CH" dirty="0"/>
          </a:p>
          <a:p>
            <a:r>
              <a:rPr lang="de-CH" dirty="0" err="1"/>
              <a:t>hh:mi:ss</a:t>
            </a:r>
            <a:r>
              <a:rPr lang="de-CH" dirty="0"/>
              <a:t> - 1:21:34</a:t>
            </a:r>
          </a:p>
          <a:p>
            <a:r>
              <a:rPr lang="de-CH" dirty="0" err="1"/>
              <a:t>hh:mi:ss:mmm</a:t>
            </a:r>
            <a:r>
              <a:rPr lang="de-CH" dirty="0"/>
              <a:t> - 1:21:34:12</a:t>
            </a:r>
          </a:p>
          <a:p>
            <a:r>
              <a:rPr lang="de-CH" dirty="0" err="1"/>
              <a:t>hh:mi:ss:nnnnnnn</a:t>
            </a:r>
            <a:r>
              <a:rPr lang="de-CH" dirty="0"/>
              <a:t> - 1:21:34:1234567</a:t>
            </a:r>
          </a:p>
          <a:p>
            <a:endParaRPr lang="en-US" dirty="0"/>
          </a:p>
          <a:p>
            <a:r>
              <a:rPr lang="ru-RU" dirty="0"/>
              <a:t>Распространенные форматы дат:</a:t>
            </a:r>
          </a:p>
          <a:p>
            <a:r>
              <a:rPr lang="ru-RU" dirty="0" err="1"/>
              <a:t>yyyy-mm-dd</a:t>
            </a:r>
            <a:r>
              <a:rPr lang="ru-RU" dirty="0"/>
              <a:t> - 2017-07-12</a:t>
            </a:r>
          </a:p>
          <a:p>
            <a:r>
              <a:rPr lang="ru-RU" dirty="0" err="1"/>
              <a:t>dd</a:t>
            </a:r>
            <a:r>
              <a:rPr lang="ru-RU" dirty="0"/>
              <a:t>/</a:t>
            </a:r>
            <a:r>
              <a:rPr lang="ru-RU" dirty="0" err="1"/>
              <a:t>mm</a:t>
            </a:r>
            <a:r>
              <a:rPr lang="ru-RU" dirty="0"/>
              <a:t>/</a:t>
            </a:r>
            <a:r>
              <a:rPr lang="ru-RU" dirty="0" err="1"/>
              <a:t>yyyy</a:t>
            </a:r>
            <a:r>
              <a:rPr lang="ru-RU" dirty="0"/>
              <a:t> - 12/07/2017</a:t>
            </a:r>
          </a:p>
          <a:p>
            <a:r>
              <a:rPr lang="ru-RU" dirty="0" err="1"/>
              <a:t>mm-dd-yy</a:t>
            </a:r>
            <a:r>
              <a:rPr lang="ru-RU" dirty="0"/>
              <a:t> - 07-12-17</a:t>
            </a:r>
          </a:p>
          <a:p>
            <a:r>
              <a:rPr lang="ru-RU" dirty="0"/>
              <a:t>В таком формате двузначные числа от 00 до 49 воспринимаются как даты в диапазоне 2000-2049. А числа от 50 до 99 как диапазон чисел 1950 - 1999.</a:t>
            </a:r>
          </a:p>
          <a:p>
            <a:r>
              <a:rPr lang="ru-RU" dirty="0" err="1"/>
              <a:t>Month</a:t>
            </a:r>
            <a:r>
              <a:rPr lang="ru-RU" dirty="0"/>
              <a:t> </a:t>
            </a:r>
            <a:r>
              <a:rPr lang="ru-RU" dirty="0" err="1"/>
              <a:t>dd</a:t>
            </a:r>
            <a:r>
              <a:rPr lang="ru-RU" dirty="0"/>
              <a:t>, </a:t>
            </a:r>
            <a:r>
              <a:rPr lang="ru-RU" dirty="0" err="1"/>
              <a:t>yyyy</a:t>
            </a:r>
            <a:r>
              <a:rPr lang="ru-RU" dirty="0"/>
              <a:t> - </a:t>
            </a:r>
            <a:r>
              <a:rPr lang="ru-RU" dirty="0" err="1"/>
              <a:t>July</a:t>
            </a:r>
            <a:r>
              <a:rPr lang="ru-RU" dirty="0"/>
              <a:t> 12, 2017</a:t>
            </a:r>
          </a:p>
          <a:p>
            <a:endParaRPr lang="ru-RU" dirty="0"/>
          </a:p>
        </p:txBody>
      </p:sp>
    </p:spTree>
    <p:extLst>
      <p:ext uri="{BB962C8B-B14F-4D97-AF65-F5344CB8AC3E}">
        <p14:creationId xmlns:p14="http://schemas.microsoft.com/office/powerpoint/2010/main" val="2025696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2A0FEE9-76EB-EC98-9428-8C4DE2EBF047}"/>
              </a:ext>
            </a:extLst>
          </p:cNvPr>
          <p:cNvSpPr>
            <a:spLocks noGrp="1"/>
          </p:cNvSpPr>
          <p:nvPr>
            <p:ph idx="1"/>
          </p:nvPr>
        </p:nvSpPr>
        <p:spPr/>
        <p:txBody>
          <a:bodyPr>
            <a:normAutofit fontScale="92500" lnSpcReduction="10000"/>
          </a:bodyPr>
          <a:lstStyle/>
          <a:p>
            <a:r>
              <a:rPr lang="ru-RU" b="1" dirty="0"/>
              <a:t>Строковые типы данных</a:t>
            </a:r>
          </a:p>
          <a:p>
            <a:endParaRPr lang="en-US" b="1" dirty="0"/>
          </a:p>
          <a:p>
            <a:r>
              <a:rPr lang="ru-RU" b="1" dirty="0"/>
              <a:t>CHAR</a:t>
            </a:r>
            <a:r>
              <a:rPr lang="ru-RU" dirty="0"/>
              <a:t>: хранит строку длиной от 1 до 8 000 символов. На каждый символ выделяет по 1 байту. Не подходит для многих языков, так как хранит символы не в кодировке </a:t>
            </a:r>
            <a:r>
              <a:rPr lang="ru-RU" dirty="0" err="1"/>
              <a:t>Unicode</a:t>
            </a:r>
            <a:r>
              <a:rPr lang="ru-RU" dirty="0"/>
              <a:t>.</a:t>
            </a:r>
          </a:p>
          <a:p>
            <a:r>
              <a:rPr lang="ru-RU" dirty="0"/>
              <a:t>Количество символов, которое может хранить столбец, передается в скобках. Например, для столбца с типом CHAR(10) будет выделено 10 байт. И если мы сохраним в столбце строку менее 10 символов, то она будет дополнена пробелами.</a:t>
            </a:r>
          </a:p>
          <a:p>
            <a:r>
              <a:rPr lang="ru-RU" b="1" dirty="0"/>
              <a:t>VARCHAR</a:t>
            </a:r>
            <a:r>
              <a:rPr lang="ru-RU" dirty="0"/>
              <a:t>: хранит строку. На каждый символ выделяется 1 байт. Можно указать конкретную длину для столбца - от 1 до 8 000 символов, например, VARCHAR(10). Если строка должна иметь больше 8000 символов, то задается размер MAX, а на хранение строки может выделяться до 2 Гб: VARCHAR(MAX).</a:t>
            </a:r>
          </a:p>
          <a:p>
            <a:r>
              <a:rPr lang="ru-RU" dirty="0"/>
              <a:t>Не подходит для многих языков, так как хранит символы не в кодировке </a:t>
            </a:r>
            <a:r>
              <a:rPr lang="ru-RU" dirty="0" err="1"/>
              <a:t>Unicode</a:t>
            </a:r>
            <a:r>
              <a:rPr lang="ru-RU" dirty="0"/>
              <a:t>.</a:t>
            </a:r>
          </a:p>
          <a:p>
            <a:r>
              <a:rPr lang="ru-RU" dirty="0"/>
              <a:t>В отличие от типа CHAR если в столбец с типом VARCHAR(10) будет сохранена строка в 5 символов, то в </a:t>
            </a:r>
            <a:r>
              <a:rPr lang="ru-RU" dirty="0" err="1"/>
              <a:t>столце</a:t>
            </a:r>
            <a:r>
              <a:rPr lang="ru-RU" dirty="0"/>
              <a:t> будет сохранено именно пять символов.</a:t>
            </a:r>
          </a:p>
          <a:p>
            <a:endParaRPr lang="ru-RU" dirty="0"/>
          </a:p>
        </p:txBody>
      </p:sp>
    </p:spTree>
    <p:extLst>
      <p:ext uri="{BB962C8B-B14F-4D97-AF65-F5344CB8AC3E}">
        <p14:creationId xmlns:p14="http://schemas.microsoft.com/office/powerpoint/2010/main" val="3435958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1B398F5-0202-338E-93D0-A30F13453E08}"/>
              </a:ext>
            </a:extLst>
          </p:cNvPr>
          <p:cNvSpPr>
            <a:spLocks noGrp="1"/>
          </p:cNvSpPr>
          <p:nvPr>
            <p:ph idx="1"/>
          </p:nvPr>
        </p:nvSpPr>
        <p:spPr/>
        <p:txBody>
          <a:bodyPr/>
          <a:lstStyle/>
          <a:p>
            <a:r>
              <a:rPr lang="ru-RU" b="1" dirty="0"/>
              <a:t>NCHAR</a:t>
            </a:r>
            <a:r>
              <a:rPr lang="ru-RU" dirty="0"/>
              <a:t>: хранит строку в кодировке </a:t>
            </a:r>
            <a:r>
              <a:rPr lang="ru-RU" dirty="0" err="1"/>
              <a:t>Unicode</a:t>
            </a:r>
            <a:r>
              <a:rPr lang="ru-RU" dirty="0"/>
              <a:t> длиной от 1 до 4 000 символов. На каждый символ выделяется 2 байта. Например, NCHAR(15)</a:t>
            </a:r>
          </a:p>
          <a:p>
            <a:r>
              <a:rPr lang="ru-RU" b="1" dirty="0"/>
              <a:t>NVARCHAR</a:t>
            </a:r>
            <a:r>
              <a:rPr lang="ru-RU" dirty="0"/>
              <a:t>: хранит строку в кодировке </a:t>
            </a:r>
            <a:r>
              <a:rPr lang="ru-RU" dirty="0" err="1"/>
              <a:t>Unicode</a:t>
            </a:r>
            <a:r>
              <a:rPr lang="ru-RU" dirty="0"/>
              <a:t>. На каждый символ выделяется 2 </a:t>
            </a:r>
            <a:r>
              <a:rPr lang="ru-RU" dirty="0" err="1"/>
              <a:t>байта.Можно</a:t>
            </a:r>
            <a:r>
              <a:rPr lang="ru-RU" dirty="0"/>
              <a:t> задать конкретный размер от 1 до 4 000 символов: . Если строка должна иметь больше 4000 символов, то задается размер MAX, а на хранение строки может выделяться до 2 Гб.</a:t>
            </a:r>
          </a:p>
          <a:p>
            <a:endParaRPr lang="ru-RU" dirty="0"/>
          </a:p>
        </p:txBody>
      </p:sp>
    </p:spTree>
    <p:extLst>
      <p:ext uri="{BB962C8B-B14F-4D97-AF65-F5344CB8AC3E}">
        <p14:creationId xmlns:p14="http://schemas.microsoft.com/office/powerpoint/2010/main" val="550955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6632820-9B5F-8718-5B30-1B348E8D2A3C}"/>
              </a:ext>
            </a:extLst>
          </p:cNvPr>
          <p:cNvSpPr>
            <a:spLocks noGrp="1"/>
          </p:cNvSpPr>
          <p:nvPr>
            <p:ph idx="1"/>
          </p:nvPr>
        </p:nvSpPr>
        <p:spPr/>
        <p:txBody>
          <a:bodyPr/>
          <a:lstStyle/>
          <a:p>
            <a:r>
              <a:rPr lang="ru-RU" b="1" dirty="0"/>
              <a:t>Бинарные типы данных</a:t>
            </a:r>
          </a:p>
          <a:p>
            <a:endParaRPr lang="en-US" dirty="0"/>
          </a:p>
          <a:p>
            <a:r>
              <a:rPr lang="ru-RU" b="1" dirty="0"/>
              <a:t>BINARY</a:t>
            </a:r>
            <a:r>
              <a:rPr lang="ru-RU" dirty="0"/>
              <a:t>: хранит бинарные данные в виде последовательности от 1 до 8 000 байт.</a:t>
            </a:r>
          </a:p>
          <a:p>
            <a:r>
              <a:rPr lang="ru-RU" b="1" dirty="0"/>
              <a:t>VARBINARY</a:t>
            </a:r>
            <a:r>
              <a:rPr lang="ru-RU" dirty="0"/>
              <a:t>: хранит бинарные данные в виде последовательности от 1 до 8 000 байт, либо до 2^31–1 байт при использовании значения MAX (VARBINARY(MAX)).</a:t>
            </a:r>
          </a:p>
          <a:p>
            <a:endParaRPr lang="ru-RU" dirty="0"/>
          </a:p>
        </p:txBody>
      </p:sp>
    </p:spTree>
    <p:extLst>
      <p:ext uri="{BB962C8B-B14F-4D97-AF65-F5344CB8AC3E}">
        <p14:creationId xmlns:p14="http://schemas.microsoft.com/office/powerpoint/2010/main" val="1950132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BF27FFE-1F41-72D1-B75C-898E8C592306}"/>
              </a:ext>
            </a:extLst>
          </p:cNvPr>
          <p:cNvSpPr>
            <a:spLocks noGrp="1"/>
          </p:cNvSpPr>
          <p:nvPr>
            <p:ph idx="1"/>
          </p:nvPr>
        </p:nvSpPr>
        <p:spPr/>
        <p:txBody>
          <a:bodyPr/>
          <a:lstStyle/>
          <a:p>
            <a:r>
              <a:rPr lang="ru-RU" b="1" dirty="0"/>
              <a:t>Остальные типы данных</a:t>
            </a:r>
          </a:p>
          <a:p>
            <a:endParaRPr lang="en-US" sz="1800" b="1" dirty="0"/>
          </a:p>
          <a:p>
            <a:r>
              <a:rPr lang="ru-RU" sz="1800" b="1" dirty="0"/>
              <a:t>UNIQUEIDENTIFIER</a:t>
            </a:r>
            <a:r>
              <a:rPr lang="ru-RU" sz="1800" dirty="0"/>
              <a:t>: уникальный идентификатор GUID (по сути строка с уникальным значением), который занимает 16 байт.</a:t>
            </a:r>
          </a:p>
          <a:p>
            <a:r>
              <a:rPr lang="ru-RU" sz="1800" b="1" dirty="0"/>
              <a:t>TIMESTAMP</a:t>
            </a:r>
            <a:r>
              <a:rPr lang="ru-RU" sz="1800" dirty="0"/>
              <a:t>: некоторое число, которое хранит номер версии строки в таблице. Занимает 8 байт.</a:t>
            </a:r>
          </a:p>
          <a:p>
            <a:r>
              <a:rPr lang="ru-RU" sz="1800" b="1" dirty="0"/>
              <a:t>CURSOR</a:t>
            </a:r>
            <a:r>
              <a:rPr lang="ru-RU" sz="1800" dirty="0"/>
              <a:t>: представляет набор строк.</a:t>
            </a:r>
          </a:p>
          <a:p>
            <a:r>
              <a:rPr lang="ru-RU" sz="1800" b="1" dirty="0"/>
              <a:t>HIERARCHYID</a:t>
            </a:r>
            <a:r>
              <a:rPr lang="ru-RU" sz="1800" dirty="0"/>
              <a:t>: представляет позицию в иерархии.</a:t>
            </a:r>
          </a:p>
          <a:p>
            <a:r>
              <a:rPr lang="ru-RU" sz="1800" b="1" dirty="0"/>
              <a:t>SQL_VARIANT</a:t>
            </a:r>
            <a:r>
              <a:rPr lang="ru-RU" sz="1800" dirty="0"/>
              <a:t>: может хранить данные любого другого типа данных T-SQL.</a:t>
            </a:r>
          </a:p>
          <a:p>
            <a:r>
              <a:rPr lang="ru-RU" sz="1800" b="1" dirty="0"/>
              <a:t>XML</a:t>
            </a:r>
            <a:r>
              <a:rPr lang="ru-RU" sz="1800" dirty="0"/>
              <a:t>: хранит документы XML или фрагменты документов XML. Занимает в памяти до 2 Гб.</a:t>
            </a:r>
          </a:p>
          <a:p>
            <a:r>
              <a:rPr lang="ru-RU" sz="1800" b="1" dirty="0"/>
              <a:t>TABLE</a:t>
            </a:r>
            <a:r>
              <a:rPr lang="ru-RU" sz="1800" dirty="0"/>
              <a:t>: представляет определение таблицы.</a:t>
            </a:r>
          </a:p>
          <a:p>
            <a:r>
              <a:rPr lang="ru-RU" sz="1800" b="1" dirty="0"/>
              <a:t>GEOGRAPHY</a:t>
            </a:r>
            <a:r>
              <a:rPr lang="ru-RU" sz="1800" dirty="0"/>
              <a:t>: хранит географические данные, такие как широта и долгота.</a:t>
            </a:r>
          </a:p>
          <a:p>
            <a:r>
              <a:rPr lang="ru-RU" sz="1800" b="1" dirty="0"/>
              <a:t>GEOMETRY</a:t>
            </a:r>
            <a:r>
              <a:rPr lang="ru-RU" sz="1800" dirty="0"/>
              <a:t>: хранит координаты местонахождения на плоскости.</a:t>
            </a:r>
          </a:p>
          <a:p>
            <a:endParaRPr lang="ru-RU" dirty="0"/>
          </a:p>
        </p:txBody>
      </p:sp>
    </p:spTree>
    <p:extLst>
      <p:ext uri="{BB962C8B-B14F-4D97-AF65-F5344CB8AC3E}">
        <p14:creationId xmlns:p14="http://schemas.microsoft.com/office/powerpoint/2010/main" val="2660038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6970707D-2B45-FB10-97A8-6AA87FFD5703}"/>
              </a:ext>
            </a:extLst>
          </p:cNvPr>
          <p:cNvSpPr>
            <a:spLocks noGrp="1"/>
          </p:cNvSpPr>
          <p:nvPr>
            <p:ph idx="1"/>
          </p:nvPr>
        </p:nvSpPr>
        <p:spPr/>
        <p:txBody>
          <a:bodyPr>
            <a:normAutofit lnSpcReduction="10000"/>
          </a:bodyPr>
          <a:lstStyle/>
          <a:p>
            <a:r>
              <a:rPr lang="ru-RU" b="1" dirty="0"/>
              <a:t>Атрибуты и ограничения столбцов и таблиц</a:t>
            </a:r>
          </a:p>
          <a:p>
            <a:r>
              <a:rPr lang="ru-RU" sz="1800" dirty="0"/>
              <a:t>При создании столбцов в T-SQL мы можем использовать ряд атрибутов, ряд которых являются ограничениями. Рассмотрим эти атрибуты</a:t>
            </a:r>
            <a:r>
              <a:rPr lang="ru-RU" dirty="0"/>
              <a:t>.</a:t>
            </a:r>
            <a:endParaRPr lang="en-US" dirty="0"/>
          </a:p>
          <a:p>
            <a:r>
              <a:rPr lang="de-CH" b="1" dirty="0"/>
              <a:t>PRIMARY KEY</a:t>
            </a:r>
          </a:p>
          <a:p>
            <a:r>
              <a:rPr lang="ru-RU" sz="2000" dirty="0"/>
              <a:t>С помощью выражения </a:t>
            </a:r>
            <a:r>
              <a:rPr lang="ru-RU" sz="2000" b="1" dirty="0"/>
              <a:t>PRIMARY KEY</a:t>
            </a:r>
            <a:r>
              <a:rPr lang="ru-RU" sz="2000" dirty="0"/>
              <a:t> столбец можно сделать первичным ключом.</a:t>
            </a:r>
            <a:endParaRPr lang="en-US" sz="2000" dirty="0"/>
          </a:p>
          <a:p>
            <a:endParaRPr lang="en-US" sz="2000" dirty="0"/>
          </a:p>
          <a:p>
            <a:pPr marL="622300" fontAlgn="base"/>
            <a:r>
              <a:rPr lang="en-US" dirty="0"/>
              <a:t>CREATE TABLE Customers</a:t>
            </a:r>
          </a:p>
          <a:p>
            <a:pPr marL="622300" fontAlgn="base"/>
            <a:r>
              <a:rPr lang="en-US" dirty="0"/>
              <a:t>(</a:t>
            </a:r>
          </a:p>
          <a:p>
            <a:pPr marL="622300" fontAlgn="base"/>
            <a:r>
              <a:rPr lang="en-US" dirty="0"/>
              <a:t>    Id INT PRIMARY KEY,</a:t>
            </a:r>
          </a:p>
          <a:p>
            <a:pPr marL="622300" fontAlgn="base"/>
            <a:r>
              <a:rPr lang="en-US" dirty="0"/>
              <a:t>    Age INT,</a:t>
            </a:r>
          </a:p>
          <a:p>
            <a:pPr marL="622300" fontAlgn="base"/>
            <a:r>
              <a:rPr lang="en-US" dirty="0"/>
              <a:t>    FirstName NVARCHAR(20),</a:t>
            </a:r>
          </a:p>
          <a:p>
            <a:pPr marL="622300" fontAlgn="base"/>
            <a:r>
              <a:rPr lang="en-US" dirty="0"/>
              <a:t>    LastName NVARCHAR(20),</a:t>
            </a:r>
          </a:p>
          <a:p>
            <a:pPr marL="622300" fontAlgn="base"/>
            <a:r>
              <a:rPr lang="en-US" dirty="0"/>
              <a:t>    Email VARCHAR(30),</a:t>
            </a:r>
          </a:p>
          <a:p>
            <a:pPr marL="622300" fontAlgn="base"/>
            <a:r>
              <a:rPr lang="en-US" dirty="0"/>
              <a:t>    Phone VARCHAR(20)</a:t>
            </a:r>
          </a:p>
          <a:p>
            <a:pPr marL="622300" fontAlgn="base"/>
            <a:r>
              <a:rPr lang="en-US" dirty="0"/>
              <a:t>)</a:t>
            </a:r>
          </a:p>
          <a:p>
            <a:endParaRPr lang="ru-RU" sz="2000" dirty="0"/>
          </a:p>
        </p:txBody>
      </p:sp>
    </p:spTree>
    <p:extLst>
      <p:ext uri="{BB962C8B-B14F-4D97-AF65-F5344CB8AC3E}">
        <p14:creationId xmlns:p14="http://schemas.microsoft.com/office/powerpoint/2010/main" val="71830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78EE3D13-4E51-F03D-9944-47E0C28E34FB}"/>
              </a:ext>
            </a:extLst>
          </p:cNvPr>
          <p:cNvSpPr>
            <a:spLocks noGrp="1"/>
          </p:cNvSpPr>
          <p:nvPr>
            <p:ph idx="1"/>
          </p:nvPr>
        </p:nvSpPr>
        <p:spPr/>
        <p:txBody>
          <a:bodyPr/>
          <a:lstStyle/>
          <a:p>
            <a:pPr marL="1524000" fontAlgn="base">
              <a:tabLst>
                <a:tab pos="1619250" algn="l"/>
                <a:tab pos="2600325" algn="l"/>
              </a:tabLst>
            </a:pPr>
            <a:endParaRPr lang="en-US" sz="1800" dirty="0"/>
          </a:p>
          <a:p>
            <a:pPr marL="1524000" fontAlgn="base">
              <a:tabLst>
                <a:tab pos="1619250" algn="l"/>
                <a:tab pos="2600325" algn="l"/>
              </a:tabLst>
            </a:pPr>
            <a:r>
              <a:rPr lang="en-US" sz="1800" dirty="0"/>
              <a:t>CREATE TABLE Customers</a:t>
            </a:r>
          </a:p>
          <a:p>
            <a:pPr marL="1524000" fontAlgn="base">
              <a:tabLst>
                <a:tab pos="1619250" algn="l"/>
                <a:tab pos="2600325" algn="l"/>
              </a:tabLst>
            </a:pPr>
            <a:r>
              <a:rPr lang="en-US" sz="1800" dirty="0"/>
              <a:t>(</a:t>
            </a:r>
          </a:p>
          <a:p>
            <a:pPr marL="1524000" fontAlgn="base">
              <a:tabLst>
                <a:tab pos="1619250" algn="l"/>
                <a:tab pos="2600325" algn="l"/>
              </a:tabLst>
            </a:pPr>
            <a:r>
              <a:rPr lang="en-US" sz="1800" dirty="0"/>
              <a:t>    Id INT,</a:t>
            </a:r>
          </a:p>
          <a:p>
            <a:pPr marL="1524000" fontAlgn="base">
              <a:tabLst>
                <a:tab pos="1619250" algn="l"/>
                <a:tab pos="2600325" algn="l"/>
              </a:tabLst>
            </a:pPr>
            <a:r>
              <a:rPr lang="en-US" sz="1800" dirty="0"/>
              <a:t>    Age INT,</a:t>
            </a:r>
          </a:p>
          <a:p>
            <a:pPr marL="1524000" fontAlgn="base">
              <a:tabLst>
                <a:tab pos="1619250" algn="l"/>
                <a:tab pos="2600325" algn="l"/>
              </a:tabLst>
            </a:pPr>
            <a:r>
              <a:rPr lang="en-US" sz="1800" dirty="0"/>
              <a:t>    FirstName NVARCHAR(20),</a:t>
            </a:r>
          </a:p>
          <a:p>
            <a:pPr marL="1524000" fontAlgn="base">
              <a:tabLst>
                <a:tab pos="1619250" algn="l"/>
                <a:tab pos="2600325" algn="l"/>
              </a:tabLst>
            </a:pPr>
            <a:r>
              <a:rPr lang="en-US" sz="1800" dirty="0"/>
              <a:t>    LastName NVARCHAR(20),</a:t>
            </a:r>
          </a:p>
          <a:p>
            <a:pPr marL="1524000" fontAlgn="base">
              <a:tabLst>
                <a:tab pos="1619250" algn="l"/>
                <a:tab pos="2600325" algn="l"/>
              </a:tabLst>
            </a:pPr>
            <a:r>
              <a:rPr lang="en-US" sz="1800" dirty="0"/>
              <a:t>    Email VARCHAR(30),</a:t>
            </a:r>
          </a:p>
          <a:p>
            <a:pPr marL="1524000" fontAlgn="base">
              <a:tabLst>
                <a:tab pos="1619250" algn="l"/>
                <a:tab pos="2600325" algn="l"/>
              </a:tabLst>
            </a:pPr>
            <a:r>
              <a:rPr lang="en-US" sz="1800" dirty="0"/>
              <a:t>    Phone VARCHAR(20),</a:t>
            </a:r>
          </a:p>
          <a:p>
            <a:pPr marL="1524000" fontAlgn="base">
              <a:tabLst>
                <a:tab pos="1619250" algn="l"/>
                <a:tab pos="2600325" algn="l"/>
              </a:tabLst>
            </a:pPr>
            <a:r>
              <a:rPr lang="en-US" sz="1800" dirty="0"/>
              <a:t>    PRIMARY KEY(Id)</a:t>
            </a:r>
          </a:p>
          <a:p>
            <a:pPr marL="1524000" fontAlgn="base">
              <a:tabLst>
                <a:tab pos="1619250" algn="l"/>
                <a:tab pos="2600325" algn="l"/>
              </a:tabLst>
            </a:pPr>
            <a:r>
              <a:rPr lang="en-US" sz="1800" dirty="0"/>
              <a:t>)</a:t>
            </a:r>
          </a:p>
          <a:p>
            <a:endParaRPr lang="ru-RU" dirty="0"/>
          </a:p>
        </p:txBody>
      </p:sp>
    </p:spTree>
    <p:extLst>
      <p:ext uri="{BB962C8B-B14F-4D97-AF65-F5344CB8AC3E}">
        <p14:creationId xmlns:p14="http://schemas.microsoft.com/office/powerpoint/2010/main" val="2439349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5B7AAEBB-93C3-3883-C9E1-3007B55FE8F0}"/>
              </a:ext>
            </a:extLst>
          </p:cNvPr>
          <p:cNvSpPr>
            <a:spLocks noGrp="1"/>
          </p:cNvSpPr>
          <p:nvPr>
            <p:ph idx="1"/>
          </p:nvPr>
        </p:nvSpPr>
        <p:spPr/>
        <p:txBody>
          <a:bodyPr>
            <a:normAutofit/>
          </a:bodyPr>
          <a:lstStyle/>
          <a:p>
            <a:pPr marL="361950">
              <a:tabLst>
                <a:tab pos="85725" algn="l"/>
              </a:tabLst>
            </a:pPr>
            <a:endParaRPr lang="ru-RU" b="1" dirty="0"/>
          </a:p>
          <a:p>
            <a:pPr marL="361950">
              <a:tabLst>
                <a:tab pos="85725" algn="l"/>
              </a:tabLst>
            </a:pPr>
            <a:r>
              <a:rPr lang="ru-RU" b="1" dirty="0"/>
              <a:t>	Составной ключ</a:t>
            </a:r>
            <a:endParaRPr lang="en-US" b="1" dirty="0"/>
          </a:p>
          <a:p>
            <a:pPr marL="2152650">
              <a:tabLst>
                <a:tab pos="85725" algn="l"/>
              </a:tabLst>
            </a:pPr>
            <a:endParaRPr lang="ru-RU" sz="2000" dirty="0"/>
          </a:p>
          <a:p>
            <a:pPr marL="2152650">
              <a:tabLst>
                <a:tab pos="85725" algn="l"/>
              </a:tabLst>
            </a:pPr>
            <a:r>
              <a:rPr lang="en-US" sz="2000" dirty="0"/>
              <a:t>CREATE TABLE </a:t>
            </a:r>
            <a:r>
              <a:rPr lang="en-US" sz="2000" dirty="0" err="1"/>
              <a:t>OrderLines</a:t>
            </a:r>
            <a:endParaRPr lang="en-US" sz="2000" dirty="0"/>
          </a:p>
          <a:p>
            <a:pPr marL="2152650">
              <a:tabLst>
                <a:tab pos="85725" algn="l"/>
              </a:tabLst>
            </a:pPr>
            <a:r>
              <a:rPr lang="en-US" sz="2000" dirty="0"/>
              <a:t>(</a:t>
            </a:r>
          </a:p>
          <a:p>
            <a:pPr marL="2152650">
              <a:tabLst>
                <a:tab pos="85725" algn="l"/>
              </a:tabLst>
            </a:pPr>
            <a:r>
              <a:rPr lang="en-US" sz="2000" dirty="0"/>
              <a:t>    </a:t>
            </a:r>
            <a:r>
              <a:rPr lang="en-US" sz="2000" dirty="0" err="1"/>
              <a:t>OrderId</a:t>
            </a:r>
            <a:r>
              <a:rPr lang="en-US" sz="2000" dirty="0"/>
              <a:t> INT,</a:t>
            </a:r>
          </a:p>
          <a:p>
            <a:pPr marL="2152650">
              <a:tabLst>
                <a:tab pos="85725" algn="l"/>
              </a:tabLst>
            </a:pPr>
            <a:r>
              <a:rPr lang="en-US" sz="2000" dirty="0"/>
              <a:t>    </a:t>
            </a:r>
            <a:r>
              <a:rPr lang="en-US" sz="2000" dirty="0" err="1"/>
              <a:t>ProductId</a:t>
            </a:r>
            <a:r>
              <a:rPr lang="en-US" sz="2000" dirty="0"/>
              <a:t> INT,</a:t>
            </a:r>
          </a:p>
          <a:p>
            <a:pPr marL="2152650">
              <a:tabLst>
                <a:tab pos="85725" algn="l"/>
              </a:tabLst>
            </a:pPr>
            <a:r>
              <a:rPr lang="en-US" sz="2000" dirty="0"/>
              <a:t>    Quantity INT,</a:t>
            </a:r>
          </a:p>
          <a:p>
            <a:pPr marL="2152650">
              <a:tabLst>
                <a:tab pos="85725" algn="l"/>
              </a:tabLst>
            </a:pPr>
            <a:r>
              <a:rPr lang="en-US" sz="2000" dirty="0"/>
              <a:t>    Price MONEY,</a:t>
            </a:r>
          </a:p>
          <a:p>
            <a:pPr marL="2152650">
              <a:tabLst>
                <a:tab pos="85725" algn="l"/>
              </a:tabLst>
            </a:pPr>
            <a:r>
              <a:rPr lang="en-US" sz="2000" dirty="0"/>
              <a:t>    PRIMARY KEY(</a:t>
            </a:r>
            <a:r>
              <a:rPr lang="en-US" sz="2000" dirty="0" err="1"/>
              <a:t>OrderId</a:t>
            </a:r>
            <a:r>
              <a:rPr lang="en-US" sz="2000" dirty="0"/>
              <a:t>, </a:t>
            </a:r>
            <a:r>
              <a:rPr lang="en-US" sz="2000" dirty="0" err="1"/>
              <a:t>ProductId</a:t>
            </a:r>
            <a:r>
              <a:rPr lang="en-US" sz="2000" dirty="0"/>
              <a:t>)</a:t>
            </a:r>
          </a:p>
          <a:p>
            <a:pPr marL="2152650">
              <a:tabLst>
                <a:tab pos="85725" algn="l"/>
              </a:tabLst>
            </a:pPr>
            <a:r>
              <a:rPr lang="en-US" sz="2000" dirty="0"/>
              <a:t>)</a:t>
            </a:r>
            <a:endParaRPr lang="ru-RU" sz="2000" dirty="0"/>
          </a:p>
        </p:txBody>
      </p:sp>
    </p:spTree>
    <p:extLst>
      <p:ext uri="{BB962C8B-B14F-4D97-AF65-F5344CB8AC3E}">
        <p14:creationId xmlns:p14="http://schemas.microsoft.com/office/powerpoint/2010/main" val="678001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FA61B76-522D-2FA8-48F1-F8C92F2E8563}"/>
              </a:ext>
            </a:extLst>
          </p:cNvPr>
          <p:cNvSpPr>
            <a:spLocks noGrp="1"/>
          </p:cNvSpPr>
          <p:nvPr>
            <p:ph idx="1"/>
          </p:nvPr>
        </p:nvSpPr>
        <p:spPr/>
        <p:txBody>
          <a:bodyPr>
            <a:normAutofit lnSpcReduction="10000"/>
          </a:bodyPr>
          <a:lstStyle/>
          <a:p>
            <a:r>
              <a:rPr lang="de-CH" b="1" dirty="0"/>
              <a:t>IDENTITY</a:t>
            </a:r>
          </a:p>
          <a:p>
            <a:r>
              <a:rPr lang="ru-RU" sz="2000" dirty="0"/>
              <a:t>Атрибут </a:t>
            </a:r>
            <a:r>
              <a:rPr lang="ru-RU" sz="2000" b="1" dirty="0"/>
              <a:t>IDENTITY</a:t>
            </a:r>
            <a:r>
              <a:rPr lang="ru-RU" sz="2000" dirty="0"/>
              <a:t> позволяет сделать столбец идентификатором. Этот атрибут может назначаться для столбцов числовых типов INT, SMALLINT, BIGINT, TYNIINT, DECIMAL и NUMERIC. При добавлении новых данных в таблицу SQL Server будет инкрементировать на единицу значение этого столбца у последней записи. Как правило, в роли идентификатора выступает тот же столбец, который является первичным ключом, хотя в принципе это необязательно.</a:t>
            </a:r>
          </a:p>
          <a:p>
            <a:endParaRPr lang="ru-RU" sz="2000" dirty="0"/>
          </a:p>
          <a:p>
            <a:pPr fontAlgn="base"/>
            <a:r>
              <a:rPr lang="en-US" dirty="0"/>
              <a:t>CREATE TABLE Customers</a:t>
            </a:r>
          </a:p>
          <a:p>
            <a:pPr fontAlgn="base"/>
            <a:r>
              <a:rPr lang="en-US" dirty="0"/>
              <a:t>(</a:t>
            </a:r>
          </a:p>
          <a:p>
            <a:pPr fontAlgn="base"/>
            <a:r>
              <a:rPr lang="en-US" dirty="0"/>
              <a:t>    Id INT PRIMARY KEY IDENTITY,</a:t>
            </a:r>
          </a:p>
          <a:p>
            <a:pPr fontAlgn="base"/>
            <a:r>
              <a:rPr lang="en-US" dirty="0"/>
              <a:t>    Age INT,</a:t>
            </a:r>
          </a:p>
          <a:p>
            <a:pPr fontAlgn="base"/>
            <a:r>
              <a:rPr lang="en-US" dirty="0"/>
              <a:t>    FirstName NVARCHAR(20),</a:t>
            </a:r>
          </a:p>
          <a:p>
            <a:pPr fontAlgn="base"/>
            <a:r>
              <a:rPr lang="en-US" dirty="0"/>
              <a:t>    LastName NVARCHAR(20),</a:t>
            </a:r>
          </a:p>
          <a:p>
            <a:pPr fontAlgn="base"/>
            <a:r>
              <a:rPr lang="en-US" dirty="0"/>
              <a:t>    Email VARCHAR(30),</a:t>
            </a:r>
          </a:p>
          <a:p>
            <a:pPr fontAlgn="base"/>
            <a:r>
              <a:rPr lang="en-US" dirty="0"/>
              <a:t>    Phone VARCHAR(20)</a:t>
            </a:r>
          </a:p>
          <a:p>
            <a:pPr fontAlgn="base"/>
            <a:r>
              <a:rPr lang="en-US" dirty="0"/>
              <a:t>)</a:t>
            </a:r>
          </a:p>
          <a:p>
            <a:endParaRPr lang="ru-RU" sz="2000" dirty="0"/>
          </a:p>
        </p:txBody>
      </p:sp>
    </p:spTree>
    <p:extLst>
      <p:ext uri="{BB962C8B-B14F-4D97-AF65-F5344CB8AC3E}">
        <p14:creationId xmlns:p14="http://schemas.microsoft.com/office/powerpoint/2010/main" val="3363867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A2C5289-A701-4435-C6A7-D33A16811C67}"/>
              </a:ext>
            </a:extLst>
          </p:cNvPr>
          <p:cNvSpPr>
            <a:spLocks noGrp="1"/>
          </p:cNvSpPr>
          <p:nvPr>
            <p:ph idx="1"/>
          </p:nvPr>
        </p:nvSpPr>
        <p:spPr/>
        <p:txBody>
          <a:bodyPr/>
          <a:lstStyle/>
          <a:p>
            <a:r>
              <a:rPr lang="ru-RU" dirty="0"/>
              <a:t>Также можно использовать полную форму атрибута:</a:t>
            </a:r>
          </a:p>
          <a:p>
            <a:endParaRPr lang="ru-RU" dirty="0"/>
          </a:p>
          <a:p>
            <a:r>
              <a:rPr lang="ru-RU" dirty="0"/>
              <a:t>	</a:t>
            </a:r>
            <a:r>
              <a:rPr lang="de-CH" dirty="0"/>
              <a:t>IDENTITY(</a:t>
            </a:r>
            <a:r>
              <a:rPr lang="de-CH" dirty="0" err="1"/>
              <a:t>seed</a:t>
            </a:r>
            <a:r>
              <a:rPr lang="de-CH" dirty="0"/>
              <a:t>, </a:t>
            </a:r>
            <a:r>
              <a:rPr lang="de-CH" dirty="0" err="1"/>
              <a:t>increment</a:t>
            </a:r>
            <a:r>
              <a:rPr lang="de-CH" dirty="0"/>
              <a:t>)</a:t>
            </a:r>
            <a:endParaRPr lang="ru-RU" dirty="0"/>
          </a:p>
          <a:p>
            <a:endParaRPr lang="ru-RU" dirty="0"/>
          </a:p>
          <a:p>
            <a:r>
              <a:rPr lang="ru-RU" sz="2000" dirty="0"/>
              <a:t>Здесь параметр </a:t>
            </a:r>
            <a:r>
              <a:rPr lang="ru-RU" sz="2000" dirty="0" err="1"/>
              <a:t>seed</a:t>
            </a:r>
            <a:r>
              <a:rPr lang="ru-RU" sz="2000" dirty="0"/>
              <a:t> указывает на начальное значение, с которого будет начинаться отсчет. А параметр </a:t>
            </a:r>
            <a:r>
              <a:rPr lang="ru-RU" sz="2000" dirty="0" err="1"/>
              <a:t>increment</a:t>
            </a:r>
            <a:r>
              <a:rPr lang="ru-RU" sz="2000" dirty="0"/>
              <a:t> определяет, насколько будет увеличиваться следующее значение. По умолчанию атрибут использует следующие значения:</a:t>
            </a:r>
          </a:p>
          <a:p>
            <a:endParaRPr lang="ru-RU" sz="2000" dirty="0"/>
          </a:p>
          <a:p>
            <a:r>
              <a:rPr lang="ru-RU" dirty="0"/>
              <a:t>	</a:t>
            </a:r>
            <a:r>
              <a:rPr lang="de-CH" dirty="0"/>
              <a:t>IDENTITY(1, 1)</a:t>
            </a:r>
            <a:endParaRPr lang="ru-RU" dirty="0"/>
          </a:p>
          <a:p>
            <a:endParaRPr lang="ru-RU" sz="2000" dirty="0"/>
          </a:p>
          <a:p>
            <a:r>
              <a:rPr lang="ru-RU" dirty="0"/>
              <a:t>	</a:t>
            </a:r>
            <a:r>
              <a:rPr lang="de-CH" dirty="0" err="1"/>
              <a:t>Id</a:t>
            </a:r>
            <a:r>
              <a:rPr lang="de-CH" dirty="0"/>
              <a:t> INT IDENTITY (2, 3)</a:t>
            </a:r>
            <a:endParaRPr lang="ru-RU" dirty="0"/>
          </a:p>
          <a:p>
            <a:endParaRPr lang="ru-RU" sz="2000" dirty="0"/>
          </a:p>
          <a:p>
            <a:r>
              <a:rPr lang="ru-RU" sz="2000" dirty="0">
                <a:solidFill>
                  <a:srgbClr val="FF0000"/>
                </a:solidFill>
              </a:rPr>
              <a:t>Также следует учитывать, что в таблице только один столбец должен иметь такой атрибут.</a:t>
            </a:r>
          </a:p>
        </p:txBody>
      </p:sp>
    </p:spTree>
    <p:extLst>
      <p:ext uri="{BB962C8B-B14F-4D97-AF65-F5344CB8AC3E}">
        <p14:creationId xmlns:p14="http://schemas.microsoft.com/office/powerpoint/2010/main" val="90913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4D2FC219-17A2-74DA-3A00-926A7E531091}"/>
              </a:ext>
            </a:extLst>
          </p:cNvPr>
          <p:cNvSpPr>
            <a:spLocks noGrp="1"/>
          </p:cNvSpPr>
          <p:nvPr>
            <p:ph idx="1"/>
          </p:nvPr>
        </p:nvSpPr>
        <p:spPr/>
        <p:txBody>
          <a:bodyPr>
            <a:normAutofit lnSpcReduction="10000"/>
          </a:bodyPr>
          <a:lstStyle/>
          <a:p>
            <a:r>
              <a:rPr lang="de-CH" b="1" dirty="0"/>
              <a:t>UNIQUE</a:t>
            </a:r>
          </a:p>
          <a:p>
            <a:r>
              <a:rPr lang="ru-RU" sz="2000" dirty="0"/>
              <a:t>Если мы хотим, чтобы столбец имел только уникальные значения, то для него можно определить атрибут </a:t>
            </a:r>
            <a:r>
              <a:rPr lang="ru-RU" sz="2000" b="1" dirty="0"/>
              <a:t>UNIQUE</a:t>
            </a:r>
            <a:r>
              <a:rPr lang="ru-RU" sz="2000" dirty="0"/>
              <a:t>.</a:t>
            </a:r>
          </a:p>
          <a:p>
            <a:endParaRPr lang="ru-RU" sz="2000" dirty="0"/>
          </a:p>
          <a:p>
            <a:pPr lvl="1" fontAlgn="base"/>
            <a:r>
              <a:rPr lang="en-US" sz="2000" dirty="0"/>
              <a:t>CREATE TABLE Customers</a:t>
            </a:r>
          </a:p>
          <a:p>
            <a:pPr lvl="1" fontAlgn="base"/>
            <a:r>
              <a:rPr lang="en-US" sz="2000" dirty="0"/>
              <a:t>(</a:t>
            </a:r>
          </a:p>
          <a:p>
            <a:pPr lvl="1" fontAlgn="base"/>
            <a:r>
              <a:rPr lang="en-US" sz="2000" dirty="0"/>
              <a:t>    Id INT PRIMARY KEY IDENTITY,</a:t>
            </a:r>
          </a:p>
          <a:p>
            <a:pPr lvl="1" fontAlgn="base"/>
            <a:r>
              <a:rPr lang="en-US" sz="2000" dirty="0"/>
              <a:t>    Age INT,</a:t>
            </a:r>
          </a:p>
          <a:p>
            <a:pPr lvl="1" fontAlgn="base"/>
            <a:r>
              <a:rPr lang="en-US" sz="2000" dirty="0"/>
              <a:t>    FirstName NVARCHAR(20),</a:t>
            </a:r>
          </a:p>
          <a:p>
            <a:pPr lvl="1" fontAlgn="base"/>
            <a:r>
              <a:rPr lang="en-US" sz="2000" dirty="0"/>
              <a:t>    LastName NVARCHAR(20),</a:t>
            </a:r>
          </a:p>
          <a:p>
            <a:pPr lvl="1" fontAlgn="base"/>
            <a:r>
              <a:rPr lang="en-US" sz="2000" dirty="0"/>
              <a:t>    Email VARCHAR(30) UNIQUE,</a:t>
            </a:r>
          </a:p>
          <a:p>
            <a:pPr lvl="1" fontAlgn="base"/>
            <a:r>
              <a:rPr lang="en-US" sz="2000" dirty="0"/>
              <a:t>    Phone VARCHAR(20) UNIQUE</a:t>
            </a:r>
          </a:p>
          <a:p>
            <a:pPr lvl="1" fontAlgn="base"/>
            <a:r>
              <a:rPr lang="en-US" sz="2000" dirty="0"/>
              <a:t>)</a:t>
            </a:r>
            <a:endParaRPr lang="ru-RU" sz="2000" dirty="0"/>
          </a:p>
          <a:p>
            <a:pPr lvl="1" fontAlgn="base"/>
            <a:endParaRPr lang="ru-RU" sz="2000" dirty="0"/>
          </a:p>
          <a:p>
            <a:pPr lvl="1" fontAlgn="base"/>
            <a:r>
              <a:rPr lang="ru-RU" dirty="0"/>
              <a:t>В данном случае столбцы, которые представляют электронный адрес и телефон, будут иметь уникальные значения. И мы не сможем добавить в таблицу две строки, у которых значения для этих столбцов будет совпадать.</a:t>
            </a:r>
            <a:endParaRPr lang="en-US" sz="2000" dirty="0"/>
          </a:p>
          <a:p>
            <a:endParaRPr lang="ru-RU" sz="2000" dirty="0"/>
          </a:p>
        </p:txBody>
      </p:sp>
    </p:spTree>
    <p:extLst>
      <p:ext uri="{BB962C8B-B14F-4D97-AF65-F5344CB8AC3E}">
        <p14:creationId xmlns:p14="http://schemas.microsoft.com/office/powerpoint/2010/main" val="248896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1F7DDE1F-F877-D63A-70DB-DC18A4A6A6D8}"/>
              </a:ext>
            </a:extLst>
          </p:cNvPr>
          <p:cNvSpPr>
            <a:spLocks noGrp="1"/>
          </p:cNvSpPr>
          <p:nvPr>
            <p:ph idx="1"/>
          </p:nvPr>
        </p:nvSpPr>
        <p:spPr>
          <a:xfrm>
            <a:off x="523875" y="334107"/>
            <a:ext cx="10515600" cy="6189785"/>
          </a:xfrm>
        </p:spPr>
        <p:txBody>
          <a:bodyPr/>
          <a:lstStyle/>
          <a:p>
            <a:r>
              <a:rPr lang="ru-RU" b="1" dirty="0"/>
              <a:t>Также мы можем определить этот атрибут на уровне таблицы:</a:t>
            </a:r>
            <a:endParaRPr lang="en-US" b="1" dirty="0"/>
          </a:p>
          <a:p>
            <a:endParaRPr lang="en-US" b="1" dirty="0"/>
          </a:p>
          <a:p>
            <a:pPr lvl="1" fontAlgn="base"/>
            <a:r>
              <a:rPr lang="en-US" sz="2000" dirty="0"/>
              <a:t>CREATE TABLE Customers</a:t>
            </a:r>
          </a:p>
          <a:p>
            <a:pPr lvl="1" fontAlgn="base"/>
            <a:r>
              <a:rPr lang="en-US" sz="2000" dirty="0"/>
              <a:t>(</a:t>
            </a:r>
          </a:p>
          <a:p>
            <a:pPr lvl="1" fontAlgn="base"/>
            <a:r>
              <a:rPr lang="en-US" sz="2000" dirty="0"/>
              <a:t>    Id INT PRIMARY KEY IDENTITY,</a:t>
            </a:r>
          </a:p>
          <a:p>
            <a:pPr lvl="1" fontAlgn="base"/>
            <a:r>
              <a:rPr lang="en-US" sz="2000" dirty="0"/>
              <a:t>    Age INT,</a:t>
            </a:r>
          </a:p>
          <a:p>
            <a:pPr lvl="1" fontAlgn="base"/>
            <a:r>
              <a:rPr lang="en-US" sz="2000" dirty="0"/>
              <a:t>    FirstName NVARCHAR(20),</a:t>
            </a:r>
          </a:p>
          <a:p>
            <a:pPr lvl="1" fontAlgn="base"/>
            <a:r>
              <a:rPr lang="en-US" sz="2000" dirty="0"/>
              <a:t>    LastName NVARCHAR(20),</a:t>
            </a:r>
          </a:p>
          <a:p>
            <a:pPr lvl="1" fontAlgn="base"/>
            <a:r>
              <a:rPr lang="en-US" sz="2000" dirty="0"/>
              <a:t>    Email VARCHAR(30),</a:t>
            </a:r>
          </a:p>
          <a:p>
            <a:pPr lvl="1" fontAlgn="base"/>
            <a:r>
              <a:rPr lang="en-US" sz="2000" dirty="0"/>
              <a:t>    Phone VARCHAR(20),</a:t>
            </a:r>
          </a:p>
          <a:p>
            <a:pPr lvl="1" fontAlgn="base"/>
            <a:r>
              <a:rPr lang="en-US" sz="2000" dirty="0"/>
              <a:t>    UNIQUE(Email, Phone)</a:t>
            </a:r>
          </a:p>
          <a:p>
            <a:pPr lvl="1" fontAlgn="base"/>
            <a:r>
              <a:rPr lang="en-US" sz="2000" dirty="0"/>
              <a:t>)</a:t>
            </a:r>
          </a:p>
          <a:p>
            <a:endParaRPr lang="ru-RU" dirty="0"/>
          </a:p>
        </p:txBody>
      </p:sp>
    </p:spTree>
    <p:extLst>
      <p:ext uri="{BB962C8B-B14F-4D97-AF65-F5344CB8AC3E}">
        <p14:creationId xmlns:p14="http://schemas.microsoft.com/office/powerpoint/2010/main" val="62263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1AF1017-1B2C-B50B-712C-F549474CBD03}"/>
              </a:ext>
            </a:extLst>
          </p:cNvPr>
          <p:cNvSpPr>
            <a:spLocks noGrp="1"/>
          </p:cNvSpPr>
          <p:nvPr>
            <p:ph idx="1"/>
          </p:nvPr>
        </p:nvSpPr>
        <p:spPr/>
        <p:txBody>
          <a:bodyPr>
            <a:normAutofit/>
          </a:bodyPr>
          <a:lstStyle/>
          <a:p>
            <a:r>
              <a:rPr lang="de-CH" b="1" dirty="0"/>
              <a:t>NULL </a:t>
            </a:r>
            <a:r>
              <a:rPr lang="ru-RU" b="1" dirty="0"/>
              <a:t>и </a:t>
            </a:r>
            <a:r>
              <a:rPr lang="de-CH" b="1" dirty="0"/>
              <a:t>NOT NULL</a:t>
            </a:r>
          </a:p>
          <a:p>
            <a:r>
              <a:rPr lang="ru-RU" sz="1800" dirty="0"/>
              <a:t>Чтобы указать, может ли столбец принимать значение NULL, при определении столбца ему можно задать атрибут </a:t>
            </a:r>
            <a:r>
              <a:rPr lang="ru-RU" sz="1800" b="1" dirty="0"/>
              <a:t>NULL</a:t>
            </a:r>
            <a:r>
              <a:rPr lang="ru-RU" sz="1800" dirty="0"/>
              <a:t> или </a:t>
            </a:r>
            <a:r>
              <a:rPr lang="ru-RU" sz="1800" b="1" dirty="0"/>
              <a:t>NOT NULL</a:t>
            </a:r>
            <a:r>
              <a:rPr lang="ru-RU" sz="1800" dirty="0"/>
              <a:t>. Если этот атрибут явным образом не будет использован, то по умолчанию столбец будет допускать значение NULL. Исключением является тот случай, когда столбец выступает в роли первичного ключа - в этом случае по умолчанию столбец имеет значение NOT NULL.</a:t>
            </a:r>
            <a:endParaRPr lang="en-US" sz="1800" dirty="0"/>
          </a:p>
          <a:p>
            <a:endParaRPr lang="en-US" sz="1800" dirty="0"/>
          </a:p>
          <a:p>
            <a:pPr lvl="1" fontAlgn="base"/>
            <a:r>
              <a:rPr lang="en-US" sz="2000" dirty="0"/>
              <a:t>CREATE TABLE Customers</a:t>
            </a:r>
          </a:p>
          <a:p>
            <a:pPr lvl="1" fontAlgn="base"/>
            <a:r>
              <a:rPr lang="en-US" sz="2000" dirty="0"/>
              <a:t>(</a:t>
            </a:r>
          </a:p>
          <a:p>
            <a:pPr lvl="1" fontAlgn="base"/>
            <a:r>
              <a:rPr lang="en-US" sz="2000" dirty="0"/>
              <a:t>    Id INT PRIMARY KEY IDENTITY,</a:t>
            </a:r>
          </a:p>
          <a:p>
            <a:pPr lvl="1" fontAlgn="base"/>
            <a:r>
              <a:rPr lang="en-US" sz="2000" dirty="0"/>
              <a:t>    Age INT,</a:t>
            </a:r>
          </a:p>
          <a:p>
            <a:pPr lvl="1" fontAlgn="base"/>
            <a:r>
              <a:rPr lang="en-US" sz="2000" dirty="0"/>
              <a:t>    FirstName NVARCHAR(20) NOT NULL,</a:t>
            </a:r>
          </a:p>
          <a:p>
            <a:pPr lvl="1" fontAlgn="base"/>
            <a:r>
              <a:rPr lang="en-US" sz="2000" dirty="0"/>
              <a:t>    LastName NVARCHAR(20) NOT NULL,</a:t>
            </a:r>
          </a:p>
          <a:p>
            <a:pPr lvl="1" fontAlgn="base"/>
            <a:r>
              <a:rPr lang="en-US" sz="2000" dirty="0"/>
              <a:t>    Email VARCHAR(30) UNIQUE,</a:t>
            </a:r>
          </a:p>
          <a:p>
            <a:pPr lvl="1" fontAlgn="base"/>
            <a:r>
              <a:rPr lang="en-US" sz="2000" dirty="0"/>
              <a:t>    Phone VARCHAR(20) UNIQUE</a:t>
            </a:r>
          </a:p>
          <a:p>
            <a:pPr lvl="1" fontAlgn="base"/>
            <a:r>
              <a:rPr lang="en-US" sz="2000" dirty="0"/>
              <a:t>)</a:t>
            </a:r>
          </a:p>
          <a:p>
            <a:endParaRPr lang="en-US" sz="1800" dirty="0"/>
          </a:p>
        </p:txBody>
      </p:sp>
    </p:spTree>
    <p:extLst>
      <p:ext uri="{BB962C8B-B14F-4D97-AF65-F5344CB8AC3E}">
        <p14:creationId xmlns:p14="http://schemas.microsoft.com/office/powerpoint/2010/main" val="3261848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138CE97-4992-6CD2-DB64-F10069E1320C}"/>
              </a:ext>
            </a:extLst>
          </p:cNvPr>
          <p:cNvSpPr>
            <a:spLocks noGrp="1"/>
          </p:cNvSpPr>
          <p:nvPr>
            <p:ph idx="1"/>
          </p:nvPr>
        </p:nvSpPr>
        <p:spPr/>
        <p:txBody>
          <a:bodyPr/>
          <a:lstStyle/>
          <a:p>
            <a:r>
              <a:rPr lang="de-CH" b="1" dirty="0"/>
              <a:t>DEFAULT</a:t>
            </a:r>
          </a:p>
          <a:p>
            <a:endParaRPr lang="en-US" dirty="0"/>
          </a:p>
          <a:p>
            <a:pPr lvl="1" fontAlgn="base"/>
            <a:r>
              <a:rPr lang="de-CH" sz="1800" dirty="0"/>
              <a:t>CREATE TABLE Customers</a:t>
            </a:r>
          </a:p>
          <a:p>
            <a:pPr lvl="1" fontAlgn="base"/>
            <a:r>
              <a:rPr lang="de-CH" sz="1800" dirty="0"/>
              <a:t>(</a:t>
            </a:r>
          </a:p>
          <a:p>
            <a:pPr lvl="1" fontAlgn="base"/>
            <a:r>
              <a:rPr lang="de-CH" sz="1800" dirty="0"/>
              <a:t>    </a:t>
            </a:r>
            <a:r>
              <a:rPr lang="de-CH" sz="1800" dirty="0" err="1"/>
              <a:t>Id</a:t>
            </a:r>
            <a:r>
              <a:rPr lang="de-CH" sz="1800" dirty="0"/>
              <a:t> INT PRIMARY KEY IDENTITY,</a:t>
            </a:r>
          </a:p>
          <a:p>
            <a:pPr lvl="1" fontAlgn="base"/>
            <a:r>
              <a:rPr lang="de-CH" sz="1800" dirty="0"/>
              <a:t>    Age INT DEFAULT 18,</a:t>
            </a:r>
          </a:p>
          <a:p>
            <a:pPr lvl="1" fontAlgn="base"/>
            <a:r>
              <a:rPr lang="de-CH" sz="1800" dirty="0"/>
              <a:t>    </a:t>
            </a:r>
            <a:r>
              <a:rPr lang="de-CH" sz="1800" dirty="0" err="1"/>
              <a:t>FirstName</a:t>
            </a:r>
            <a:r>
              <a:rPr lang="de-CH" sz="1800" dirty="0"/>
              <a:t> NVARCHAR(20) NOT NULL,</a:t>
            </a:r>
          </a:p>
          <a:p>
            <a:pPr lvl="1" fontAlgn="base"/>
            <a:r>
              <a:rPr lang="de-CH" sz="1800" dirty="0"/>
              <a:t>    </a:t>
            </a:r>
            <a:r>
              <a:rPr lang="de-CH" sz="1800" dirty="0" err="1"/>
              <a:t>LastName</a:t>
            </a:r>
            <a:r>
              <a:rPr lang="de-CH" sz="1800" dirty="0"/>
              <a:t> NVARCHAR(20) NOT NULL,</a:t>
            </a:r>
          </a:p>
          <a:p>
            <a:pPr lvl="1" fontAlgn="base"/>
            <a:r>
              <a:rPr lang="de-CH" sz="1800" dirty="0"/>
              <a:t>    Email VARCHAR(30) UNIQUE,</a:t>
            </a:r>
          </a:p>
          <a:p>
            <a:pPr lvl="1" fontAlgn="base"/>
            <a:r>
              <a:rPr lang="de-CH" sz="1800" dirty="0"/>
              <a:t>    Phone VARCHAR(20) UNIQUE</a:t>
            </a:r>
          </a:p>
          <a:p>
            <a:pPr lvl="1" fontAlgn="base"/>
            <a:r>
              <a:rPr lang="de-CH" sz="1800" dirty="0"/>
              <a:t>);</a:t>
            </a:r>
          </a:p>
          <a:p>
            <a:endParaRPr lang="ru-RU" dirty="0"/>
          </a:p>
        </p:txBody>
      </p:sp>
    </p:spTree>
    <p:extLst>
      <p:ext uri="{BB962C8B-B14F-4D97-AF65-F5344CB8AC3E}">
        <p14:creationId xmlns:p14="http://schemas.microsoft.com/office/powerpoint/2010/main" val="3840536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0B85C41-70B8-488B-BFA5-A1FCF34C61FE}"/>
              </a:ext>
            </a:extLst>
          </p:cNvPr>
          <p:cNvSpPr>
            <a:spLocks noGrp="1"/>
          </p:cNvSpPr>
          <p:nvPr>
            <p:ph idx="1"/>
          </p:nvPr>
        </p:nvSpPr>
        <p:spPr/>
        <p:txBody>
          <a:bodyPr/>
          <a:lstStyle/>
          <a:p>
            <a:r>
              <a:rPr lang="de-CH" b="1" dirty="0"/>
              <a:t>CHECK</a:t>
            </a:r>
          </a:p>
          <a:p>
            <a:endParaRPr lang="en-US" dirty="0"/>
          </a:p>
          <a:p>
            <a:pPr lvl="2" fontAlgn="base"/>
            <a:r>
              <a:rPr lang="de-CH" dirty="0"/>
              <a:t>CREATE TABLE Customers</a:t>
            </a:r>
          </a:p>
          <a:p>
            <a:pPr lvl="2" fontAlgn="base"/>
            <a:r>
              <a:rPr lang="de-CH" dirty="0"/>
              <a:t>(</a:t>
            </a:r>
          </a:p>
          <a:p>
            <a:pPr lvl="2" fontAlgn="base"/>
            <a:r>
              <a:rPr lang="de-CH" dirty="0"/>
              <a:t>    </a:t>
            </a:r>
            <a:r>
              <a:rPr lang="de-CH" dirty="0" err="1"/>
              <a:t>Id</a:t>
            </a:r>
            <a:r>
              <a:rPr lang="de-CH" dirty="0"/>
              <a:t> INT PRIMARY KEY IDENTITY,</a:t>
            </a:r>
          </a:p>
          <a:p>
            <a:pPr lvl="2" fontAlgn="base"/>
            <a:r>
              <a:rPr lang="de-CH" dirty="0"/>
              <a:t>    Age INT DEFAULT 18 CHECK(Age &gt;0 AND Age &lt; 100),</a:t>
            </a:r>
          </a:p>
          <a:p>
            <a:pPr lvl="2" fontAlgn="base"/>
            <a:r>
              <a:rPr lang="de-CH" dirty="0"/>
              <a:t>    </a:t>
            </a:r>
            <a:r>
              <a:rPr lang="de-CH" dirty="0" err="1"/>
              <a:t>FirstName</a:t>
            </a:r>
            <a:r>
              <a:rPr lang="de-CH" dirty="0"/>
              <a:t> NVARCHAR(20) NOT NULL,</a:t>
            </a:r>
          </a:p>
          <a:p>
            <a:pPr lvl="2" fontAlgn="base"/>
            <a:r>
              <a:rPr lang="de-CH" dirty="0"/>
              <a:t>    </a:t>
            </a:r>
            <a:r>
              <a:rPr lang="de-CH" dirty="0" err="1"/>
              <a:t>LastName</a:t>
            </a:r>
            <a:r>
              <a:rPr lang="de-CH" dirty="0"/>
              <a:t> NVARCHAR(20) NOT NULL,</a:t>
            </a:r>
          </a:p>
          <a:p>
            <a:pPr lvl="2" fontAlgn="base"/>
            <a:r>
              <a:rPr lang="de-CH" dirty="0"/>
              <a:t>    Email VARCHAR(30) UNIQUE CHECK(Email !=''),</a:t>
            </a:r>
          </a:p>
          <a:p>
            <a:pPr lvl="2" fontAlgn="base"/>
            <a:r>
              <a:rPr lang="de-CH" dirty="0"/>
              <a:t>    Phone VARCHAR(20) UNIQUE CHECK(Phone !='')</a:t>
            </a:r>
          </a:p>
          <a:p>
            <a:pPr lvl="2" fontAlgn="base"/>
            <a:r>
              <a:rPr lang="de-CH" dirty="0"/>
              <a:t>);</a:t>
            </a:r>
          </a:p>
          <a:p>
            <a:endParaRPr lang="ru-RU" dirty="0"/>
          </a:p>
        </p:txBody>
      </p:sp>
    </p:spTree>
    <p:extLst>
      <p:ext uri="{BB962C8B-B14F-4D97-AF65-F5344CB8AC3E}">
        <p14:creationId xmlns:p14="http://schemas.microsoft.com/office/powerpoint/2010/main" val="37891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D8D1DB8-7595-0B01-FA07-EF706C8C7895}"/>
              </a:ext>
            </a:extLst>
          </p:cNvPr>
          <p:cNvSpPr>
            <a:spLocks noGrp="1"/>
          </p:cNvSpPr>
          <p:nvPr>
            <p:ph idx="1"/>
          </p:nvPr>
        </p:nvSpPr>
        <p:spPr/>
        <p:txBody>
          <a:bodyPr>
            <a:normAutofit/>
          </a:bodyPr>
          <a:lstStyle/>
          <a:p>
            <a:r>
              <a:rPr lang="ru-RU" b="1" dirty="0"/>
              <a:t>Оператор CONSTRAINT. Установка имени ограничений.</a:t>
            </a:r>
            <a:endParaRPr lang="en-US" b="1" dirty="0"/>
          </a:p>
          <a:p>
            <a:r>
              <a:rPr lang="ru-RU" sz="1800" dirty="0"/>
              <a:t>С помощью ключевого слова </a:t>
            </a:r>
            <a:r>
              <a:rPr lang="ru-RU" sz="1800" b="1" dirty="0"/>
              <a:t>CONSTRAINT</a:t>
            </a:r>
            <a:r>
              <a:rPr lang="ru-RU" sz="1800" dirty="0"/>
              <a:t> можно задать имя для ограничений. В качестве ограничений могут использоваться PRIMARY KEY, UNIQUE, DEFAULT, CHECK.</a:t>
            </a:r>
          </a:p>
          <a:p>
            <a:r>
              <a:rPr lang="ru-RU" sz="1800" dirty="0"/>
              <a:t>Имена ограничений можно задать на уровне столбцов. Они указываются после CONSTRAINT перед атрибутами:</a:t>
            </a:r>
            <a:endParaRPr lang="en-US" sz="1800" dirty="0"/>
          </a:p>
          <a:p>
            <a:endParaRPr lang="en-US" sz="1800" dirty="0"/>
          </a:p>
          <a:p>
            <a:pPr fontAlgn="base"/>
            <a:r>
              <a:rPr lang="de-CH" sz="1700" dirty="0"/>
              <a:t>CREATE TABLE Customers</a:t>
            </a:r>
          </a:p>
          <a:p>
            <a:pPr fontAlgn="base"/>
            <a:r>
              <a:rPr lang="de-CH" sz="1700" dirty="0"/>
              <a:t>(</a:t>
            </a:r>
          </a:p>
          <a:p>
            <a:pPr fontAlgn="base"/>
            <a:r>
              <a:rPr lang="de-CH" sz="1700" dirty="0"/>
              <a:t>    </a:t>
            </a:r>
            <a:r>
              <a:rPr lang="de-CH" sz="1700" dirty="0" err="1"/>
              <a:t>Id</a:t>
            </a:r>
            <a:r>
              <a:rPr lang="de-CH" sz="1700" dirty="0"/>
              <a:t> INT CONSTRAINT </a:t>
            </a:r>
            <a:r>
              <a:rPr lang="de-CH" sz="1700" dirty="0" err="1"/>
              <a:t>PK_Customer_Id</a:t>
            </a:r>
            <a:r>
              <a:rPr lang="de-CH" sz="1700" dirty="0"/>
              <a:t> PRIMARY KEY IDENTITY,</a:t>
            </a:r>
          </a:p>
          <a:p>
            <a:pPr fontAlgn="base"/>
            <a:r>
              <a:rPr lang="de-CH" sz="1700" dirty="0"/>
              <a:t>    Age INT</a:t>
            </a:r>
          </a:p>
          <a:p>
            <a:pPr fontAlgn="base"/>
            <a:r>
              <a:rPr lang="de-CH" sz="1700" dirty="0"/>
              <a:t>        CONSTRAINT </a:t>
            </a:r>
            <a:r>
              <a:rPr lang="de-CH" sz="1700" dirty="0" err="1"/>
              <a:t>DF_Customer_Age</a:t>
            </a:r>
            <a:r>
              <a:rPr lang="de-CH" sz="1700" dirty="0"/>
              <a:t> DEFAULT 18 </a:t>
            </a:r>
          </a:p>
          <a:p>
            <a:pPr fontAlgn="base"/>
            <a:r>
              <a:rPr lang="de-CH" sz="1700" dirty="0"/>
              <a:t>        CONSTRAINT </a:t>
            </a:r>
            <a:r>
              <a:rPr lang="de-CH" sz="1700" dirty="0" err="1"/>
              <a:t>CK_Customer_Age</a:t>
            </a:r>
            <a:r>
              <a:rPr lang="de-CH" sz="1700" dirty="0"/>
              <a:t> CHECK(Age &gt;0 AND Age &lt; 100),</a:t>
            </a:r>
          </a:p>
          <a:p>
            <a:pPr fontAlgn="base"/>
            <a:r>
              <a:rPr lang="de-CH" sz="1700" dirty="0"/>
              <a:t>    </a:t>
            </a:r>
            <a:r>
              <a:rPr lang="de-CH" sz="1700" dirty="0" err="1"/>
              <a:t>FirstName</a:t>
            </a:r>
            <a:r>
              <a:rPr lang="de-CH" sz="1700" dirty="0"/>
              <a:t> NVARCHAR(20) NOT NULL,</a:t>
            </a:r>
          </a:p>
          <a:p>
            <a:pPr fontAlgn="base"/>
            <a:r>
              <a:rPr lang="de-CH" sz="1700" dirty="0"/>
              <a:t>    </a:t>
            </a:r>
            <a:r>
              <a:rPr lang="de-CH" sz="1700" dirty="0" err="1"/>
              <a:t>LastName</a:t>
            </a:r>
            <a:r>
              <a:rPr lang="de-CH" sz="1700" dirty="0"/>
              <a:t> NVARCHAR(20) NOT NULL,</a:t>
            </a:r>
          </a:p>
          <a:p>
            <a:pPr fontAlgn="base"/>
            <a:r>
              <a:rPr lang="de-CH" sz="1700" dirty="0"/>
              <a:t>    Email VARCHAR(30) CONSTRAINT </a:t>
            </a:r>
            <a:r>
              <a:rPr lang="de-CH" sz="1700" dirty="0" err="1"/>
              <a:t>UQ_Customer_Email</a:t>
            </a:r>
            <a:r>
              <a:rPr lang="de-CH" sz="1700" dirty="0"/>
              <a:t> UNIQUE,</a:t>
            </a:r>
          </a:p>
          <a:p>
            <a:pPr fontAlgn="base"/>
            <a:r>
              <a:rPr lang="de-CH" sz="1700" dirty="0"/>
              <a:t>    Phone VARCHAR(20) CONSTRAINT </a:t>
            </a:r>
            <a:r>
              <a:rPr lang="de-CH" sz="1700" dirty="0" err="1"/>
              <a:t>UQ_Customer_Phone</a:t>
            </a:r>
            <a:r>
              <a:rPr lang="de-CH" sz="1700" dirty="0"/>
              <a:t> UNIQUE</a:t>
            </a:r>
          </a:p>
          <a:p>
            <a:pPr fontAlgn="base"/>
            <a:r>
              <a:rPr lang="de-CH" sz="1700" dirty="0"/>
              <a:t>)</a:t>
            </a:r>
          </a:p>
          <a:p>
            <a:endParaRPr lang="ru-RU" sz="1800" dirty="0"/>
          </a:p>
          <a:p>
            <a:endParaRPr lang="ru-RU" b="1" dirty="0"/>
          </a:p>
          <a:p>
            <a:endParaRPr lang="ru-RU" dirty="0"/>
          </a:p>
        </p:txBody>
      </p:sp>
    </p:spTree>
    <p:extLst>
      <p:ext uri="{BB962C8B-B14F-4D97-AF65-F5344CB8AC3E}">
        <p14:creationId xmlns:p14="http://schemas.microsoft.com/office/powerpoint/2010/main" val="37579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6272495-2C57-C1EC-B5D0-E6E8FFE6AF25}"/>
              </a:ext>
            </a:extLst>
          </p:cNvPr>
          <p:cNvSpPr>
            <a:spLocks noGrp="1"/>
          </p:cNvSpPr>
          <p:nvPr>
            <p:ph idx="1"/>
          </p:nvPr>
        </p:nvSpPr>
        <p:spPr/>
        <p:txBody>
          <a:bodyPr/>
          <a:lstStyle/>
          <a:p>
            <a:pPr lvl="1"/>
            <a:endParaRPr lang="en-US" sz="2000" dirty="0"/>
          </a:p>
          <a:p>
            <a:pPr lvl="1"/>
            <a:r>
              <a:rPr lang="ru-RU" sz="2000" dirty="0"/>
              <a:t>Ограничения могут носить произвольные названия, но, как правило, для применяются следующие префиксы:</a:t>
            </a:r>
          </a:p>
          <a:p>
            <a:pPr lvl="1"/>
            <a:endParaRPr lang="en-US" sz="2000" dirty="0"/>
          </a:p>
          <a:p>
            <a:pPr lvl="1"/>
            <a:r>
              <a:rPr lang="ru-RU" sz="2000" dirty="0"/>
              <a:t>"PK_" - для PRIMARY KEY</a:t>
            </a:r>
          </a:p>
          <a:p>
            <a:pPr lvl="1"/>
            <a:r>
              <a:rPr lang="ru-RU" sz="2000" dirty="0"/>
              <a:t>"FK_" - для FOREIGN KEY</a:t>
            </a:r>
          </a:p>
          <a:p>
            <a:pPr lvl="1"/>
            <a:r>
              <a:rPr lang="ru-RU" sz="2000" dirty="0"/>
              <a:t>"CK_" - для CHECK</a:t>
            </a:r>
          </a:p>
          <a:p>
            <a:pPr lvl="1"/>
            <a:r>
              <a:rPr lang="ru-RU" sz="2000" dirty="0"/>
              <a:t>"UQ_" - для UNIQUE</a:t>
            </a:r>
          </a:p>
          <a:p>
            <a:pPr lvl="1"/>
            <a:r>
              <a:rPr lang="ru-RU" sz="2000" dirty="0"/>
              <a:t>"DF_" - для DEFAULT</a:t>
            </a:r>
          </a:p>
          <a:p>
            <a:endParaRPr lang="ru-RU" dirty="0"/>
          </a:p>
        </p:txBody>
      </p:sp>
    </p:spTree>
    <p:extLst>
      <p:ext uri="{BB962C8B-B14F-4D97-AF65-F5344CB8AC3E}">
        <p14:creationId xmlns:p14="http://schemas.microsoft.com/office/powerpoint/2010/main" val="332345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62292030-CE4B-76EC-7173-48AACB224821}"/>
              </a:ext>
            </a:extLst>
          </p:cNvPr>
          <p:cNvSpPr>
            <a:spLocks noGrp="1"/>
          </p:cNvSpPr>
          <p:nvPr>
            <p:ph idx="1"/>
          </p:nvPr>
        </p:nvSpPr>
        <p:spPr/>
        <p:txBody>
          <a:bodyPr/>
          <a:lstStyle/>
          <a:p>
            <a:pPr lvl="2" fontAlgn="base"/>
            <a:endParaRPr lang="de-CH" dirty="0"/>
          </a:p>
          <a:p>
            <a:pPr lvl="2" fontAlgn="base"/>
            <a:r>
              <a:rPr lang="de-CH" dirty="0"/>
              <a:t>CREATE TABLE Customers</a:t>
            </a:r>
          </a:p>
          <a:p>
            <a:pPr lvl="2" fontAlgn="base"/>
            <a:r>
              <a:rPr lang="de-CH" dirty="0"/>
              <a:t>(</a:t>
            </a:r>
          </a:p>
          <a:p>
            <a:pPr lvl="2" fontAlgn="base"/>
            <a:r>
              <a:rPr lang="de-CH" dirty="0"/>
              <a:t>    </a:t>
            </a:r>
            <a:r>
              <a:rPr lang="de-CH" dirty="0" err="1"/>
              <a:t>Id</a:t>
            </a:r>
            <a:r>
              <a:rPr lang="de-CH" dirty="0"/>
              <a:t> INT IDENTITY,</a:t>
            </a:r>
          </a:p>
          <a:p>
            <a:pPr lvl="2" fontAlgn="base"/>
            <a:r>
              <a:rPr lang="de-CH" dirty="0"/>
              <a:t>    Age INT CONSTRAINT </a:t>
            </a:r>
            <a:r>
              <a:rPr lang="de-CH" dirty="0" err="1"/>
              <a:t>DF_Customer_Age</a:t>
            </a:r>
            <a:r>
              <a:rPr lang="de-CH" dirty="0"/>
              <a:t> DEFAULT 18, </a:t>
            </a:r>
          </a:p>
          <a:p>
            <a:pPr lvl="2" fontAlgn="base"/>
            <a:r>
              <a:rPr lang="de-CH" dirty="0"/>
              <a:t>    </a:t>
            </a:r>
            <a:r>
              <a:rPr lang="de-CH" dirty="0" err="1"/>
              <a:t>FirstName</a:t>
            </a:r>
            <a:r>
              <a:rPr lang="de-CH" dirty="0"/>
              <a:t> NVARCHAR(20) NOT NULL,</a:t>
            </a:r>
          </a:p>
          <a:p>
            <a:pPr lvl="2" fontAlgn="base"/>
            <a:r>
              <a:rPr lang="de-CH" dirty="0"/>
              <a:t>    </a:t>
            </a:r>
            <a:r>
              <a:rPr lang="de-CH" dirty="0" err="1"/>
              <a:t>LastName</a:t>
            </a:r>
            <a:r>
              <a:rPr lang="de-CH" dirty="0"/>
              <a:t> NVARCHAR(20) NOT NULL,</a:t>
            </a:r>
          </a:p>
          <a:p>
            <a:pPr lvl="2" fontAlgn="base"/>
            <a:r>
              <a:rPr lang="de-CH" dirty="0"/>
              <a:t>    Email VARCHAR(30),</a:t>
            </a:r>
          </a:p>
          <a:p>
            <a:pPr lvl="2" fontAlgn="base"/>
            <a:r>
              <a:rPr lang="de-CH" dirty="0"/>
              <a:t>    Phone VARCHAR(20),</a:t>
            </a:r>
          </a:p>
          <a:p>
            <a:pPr lvl="2" fontAlgn="base"/>
            <a:r>
              <a:rPr lang="de-CH" dirty="0"/>
              <a:t>    CONSTRAINT </a:t>
            </a:r>
            <a:r>
              <a:rPr lang="de-CH" dirty="0" err="1"/>
              <a:t>PK_Customer_Id</a:t>
            </a:r>
            <a:r>
              <a:rPr lang="de-CH" dirty="0"/>
              <a:t> PRIMARY KEY (</a:t>
            </a:r>
            <a:r>
              <a:rPr lang="de-CH" dirty="0" err="1"/>
              <a:t>Id</a:t>
            </a:r>
            <a:r>
              <a:rPr lang="de-CH" dirty="0"/>
              <a:t>), </a:t>
            </a:r>
          </a:p>
          <a:p>
            <a:pPr lvl="2" fontAlgn="base"/>
            <a:r>
              <a:rPr lang="de-CH" dirty="0"/>
              <a:t>    CONSTRAINT </a:t>
            </a:r>
            <a:r>
              <a:rPr lang="de-CH" dirty="0" err="1"/>
              <a:t>CK_Customer_Age</a:t>
            </a:r>
            <a:r>
              <a:rPr lang="de-CH" dirty="0"/>
              <a:t> CHECK(Age &gt;0 AND Age &lt; 100),</a:t>
            </a:r>
          </a:p>
          <a:p>
            <a:pPr lvl="2" fontAlgn="base"/>
            <a:r>
              <a:rPr lang="de-CH" dirty="0"/>
              <a:t>    CONSTRAINT </a:t>
            </a:r>
            <a:r>
              <a:rPr lang="de-CH" dirty="0" err="1"/>
              <a:t>UQ_Customer_Email</a:t>
            </a:r>
            <a:r>
              <a:rPr lang="de-CH" dirty="0"/>
              <a:t> UNIQUE (Email),</a:t>
            </a:r>
          </a:p>
          <a:p>
            <a:pPr lvl="2" fontAlgn="base"/>
            <a:r>
              <a:rPr lang="de-CH" dirty="0"/>
              <a:t>    CONSTRAINT </a:t>
            </a:r>
            <a:r>
              <a:rPr lang="de-CH" dirty="0" err="1"/>
              <a:t>UQ_Customer_Phone</a:t>
            </a:r>
            <a:r>
              <a:rPr lang="de-CH" dirty="0"/>
              <a:t> UNIQUE (Phone)</a:t>
            </a:r>
          </a:p>
          <a:p>
            <a:pPr lvl="2" fontAlgn="base"/>
            <a:r>
              <a:rPr lang="de-CH" dirty="0"/>
              <a:t>)</a:t>
            </a:r>
          </a:p>
          <a:p>
            <a:endParaRPr lang="ru-RU" dirty="0"/>
          </a:p>
        </p:txBody>
      </p:sp>
    </p:spTree>
    <p:extLst>
      <p:ext uri="{BB962C8B-B14F-4D97-AF65-F5344CB8AC3E}">
        <p14:creationId xmlns:p14="http://schemas.microsoft.com/office/powerpoint/2010/main" val="3278316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3B44146-CAA3-641F-5993-090A0EDCF363}"/>
              </a:ext>
            </a:extLst>
          </p:cNvPr>
          <p:cNvSpPr>
            <a:spLocks noGrp="1"/>
          </p:cNvSpPr>
          <p:nvPr>
            <p:ph idx="1"/>
          </p:nvPr>
        </p:nvSpPr>
        <p:spPr/>
        <p:txBody>
          <a:bodyPr/>
          <a:lstStyle/>
          <a:p>
            <a:r>
              <a:rPr lang="ru-RU" b="1" dirty="0"/>
              <a:t>Внешние ключи</a:t>
            </a:r>
          </a:p>
          <a:p>
            <a:r>
              <a:rPr lang="ru-RU" sz="1800" dirty="0"/>
              <a:t>Внешние ключи применяются для установки связи между таблицами. Внешний ключ устанавливается для столбцов из зависимой, подчиненной таблицы, и указывает на один из столбцов из главной таблицы. Хотя, как правило, внешний ключ указывает на первичный ключ из связанной главной таблицы, но это необязательно должно быть непременным условием. Внешний ключ также может указывать на какой-то другой столбец, который имеет уникальное значение.</a:t>
            </a:r>
            <a:endParaRPr lang="en-US" sz="1800" dirty="0"/>
          </a:p>
          <a:p>
            <a:endParaRPr lang="en-US" sz="1800" b="1" dirty="0"/>
          </a:p>
          <a:p>
            <a:pPr lvl="1" fontAlgn="base"/>
            <a:r>
              <a:rPr lang="de-CH" sz="1800" dirty="0"/>
              <a:t>FOREIGN KEY (</a:t>
            </a:r>
            <a:r>
              <a:rPr lang="ru-RU" sz="1800" dirty="0"/>
              <a:t>стобец1, столбец2, ... столбец</a:t>
            </a:r>
            <a:r>
              <a:rPr lang="de-CH" sz="1800" dirty="0"/>
              <a:t>N) </a:t>
            </a:r>
          </a:p>
          <a:p>
            <a:pPr lvl="1" fontAlgn="base"/>
            <a:r>
              <a:rPr lang="de-CH" sz="1800" dirty="0"/>
              <a:t>  REFERENCES </a:t>
            </a:r>
            <a:r>
              <a:rPr lang="ru-RU" sz="1800" dirty="0" err="1"/>
              <a:t>главная_таблица</a:t>
            </a:r>
            <a:r>
              <a:rPr lang="ru-RU" sz="1800" dirty="0"/>
              <a:t> (столбец_главной_таблицы1, столбец_главной_таблицы2, ... </a:t>
            </a:r>
            <a:r>
              <a:rPr lang="ru-RU" sz="1800" dirty="0" err="1"/>
              <a:t>столбец_главной_таблицы</a:t>
            </a:r>
            <a:r>
              <a:rPr lang="de-CH" sz="1800" dirty="0"/>
              <a:t>N)</a:t>
            </a:r>
          </a:p>
          <a:p>
            <a:pPr lvl="1" fontAlgn="base"/>
            <a:r>
              <a:rPr lang="de-CH" sz="1800" dirty="0"/>
              <a:t>    [ON DELETE {CASCADE|NO ACTION}]</a:t>
            </a:r>
          </a:p>
          <a:p>
            <a:pPr lvl="1" fontAlgn="base"/>
            <a:r>
              <a:rPr lang="de-CH" sz="1800" dirty="0"/>
              <a:t>    [ON UPDATE {CASCADE|NO ACTION}]</a:t>
            </a:r>
          </a:p>
          <a:p>
            <a:endParaRPr lang="ru-RU" sz="1800" b="1" dirty="0"/>
          </a:p>
        </p:txBody>
      </p:sp>
    </p:spTree>
    <p:extLst>
      <p:ext uri="{BB962C8B-B14F-4D97-AF65-F5344CB8AC3E}">
        <p14:creationId xmlns:p14="http://schemas.microsoft.com/office/powerpoint/2010/main" val="1173003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4DB266D1-D20E-0B57-BB75-F6CB3A051F37}"/>
              </a:ext>
            </a:extLst>
          </p:cNvPr>
          <p:cNvSpPr>
            <a:spLocks noGrp="1"/>
          </p:cNvSpPr>
          <p:nvPr>
            <p:ph idx="1"/>
          </p:nvPr>
        </p:nvSpPr>
        <p:spPr/>
        <p:txBody>
          <a:bodyPr>
            <a:normAutofit fontScale="92500" lnSpcReduction="10000"/>
          </a:bodyPr>
          <a:lstStyle/>
          <a:p>
            <a:pPr lvl="1" fontAlgn="base"/>
            <a:endParaRPr lang="de-CH" dirty="0"/>
          </a:p>
          <a:p>
            <a:pPr lvl="1" fontAlgn="base"/>
            <a:r>
              <a:rPr lang="de-CH" dirty="0"/>
              <a:t>CREATE TABLE Customers</a:t>
            </a:r>
          </a:p>
          <a:p>
            <a:pPr lvl="1" fontAlgn="base"/>
            <a:r>
              <a:rPr lang="de-CH" dirty="0"/>
              <a:t>(</a:t>
            </a:r>
          </a:p>
          <a:p>
            <a:pPr lvl="1" fontAlgn="base"/>
            <a:r>
              <a:rPr lang="de-CH" dirty="0"/>
              <a:t>    </a:t>
            </a:r>
            <a:r>
              <a:rPr lang="de-CH" dirty="0" err="1"/>
              <a:t>Id</a:t>
            </a:r>
            <a:r>
              <a:rPr lang="de-CH" dirty="0"/>
              <a:t> INT PRIMARY KEY IDENTITY,</a:t>
            </a:r>
          </a:p>
          <a:p>
            <a:pPr lvl="1" fontAlgn="base"/>
            <a:r>
              <a:rPr lang="de-CH" dirty="0"/>
              <a:t>    Age INT DEFAULT 18, </a:t>
            </a:r>
          </a:p>
          <a:p>
            <a:pPr lvl="1" fontAlgn="base"/>
            <a:r>
              <a:rPr lang="de-CH" dirty="0"/>
              <a:t>    </a:t>
            </a:r>
            <a:r>
              <a:rPr lang="de-CH" dirty="0" err="1"/>
              <a:t>FirstName</a:t>
            </a:r>
            <a:r>
              <a:rPr lang="de-CH" dirty="0"/>
              <a:t> NVARCHAR(20) NOT NULL,</a:t>
            </a:r>
          </a:p>
          <a:p>
            <a:pPr lvl="1" fontAlgn="base"/>
            <a:r>
              <a:rPr lang="de-CH" dirty="0"/>
              <a:t>    </a:t>
            </a:r>
            <a:r>
              <a:rPr lang="de-CH" dirty="0" err="1"/>
              <a:t>LastName</a:t>
            </a:r>
            <a:r>
              <a:rPr lang="de-CH" dirty="0"/>
              <a:t> NVARCHAR(20) NOT NULL,</a:t>
            </a:r>
          </a:p>
          <a:p>
            <a:pPr lvl="1" fontAlgn="base"/>
            <a:r>
              <a:rPr lang="de-CH" dirty="0"/>
              <a:t>    Email VARCHAR(30) UNIQUE,</a:t>
            </a:r>
          </a:p>
          <a:p>
            <a:pPr lvl="1" fontAlgn="base"/>
            <a:r>
              <a:rPr lang="de-CH" dirty="0"/>
              <a:t>    Phone VARCHAR(20) UNIQUE</a:t>
            </a:r>
          </a:p>
          <a:p>
            <a:pPr lvl="1" fontAlgn="base"/>
            <a:r>
              <a:rPr lang="de-CH" dirty="0"/>
              <a:t>);</a:t>
            </a:r>
          </a:p>
          <a:p>
            <a:pPr lvl="1" fontAlgn="base"/>
            <a:r>
              <a:rPr lang="de-CH" dirty="0"/>
              <a:t> </a:t>
            </a:r>
          </a:p>
          <a:p>
            <a:pPr lvl="1" fontAlgn="base"/>
            <a:r>
              <a:rPr lang="en-US" dirty="0"/>
              <a:t>CREATE TABLE Orders</a:t>
            </a:r>
          </a:p>
          <a:p>
            <a:pPr lvl="1" fontAlgn="base"/>
            <a:r>
              <a:rPr lang="en-US" dirty="0"/>
              <a:t>(</a:t>
            </a:r>
          </a:p>
          <a:p>
            <a:pPr lvl="1" fontAlgn="base"/>
            <a:r>
              <a:rPr lang="en-US" dirty="0"/>
              <a:t>    Id INT PRIMARY KEY IDENTITY,</a:t>
            </a:r>
          </a:p>
          <a:p>
            <a:pPr lvl="1" fontAlgn="base"/>
            <a:r>
              <a:rPr lang="en-US" dirty="0"/>
              <a:t>    </a:t>
            </a:r>
            <a:r>
              <a:rPr lang="en-US" dirty="0" err="1"/>
              <a:t>CustomerId</a:t>
            </a:r>
            <a:r>
              <a:rPr lang="en-US" dirty="0"/>
              <a:t> INT,</a:t>
            </a:r>
          </a:p>
          <a:p>
            <a:pPr lvl="1" fontAlgn="base"/>
            <a:r>
              <a:rPr lang="en-US" dirty="0"/>
              <a:t>    </a:t>
            </a:r>
            <a:r>
              <a:rPr lang="en-US" dirty="0" err="1"/>
              <a:t>CreatedAt</a:t>
            </a:r>
            <a:r>
              <a:rPr lang="en-US" dirty="0"/>
              <a:t> Date,</a:t>
            </a:r>
          </a:p>
          <a:p>
            <a:pPr lvl="1" fontAlgn="base"/>
            <a:r>
              <a:rPr lang="en-US" dirty="0"/>
              <a:t>    FOREIGN KEY (</a:t>
            </a:r>
            <a:r>
              <a:rPr lang="en-US" dirty="0" err="1"/>
              <a:t>CustomerId</a:t>
            </a:r>
            <a:r>
              <a:rPr lang="en-US" dirty="0"/>
              <a:t>)  REFERENCES Customers (Id)</a:t>
            </a:r>
          </a:p>
          <a:p>
            <a:pPr lvl="1" fontAlgn="base"/>
            <a:r>
              <a:rPr lang="en-US" dirty="0"/>
              <a:t>);</a:t>
            </a:r>
          </a:p>
          <a:p>
            <a:endParaRPr lang="ru-RU" dirty="0"/>
          </a:p>
        </p:txBody>
      </p:sp>
    </p:spTree>
    <p:extLst>
      <p:ext uri="{BB962C8B-B14F-4D97-AF65-F5344CB8AC3E}">
        <p14:creationId xmlns:p14="http://schemas.microsoft.com/office/powerpoint/2010/main" val="3352239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05903D2E-5C90-8755-6845-8EE313338402}"/>
              </a:ext>
            </a:extLst>
          </p:cNvPr>
          <p:cNvSpPr>
            <a:spLocks noGrp="1"/>
          </p:cNvSpPr>
          <p:nvPr>
            <p:ph idx="1"/>
          </p:nvPr>
        </p:nvSpPr>
        <p:spPr>
          <a:xfrm>
            <a:off x="666750" y="405545"/>
            <a:ext cx="10515600" cy="6189785"/>
          </a:xfrm>
        </p:spPr>
        <p:txBody>
          <a:bodyPr>
            <a:normAutofit/>
          </a:bodyPr>
          <a:lstStyle/>
          <a:p>
            <a:r>
              <a:rPr lang="de-CH" b="1" dirty="0"/>
              <a:t>ON DELETE </a:t>
            </a:r>
            <a:r>
              <a:rPr lang="ru-RU" b="1" dirty="0"/>
              <a:t>и </a:t>
            </a:r>
            <a:r>
              <a:rPr lang="de-CH" b="1" dirty="0"/>
              <a:t>ON UPDATE</a:t>
            </a:r>
          </a:p>
          <a:p>
            <a:r>
              <a:rPr lang="ru-RU" dirty="0"/>
              <a:t>С помощью выражений </a:t>
            </a:r>
            <a:r>
              <a:rPr lang="ru-RU" b="1" dirty="0"/>
              <a:t>ON DELETE</a:t>
            </a:r>
            <a:r>
              <a:rPr lang="ru-RU" dirty="0"/>
              <a:t> и </a:t>
            </a:r>
            <a:r>
              <a:rPr lang="ru-RU" b="1" dirty="0"/>
              <a:t>ON UPDATE</a:t>
            </a:r>
            <a:r>
              <a:rPr lang="ru-RU" dirty="0"/>
              <a:t> можно установить действия, которые выполняться соответственно при удалении и изменении связанной строки из главной таблицы. И для определения действия мы можем использовать следующие опции:</a:t>
            </a:r>
            <a:endParaRPr lang="en-US" dirty="0"/>
          </a:p>
          <a:p>
            <a:endParaRPr lang="ru-RU" dirty="0"/>
          </a:p>
          <a:p>
            <a:pPr marL="342900" indent="-342900">
              <a:buFont typeface="Arial" panose="020B0604020202020204" pitchFamily="34" charset="0"/>
              <a:buChar char="•"/>
            </a:pPr>
            <a:r>
              <a:rPr lang="ru-RU" sz="1900" b="1" dirty="0"/>
              <a:t>CASCADE</a:t>
            </a:r>
            <a:r>
              <a:rPr lang="ru-RU" sz="1900" dirty="0"/>
              <a:t>: автоматически удаляет или изменяет строки из зависимой таблицы при удалении или изменении связанных строк в главной таблице.</a:t>
            </a:r>
          </a:p>
          <a:p>
            <a:pPr marL="342900" indent="-342900">
              <a:buFont typeface="Arial" panose="020B0604020202020204" pitchFamily="34" charset="0"/>
              <a:buChar char="•"/>
            </a:pPr>
            <a:r>
              <a:rPr lang="ru-RU" sz="1900" b="1" dirty="0"/>
              <a:t>NO ACTION</a:t>
            </a:r>
            <a:r>
              <a:rPr lang="ru-RU" sz="1900" dirty="0"/>
              <a:t>: предотвращает какие-либо действия в зависимой таблице при удалении или изменении связанных строк в главной таблице. То есть фактически какие-либо действия отсутствуют.</a:t>
            </a:r>
          </a:p>
          <a:p>
            <a:pPr marL="342900" indent="-342900">
              <a:buFont typeface="Arial" panose="020B0604020202020204" pitchFamily="34" charset="0"/>
              <a:buChar char="•"/>
            </a:pPr>
            <a:r>
              <a:rPr lang="ru-RU" sz="1900" b="1" dirty="0"/>
              <a:t>SET NULL</a:t>
            </a:r>
            <a:r>
              <a:rPr lang="ru-RU" sz="1900" dirty="0"/>
              <a:t>: при удалении связанной строки из главной таблицы устанавливает для столбца внешнего ключа значение NULL.</a:t>
            </a:r>
          </a:p>
          <a:p>
            <a:pPr marL="342900" indent="-342900">
              <a:buFont typeface="Arial" panose="020B0604020202020204" pitchFamily="34" charset="0"/>
              <a:buChar char="•"/>
            </a:pPr>
            <a:r>
              <a:rPr lang="ru-RU" sz="1900" b="1" dirty="0"/>
              <a:t>SET DEFAULT</a:t>
            </a:r>
            <a:r>
              <a:rPr lang="ru-RU" sz="1900" dirty="0"/>
              <a:t>: при удалении связанной строки из главной таблицы устанавливает для столбца внешнего ключа значение по умолчанию, которое задается с помощью атрибуты DEFAULT. Если для столбца не задано значение по умолчанию, то в качестве него применяется значение NULL.</a:t>
            </a:r>
          </a:p>
          <a:p>
            <a:endParaRPr lang="ru-RU" dirty="0"/>
          </a:p>
        </p:txBody>
      </p:sp>
    </p:spTree>
    <p:extLst>
      <p:ext uri="{BB962C8B-B14F-4D97-AF65-F5344CB8AC3E}">
        <p14:creationId xmlns:p14="http://schemas.microsoft.com/office/powerpoint/2010/main" val="178781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738A0FE-A66F-07AF-EC4A-8017ED4A0DF4}"/>
              </a:ext>
            </a:extLst>
          </p:cNvPr>
          <p:cNvSpPr>
            <a:spLocks noGrp="1"/>
          </p:cNvSpPr>
          <p:nvPr>
            <p:ph idx="1"/>
          </p:nvPr>
        </p:nvSpPr>
        <p:spPr/>
        <p:txBody>
          <a:bodyPr/>
          <a:lstStyle/>
          <a:p>
            <a:r>
              <a:rPr lang="ru-RU" b="1" dirty="0"/>
              <a:t>Каскадное удаление</a:t>
            </a:r>
          </a:p>
          <a:p>
            <a:r>
              <a:rPr lang="ru-RU" sz="1800" dirty="0"/>
              <a:t>По умолчанию, если на строку из главной таблицы по внешнему ключу ссылается какая-либо строка из зависимой таблицы, то мы не сможем удалить эту строку из главной таблицы. Вначале нам необходимо будет удалить все связанные строки из зависимой таблицы. И если при удалении строки из главной таблицы необходимо, чтобы были удалены все связанные строки из зависимой таблицы, то применяется каскадное удаление, то есть опция </a:t>
            </a:r>
            <a:r>
              <a:rPr lang="ru-RU" sz="1800" b="1" dirty="0"/>
              <a:t>CASCADE</a:t>
            </a:r>
            <a:r>
              <a:rPr lang="ru-RU" sz="1800" dirty="0"/>
              <a:t>:</a:t>
            </a:r>
            <a:endParaRPr lang="en-US" sz="1800" dirty="0"/>
          </a:p>
          <a:p>
            <a:endParaRPr lang="en-US" sz="1800" dirty="0"/>
          </a:p>
          <a:p>
            <a:pPr lvl="1"/>
            <a:r>
              <a:rPr lang="en-US" sz="1800" dirty="0"/>
              <a:t>CREATE TABLE Orders</a:t>
            </a:r>
          </a:p>
          <a:p>
            <a:pPr lvl="1"/>
            <a:r>
              <a:rPr lang="en-US" sz="1800" dirty="0"/>
              <a:t>(</a:t>
            </a:r>
          </a:p>
          <a:p>
            <a:pPr lvl="1"/>
            <a:r>
              <a:rPr lang="en-US" sz="1800" dirty="0"/>
              <a:t>    Id INT PRIMARY KEY IDENTITY,</a:t>
            </a:r>
          </a:p>
          <a:p>
            <a:pPr lvl="1"/>
            <a:r>
              <a:rPr lang="en-US" sz="1800" dirty="0"/>
              <a:t>    </a:t>
            </a:r>
            <a:r>
              <a:rPr lang="en-US" sz="1800" dirty="0" err="1"/>
              <a:t>CustomerId</a:t>
            </a:r>
            <a:r>
              <a:rPr lang="en-US" sz="1800" dirty="0"/>
              <a:t> INT,</a:t>
            </a:r>
          </a:p>
          <a:p>
            <a:pPr lvl="1"/>
            <a:r>
              <a:rPr lang="en-US" sz="1800" dirty="0"/>
              <a:t>    </a:t>
            </a:r>
            <a:r>
              <a:rPr lang="en-US" sz="1800" dirty="0" err="1"/>
              <a:t>CreatedAt</a:t>
            </a:r>
            <a:r>
              <a:rPr lang="en-US" sz="1800" dirty="0"/>
              <a:t> Date,</a:t>
            </a:r>
          </a:p>
          <a:p>
            <a:pPr lvl="1"/>
            <a:r>
              <a:rPr lang="en-US" sz="1800" dirty="0"/>
              <a:t>    FOREIGN KEY (</a:t>
            </a:r>
            <a:r>
              <a:rPr lang="en-US" sz="1800" dirty="0" err="1"/>
              <a:t>CustomerId</a:t>
            </a:r>
            <a:r>
              <a:rPr lang="en-US" sz="1800" dirty="0"/>
              <a:t>) REFERENCES Customers (Id) ON DELETE CASCADE</a:t>
            </a:r>
          </a:p>
          <a:p>
            <a:pPr lvl="1"/>
            <a:r>
              <a:rPr lang="en-US" sz="1800" dirty="0"/>
              <a:t>)</a:t>
            </a:r>
            <a:endParaRPr lang="ru-RU" sz="1800" dirty="0"/>
          </a:p>
        </p:txBody>
      </p:sp>
    </p:spTree>
    <p:extLst>
      <p:ext uri="{BB962C8B-B14F-4D97-AF65-F5344CB8AC3E}">
        <p14:creationId xmlns:p14="http://schemas.microsoft.com/office/powerpoint/2010/main" val="2342791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B33ACF04-3715-FB99-E52E-CEB6D122E9B4}"/>
              </a:ext>
            </a:extLst>
          </p:cNvPr>
          <p:cNvSpPr>
            <a:spLocks noGrp="1"/>
          </p:cNvSpPr>
          <p:nvPr>
            <p:ph idx="1"/>
          </p:nvPr>
        </p:nvSpPr>
        <p:spPr/>
        <p:txBody>
          <a:bodyPr>
            <a:normAutofit/>
          </a:bodyPr>
          <a:lstStyle/>
          <a:p>
            <a:pPr lvl="1"/>
            <a:endParaRPr lang="en-US" sz="2000" dirty="0"/>
          </a:p>
          <a:p>
            <a:pPr lvl="1"/>
            <a:r>
              <a:rPr lang="ru-RU" sz="2000" dirty="0"/>
              <a:t>Аналогично работает выражение </a:t>
            </a:r>
            <a:r>
              <a:rPr lang="ru-RU" sz="2000" b="1" dirty="0"/>
              <a:t>ON UPDATE CASCADE</a:t>
            </a:r>
            <a:r>
              <a:rPr lang="ru-RU" sz="2000" dirty="0"/>
              <a:t>. При изменении значения первичного ключа автоматически изменится значение связанного с ним внешнего ключа. Но так как первичные ключи, как правило, изменяются очень редко, да и с принципе не рекомендуется использовать в качестве первичных ключей столбцы с изменяемыми значениями, то на практике выражение </a:t>
            </a:r>
            <a:r>
              <a:rPr lang="ru-RU" sz="2000" b="1" dirty="0"/>
              <a:t>ON UPDATE</a:t>
            </a:r>
            <a:r>
              <a:rPr lang="ru-RU" sz="2000" dirty="0"/>
              <a:t> используется редко.</a:t>
            </a:r>
          </a:p>
        </p:txBody>
      </p:sp>
    </p:spTree>
    <p:extLst>
      <p:ext uri="{BB962C8B-B14F-4D97-AF65-F5344CB8AC3E}">
        <p14:creationId xmlns:p14="http://schemas.microsoft.com/office/powerpoint/2010/main" val="152824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11805758-2E25-4A7B-C3BB-C0077EA43620}"/>
              </a:ext>
            </a:extLst>
          </p:cNvPr>
          <p:cNvSpPr>
            <a:spLocks noGrp="1"/>
          </p:cNvSpPr>
          <p:nvPr>
            <p:ph idx="1"/>
          </p:nvPr>
        </p:nvSpPr>
        <p:spPr/>
        <p:txBody>
          <a:bodyPr/>
          <a:lstStyle/>
          <a:p>
            <a:r>
              <a:rPr lang="ru-RU" b="1" dirty="0"/>
              <a:t>Установка </a:t>
            </a:r>
            <a:r>
              <a:rPr lang="de-CH" b="1" dirty="0"/>
              <a:t>NULL</a:t>
            </a:r>
          </a:p>
          <a:p>
            <a:r>
              <a:rPr lang="ru-RU" sz="2000" dirty="0"/>
              <a:t>При установки для внешнего ключа опции </a:t>
            </a:r>
            <a:r>
              <a:rPr lang="ru-RU" sz="2000" b="1" dirty="0"/>
              <a:t>SET NULL</a:t>
            </a:r>
            <a:r>
              <a:rPr lang="ru-RU" sz="2000" dirty="0"/>
              <a:t> необходимо, чтобы столбец внешнего ключа допускал значение NULL:</a:t>
            </a:r>
            <a:endParaRPr lang="en-US" sz="2000" dirty="0"/>
          </a:p>
          <a:p>
            <a:endParaRPr lang="en-US" sz="2000" dirty="0"/>
          </a:p>
          <a:p>
            <a:pPr lvl="1"/>
            <a:r>
              <a:rPr lang="en-US" sz="2000" dirty="0"/>
              <a:t>CREATE TABLE Orders</a:t>
            </a:r>
          </a:p>
          <a:p>
            <a:pPr lvl="1"/>
            <a:r>
              <a:rPr lang="en-US" sz="2000" dirty="0"/>
              <a:t>(</a:t>
            </a:r>
          </a:p>
          <a:p>
            <a:pPr lvl="1"/>
            <a:r>
              <a:rPr lang="en-US" sz="2000" dirty="0"/>
              <a:t>    Id INT PRIMARY KEY IDENTITY,</a:t>
            </a:r>
          </a:p>
          <a:p>
            <a:pPr lvl="1"/>
            <a:r>
              <a:rPr lang="en-US" sz="2000" dirty="0"/>
              <a:t>    </a:t>
            </a:r>
            <a:r>
              <a:rPr lang="en-US" sz="2000" dirty="0" err="1"/>
              <a:t>CustomerId</a:t>
            </a:r>
            <a:r>
              <a:rPr lang="en-US" sz="2000" dirty="0"/>
              <a:t> INT,</a:t>
            </a:r>
          </a:p>
          <a:p>
            <a:pPr lvl="1"/>
            <a:r>
              <a:rPr lang="en-US" sz="2000" dirty="0"/>
              <a:t>    </a:t>
            </a:r>
            <a:r>
              <a:rPr lang="en-US" sz="2000" dirty="0" err="1"/>
              <a:t>CreatedAt</a:t>
            </a:r>
            <a:r>
              <a:rPr lang="en-US" sz="2000" dirty="0"/>
              <a:t> Date,</a:t>
            </a:r>
          </a:p>
          <a:p>
            <a:pPr lvl="1"/>
            <a:r>
              <a:rPr lang="en-US" sz="2000" dirty="0"/>
              <a:t>    FOREIGN KEY (</a:t>
            </a:r>
            <a:r>
              <a:rPr lang="en-US" sz="2000" dirty="0" err="1"/>
              <a:t>CustomerId</a:t>
            </a:r>
            <a:r>
              <a:rPr lang="en-US" sz="2000" dirty="0"/>
              <a:t>) REFERENCES Customers (Id) ON DELETE SET NULL</a:t>
            </a:r>
          </a:p>
          <a:p>
            <a:pPr lvl="1"/>
            <a:r>
              <a:rPr lang="en-US" sz="2000" dirty="0"/>
              <a:t>);</a:t>
            </a:r>
            <a:endParaRPr lang="ru-RU" sz="2000" dirty="0"/>
          </a:p>
        </p:txBody>
      </p:sp>
    </p:spTree>
    <p:extLst>
      <p:ext uri="{BB962C8B-B14F-4D97-AF65-F5344CB8AC3E}">
        <p14:creationId xmlns:p14="http://schemas.microsoft.com/office/powerpoint/2010/main" val="149557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BFB7B6C0-F64A-BA64-9650-E4EFFD677C51}"/>
              </a:ext>
            </a:extLst>
          </p:cNvPr>
          <p:cNvSpPr>
            <a:spLocks noGrp="1"/>
          </p:cNvSpPr>
          <p:nvPr>
            <p:ph idx="1"/>
          </p:nvPr>
        </p:nvSpPr>
        <p:spPr/>
        <p:txBody>
          <a:bodyPr/>
          <a:lstStyle/>
          <a:p>
            <a:r>
              <a:rPr lang="ru-RU" b="1" dirty="0"/>
              <a:t>Установка значения по умолчанию</a:t>
            </a:r>
            <a:endParaRPr lang="en-US" b="1" dirty="0"/>
          </a:p>
          <a:p>
            <a:endParaRPr lang="ru-RU" b="1" dirty="0"/>
          </a:p>
          <a:p>
            <a:pPr lvl="1"/>
            <a:r>
              <a:rPr lang="en-US" sz="2000" dirty="0"/>
              <a:t>CREATE TABLE Orders</a:t>
            </a:r>
          </a:p>
          <a:p>
            <a:pPr lvl="1"/>
            <a:r>
              <a:rPr lang="en-US" sz="2000" dirty="0"/>
              <a:t>(</a:t>
            </a:r>
          </a:p>
          <a:p>
            <a:pPr lvl="1"/>
            <a:r>
              <a:rPr lang="en-US" sz="2000" dirty="0"/>
              <a:t>    Id INT PRIMARY KEY IDENTITY,</a:t>
            </a:r>
          </a:p>
          <a:p>
            <a:pPr lvl="1"/>
            <a:r>
              <a:rPr lang="en-US" sz="2000" dirty="0"/>
              <a:t>    </a:t>
            </a:r>
            <a:r>
              <a:rPr lang="en-US" sz="2000" dirty="0" err="1"/>
              <a:t>CustomerId</a:t>
            </a:r>
            <a:r>
              <a:rPr lang="en-US" sz="2000" dirty="0"/>
              <a:t> INT,</a:t>
            </a:r>
          </a:p>
          <a:p>
            <a:pPr lvl="1"/>
            <a:r>
              <a:rPr lang="en-US" sz="2000" dirty="0"/>
              <a:t>    </a:t>
            </a:r>
            <a:r>
              <a:rPr lang="en-US" sz="2000" dirty="0" err="1"/>
              <a:t>CreatedAt</a:t>
            </a:r>
            <a:r>
              <a:rPr lang="en-US" sz="2000" dirty="0"/>
              <a:t> Date,</a:t>
            </a:r>
          </a:p>
          <a:p>
            <a:pPr lvl="1"/>
            <a:r>
              <a:rPr lang="en-US" sz="2000" dirty="0"/>
              <a:t>    FOREIGN KEY (</a:t>
            </a:r>
            <a:r>
              <a:rPr lang="en-US" sz="2000" dirty="0" err="1"/>
              <a:t>CustomerId</a:t>
            </a:r>
            <a:r>
              <a:rPr lang="en-US" sz="2000" dirty="0"/>
              <a:t>) REFERENCES Customers (Id) ON DELETE SET 	DEFAULT</a:t>
            </a:r>
          </a:p>
          <a:p>
            <a:pPr lvl="1"/>
            <a:r>
              <a:rPr lang="en-US" sz="2000" dirty="0"/>
              <a:t>)</a:t>
            </a:r>
          </a:p>
          <a:p>
            <a:endParaRPr lang="ru-RU" dirty="0"/>
          </a:p>
        </p:txBody>
      </p:sp>
    </p:spTree>
    <p:extLst>
      <p:ext uri="{BB962C8B-B14F-4D97-AF65-F5344CB8AC3E}">
        <p14:creationId xmlns:p14="http://schemas.microsoft.com/office/powerpoint/2010/main" val="4193607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6863523-FE73-2A6F-2AAE-F16600E44154}"/>
              </a:ext>
            </a:extLst>
          </p:cNvPr>
          <p:cNvSpPr>
            <a:spLocks noGrp="1"/>
          </p:cNvSpPr>
          <p:nvPr>
            <p:ph idx="1"/>
          </p:nvPr>
        </p:nvSpPr>
        <p:spPr/>
        <p:txBody>
          <a:bodyPr/>
          <a:lstStyle/>
          <a:p>
            <a:r>
              <a:rPr lang="ru-RU" b="1" dirty="0"/>
              <a:t>Изменение таблицы</a:t>
            </a:r>
          </a:p>
          <a:p>
            <a:r>
              <a:rPr lang="ru-RU" b="1" dirty="0"/>
              <a:t>Добавление нового столбца</a:t>
            </a:r>
          </a:p>
          <a:p>
            <a:endParaRPr lang="en-US" dirty="0"/>
          </a:p>
          <a:p>
            <a:pPr lvl="1"/>
            <a:r>
              <a:rPr lang="en-US" sz="2000" dirty="0"/>
              <a:t>ALTER TABLE Customers</a:t>
            </a:r>
          </a:p>
          <a:p>
            <a:pPr lvl="1"/>
            <a:r>
              <a:rPr lang="en-US" sz="2000" dirty="0"/>
              <a:t>ADD Address NVARCHAR(50) NULL;</a:t>
            </a:r>
          </a:p>
          <a:p>
            <a:pPr lvl="1"/>
            <a:endParaRPr lang="en-US" sz="2000" dirty="0"/>
          </a:p>
          <a:p>
            <a:pPr lvl="1"/>
            <a:endParaRPr lang="en-US" sz="2000" dirty="0"/>
          </a:p>
          <a:p>
            <a:pPr lvl="1" fontAlgn="base"/>
            <a:r>
              <a:rPr lang="en-US" sz="2000" dirty="0"/>
              <a:t>ALTER TABLE Customers</a:t>
            </a:r>
          </a:p>
          <a:p>
            <a:pPr lvl="1" fontAlgn="base"/>
            <a:r>
              <a:rPr lang="en-US" sz="2000" dirty="0"/>
              <a:t>ADD Address NVARCHAR(50) NOT NULL DEFAULT '</a:t>
            </a:r>
            <a:r>
              <a:rPr lang="en-US" sz="2000" dirty="0" err="1"/>
              <a:t>Неизвестно</a:t>
            </a:r>
            <a:r>
              <a:rPr lang="en-US" sz="2000" dirty="0"/>
              <a:t>';</a:t>
            </a:r>
          </a:p>
          <a:p>
            <a:pPr lvl="1"/>
            <a:endParaRPr lang="ru-RU" sz="2000" dirty="0"/>
          </a:p>
        </p:txBody>
      </p:sp>
    </p:spTree>
    <p:extLst>
      <p:ext uri="{BB962C8B-B14F-4D97-AF65-F5344CB8AC3E}">
        <p14:creationId xmlns:p14="http://schemas.microsoft.com/office/powerpoint/2010/main" val="763155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11777155-0625-7607-ACFC-0ED1D7604F51}"/>
              </a:ext>
            </a:extLst>
          </p:cNvPr>
          <p:cNvSpPr>
            <a:spLocks noGrp="1"/>
          </p:cNvSpPr>
          <p:nvPr>
            <p:ph idx="1"/>
          </p:nvPr>
        </p:nvSpPr>
        <p:spPr/>
        <p:txBody>
          <a:bodyPr/>
          <a:lstStyle/>
          <a:p>
            <a:r>
              <a:rPr lang="ru-RU" b="1" dirty="0"/>
              <a:t>Удаление столбца</a:t>
            </a:r>
          </a:p>
          <a:p>
            <a:endParaRPr lang="en-US" dirty="0"/>
          </a:p>
          <a:p>
            <a:pPr lvl="2"/>
            <a:r>
              <a:rPr lang="en-US" dirty="0"/>
              <a:t>ALTER TABLE Customers</a:t>
            </a:r>
          </a:p>
          <a:p>
            <a:pPr lvl="2"/>
            <a:r>
              <a:rPr lang="en-US" dirty="0"/>
              <a:t>DROP COLUMN Address;</a:t>
            </a:r>
          </a:p>
          <a:p>
            <a:pPr lvl="2"/>
            <a:endParaRPr lang="en-US" dirty="0"/>
          </a:p>
          <a:p>
            <a:r>
              <a:rPr lang="ru-RU" b="1" dirty="0"/>
              <a:t>Изменение типа столбца</a:t>
            </a:r>
          </a:p>
          <a:p>
            <a:endParaRPr lang="en-US" dirty="0"/>
          </a:p>
          <a:p>
            <a:pPr lvl="2" fontAlgn="base"/>
            <a:r>
              <a:rPr lang="en-US" dirty="0"/>
              <a:t>ALTER TABLE Customers</a:t>
            </a:r>
          </a:p>
          <a:p>
            <a:pPr lvl="2" fontAlgn="base"/>
            <a:r>
              <a:rPr lang="en-US" dirty="0"/>
              <a:t>ALTER COLUMN FirstName NVARCHAR(200);</a:t>
            </a:r>
          </a:p>
          <a:p>
            <a:endParaRPr lang="ru-RU" dirty="0"/>
          </a:p>
        </p:txBody>
      </p:sp>
    </p:spTree>
    <p:extLst>
      <p:ext uri="{BB962C8B-B14F-4D97-AF65-F5344CB8AC3E}">
        <p14:creationId xmlns:p14="http://schemas.microsoft.com/office/powerpoint/2010/main" val="1220030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0C5261A2-290A-793C-49CD-11D82EB0695E}"/>
              </a:ext>
            </a:extLst>
          </p:cNvPr>
          <p:cNvSpPr>
            <a:spLocks noGrp="1"/>
          </p:cNvSpPr>
          <p:nvPr>
            <p:ph idx="1"/>
          </p:nvPr>
        </p:nvSpPr>
        <p:spPr/>
        <p:txBody>
          <a:bodyPr/>
          <a:lstStyle/>
          <a:p>
            <a:r>
              <a:rPr lang="ru-RU" b="1" dirty="0"/>
              <a:t>Добавление ограничения </a:t>
            </a:r>
            <a:r>
              <a:rPr lang="de-CH" b="1" dirty="0"/>
              <a:t>CHECK</a:t>
            </a:r>
          </a:p>
          <a:p>
            <a:endParaRPr lang="en-US" sz="1800" dirty="0"/>
          </a:p>
          <a:p>
            <a:r>
              <a:rPr lang="ru-RU" sz="1800" dirty="0"/>
              <a:t>При добавлении ограничений SQL Server автоматически проверяет имеющиеся данные на соответствие добавляемым ограничениям. Если данные не соответствуют ограничениям, то такие ограничения не будут добавлены. Например, установим для столбца </a:t>
            </a:r>
            <a:r>
              <a:rPr lang="ru-RU" sz="1800" dirty="0" err="1"/>
              <a:t>Age</a:t>
            </a:r>
            <a:r>
              <a:rPr lang="ru-RU" sz="1800" dirty="0"/>
              <a:t> в таблице </a:t>
            </a:r>
            <a:r>
              <a:rPr lang="ru-RU" sz="1800" dirty="0" err="1"/>
              <a:t>Customers</a:t>
            </a:r>
            <a:r>
              <a:rPr lang="ru-RU" sz="1800" dirty="0"/>
              <a:t> ограничение </a:t>
            </a:r>
            <a:r>
              <a:rPr lang="ru-RU" sz="1800" dirty="0" err="1"/>
              <a:t>Age</a:t>
            </a:r>
            <a:r>
              <a:rPr lang="ru-RU" sz="1800" dirty="0"/>
              <a:t> &gt; 21.</a:t>
            </a:r>
            <a:endParaRPr lang="en-US" sz="1800" dirty="0"/>
          </a:p>
          <a:p>
            <a:endParaRPr lang="en-US" sz="1800" dirty="0"/>
          </a:p>
          <a:p>
            <a:pPr lvl="2" fontAlgn="base"/>
            <a:r>
              <a:rPr lang="en-US" dirty="0"/>
              <a:t>ALTER TABLE Customers</a:t>
            </a:r>
          </a:p>
          <a:p>
            <a:pPr lvl="2" fontAlgn="base"/>
            <a:r>
              <a:rPr lang="en-US" dirty="0"/>
              <a:t>ADD CHECK (Age &gt; 21);</a:t>
            </a:r>
          </a:p>
          <a:p>
            <a:endParaRPr lang="en-US" sz="1800" dirty="0"/>
          </a:p>
          <a:p>
            <a:r>
              <a:rPr lang="ru-RU" sz="1800" dirty="0"/>
              <a:t>Если в таблице есть строки, в которых в столбце </a:t>
            </a:r>
            <a:r>
              <a:rPr lang="ru-RU" sz="1800" dirty="0" err="1"/>
              <a:t>Age</a:t>
            </a:r>
            <a:r>
              <a:rPr lang="ru-RU" sz="1800" dirty="0"/>
              <a:t> есть значения, несоответствующие этому ограничению, то </a:t>
            </a:r>
            <a:r>
              <a:rPr lang="ru-RU" sz="1800" dirty="0" err="1"/>
              <a:t>sql</a:t>
            </a:r>
            <a:r>
              <a:rPr lang="ru-RU" sz="1800" dirty="0"/>
              <a:t>-команда завершится с ошибкой. Чтобы избежать подобной проверки на соответствие и все таки добавить ограничение, несмотря на наличие несоответствующих ему данных, используется выражение </a:t>
            </a:r>
            <a:r>
              <a:rPr lang="ru-RU" sz="1800" b="1" dirty="0"/>
              <a:t>WITH NOCHECK</a:t>
            </a:r>
            <a:r>
              <a:rPr lang="ru-RU" sz="1800" dirty="0"/>
              <a:t>:</a:t>
            </a:r>
            <a:endParaRPr lang="en-US" sz="1800" dirty="0"/>
          </a:p>
          <a:p>
            <a:endParaRPr lang="en-US" sz="1800" dirty="0"/>
          </a:p>
          <a:p>
            <a:pPr lvl="2" fontAlgn="base"/>
            <a:r>
              <a:rPr lang="en-US" dirty="0"/>
              <a:t>ALTER TABLE Customers WITH NOCHECK</a:t>
            </a:r>
          </a:p>
          <a:p>
            <a:pPr lvl="2" fontAlgn="base"/>
            <a:r>
              <a:rPr lang="en-US" dirty="0"/>
              <a:t>ADD CHECK (Age &gt; 21);</a:t>
            </a:r>
          </a:p>
          <a:p>
            <a:endParaRPr lang="en-US" sz="1800" dirty="0"/>
          </a:p>
          <a:p>
            <a:endParaRPr lang="en-US" sz="1800" dirty="0"/>
          </a:p>
          <a:p>
            <a:endParaRPr lang="ru-RU" sz="1800" dirty="0"/>
          </a:p>
        </p:txBody>
      </p:sp>
    </p:spTree>
    <p:extLst>
      <p:ext uri="{BB962C8B-B14F-4D97-AF65-F5344CB8AC3E}">
        <p14:creationId xmlns:p14="http://schemas.microsoft.com/office/powerpoint/2010/main" val="3008037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99781A8-9589-91B0-F963-118E6DEE05BC}"/>
              </a:ext>
            </a:extLst>
          </p:cNvPr>
          <p:cNvSpPr>
            <a:spLocks noGrp="1"/>
          </p:cNvSpPr>
          <p:nvPr>
            <p:ph idx="1"/>
          </p:nvPr>
        </p:nvSpPr>
        <p:spPr/>
        <p:txBody>
          <a:bodyPr>
            <a:normAutofit fontScale="92500" lnSpcReduction="20000"/>
          </a:bodyPr>
          <a:lstStyle/>
          <a:p>
            <a:r>
              <a:rPr lang="ru-RU" b="1" dirty="0"/>
              <a:t>Добавление внешнего ключа</a:t>
            </a:r>
          </a:p>
          <a:p>
            <a:pPr fontAlgn="base"/>
            <a:endParaRPr lang="de-CH" sz="1900" dirty="0"/>
          </a:p>
          <a:p>
            <a:pPr fontAlgn="base"/>
            <a:r>
              <a:rPr lang="de-CH" sz="1900" dirty="0"/>
              <a:t>CREATE TABLE Customers</a:t>
            </a:r>
          </a:p>
          <a:p>
            <a:pPr fontAlgn="base"/>
            <a:r>
              <a:rPr lang="de-CH" sz="1900" dirty="0"/>
              <a:t>(</a:t>
            </a:r>
          </a:p>
          <a:p>
            <a:pPr fontAlgn="base"/>
            <a:r>
              <a:rPr lang="de-CH" sz="1900" dirty="0"/>
              <a:t>    </a:t>
            </a:r>
            <a:r>
              <a:rPr lang="de-CH" sz="1900" dirty="0" err="1"/>
              <a:t>Id</a:t>
            </a:r>
            <a:r>
              <a:rPr lang="de-CH" sz="1900" dirty="0"/>
              <a:t> INT PRIMARY KEY IDENTITY,</a:t>
            </a:r>
          </a:p>
          <a:p>
            <a:pPr fontAlgn="base"/>
            <a:r>
              <a:rPr lang="de-CH" sz="1900" dirty="0"/>
              <a:t>    Age INT DEFAULT 18, </a:t>
            </a:r>
          </a:p>
          <a:p>
            <a:pPr fontAlgn="base"/>
            <a:r>
              <a:rPr lang="de-CH" sz="1900" dirty="0"/>
              <a:t>    </a:t>
            </a:r>
            <a:r>
              <a:rPr lang="de-CH" sz="1900" dirty="0" err="1"/>
              <a:t>FirstName</a:t>
            </a:r>
            <a:r>
              <a:rPr lang="de-CH" sz="1900" dirty="0"/>
              <a:t> NVARCHAR(20) NOT NULL,</a:t>
            </a:r>
          </a:p>
          <a:p>
            <a:pPr fontAlgn="base"/>
            <a:r>
              <a:rPr lang="de-CH" sz="1900" dirty="0"/>
              <a:t>    </a:t>
            </a:r>
            <a:r>
              <a:rPr lang="de-CH" sz="1900" dirty="0" err="1"/>
              <a:t>LastName</a:t>
            </a:r>
            <a:r>
              <a:rPr lang="de-CH" sz="1900" dirty="0"/>
              <a:t> NVARCHAR(20) NOT NULL,</a:t>
            </a:r>
          </a:p>
          <a:p>
            <a:pPr fontAlgn="base"/>
            <a:r>
              <a:rPr lang="de-CH" sz="1900" dirty="0"/>
              <a:t>    Email VARCHAR(30) UNIQUE,</a:t>
            </a:r>
          </a:p>
          <a:p>
            <a:pPr fontAlgn="base"/>
            <a:r>
              <a:rPr lang="de-CH" sz="1900" dirty="0"/>
              <a:t>    Phone VARCHAR(20) UNIQUE</a:t>
            </a:r>
          </a:p>
          <a:p>
            <a:pPr fontAlgn="base"/>
            <a:r>
              <a:rPr lang="de-CH" sz="1900" dirty="0"/>
              <a:t>);</a:t>
            </a:r>
          </a:p>
          <a:p>
            <a:pPr fontAlgn="base"/>
            <a:r>
              <a:rPr lang="de-CH" sz="1900" dirty="0"/>
              <a:t>CREATE TABLE Orders</a:t>
            </a:r>
          </a:p>
          <a:p>
            <a:pPr fontAlgn="base"/>
            <a:r>
              <a:rPr lang="de-CH" sz="1900" dirty="0"/>
              <a:t>(</a:t>
            </a:r>
          </a:p>
          <a:p>
            <a:pPr fontAlgn="base"/>
            <a:r>
              <a:rPr lang="de-CH" sz="1900" dirty="0"/>
              <a:t>    </a:t>
            </a:r>
            <a:r>
              <a:rPr lang="de-CH" sz="1900" dirty="0" err="1"/>
              <a:t>Id</a:t>
            </a:r>
            <a:r>
              <a:rPr lang="de-CH" sz="1900" dirty="0"/>
              <a:t> INT IDENTITY,</a:t>
            </a:r>
          </a:p>
          <a:p>
            <a:pPr fontAlgn="base"/>
            <a:r>
              <a:rPr lang="de-CH" sz="1900" dirty="0"/>
              <a:t>    </a:t>
            </a:r>
            <a:r>
              <a:rPr lang="de-CH" sz="1900" dirty="0" err="1"/>
              <a:t>CustomerId</a:t>
            </a:r>
            <a:r>
              <a:rPr lang="de-CH" sz="1900" dirty="0"/>
              <a:t> INT,</a:t>
            </a:r>
          </a:p>
          <a:p>
            <a:pPr fontAlgn="base"/>
            <a:r>
              <a:rPr lang="de-CH" sz="1900" dirty="0"/>
              <a:t>    </a:t>
            </a:r>
            <a:r>
              <a:rPr lang="de-CH" sz="1900" dirty="0" err="1"/>
              <a:t>CreatedAt</a:t>
            </a:r>
            <a:r>
              <a:rPr lang="de-CH" sz="1900" dirty="0"/>
              <a:t> Date</a:t>
            </a:r>
          </a:p>
          <a:p>
            <a:pPr fontAlgn="base"/>
            <a:r>
              <a:rPr lang="de-CH" sz="1900" dirty="0"/>
              <a:t>);</a:t>
            </a:r>
          </a:p>
          <a:p>
            <a:pPr fontAlgn="base"/>
            <a:r>
              <a:rPr lang="en-US" sz="1900" dirty="0"/>
              <a:t>ALTER TABLE Orders</a:t>
            </a:r>
          </a:p>
          <a:p>
            <a:pPr fontAlgn="base"/>
            <a:r>
              <a:rPr lang="en-US" sz="1900" dirty="0"/>
              <a:t>ADD FOREIGN KEY(</a:t>
            </a:r>
            <a:r>
              <a:rPr lang="en-US" sz="1900" dirty="0" err="1"/>
              <a:t>CustomerId</a:t>
            </a:r>
            <a:r>
              <a:rPr lang="en-US" sz="1900" dirty="0"/>
              <a:t>) REFERENCES Customers(Id);</a:t>
            </a:r>
          </a:p>
          <a:p>
            <a:endParaRPr lang="ru-RU" dirty="0"/>
          </a:p>
        </p:txBody>
      </p:sp>
    </p:spTree>
    <p:extLst>
      <p:ext uri="{BB962C8B-B14F-4D97-AF65-F5344CB8AC3E}">
        <p14:creationId xmlns:p14="http://schemas.microsoft.com/office/powerpoint/2010/main" val="2312698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35955B5-AC65-6787-92E8-2051F4DE4D70}"/>
              </a:ext>
            </a:extLst>
          </p:cNvPr>
          <p:cNvSpPr>
            <a:spLocks noGrp="1"/>
          </p:cNvSpPr>
          <p:nvPr>
            <p:ph idx="1"/>
          </p:nvPr>
        </p:nvSpPr>
        <p:spPr/>
        <p:txBody>
          <a:bodyPr/>
          <a:lstStyle/>
          <a:p>
            <a:r>
              <a:rPr lang="ru-RU" b="1" dirty="0"/>
              <a:t>Добавление первичного ключа</a:t>
            </a:r>
            <a:endParaRPr lang="en-US" b="1" dirty="0"/>
          </a:p>
          <a:p>
            <a:endParaRPr lang="en-US" b="1" dirty="0"/>
          </a:p>
          <a:p>
            <a:pPr lvl="2" fontAlgn="base"/>
            <a:r>
              <a:rPr lang="en-US" dirty="0"/>
              <a:t>ALTER TABLE Orders</a:t>
            </a:r>
          </a:p>
          <a:p>
            <a:pPr lvl="2" fontAlgn="base"/>
            <a:r>
              <a:rPr lang="en-US" dirty="0"/>
              <a:t>ADD PRIMARY KEY (Id);</a:t>
            </a:r>
          </a:p>
          <a:p>
            <a:endParaRPr lang="ru-RU" b="1" dirty="0"/>
          </a:p>
          <a:p>
            <a:endParaRPr lang="ru-RU" dirty="0"/>
          </a:p>
        </p:txBody>
      </p:sp>
    </p:spTree>
    <p:extLst>
      <p:ext uri="{BB962C8B-B14F-4D97-AF65-F5344CB8AC3E}">
        <p14:creationId xmlns:p14="http://schemas.microsoft.com/office/powerpoint/2010/main" val="2130678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35F932F1-E26A-3FEF-5F7F-F799089E7B6C}"/>
              </a:ext>
            </a:extLst>
          </p:cNvPr>
          <p:cNvSpPr>
            <a:spLocks noGrp="1"/>
          </p:cNvSpPr>
          <p:nvPr>
            <p:ph idx="1"/>
          </p:nvPr>
        </p:nvSpPr>
        <p:spPr/>
        <p:txBody>
          <a:bodyPr/>
          <a:lstStyle/>
          <a:p>
            <a:r>
              <a:rPr lang="ru-RU" b="1" dirty="0"/>
              <a:t>Добавление ограничений с именами</a:t>
            </a:r>
          </a:p>
          <a:p>
            <a:endParaRPr lang="en-US" dirty="0"/>
          </a:p>
          <a:p>
            <a:r>
              <a:rPr lang="ru-RU" dirty="0"/>
              <a:t>При добавлении ограничений мы можем указать для них имя, используя оператор </a:t>
            </a:r>
            <a:r>
              <a:rPr lang="ru-RU" b="1" dirty="0"/>
              <a:t>CONSTRAINT</a:t>
            </a:r>
            <a:r>
              <a:rPr lang="ru-RU" dirty="0"/>
              <a:t>, после которого указывается имя ограничения:</a:t>
            </a:r>
            <a:endParaRPr lang="en-US" dirty="0"/>
          </a:p>
          <a:p>
            <a:endParaRPr lang="en-US" dirty="0"/>
          </a:p>
          <a:p>
            <a:pPr fontAlgn="base"/>
            <a:r>
              <a:rPr lang="en-US" dirty="0"/>
              <a:t>ALTER TABLE Orders</a:t>
            </a:r>
          </a:p>
          <a:p>
            <a:pPr fontAlgn="base"/>
            <a:r>
              <a:rPr lang="en-US" dirty="0"/>
              <a:t>ADD CONSTRAINT </a:t>
            </a:r>
            <a:r>
              <a:rPr lang="en-US" dirty="0" err="1"/>
              <a:t>PK_Orders_Id</a:t>
            </a:r>
            <a:r>
              <a:rPr lang="en-US" dirty="0"/>
              <a:t> PRIMARY KEY (Id),</a:t>
            </a:r>
          </a:p>
          <a:p>
            <a:pPr fontAlgn="base"/>
            <a:r>
              <a:rPr lang="en-US" dirty="0"/>
              <a:t>    CONSTRAINT </a:t>
            </a:r>
            <a:r>
              <a:rPr lang="en-US" dirty="0" err="1"/>
              <a:t>FK_Orders_To_Customers</a:t>
            </a:r>
            <a:r>
              <a:rPr lang="en-US" dirty="0"/>
              <a:t> FOREIGN KEY(</a:t>
            </a:r>
            <a:r>
              <a:rPr lang="en-US" dirty="0" err="1"/>
              <a:t>CustomerId</a:t>
            </a:r>
            <a:r>
              <a:rPr lang="en-US" dirty="0"/>
              <a:t>) REFERENCES Customers(Id);</a:t>
            </a:r>
          </a:p>
          <a:p>
            <a:pPr fontAlgn="base"/>
            <a:r>
              <a:rPr lang="en-US" dirty="0"/>
              <a:t> </a:t>
            </a:r>
          </a:p>
          <a:p>
            <a:pPr fontAlgn="base"/>
            <a:r>
              <a:rPr lang="en-US" dirty="0"/>
              <a:t>ALTER TABLE Customers</a:t>
            </a:r>
          </a:p>
          <a:p>
            <a:pPr fontAlgn="base"/>
            <a:r>
              <a:rPr lang="en-US" dirty="0"/>
              <a:t>ADD CONSTRAINT </a:t>
            </a:r>
            <a:r>
              <a:rPr lang="en-US" dirty="0" err="1"/>
              <a:t>CK_Age_Greater_Than_Zero</a:t>
            </a:r>
            <a:r>
              <a:rPr lang="en-US" dirty="0"/>
              <a:t> CHECK (Age &gt; 0);</a:t>
            </a:r>
          </a:p>
          <a:p>
            <a:endParaRPr lang="ru-RU" dirty="0"/>
          </a:p>
        </p:txBody>
      </p:sp>
    </p:spTree>
    <p:extLst>
      <p:ext uri="{BB962C8B-B14F-4D97-AF65-F5344CB8AC3E}">
        <p14:creationId xmlns:p14="http://schemas.microsoft.com/office/powerpoint/2010/main" val="4112550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B8F29E0D-AF90-3690-4153-079EBC4A6C3D}"/>
              </a:ext>
            </a:extLst>
          </p:cNvPr>
          <p:cNvSpPr>
            <a:spLocks noGrp="1"/>
          </p:cNvSpPr>
          <p:nvPr>
            <p:ph idx="1"/>
          </p:nvPr>
        </p:nvSpPr>
        <p:spPr/>
        <p:txBody>
          <a:bodyPr/>
          <a:lstStyle/>
          <a:p>
            <a:r>
              <a:rPr lang="ru-RU" b="1" dirty="0"/>
              <a:t>Удаление ограничений</a:t>
            </a:r>
          </a:p>
          <a:p>
            <a:endParaRPr lang="en-US" dirty="0"/>
          </a:p>
          <a:p>
            <a:pPr lvl="1" fontAlgn="base"/>
            <a:r>
              <a:rPr lang="en-US" dirty="0"/>
              <a:t>ALTER TABLE Orders</a:t>
            </a:r>
          </a:p>
          <a:p>
            <a:pPr lvl="1" fontAlgn="base"/>
            <a:r>
              <a:rPr lang="en-US" dirty="0"/>
              <a:t>DROP </a:t>
            </a:r>
            <a:r>
              <a:rPr lang="en-US" dirty="0" err="1"/>
              <a:t>FK_Orders_To_Customers</a:t>
            </a:r>
            <a:r>
              <a:rPr lang="en-US" dirty="0"/>
              <a:t>;</a:t>
            </a:r>
          </a:p>
          <a:p>
            <a:endParaRPr lang="ru-RU" dirty="0"/>
          </a:p>
        </p:txBody>
      </p:sp>
    </p:spTree>
    <p:extLst>
      <p:ext uri="{BB962C8B-B14F-4D97-AF65-F5344CB8AC3E}">
        <p14:creationId xmlns:p14="http://schemas.microsoft.com/office/powerpoint/2010/main" val="1626507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2117CA2-D397-BDF2-EAD3-5D69BDA12367}"/>
              </a:ext>
            </a:extLst>
          </p:cNvPr>
          <p:cNvSpPr>
            <a:spLocks noGrp="1"/>
          </p:cNvSpPr>
          <p:nvPr>
            <p:ph idx="1"/>
          </p:nvPr>
        </p:nvSpPr>
        <p:spPr/>
        <p:txBody>
          <a:bodyPr>
            <a:normAutofit fontScale="55000" lnSpcReduction="20000"/>
          </a:bodyPr>
          <a:lstStyle/>
          <a:p>
            <a:r>
              <a:rPr lang="ru-RU" sz="3600" b="1" dirty="0"/>
              <a:t>Пакеты. Команда </a:t>
            </a:r>
            <a:r>
              <a:rPr lang="de-CH" sz="3600" b="1" dirty="0"/>
              <a:t>GO</a:t>
            </a:r>
          </a:p>
          <a:p>
            <a:pPr fontAlgn="base"/>
            <a:r>
              <a:rPr lang="de-CH" dirty="0"/>
              <a:t>CREATE DATABASE </a:t>
            </a:r>
            <a:r>
              <a:rPr lang="de-CH" dirty="0" err="1"/>
              <a:t>internetstore</a:t>
            </a:r>
            <a:r>
              <a:rPr lang="de-CH" dirty="0"/>
              <a:t>;</a:t>
            </a:r>
          </a:p>
          <a:p>
            <a:pPr fontAlgn="base"/>
            <a:r>
              <a:rPr lang="de-CH" dirty="0"/>
              <a:t>GO</a:t>
            </a:r>
          </a:p>
          <a:p>
            <a:pPr fontAlgn="base"/>
            <a:r>
              <a:rPr lang="de-CH" dirty="0"/>
              <a:t> </a:t>
            </a:r>
          </a:p>
          <a:p>
            <a:pPr fontAlgn="base"/>
            <a:r>
              <a:rPr lang="de-CH" dirty="0"/>
              <a:t>USE </a:t>
            </a:r>
            <a:r>
              <a:rPr lang="de-CH" dirty="0" err="1"/>
              <a:t>internetstore</a:t>
            </a:r>
            <a:r>
              <a:rPr lang="de-CH" dirty="0"/>
              <a:t>;</a:t>
            </a:r>
          </a:p>
          <a:p>
            <a:pPr fontAlgn="base"/>
            <a:r>
              <a:rPr lang="de-CH" dirty="0"/>
              <a:t> </a:t>
            </a:r>
          </a:p>
          <a:p>
            <a:pPr fontAlgn="base"/>
            <a:r>
              <a:rPr lang="de-CH" dirty="0"/>
              <a:t>CREATE TABLE Customers</a:t>
            </a:r>
          </a:p>
          <a:p>
            <a:pPr fontAlgn="base"/>
            <a:r>
              <a:rPr lang="de-CH" dirty="0"/>
              <a:t>(</a:t>
            </a:r>
          </a:p>
          <a:p>
            <a:pPr fontAlgn="base"/>
            <a:r>
              <a:rPr lang="de-CH" dirty="0"/>
              <a:t>    </a:t>
            </a:r>
            <a:r>
              <a:rPr lang="de-CH" dirty="0" err="1"/>
              <a:t>Id</a:t>
            </a:r>
            <a:r>
              <a:rPr lang="de-CH" dirty="0"/>
              <a:t> INT PRIMARY KEY IDENTITY,</a:t>
            </a:r>
          </a:p>
          <a:p>
            <a:pPr fontAlgn="base"/>
            <a:r>
              <a:rPr lang="de-CH" dirty="0"/>
              <a:t>    Age INT DEFAULT 18, </a:t>
            </a:r>
          </a:p>
          <a:p>
            <a:pPr fontAlgn="base"/>
            <a:r>
              <a:rPr lang="de-CH" dirty="0"/>
              <a:t>    </a:t>
            </a:r>
            <a:r>
              <a:rPr lang="de-CH" dirty="0" err="1"/>
              <a:t>FirstName</a:t>
            </a:r>
            <a:r>
              <a:rPr lang="de-CH" dirty="0"/>
              <a:t> NVARCHAR(20) NOT NULL,</a:t>
            </a:r>
          </a:p>
          <a:p>
            <a:pPr fontAlgn="base"/>
            <a:r>
              <a:rPr lang="de-CH" dirty="0"/>
              <a:t>    </a:t>
            </a:r>
            <a:r>
              <a:rPr lang="de-CH" dirty="0" err="1"/>
              <a:t>LastName</a:t>
            </a:r>
            <a:r>
              <a:rPr lang="de-CH" dirty="0"/>
              <a:t> NVARCHAR(20) NOT NULL,</a:t>
            </a:r>
          </a:p>
          <a:p>
            <a:pPr fontAlgn="base"/>
            <a:r>
              <a:rPr lang="de-CH" dirty="0"/>
              <a:t>    Email VARCHAR(30) UNIQUE,</a:t>
            </a:r>
          </a:p>
          <a:p>
            <a:pPr fontAlgn="base"/>
            <a:r>
              <a:rPr lang="de-CH" dirty="0"/>
              <a:t>    Phone VARCHAR(20) UNIQUE</a:t>
            </a:r>
          </a:p>
          <a:p>
            <a:pPr fontAlgn="base"/>
            <a:r>
              <a:rPr lang="de-CH" dirty="0"/>
              <a:t>);</a:t>
            </a:r>
          </a:p>
          <a:p>
            <a:pPr fontAlgn="base"/>
            <a:r>
              <a:rPr lang="de-CH" dirty="0"/>
              <a:t> </a:t>
            </a:r>
          </a:p>
          <a:p>
            <a:pPr fontAlgn="base"/>
            <a:r>
              <a:rPr lang="de-CH" dirty="0"/>
              <a:t>CREATE TABLE Orders</a:t>
            </a:r>
          </a:p>
          <a:p>
            <a:pPr fontAlgn="base"/>
            <a:r>
              <a:rPr lang="de-CH" dirty="0"/>
              <a:t>(</a:t>
            </a:r>
          </a:p>
          <a:p>
            <a:pPr fontAlgn="base"/>
            <a:r>
              <a:rPr lang="de-CH" dirty="0"/>
              <a:t>    </a:t>
            </a:r>
            <a:r>
              <a:rPr lang="de-CH" dirty="0" err="1"/>
              <a:t>Id</a:t>
            </a:r>
            <a:r>
              <a:rPr lang="de-CH" dirty="0"/>
              <a:t> INT PRIMARY KEY IDENTITY,</a:t>
            </a:r>
          </a:p>
          <a:p>
            <a:pPr fontAlgn="base"/>
            <a:r>
              <a:rPr lang="de-CH" dirty="0"/>
              <a:t>    </a:t>
            </a:r>
            <a:r>
              <a:rPr lang="de-CH" dirty="0" err="1"/>
              <a:t>CustomerId</a:t>
            </a:r>
            <a:r>
              <a:rPr lang="de-CH" dirty="0"/>
              <a:t> INT,</a:t>
            </a:r>
          </a:p>
          <a:p>
            <a:pPr fontAlgn="base"/>
            <a:r>
              <a:rPr lang="de-CH" dirty="0"/>
              <a:t>    </a:t>
            </a:r>
            <a:r>
              <a:rPr lang="de-CH" dirty="0" err="1"/>
              <a:t>CreatedAt</a:t>
            </a:r>
            <a:r>
              <a:rPr lang="de-CH" dirty="0"/>
              <a:t> DATE,</a:t>
            </a:r>
          </a:p>
          <a:p>
            <a:pPr fontAlgn="base"/>
            <a:r>
              <a:rPr lang="de-CH" dirty="0"/>
              <a:t>    FOREIGN KEY (</a:t>
            </a:r>
            <a:r>
              <a:rPr lang="de-CH" dirty="0" err="1"/>
              <a:t>CustomerId</a:t>
            </a:r>
            <a:r>
              <a:rPr lang="de-CH" dirty="0"/>
              <a:t>) REFERENCES Customers (</a:t>
            </a:r>
            <a:r>
              <a:rPr lang="de-CH" dirty="0" err="1"/>
              <a:t>Id</a:t>
            </a:r>
            <a:r>
              <a:rPr lang="de-CH" dirty="0"/>
              <a:t>) ON DELETE CASCADE</a:t>
            </a:r>
          </a:p>
          <a:p>
            <a:pPr fontAlgn="base"/>
            <a:r>
              <a:rPr lang="de-CH" dirty="0"/>
              <a:t>);</a:t>
            </a:r>
          </a:p>
          <a:p>
            <a:endParaRPr lang="de-CH" b="1" dirty="0"/>
          </a:p>
          <a:p>
            <a:endParaRPr lang="ru-RU" dirty="0"/>
          </a:p>
        </p:txBody>
      </p:sp>
    </p:spTree>
    <p:extLst>
      <p:ext uri="{BB962C8B-B14F-4D97-AF65-F5344CB8AC3E}">
        <p14:creationId xmlns:p14="http://schemas.microsoft.com/office/powerpoint/2010/main" val="100816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C846FC0-A153-48C3-7392-BC0B71D536FC}"/>
              </a:ext>
            </a:extLst>
          </p:cNvPr>
          <p:cNvSpPr>
            <a:spLocks noGrp="1"/>
          </p:cNvSpPr>
          <p:nvPr>
            <p:ph idx="1"/>
          </p:nvPr>
        </p:nvSpPr>
        <p:spPr/>
        <p:txBody>
          <a:bodyPr/>
          <a:lstStyle/>
          <a:p>
            <a:r>
              <a:rPr lang="ru-RU" b="1" dirty="0"/>
              <a:t>Основы </a:t>
            </a:r>
            <a:r>
              <a:rPr lang="de-CH" b="1" dirty="0"/>
              <a:t>T-SQL. DML</a:t>
            </a:r>
          </a:p>
          <a:p>
            <a:r>
              <a:rPr lang="ru-RU" b="1" dirty="0"/>
              <a:t>Добавление данных. Команда </a:t>
            </a:r>
            <a:r>
              <a:rPr lang="de-CH" b="1" dirty="0"/>
              <a:t>Insert</a:t>
            </a:r>
          </a:p>
          <a:p>
            <a:endParaRPr lang="en-US" sz="1800" dirty="0"/>
          </a:p>
          <a:p>
            <a:r>
              <a:rPr lang="ru-RU" sz="1800" dirty="0"/>
              <a:t>Для добавления данных применяется команда </a:t>
            </a:r>
            <a:r>
              <a:rPr lang="ru-RU" sz="1800" b="1" dirty="0"/>
              <a:t>INSERT</a:t>
            </a:r>
            <a:r>
              <a:rPr lang="ru-RU" sz="1800" dirty="0"/>
              <a:t>, которая имеет следующий формальный синтаксис:</a:t>
            </a:r>
            <a:endParaRPr lang="en-US" sz="1800" dirty="0"/>
          </a:p>
          <a:p>
            <a:endParaRPr lang="en-US" sz="1800" dirty="0"/>
          </a:p>
          <a:p>
            <a:r>
              <a:rPr lang="ru-RU" dirty="0"/>
              <a:t>INSERT [INTO] </a:t>
            </a:r>
            <a:r>
              <a:rPr lang="ru-RU" dirty="0" err="1"/>
              <a:t>имя_таблицы</a:t>
            </a:r>
            <a:r>
              <a:rPr lang="ru-RU" dirty="0"/>
              <a:t> [(</a:t>
            </a:r>
            <a:r>
              <a:rPr lang="ru-RU" dirty="0" err="1"/>
              <a:t>список_столбцов</a:t>
            </a:r>
            <a:r>
              <a:rPr lang="ru-RU" dirty="0"/>
              <a:t>)] VALUES (значение1, значение2, ... </a:t>
            </a:r>
            <a:r>
              <a:rPr lang="ru-RU" dirty="0" err="1"/>
              <a:t>значениеN</a:t>
            </a:r>
            <a:r>
              <a:rPr lang="ru-RU" dirty="0"/>
              <a:t>)</a:t>
            </a:r>
            <a:endParaRPr lang="ru-RU" sz="1800" dirty="0"/>
          </a:p>
        </p:txBody>
      </p:sp>
    </p:spTree>
    <p:extLst>
      <p:ext uri="{BB962C8B-B14F-4D97-AF65-F5344CB8AC3E}">
        <p14:creationId xmlns:p14="http://schemas.microsoft.com/office/powerpoint/2010/main" val="2387367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02F779F-5B5D-65FC-4CDA-FB12DA41AD74}"/>
              </a:ext>
            </a:extLst>
          </p:cNvPr>
          <p:cNvSpPr>
            <a:spLocks noGrp="1"/>
          </p:cNvSpPr>
          <p:nvPr>
            <p:ph idx="1"/>
          </p:nvPr>
        </p:nvSpPr>
        <p:spPr/>
        <p:txBody>
          <a:bodyPr/>
          <a:lstStyle/>
          <a:p>
            <a:pPr fontAlgn="base"/>
            <a:endParaRPr lang="en-US" sz="1400" dirty="0"/>
          </a:p>
          <a:p>
            <a:pPr fontAlgn="base"/>
            <a:r>
              <a:rPr lang="en-US" sz="1400" dirty="0"/>
              <a:t>CREATE DATABASE </a:t>
            </a:r>
            <a:r>
              <a:rPr lang="en-US" sz="1400" dirty="0" err="1"/>
              <a:t>productsdb</a:t>
            </a:r>
            <a:r>
              <a:rPr lang="en-US" sz="1400" dirty="0"/>
              <a:t>;</a:t>
            </a:r>
          </a:p>
          <a:p>
            <a:pPr fontAlgn="base"/>
            <a:r>
              <a:rPr lang="en-US" sz="1400" dirty="0"/>
              <a:t>GO</a:t>
            </a:r>
          </a:p>
          <a:p>
            <a:pPr fontAlgn="base"/>
            <a:r>
              <a:rPr lang="en-US" sz="1400" dirty="0"/>
              <a:t>USE </a:t>
            </a:r>
            <a:r>
              <a:rPr lang="en-US" sz="1400" dirty="0" err="1"/>
              <a:t>productsdb</a:t>
            </a:r>
            <a:r>
              <a:rPr lang="en-US" sz="1400" dirty="0"/>
              <a:t>;</a:t>
            </a:r>
          </a:p>
          <a:p>
            <a:pPr fontAlgn="base"/>
            <a:r>
              <a:rPr lang="en-US" sz="1400" dirty="0"/>
              <a:t>CREATE TABLE Products</a:t>
            </a:r>
          </a:p>
          <a:p>
            <a:pPr fontAlgn="base"/>
            <a:r>
              <a:rPr lang="en-US" sz="1400" dirty="0"/>
              <a:t>(</a:t>
            </a:r>
          </a:p>
          <a:p>
            <a:pPr fontAlgn="base"/>
            <a:r>
              <a:rPr lang="en-US" sz="1400" dirty="0"/>
              <a:t>    Id INT IDENTITY PRIMARY KEY,</a:t>
            </a:r>
          </a:p>
          <a:p>
            <a:pPr fontAlgn="base"/>
            <a:r>
              <a:rPr lang="en-US" sz="1400" dirty="0"/>
              <a:t>    ProductName NVARCHAR(30) NOT NULL,</a:t>
            </a:r>
          </a:p>
          <a:p>
            <a:pPr fontAlgn="base"/>
            <a:r>
              <a:rPr lang="en-US" sz="1400" dirty="0"/>
              <a:t>    Manufacturer NVARCHAR(20) NOT NULL,</a:t>
            </a:r>
          </a:p>
          <a:p>
            <a:pPr fontAlgn="base"/>
            <a:r>
              <a:rPr lang="en-US" sz="1400" dirty="0"/>
              <a:t>    </a:t>
            </a:r>
            <a:r>
              <a:rPr lang="en-US" sz="1400" dirty="0" err="1"/>
              <a:t>ProductCount</a:t>
            </a:r>
            <a:r>
              <a:rPr lang="en-US" sz="1400" dirty="0"/>
              <a:t> INT DEFAULT 0,</a:t>
            </a:r>
          </a:p>
          <a:p>
            <a:pPr fontAlgn="base"/>
            <a:r>
              <a:rPr lang="en-US" sz="1400" dirty="0"/>
              <a:t>    Price MONEY NOT NULL</a:t>
            </a:r>
          </a:p>
          <a:p>
            <a:pPr fontAlgn="base"/>
            <a:r>
              <a:rPr lang="en-US" sz="1400" dirty="0"/>
              <a:t>)</a:t>
            </a:r>
          </a:p>
          <a:p>
            <a:endParaRPr lang="en-US" dirty="0"/>
          </a:p>
          <a:p>
            <a:r>
              <a:rPr lang="de-CH" sz="1600" dirty="0"/>
              <a:t>INSERT Products VALUES ('iPhone 7', 'Apple', 5, 52000)</a:t>
            </a:r>
            <a:endParaRPr lang="ru-RU" sz="1600" dirty="0"/>
          </a:p>
        </p:txBody>
      </p:sp>
    </p:spTree>
    <p:extLst>
      <p:ext uri="{BB962C8B-B14F-4D97-AF65-F5344CB8AC3E}">
        <p14:creationId xmlns:p14="http://schemas.microsoft.com/office/powerpoint/2010/main" val="53263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DDF31318-E968-711A-3521-3422FB2540B3}"/>
              </a:ext>
            </a:extLst>
          </p:cNvPr>
          <p:cNvSpPr>
            <a:spLocks noGrp="1"/>
          </p:cNvSpPr>
          <p:nvPr>
            <p:ph idx="1"/>
          </p:nvPr>
        </p:nvSpPr>
        <p:spPr/>
        <p:txBody>
          <a:bodyPr/>
          <a:lstStyle/>
          <a:p>
            <a:r>
              <a:rPr lang="ru-RU" b="1" dirty="0"/>
              <a:t>Выборка данных. Команда </a:t>
            </a:r>
            <a:r>
              <a:rPr lang="de-CH" b="1" dirty="0"/>
              <a:t>SELECT</a:t>
            </a:r>
            <a:endParaRPr lang="ru-RU" b="1" dirty="0"/>
          </a:p>
          <a:p>
            <a:endParaRPr lang="ru-RU" sz="2000" dirty="0"/>
          </a:p>
          <a:p>
            <a:r>
              <a:rPr lang="ru-RU" sz="2000" dirty="0"/>
              <a:t>Для получения данных применяется команда </a:t>
            </a:r>
            <a:r>
              <a:rPr lang="ru-RU" sz="2000" b="1" dirty="0"/>
              <a:t>SELECT</a:t>
            </a:r>
            <a:r>
              <a:rPr lang="ru-RU" sz="2000" dirty="0"/>
              <a:t>. В упрощенном виде она имеет следующий синтаксис:</a:t>
            </a:r>
          </a:p>
          <a:p>
            <a:endParaRPr lang="ru-RU" sz="2000" dirty="0"/>
          </a:p>
          <a:p>
            <a:endParaRPr lang="ru-RU" dirty="0"/>
          </a:p>
          <a:p>
            <a:r>
              <a:rPr lang="de-CH" dirty="0"/>
              <a:t>SELECT </a:t>
            </a:r>
            <a:r>
              <a:rPr lang="ru-RU" dirty="0" err="1"/>
              <a:t>список_столбцов</a:t>
            </a:r>
            <a:r>
              <a:rPr lang="ru-RU" dirty="0"/>
              <a:t> </a:t>
            </a:r>
            <a:r>
              <a:rPr lang="de-CH" dirty="0"/>
              <a:t>FROM </a:t>
            </a:r>
            <a:r>
              <a:rPr lang="ru-RU" dirty="0" err="1"/>
              <a:t>имя_таблицы</a:t>
            </a:r>
            <a:endParaRPr lang="ru-RU" sz="2000" dirty="0"/>
          </a:p>
          <a:p>
            <a:endParaRPr lang="ru-RU" sz="2000" b="1" dirty="0"/>
          </a:p>
          <a:p>
            <a:endParaRPr lang="de-CH" sz="2000" b="1" dirty="0"/>
          </a:p>
          <a:p>
            <a:endParaRPr lang="ru-RU" dirty="0"/>
          </a:p>
          <a:p>
            <a:endParaRPr lang="ru-RU" dirty="0"/>
          </a:p>
        </p:txBody>
      </p:sp>
    </p:spTree>
    <p:extLst>
      <p:ext uri="{BB962C8B-B14F-4D97-AF65-F5344CB8AC3E}">
        <p14:creationId xmlns:p14="http://schemas.microsoft.com/office/powerpoint/2010/main" val="1525867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FED771D-21E8-AD78-F76C-904A4E8D69D2}"/>
              </a:ext>
            </a:extLst>
          </p:cNvPr>
          <p:cNvSpPr>
            <a:spLocks noGrp="1"/>
          </p:cNvSpPr>
          <p:nvPr>
            <p:ph idx="1"/>
          </p:nvPr>
        </p:nvSpPr>
        <p:spPr/>
        <p:txBody>
          <a:bodyPr>
            <a:normAutofit lnSpcReduction="10000"/>
          </a:bodyPr>
          <a:lstStyle/>
          <a:p>
            <a:pPr fontAlgn="base"/>
            <a:endParaRPr lang="ru-RU" sz="1600" dirty="0"/>
          </a:p>
          <a:p>
            <a:pPr fontAlgn="base"/>
            <a:r>
              <a:rPr lang="de-CH" sz="1600" dirty="0"/>
              <a:t>CREATE TABLE Products</a:t>
            </a:r>
          </a:p>
          <a:p>
            <a:pPr fontAlgn="base"/>
            <a:r>
              <a:rPr lang="de-CH" sz="1600" dirty="0"/>
              <a:t>(</a:t>
            </a:r>
          </a:p>
          <a:p>
            <a:pPr fontAlgn="base"/>
            <a:r>
              <a:rPr lang="de-CH" sz="1600" dirty="0"/>
              <a:t>    </a:t>
            </a:r>
            <a:r>
              <a:rPr lang="de-CH" sz="1600" dirty="0" err="1"/>
              <a:t>Id</a:t>
            </a:r>
            <a:r>
              <a:rPr lang="de-CH" sz="1600" dirty="0"/>
              <a:t> INT IDENTITY PRIMARY KEY,</a:t>
            </a:r>
          </a:p>
          <a:p>
            <a:pPr fontAlgn="base"/>
            <a:r>
              <a:rPr lang="de-CH" sz="1600" dirty="0"/>
              <a:t>    </a:t>
            </a:r>
            <a:r>
              <a:rPr lang="de-CH" sz="1600" dirty="0" err="1"/>
              <a:t>ProductName</a:t>
            </a:r>
            <a:r>
              <a:rPr lang="de-CH" sz="1600" dirty="0"/>
              <a:t> NVARCHAR(30) NOT NULL,</a:t>
            </a:r>
          </a:p>
          <a:p>
            <a:pPr fontAlgn="base"/>
            <a:r>
              <a:rPr lang="de-CH" sz="1600" dirty="0"/>
              <a:t>    </a:t>
            </a:r>
            <a:r>
              <a:rPr lang="de-CH" sz="1600" dirty="0" err="1"/>
              <a:t>Manufacturer</a:t>
            </a:r>
            <a:r>
              <a:rPr lang="de-CH" sz="1600" dirty="0"/>
              <a:t> NVARCHAR(20) NOT NULL,</a:t>
            </a:r>
          </a:p>
          <a:p>
            <a:pPr fontAlgn="base"/>
            <a:r>
              <a:rPr lang="de-CH" sz="1600" dirty="0"/>
              <a:t>    </a:t>
            </a:r>
            <a:r>
              <a:rPr lang="de-CH" sz="1600" dirty="0" err="1"/>
              <a:t>ProductCount</a:t>
            </a:r>
            <a:r>
              <a:rPr lang="de-CH" sz="1600" dirty="0"/>
              <a:t> INT DEFAULT 0,</a:t>
            </a:r>
          </a:p>
          <a:p>
            <a:pPr fontAlgn="base"/>
            <a:r>
              <a:rPr lang="de-CH" sz="1600" dirty="0"/>
              <a:t>    Price MONEY NOT NULL</a:t>
            </a:r>
          </a:p>
          <a:p>
            <a:pPr fontAlgn="base"/>
            <a:r>
              <a:rPr lang="de-CH" sz="1600" dirty="0"/>
              <a:t>);</a:t>
            </a:r>
          </a:p>
          <a:p>
            <a:pPr fontAlgn="base"/>
            <a:r>
              <a:rPr lang="de-CH" sz="1600" dirty="0"/>
              <a:t> </a:t>
            </a:r>
          </a:p>
          <a:p>
            <a:pPr fontAlgn="base"/>
            <a:r>
              <a:rPr lang="de-CH" sz="1600" dirty="0"/>
              <a:t>INSERT INTO Products </a:t>
            </a:r>
          </a:p>
          <a:p>
            <a:pPr fontAlgn="base"/>
            <a:r>
              <a:rPr lang="de-CH" sz="1600" dirty="0"/>
              <a:t>VALUES</a:t>
            </a:r>
          </a:p>
          <a:p>
            <a:pPr fontAlgn="base"/>
            <a:r>
              <a:rPr lang="de-CH" sz="1600" dirty="0"/>
              <a:t>('iPhone 6', 'Apple', 3, 36000),</a:t>
            </a:r>
          </a:p>
          <a:p>
            <a:pPr fontAlgn="base"/>
            <a:r>
              <a:rPr lang="de-CH" sz="1600" dirty="0"/>
              <a:t>('iPhone 6S', 'Apple', 2, 41000),</a:t>
            </a:r>
          </a:p>
          <a:p>
            <a:pPr fontAlgn="base"/>
            <a:r>
              <a:rPr lang="de-CH" sz="1600" dirty="0"/>
              <a:t>('iPhone 7', 'Apple', 5, 52000),</a:t>
            </a:r>
          </a:p>
          <a:p>
            <a:pPr fontAlgn="base"/>
            <a:r>
              <a:rPr lang="de-CH" sz="1600" dirty="0"/>
              <a:t>('Galaxy S8', 'Samsung', 2, 46000),</a:t>
            </a:r>
          </a:p>
          <a:p>
            <a:pPr fontAlgn="base"/>
            <a:r>
              <a:rPr lang="de-CH" sz="1600" dirty="0"/>
              <a:t>('Galaxy S8 Plus', 'Samsung', 1, 56000),</a:t>
            </a:r>
          </a:p>
          <a:p>
            <a:pPr fontAlgn="base"/>
            <a:r>
              <a:rPr lang="de-CH" sz="1600" dirty="0"/>
              <a:t>('Mi6', 'Xiaomi', 5, 28000),</a:t>
            </a:r>
          </a:p>
          <a:p>
            <a:pPr fontAlgn="base"/>
            <a:r>
              <a:rPr lang="de-CH" sz="1600" dirty="0"/>
              <a:t>('</a:t>
            </a:r>
            <a:r>
              <a:rPr lang="de-CH" sz="1600" dirty="0" err="1"/>
              <a:t>OnePlus</a:t>
            </a:r>
            <a:r>
              <a:rPr lang="de-CH" sz="1600" dirty="0"/>
              <a:t> 5', '</a:t>
            </a:r>
            <a:r>
              <a:rPr lang="de-CH" sz="1600" dirty="0" err="1"/>
              <a:t>OnePlus</a:t>
            </a:r>
            <a:r>
              <a:rPr lang="de-CH" sz="1600" dirty="0"/>
              <a:t>', 6, 38000)</a:t>
            </a:r>
          </a:p>
          <a:p>
            <a:endParaRPr lang="ru-RU" dirty="0"/>
          </a:p>
        </p:txBody>
      </p:sp>
    </p:spTree>
    <p:extLst>
      <p:ext uri="{BB962C8B-B14F-4D97-AF65-F5344CB8AC3E}">
        <p14:creationId xmlns:p14="http://schemas.microsoft.com/office/powerpoint/2010/main" val="244577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545D902-C872-1D7A-0B2A-15DAFC3A7A8D}"/>
              </a:ext>
            </a:extLst>
          </p:cNvPr>
          <p:cNvSpPr>
            <a:spLocks noGrp="1"/>
          </p:cNvSpPr>
          <p:nvPr>
            <p:ph idx="1"/>
          </p:nvPr>
        </p:nvSpPr>
        <p:spPr/>
        <p:txBody>
          <a:bodyPr/>
          <a:lstStyle/>
          <a:p>
            <a:r>
              <a:rPr lang="ru-RU" dirty="0"/>
              <a:t>Получение всех объектов из таблицы </a:t>
            </a:r>
            <a:r>
              <a:rPr lang="en-US" dirty="0"/>
              <a:t>Products</a:t>
            </a:r>
          </a:p>
          <a:p>
            <a:endParaRPr lang="en-US" dirty="0"/>
          </a:p>
          <a:p>
            <a:r>
              <a:rPr lang="de-CH" dirty="0"/>
              <a:t>SELECT * FROM Products</a:t>
            </a:r>
          </a:p>
          <a:p>
            <a:endParaRPr lang="de-CH" dirty="0"/>
          </a:p>
          <a:p>
            <a:r>
              <a:rPr lang="ru-RU" dirty="0"/>
              <a:t>Получение отдельных столбцов из БД</a:t>
            </a:r>
          </a:p>
          <a:p>
            <a:endParaRPr lang="ru-RU" dirty="0"/>
          </a:p>
          <a:p>
            <a:r>
              <a:rPr lang="en-US" dirty="0"/>
              <a:t>SELECT ProductName, Price FROM Products</a:t>
            </a:r>
            <a:endParaRPr lang="ru-RU" dirty="0"/>
          </a:p>
        </p:txBody>
      </p:sp>
    </p:spTree>
    <p:extLst>
      <p:ext uri="{BB962C8B-B14F-4D97-AF65-F5344CB8AC3E}">
        <p14:creationId xmlns:p14="http://schemas.microsoft.com/office/powerpoint/2010/main" val="375740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BB8FE7CF-13C6-29E8-87D4-B408D17C8E12}"/>
              </a:ext>
            </a:extLst>
          </p:cNvPr>
          <p:cNvSpPr>
            <a:spLocks noGrp="1"/>
          </p:cNvSpPr>
          <p:nvPr>
            <p:ph idx="1"/>
          </p:nvPr>
        </p:nvSpPr>
        <p:spPr/>
        <p:txBody>
          <a:bodyPr/>
          <a:lstStyle/>
          <a:p>
            <a:r>
              <a:rPr lang="ru-RU" dirty="0"/>
              <a:t>Спецификация столбца необязательно должна представлять его название. Это может быть любое выражение, например, результат арифметической операции. </a:t>
            </a:r>
          </a:p>
          <a:p>
            <a:endParaRPr lang="ru-RU" dirty="0"/>
          </a:p>
          <a:p>
            <a:pPr fontAlgn="base"/>
            <a:r>
              <a:rPr lang="en-US" dirty="0"/>
              <a:t>SELECT ProductName + ' (' + Manufacturer + ')', Price, Price * </a:t>
            </a:r>
            <a:r>
              <a:rPr lang="en-US" dirty="0" err="1"/>
              <a:t>ProductCount</a:t>
            </a:r>
            <a:r>
              <a:rPr lang="en-US" dirty="0"/>
              <a:t> </a:t>
            </a:r>
            <a:r>
              <a:rPr lang="ru-RU" dirty="0"/>
              <a:t> </a:t>
            </a:r>
            <a:r>
              <a:rPr lang="en-US" dirty="0"/>
              <a:t>FROM Products</a:t>
            </a:r>
          </a:p>
          <a:p>
            <a:endParaRPr lang="ru-RU" dirty="0"/>
          </a:p>
        </p:txBody>
      </p:sp>
    </p:spTree>
    <p:extLst>
      <p:ext uri="{BB962C8B-B14F-4D97-AF65-F5344CB8AC3E}">
        <p14:creationId xmlns:p14="http://schemas.microsoft.com/office/powerpoint/2010/main" val="1178753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1D0C984A-9673-B730-A1F1-F09E710DFE3B}"/>
              </a:ext>
            </a:extLst>
          </p:cNvPr>
          <p:cNvSpPr>
            <a:spLocks noGrp="1"/>
          </p:cNvSpPr>
          <p:nvPr>
            <p:ph idx="1"/>
          </p:nvPr>
        </p:nvSpPr>
        <p:spPr/>
        <p:txBody>
          <a:bodyPr/>
          <a:lstStyle/>
          <a:p>
            <a:r>
              <a:rPr lang="de-CH" b="1" dirty="0"/>
              <a:t>DISTINCT</a:t>
            </a:r>
          </a:p>
          <a:p>
            <a:endParaRPr lang="ru-RU" dirty="0"/>
          </a:p>
          <a:p>
            <a:r>
              <a:rPr lang="ru-RU" dirty="0"/>
              <a:t>Оператор </a:t>
            </a:r>
            <a:r>
              <a:rPr lang="ru-RU" b="1" dirty="0"/>
              <a:t>DISTINCT</a:t>
            </a:r>
            <a:r>
              <a:rPr lang="ru-RU" dirty="0"/>
              <a:t> позволяет выбрать уникальные строки</a:t>
            </a:r>
          </a:p>
          <a:p>
            <a:endParaRPr lang="ru-RU" dirty="0"/>
          </a:p>
          <a:p>
            <a:pPr fontAlgn="base"/>
            <a:r>
              <a:rPr lang="en-US" dirty="0"/>
              <a:t>SELECT DISTINCT Manufacturer</a:t>
            </a:r>
            <a:r>
              <a:rPr lang="ru-RU" dirty="0"/>
              <a:t> </a:t>
            </a:r>
            <a:r>
              <a:rPr lang="en-US" dirty="0"/>
              <a:t>FROM Products</a:t>
            </a:r>
          </a:p>
          <a:p>
            <a:endParaRPr lang="ru-RU" dirty="0"/>
          </a:p>
        </p:txBody>
      </p:sp>
    </p:spTree>
    <p:extLst>
      <p:ext uri="{BB962C8B-B14F-4D97-AF65-F5344CB8AC3E}">
        <p14:creationId xmlns:p14="http://schemas.microsoft.com/office/powerpoint/2010/main" val="456199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5D1CBCFB-C467-3A03-E160-3DC1843A97FE}"/>
              </a:ext>
            </a:extLst>
          </p:cNvPr>
          <p:cNvSpPr>
            <a:spLocks noGrp="1"/>
          </p:cNvSpPr>
          <p:nvPr>
            <p:ph idx="1"/>
          </p:nvPr>
        </p:nvSpPr>
        <p:spPr/>
        <p:txBody>
          <a:bodyPr/>
          <a:lstStyle/>
          <a:p>
            <a:r>
              <a:rPr lang="ru-RU" b="1" dirty="0"/>
              <a:t>Выборка с добавлением</a:t>
            </a:r>
          </a:p>
          <a:p>
            <a:endParaRPr lang="ru-RU" dirty="0"/>
          </a:p>
          <a:p>
            <a:r>
              <a:rPr lang="de-CH" b="1" dirty="0"/>
              <a:t>SELECT INTO</a:t>
            </a:r>
          </a:p>
          <a:p>
            <a:r>
              <a:rPr lang="ru-RU" dirty="0"/>
              <a:t>Выражение </a:t>
            </a:r>
            <a:r>
              <a:rPr lang="ru-RU" b="1" dirty="0"/>
              <a:t>SELECT INTO</a:t>
            </a:r>
            <a:r>
              <a:rPr lang="ru-RU" dirty="0"/>
              <a:t> позволяет выбрать из одной таблицы некоторые данные в другую таблицу, при этом вторая таблица создается автоматически. </a:t>
            </a:r>
          </a:p>
          <a:p>
            <a:endParaRPr lang="ru-RU" dirty="0"/>
          </a:p>
          <a:p>
            <a:pPr fontAlgn="base"/>
            <a:r>
              <a:rPr lang="en-US" dirty="0"/>
              <a:t>SELECT ProductName + ' (' + Manufacturer + ')' AS </a:t>
            </a:r>
            <a:r>
              <a:rPr lang="en-US" dirty="0" err="1"/>
              <a:t>ModelName</a:t>
            </a:r>
            <a:r>
              <a:rPr lang="en-US" dirty="0"/>
              <a:t>, Price</a:t>
            </a:r>
          </a:p>
          <a:p>
            <a:pPr fontAlgn="base"/>
            <a:r>
              <a:rPr lang="en-US" dirty="0"/>
              <a:t>INTO </a:t>
            </a:r>
            <a:r>
              <a:rPr lang="en-US" dirty="0" err="1"/>
              <a:t>ProductSummary</a:t>
            </a:r>
            <a:endParaRPr lang="en-US" dirty="0"/>
          </a:p>
          <a:p>
            <a:pPr fontAlgn="base"/>
            <a:r>
              <a:rPr lang="en-US" dirty="0"/>
              <a:t>FROM Products</a:t>
            </a:r>
          </a:p>
          <a:p>
            <a:pPr fontAlgn="base"/>
            <a:r>
              <a:rPr lang="en-US" dirty="0"/>
              <a:t> </a:t>
            </a:r>
          </a:p>
          <a:p>
            <a:pPr fontAlgn="base"/>
            <a:r>
              <a:rPr lang="en-US" dirty="0"/>
              <a:t>SELECT * FROM </a:t>
            </a:r>
            <a:r>
              <a:rPr lang="en-US" dirty="0" err="1"/>
              <a:t>ProductSummary</a:t>
            </a:r>
            <a:endParaRPr lang="en-US" dirty="0"/>
          </a:p>
          <a:p>
            <a:endParaRPr lang="ru-RU" dirty="0"/>
          </a:p>
          <a:p>
            <a:endParaRPr lang="ru-RU" dirty="0"/>
          </a:p>
        </p:txBody>
      </p:sp>
    </p:spTree>
    <p:extLst>
      <p:ext uri="{BB962C8B-B14F-4D97-AF65-F5344CB8AC3E}">
        <p14:creationId xmlns:p14="http://schemas.microsoft.com/office/powerpoint/2010/main" val="1896831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22A52FC-4D24-E51A-29B7-7EA98CEFDC0F}"/>
              </a:ext>
            </a:extLst>
          </p:cNvPr>
          <p:cNvSpPr>
            <a:spLocks noGrp="1"/>
          </p:cNvSpPr>
          <p:nvPr>
            <p:ph idx="1"/>
          </p:nvPr>
        </p:nvSpPr>
        <p:spPr/>
        <p:txBody>
          <a:bodyPr/>
          <a:lstStyle/>
          <a:p>
            <a:endParaRPr lang="ru-RU" dirty="0"/>
          </a:p>
          <a:p>
            <a:pPr fontAlgn="base"/>
            <a:r>
              <a:rPr lang="en-US" dirty="0"/>
              <a:t>INSERT INTO </a:t>
            </a:r>
            <a:r>
              <a:rPr lang="en-US" dirty="0" err="1"/>
              <a:t>ProductSummary</a:t>
            </a:r>
            <a:endParaRPr lang="en-US" dirty="0"/>
          </a:p>
          <a:p>
            <a:pPr fontAlgn="base"/>
            <a:r>
              <a:rPr lang="en-US" dirty="0"/>
              <a:t>SELECT ProductName + ' (' + Manufacturer + ')' AS </a:t>
            </a:r>
            <a:r>
              <a:rPr lang="en-US" dirty="0" err="1"/>
              <a:t>ModelName</a:t>
            </a:r>
            <a:r>
              <a:rPr lang="en-US" dirty="0"/>
              <a:t>, Price</a:t>
            </a:r>
          </a:p>
          <a:p>
            <a:pPr fontAlgn="base"/>
            <a:r>
              <a:rPr lang="en-US" dirty="0"/>
              <a:t>FROM Products</a:t>
            </a:r>
          </a:p>
          <a:p>
            <a:endParaRPr lang="ru-RU" dirty="0"/>
          </a:p>
        </p:txBody>
      </p:sp>
    </p:spTree>
    <p:extLst>
      <p:ext uri="{BB962C8B-B14F-4D97-AF65-F5344CB8AC3E}">
        <p14:creationId xmlns:p14="http://schemas.microsoft.com/office/powerpoint/2010/main" val="2326452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DBD275E-615B-A556-3F5E-ABD397FC7290}"/>
              </a:ext>
            </a:extLst>
          </p:cNvPr>
          <p:cNvSpPr>
            <a:spLocks noGrp="1"/>
          </p:cNvSpPr>
          <p:nvPr>
            <p:ph idx="1"/>
          </p:nvPr>
        </p:nvSpPr>
        <p:spPr/>
        <p:txBody>
          <a:bodyPr/>
          <a:lstStyle/>
          <a:p>
            <a:r>
              <a:rPr lang="ru-RU" b="1" dirty="0"/>
              <a:t>Сортировка. </a:t>
            </a:r>
            <a:r>
              <a:rPr lang="de-CH" b="1" dirty="0"/>
              <a:t>ORDER BY</a:t>
            </a:r>
          </a:p>
          <a:p>
            <a:endParaRPr lang="ru-RU" dirty="0"/>
          </a:p>
          <a:p>
            <a:pPr lvl="1" fontAlgn="base"/>
            <a:r>
              <a:rPr lang="en-US" dirty="0"/>
              <a:t>SELECT *</a:t>
            </a:r>
            <a:r>
              <a:rPr lang="ru-RU" dirty="0"/>
              <a:t> </a:t>
            </a:r>
            <a:r>
              <a:rPr lang="en-US" dirty="0"/>
              <a:t>FROM Products</a:t>
            </a:r>
            <a:r>
              <a:rPr lang="ru-RU" dirty="0"/>
              <a:t> </a:t>
            </a:r>
            <a:r>
              <a:rPr lang="en-US" dirty="0"/>
              <a:t>ORDER BY ProductName</a:t>
            </a:r>
          </a:p>
          <a:p>
            <a:endParaRPr lang="ru-RU" sz="2000" dirty="0"/>
          </a:p>
          <a:p>
            <a:r>
              <a:rPr lang="ru-RU" sz="2000" dirty="0"/>
              <a:t>В данном случае строки сортируются по возрастанию значения столбца </a:t>
            </a:r>
            <a:r>
              <a:rPr lang="ru-RU" sz="2000" dirty="0" err="1"/>
              <a:t>ProductName</a:t>
            </a:r>
            <a:r>
              <a:rPr lang="ru-RU" sz="2000" dirty="0"/>
              <a:t>:</a:t>
            </a:r>
          </a:p>
          <a:p>
            <a:endParaRPr lang="ru-RU" sz="2000" dirty="0"/>
          </a:p>
          <a:p>
            <a:pPr lvl="1" fontAlgn="base"/>
            <a:r>
              <a:rPr lang="en-US" dirty="0"/>
              <a:t>SELECT ProductName</a:t>
            </a:r>
            <a:r>
              <a:rPr lang="ru-RU" dirty="0"/>
              <a:t> </a:t>
            </a:r>
            <a:r>
              <a:rPr lang="en-US" dirty="0"/>
              <a:t>FROM Products</a:t>
            </a:r>
          </a:p>
          <a:p>
            <a:pPr lvl="1" fontAlgn="base"/>
            <a:r>
              <a:rPr lang="en-US" dirty="0"/>
              <a:t>ORDER BY ProductName DESC</a:t>
            </a:r>
            <a:endParaRPr lang="ru-RU" dirty="0"/>
          </a:p>
          <a:p>
            <a:pPr fontAlgn="base"/>
            <a:endParaRPr lang="ru-RU" dirty="0"/>
          </a:p>
          <a:p>
            <a:pPr fontAlgn="base"/>
            <a:r>
              <a:rPr lang="ru-RU" sz="2000" dirty="0"/>
              <a:t>Строки сортируются по убыванию</a:t>
            </a:r>
            <a:endParaRPr lang="en-US" sz="2000" dirty="0"/>
          </a:p>
          <a:p>
            <a:endParaRPr lang="ru-RU" sz="2000" dirty="0"/>
          </a:p>
        </p:txBody>
      </p:sp>
    </p:spTree>
    <p:extLst>
      <p:ext uri="{BB962C8B-B14F-4D97-AF65-F5344CB8AC3E}">
        <p14:creationId xmlns:p14="http://schemas.microsoft.com/office/powerpoint/2010/main" val="3307157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76B2C491-9F65-7547-4762-1466DCF3423B}"/>
              </a:ext>
            </a:extLst>
          </p:cNvPr>
          <p:cNvSpPr>
            <a:spLocks noGrp="1"/>
          </p:cNvSpPr>
          <p:nvPr>
            <p:ph idx="1"/>
          </p:nvPr>
        </p:nvSpPr>
        <p:spPr/>
        <p:txBody>
          <a:bodyPr/>
          <a:lstStyle/>
          <a:p>
            <a:r>
              <a:rPr lang="ru-RU" b="1" dirty="0"/>
              <a:t>Оператор </a:t>
            </a:r>
            <a:r>
              <a:rPr lang="de-CH" b="1" dirty="0"/>
              <a:t>TOP</a:t>
            </a:r>
          </a:p>
          <a:p>
            <a:endParaRPr lang="ru-RU" dirty="0"/>
          </a:p>
          <a:p>
            <a:pPr fontAlgn="base"/>
            <a:r>
              <a:rPr lang="en-US" dirty="0"/>
              <a:t>SELECT TOP 4 ProductName</a:t>
            </a:r>
            <a:r>
              <a:rPr lang="ru-RU" dirty="0"/>
              <a:t> </a:t>
            </a:r>
            <a:r>
              <a:rPr lang="en-US" dirty="0"/>
              <a:t>FROM Products</a:t>
            </a:r>
          </a:p>
          <a:p>
            <a:endParaRPr lang="ru-RU" dirty="0"/>
          </a:p>
        </p:txBody>
      </p:sp>
    </p:spTree>
    <p:extLst>
      <p:ext uri="{BB962C8B-B14F-4D97-AF65-F5344CB8AC3E}">
        <p14:creationId xmlns:p14="http://schemas.microsoft.com/office/powerpoint/2010/main" val="3018394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E869230-22CD-D129-00E8-FB341027FE2A}"/>
              </a:ext>
            </a:extLst>
          </p:cNvPr>
          <p:cNvSpPr>
            <a:spLocks noGrp="1"/>
          </p:cNvSpPr>
          <p:nvPr>
            <p:ph idx="1"/>
          </p:nvPr>
        </p:nvSpPr>
        <p:spPr/>
        <p:txBody>
          <a:bodyPr/>
          <a:lstStyle/>
          <a:p>
            <a:r>
              <a:rPr lang="de-CH" b="1" dirty="0"/>
              <a:t>OFFSET </a:t>
            </a:r>
            <a:r>
              <a:rPr lang="ru-RU" b="1" dirty="0"/>
              <a:t>и </a:t>
            </a:r>
            <a:r>
              <a:rPr lang="de-CH" b="1" dirty="0"/>
              <a:t>FETCH</a:t>
            </a:r>
            <a:endParaRPr lang="ru-RU" b="1" dirty="0"/>
          </a:p>
          <a:p>
            <a:endParaRPr lang="de-CH" b="1" dirty="0"/>
          </a:p>
          <a:p>
            <a:r>
              <a:rPr lang="ru-RU" sz="2000" dirty="0"/>
              <a:t>Число после ключевого слова OFFSET указывает, сколько строк необходимо пропустить.</a:t>
            </a:r>
          </a:p>
          <a:p>
            <a:endParaRPr lang="ru-RU" dirty="0"/>
          </a:p>
          <a:p>
            <a:pPr fontAlgn="base"/>
            <a:r>
              <a:rPr lang="ru-RU" dirty="0"/>
              <a:t>	</a:t>
            </a:r>
            <a:r>
              <a:rPr lang="en-US" dirty="0"/>
              <a:t>SELECT * FROM Products</a:t>
            </a:r>
            <a:r>
              <a:rPr lang="ru-RU" dirty="0"/>
              <a:t> </a:t>
            </a:r>
            <a:r>
              <a:rPr lang="en-US" dirty="0"/>
              <a:t>ORDER BY Id </a:t>
            </a:r>
            <a:r>
              <a:rPr lang="ru-RU" dirty="0"/>
              <a:t> </a:t>
            </a:r>
            <a:r>
              <a:rPr lang="en-US" dirty="0"/>
              <a:t>OFFSET 2 ROWS;</a:t>
            </a:r>
            <a:endParaRPr lang="ru-RU" dirty="0"/>
          </a:p>
          <a:p>
            <a:pPr fontAlgn="base"/>
            <a:endParaRPr lang="ru-RU" dirty="0"/>
          </a:p>
          <a:p>
            <a:pPr fontAlgn="base"/>
            <a:r>
              <a:rPr lang="ru-RU" sz="2000" dirty="0"/>
              <a:t>После оператора FETCH указывается ключевое слово </a:t>
            </a:r>
            <a:r>
              <a:rPr lang="ru-RU" sz="2000" b="1" dirty="0"/>
              <a:t>FIRST</a:t>
            </a:r>
            <a:r>
              <a:rPr lang="ru-RU" sz="2000" dirty="0"/>
              <a:t> или </a:t>
            </a:r>
            <a:r>
              <a:rPr lang="ru-RU" sz="2000" b="1" dirty="0"/>
              <a:t>NEXT</a:t>
            </a:r>
            <a:r>
              <a:rPr lang="ru-RU" sz="2000" dirty="0"/>
              <a:t> (какое именно в данном случае не имеет значения) и затем указывается количество строк, которое надо получить.</a:t>
            </a:r>
            <a:endParaRPr lang="en-US" sz="2000" dirty="0"/>
          </a:p>
          <a:p>
            <a:endParaRPr lang="ru-RU" dirty="0"/>
          </a:p>
          <a:p>
            <a:pPr lvl="2" fontAlgn="base"/>
            <a:r>
              <a:rPr lang="en-US" dirty="0"/>
              <a:t>SELECT * FROM Products</a:t>
            </a:r>
            <a:r>
              <a:rPr lang="ru-RU" dirty="0"/>
              <a:t> </a:t>
            </a:r>
          </a:p>
          <a:p>
            <a:pPr lvl="2" fontAlgn="base"/>
            <a:r>
              <a:rPr lang="en-US" dirty="0"/>
              <a:t>ORDER BY Id </a:t>
            </a:r>
            <a:r>
              <a:rPr lang="ru-RU" dirty="0"/>
              <a:t> </a:t>
            </a:r>
          </a:p>
          <a:p>
            <a:pPr lvl="2" fontAlgn="base"/>
            <a:r>
              <a:rPr lang="en-US" dirty="0"/>
              <a:t>OFFSET 2 ROWS</a:t>
            </a:r>
          </a:p>
          <a:p>
            <a:pPr lvl="2" fontAlgn="base"/>
            <a:r>
              <a:rPr lang="en-US" dirty="0"/>
              <a:t>FETCH NEXT 3 ROWS ONLY;</a:t>
            </a:r>
          </a:p>
          <a:p>
            <a:endParaRPr lang="ru-RU" dirty="0"/>
          </a:p>
        </p:txBody>
      </p:sp>
    </p:spTree>
    <p:extLst>
      <p:ext uri="{BB962C8B-B14F-4D97-AF65-F5344CB8AC3E}">
        <p14:creationId xmlns:p14="http://schemas.microsoft.com/office/powerpoint/2010/main" val="1664810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07FF3650-3F97-70FB-5D75-BD788783B8B4}"/>
              </a:ext>
            </a:extLst>
          </p:cNvPr>
          <p:cNvSpPr>
            <a:spLocks noGrp="1"/>
          </p:cNvSpPr>
          <p:nvPr>
            <p:ph idx="1"/>
          </p:nvPr>
        </p:nvSpPr>
        <p:spPr/>
        <p:txBody>
          <a:bodyPr>
            <a:normAutofit fontScale="77500" lnSpcReduction="20000"/>
          </a:bodyPr>
          <a:lstStyle/>
          <a:p>
            <a:r>
              <a:rPr lang="ru-RU" b="1" dirty="0"/>
              <a:t>Фильтрация. </a:t>
            </a:r>
            <a:r>
              <a:rPr lang="de-CH" b="1" dirty="0"/>
              <a:t>WHERE</a:t>
            </a:r>
          </a:p>
          <a:p>
            <a:endParaRPr lang="ru-RU" dirty="0"/>
          </a:p>
          <a:p>
            <a:pPr lvl="1">
              <a:lnSpc>
                <a:spcPct val="120000"/>
              </a:lnSpc>
            </a:pPr>
            <a:r>
              <a:rPr lang="ru-RU" sz="2000" dirty="0"/>
              <a:t>Для фильтрации в команде SELECT применяется оператор </a:t>
            </a:r>
            <a:r>
              <a:rPr lang="ru-RU" sz="2000" b="1" dirty="0"/>
              <a:t>WHERE</a:t>
            </a:r>
            <a:r>
              <a:rPr lang="ru-RU" sz="2000" dirty="0"/>
              <a:t>. После этого оператора ставится условие, которому должна соответствовать строка:</a:t>
            </a:r>
          </a:p>
          <a:p>
            <a:pPr lvl="1"/>
            <a:endParaRPr lang="ru-RU" sz="2000" dirty="0"/>
          </a:p>
          <a:p>
            <a:r>
              <a:rPr lang="ru-RU" dirty="0"/>
              <a:t>	</a:t>
            </a:r>
            <a:r>
              <a:rPr lang="de-CH" dirty="0"/>
              <a:t>WHERE </a:t>
            </a:r>
            <a:r>
              <a:rPr lang="ru-RU" dirty="0"/>
              <a:t>условие</a:t>
            </a:r>
          </a:p>
          <a:p>
            <a:endParaRPr lang="ru-RU" sz="2000" dirty="0"/>
          </a:p>
          <a:p>
            <a:pPr lvl="1">
              <a:lnSpc>
                <a:spcPct val="120000"/>
              </a:lnSpc>
            </a:pPr>
            <a:r>
              <a:rPr lang="ru-RU" dirty="0"/>
              <a:t>Если условие истинно, то строка попадает в результирующую выборку. В качестве можно использовать операции сравнения. Эти операции сравнивают два выражения. В T-SQL можно применять следующие операции сравнения:</a:t>
            </a:r>
          </a:p>
          <a:p>
            <a:pPr lvl="1">
              <a:lnSpc>
                <a:spcPct val="120000"/>
              </a:lnSpc>
            </a:pPr>
            <a:r>
              <a:rPr lang="ru-RU" b="1" dirty="0"/>
              <a:t>=</a:t>
            </a:r>
            <a:r>
              <a:rPr lang="ru-RU" dirty="0"/>
              <a:t>: сравнение на равенство (в отличие от си-подобных языков в T-SQL для сравнения на равенство используется один знак равно)</a:t>
            </a:r>
          </a:p>
          <a:p>
            <a:pPr lvl="1">
              <a:lnSpc>
                <a:spcPct val="120000"/>
              </a:lnSpc>
            </a:pPr>
            <a:r>
              <a:rPr lang="ru-RU" b="1" dirty="0"/>
              <a:t>&lt;&gt;</a:t>
            </a:r>
            <a:r>
              <a:rPr lang="ru-RU" dirty="0"/>
              <a:t>: сравнение на неравенство</a:t>
            </a:r>
          </a:p>
          <a:p>
            <a:pPr lvl="1">
              <a:lnSpc>
                <a:spcPct val="120000"/>
              </a:lnSpc>
            </a:pPr>
            <a:r>
              <a:rPr lang="ru-RU" b="1" dirty="0"/>
              <a:t>&lt;</a:t>
            </a:r>
            <a:r>
              <a:rPr lang="ru-RU" dirty="0"/>
              <a:t>: меньше чем</a:t>
            </a:r>
          </a:p>
          <a:p>
            <a:pPr lvl="1">
              <a:lnSpc>
                <a:spcPct val="120000"/>
              </a:lnSpc>
            </a:pPr>
            <a:r>
              <a:rPr lang="ru-RU" b="1" dirty="0"/>
              <a:t>&gt;</a:t>
            </a:r>
            <a:r>
              <a:rPr lang="ru-RU" dirty="0"/>
              <a:t>: больше чем</a:t>
            </a:r>
          </a:p>
          <a:p>
            <a:pPr lvl="1">
              <a:lnSpc>
                <a:spcPct val="120000"/>
              </a:lnSpc>
            </a:pPr>
            <a:r>
              <a:rPr lang="ru-RU" b="1" dirty="0"/>
              <a:t>!&lt;</a:t>
            </a:r>
            <a:r>
              <a:rPr lang="ru-RU" dirty="0"/>
              <a:t>: не меньше чем</a:t>
            </a:r>
          </a:p>
          <a:p>
            <a:pPr lvl="1">
              <a:lnSpc>
                <a:spcPct val="120000"/>
              </a:lnSpc>
            </a:pPr>
            <a:r>
              <a:rPr lang="ru-RU" b="1" dirty="0"/>
              <a:t>!&gt;</a:t>
            </a:r>
            <a:r>
              <a:rPr lang="ru-RU" dirty="0"/>
              <a:t>: не больше чем</a:t>
            </a:r>
          </a:p>
          <a:p>
            <a:pPr lvl="1">
              <a:lnSpc>
                <a:spcPct val="120000"/>
              </a:lnSpc>
            </a:pPr>
            <a:r>
              <a:rPr lang="ru-RU" b="1" dirty="0"/>
              <a:t>&lt;=</a:t>
            </a:r>
            <a:r>
              <a:rPr lang="ru-RU" dirty="0"/>
              <a:t>: меньше чем или равно</a:t>
            </a:r>
          </a:p>
          <a:p>
            <a:pPr lvl="1">
              <a:lnSpc>
                <a:spcPct val="120000"/>
              </a:lnSpc>
            </a:pPr>
            <a:r>
              <a:rPr lang="ru-RU" b="1" dirty="0"/>
              <a:t>&gt;=</a:t>
            </a:r>
            <a:r>
              <a:rPr lang="ru-RU" dirty="0"/>
              <a:t>: больше чем или равно</a:t>
            </a:r>
          </a:p>
          <a:p>
            <a:endParaRPr lang="ru-RU" sz="2000" dirty="0"/>
          </a:p>
        </p:txBody>
      </p:sp>
    </p:spTree>
    <p:extLst>
      <p:ext uri="{BB962C8B-B14F-4D97-AF65-F5344CB8AC3E}">
        <p14:creationId xmlns:p14="http://schemas.microsoft.com/office/powerpoint/2010/main" val="3514913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4200C61-1437-F58E-35BD-8B9A0B517B62}"/>
              </a:ext>
            </a:extLst>
          </p:cNvPr>
          <p:cNvSpPr>
            <a:spLocks noGrp="1"/>
          </p:cNvSpPr>
          <p:nvPr>
            <p:ph idx="1"/>
          </p:nvPr>
        </p:nvSpPr>
        <p:spPr/>
        <p:txBody>
          <a:bodyPr/>
          <a:lstStyle/>
          <a:p>
            <a:endParaRPr lang="ru-RU" dirty="0"/>
          </a:p>
          <a:p>
            <a:pPr lvl="1" fontAlgn="base"/>
            <a:r>
              <a:rPr lang="en-US" dirty="0"/>
              <a:t>SELECT * FROM Products</a:t>
            </a:r>
          </a:p>
          <a:p>
            <a:pPr lvl="1" fontAlgn="base"/>
            <a:r>
              <a:rPr lang="en-US" dirty="0"/>
              <a:t>WHERE Manufacturer = 'Samsung’</a:t>
            </a:r>
          </a:p>
          <a:p>
            <a:endParaRPr lang="ru-RU" dirty="0"/>
          </a:p>
          <a:p>
            <a:endParaRPr lang="ru-RU" dirty="0"/>
          </a:p>
          <a:p>
            <a:pPr lvl="1" fontAlgn="base"/>
            <a:r>
              <a:rPr lang="en-US" dirty="0"/>
              <a:t>SELECT * FROM Products</a:t>
            </a:r>
          </a:p>
          <a:p>
            <a:pPr lvl="1" fontAlgn="base"/>
            <a:r>
              <a:rPr lang="en-US" dirty="0"/>
              <a:t>WHERE Price * </a:t>
            </a:r>
            <a:r>
              <a:rPr lang="en-US" dirty="0" err="1"/>
              <a:t>ProductCount</a:t>
            </a:r>
            <a:r>
              <a:rPr lang="en-US" dirty="0"/>
              <a:t> &gt; 200000</a:t>
            </a:r>
          </a:p>
          <a:p>
            <a:endParaRPr lang="ru-RU" dirty="0"/>
          </a:p>
        </p:txBody>
      </p:sp>
    </p:spTree>
    <p:extLst>
      <p:ext uri="{BB962C8B-B14F-4D97-AF65-F5344CB8AC3E}">
        <p14:creationId xmlns:p14="http://schemas.microsoft.com/office/powerpoint/2010/main" val="407083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E42089F-6167-8D5A-7055-9EEDC1393916}"/>
              </a:ext>
            </a:extLst>
          </p:cNvPr>
          <p:cNvSpPr>
            <a:spLocks noGrp="1"/>
          </p:cNvSpPr>
          <p:nvPr>
            <p:ph idx="1"/>
          </p:nvPr>
        </p:nvSpPr>
        <p:spPr/>
        <p:txBody>
          <a:bodyPr/>
          <a:lstStyle/>
          <a:p>
            <a:r>
              <a:rPr lang="ru-RU" b="1" dirty="0"/>
              <a:t>Логические операторы</a:t>
            </a:r>
          </a:p>
          <a:p>
            <a:endParaRPr lang="ru-RU" dirty="0"/>
          </a:p>
          <a:p>
            <a:pPr marL="800100" lvl="1" indent="-342900">
              <a:buFont typeface="Arial" panose="020B0604020202020204" pitchFamily="34" charset="0"/>
              <a:buChar char="•"/>
            </a:pPr>
            <a:r>
              <a:rPr lang="ru-RU" sz="2000" b="1" dirty="0"/>
              <a:t>AND</a:t>
            </a:r>
            <a:r>
              <a:rPr lang="ru-RU" sz="2000" dirty="0"/>
              <a:t>: операция логического И. Она объединяет два выражения.</a:t>
            </a:r>
          </a:p>
          <a:p>
            <a:pPr marL="800100" lvl="1" indent="-342900">
              <a:buFont typeface="Arial" panose="020B0604020202020204" pitchFamily="34" charset="0"/>
              <a:buChar char="•"/>
            </a:pPr>
            <a:r>
              <a:rPr lang="ru-RU" sz="2000" b="1" dirty="0"/>
              <a:t>OR</a:t>
            </a:r>
            <a:r>
              <a:rPr lang="ru-RU" sz="2000" dirty="0"/>
              <a:t>: операция логического ИЛИ. Она также объединяет два выражения.</a:t>
            </a:r>
          </a:p>
          <a:p>
            <a:pPr marL="800100" lvl="1" indent="-342900">
              <a:buFont typeface="Arial" panose="020B0604020202020204" pitchFamily="34" charset="0"/>
              <a:buChar char="•"/>
            </a:pPr>
            <a:r>
              <a:rPr lang="ru-RU" sz="2000" b="1" dirty="0"/>
              <a:t>NOT</a:t>
            </a:r>
            <a:r>
              <a:rPr lang="ru-RU" sz="2000" dirty="0"/>
              <a:t>: операция логического отрицания. Если выражение в этой операции ложно, то общее условие истинно.</a:t>
            </a:r>
          </a:p>
        </p:txBody>
      </p:sp>
    </p:spTree>
    <p:extLst>
      <p:ext uri="{BB962C8B-B14F-4D97-AF65-F5344CB8AC3E}">
        <p14:creationId xmlns:p14="http://schemas.microsoft.com/office/powerpoint/2010/main" val="4081297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A234A3F-7777-C846-8629-D77DB939DB07}"/>
              </a:ext>
            </a:extLst>
          </p:cNvPr>
          <p:cNvSpPr>
            <a:spLocks noGrp="1"/>
          </p:cNvSpPr>
          <p:nvPr>
            <p:ph idx="1"/>
          </p:nvPr>
        </p:nvSpPr>
        <p:spPr/>
        <p:txBody>
          <a:bodyPr/>
          <a:lstStyle/>
          <a:p>
            <a:r>
              <a:rPr lang="de-CH" b="1" dirty="0"/>
              <a:t>IS NULL</a:t>
            </a:r>
          </a:p>
          <a:p>
            <a:endParaRPr lang="ru-RU" dirty="0"/>
          </a:p>
          <a:p>
            <a:pPr lvl="1"/>
            <a:r>
              <a:rPr lang="ru-RU" sz="2000" dirty="0"/>
              <a:t>Ряд столбцов может допускать значение NULL. Это значение не эквивалентно пустой строке ''. NULL представляет полное отсутствие какого-либо значения. И для проверки на наличие подобного значения применяется оператор </a:t>
            </a:r>
            <a:r>
              <a:rPr lang="ru-RU" sz="2000" b="1" dirty="0"/>
              <a:t>IS NULL</a:t>
            </a:r>
            <a:r>
              <a:rPr lang="ru-RU" sz="2000" dirty="0"/>
              <a:t>.</a:t>
            </a:r>
          </a:p>
          <a:p>
            <a:pPr lvl="1"/>
            <a:endParaRPr lang="ru-RU" sz="2000" dirty="0"/>
          </a:p>
          <a:p>
            <a:pPr lvl="2" fontAlgn="base"/>
            <a:r>
              <a:rPr lang="en-US" dirty="0"/>
              <a:t>SELECT * FROM Products</a:t>
            </a:r>
          </a:p>
          <a:p>
            <a:pPr lvl="2" fontAlgn="base"/>
            <a:r>
              <a:rPr lang="en-US" dirty="0"/>
              <a:t>WHERE </a:t>
            </a:r>
            <a:r>
              <a:rPr lang="en-US" dirty="0" err="1"/>
              <a:t>ProductCount</a:t>
            </a:r>
            <a:r>
              <a:rPr lang="en-US" dirty="0"/>
              <a:t> IS NULL</a:t>
            </a:r>
            <a:endParaRPr lang="ru-RU" dirty="0"/>
          </a:p>
          <a:p>
            <a:pPr lvl="2" fontAlgn="base"/>
            <a:endParaRPr lang="ru-RU" dirty="0"/>
          </a:p>
          <a:p>
            <a:pPr lvl="2" fontAlgn="base"/>
            <a:r>
              <a:rPr lang="en-US" dirty="0"/>
              <a:t>SELECT * FROM Products</a:t>
            </a:r>
          </a:p>
          <a:p>
            <a:pPr lvl="2" fontAlgn="base"/>
            <a:r>
              <a:rPr lang="en-US" dirty="0"/>
              <a:t>WHERE </a:t>
            </a:r>
            <a:r>
              <a:rPr lang="en-US" dirty="0" err="1"/>
              <a:t>ProductCount</a:t>
            </a:r>
            <a:r>
              <a:rPr lang="en-US" dirty="0"/>
              <a:t> IS NOT NULL</a:t>
            </a:r>
          </a:p>
          <a:p>
            <a:pPr lvl="2" fontAlgn="base"/>
            <a:endParaRPr lang="en-US" dirty="0"/>
          </a:p>
          <a:p>
            <a:pPr lvl="1"/>
            <a:endParaRPr lang="ru-RU" sz="2000" dirty="0"/>
          </a:p>
        </p:txBody>
      </p:sp>
    </p:spTree>
    <p:extLst>
      <p:ext uri="{BB962C8B-B14F-4D97-AF65-F5344CB8AC3E}">
        <p14:creationId xmlns:p14="http://schemas.microsoft.com/office/powerpoint/2010/main" val="2196411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71107ABA-A863-7BA5-C93B-E4CE4298B1EA}"/>
              </a:ext>
            </a:extLst>
          </p:cNvPr>
          <p:cNvSpPr>
            <a:spLocks noGrp="1"/>
          </p:cNvSpPr>
          <p:nvPr>
            <p:ph idx="1"/>
          </p:nvPr>
        </p:nvSpPr>
        <p:spPr/>
        <p:txBody>
          <a:bodyPr/>
          <a:lstStyle/>
          <a:p>
            <a:r>
              <a:rPr lang="ru-RU" b="1" dirty="0"/>
              <a:t>Оператор </a:t>
            </a:r>
            <a:r>
              <a:rPr lang="de-CH" b="1" dirty="0"/>
              <a:t>IN</a:t>
            </a:r>
            <a:endParaRPr lang="ru-RU" b="1" dirty="0"/>
          </a:p>
          <a:p>
            <a:endParaRPr lang="ru-RU" b="1" dirty="0"/>
          </a:p>
          <a:p>
            <a:r>
              <a:rPr lang="ru-RU" dirty="0"/>
              <a:t>	</a:t>
            </a:r>
            <a:r>
              <a:rPr lang="ru-RU" sz="2000" dirty="0"/>
              <a:t>WHERE выражение [NOT] IN (выражение)</a:t>
            </a:r>
          </a:p>
          <a:p>
            <a:endParaRPr lang="ru-RU" b="1" dirty="0"/>
          </a:p>
          <a:p>
            <a:pPr lvl="1">
              <a:tabLst>
                <a:tab pos="10229850" algn="l"/>
              </a:tabLst>
            </a:pPr>
            <a:r>
              <a:rPr lang="ru-RU" sz="2000" dirty="0"/>
              <a:t>Выражение в скобках после IN определяет набор значений. Этот набор может вычисляться динамически на основании, например, еще одного запроса, либо это могут быть константные значения.</a:t>
            </a:r>
            <a:endParaRPr lang="de-CH" sz="2000" b="1" dirty="0"/>
          </a:p>
          <a:p>
            <a:endParaRPr lang="ru-RU" dirty="0"/>
          </a:p>
          <a:p>
            <a:pPr lvl="2" fontAlgn="base"/>
            <a:r>
              <a:rPr lang="en-US" dirty="0"/>
              <a:t>SELECT * FROM Products</a:t>
            </a:r>
          </a:p>
          <a:p>
            <a:pPr lvl="2" fontAlgn="base"/>
            <a:r>
              <a:rPr lang="en-US" dirty="0"/>
              <a:t>WHERE Manufacturer IN ('Samsung', 'Xiaomi', 'Huawei’)</a:t>
            </a:r>
            <a:endParaRPr lang="ru-RU" dirty="0"/>
          </a:p>
          <a:p>
            <a:pPr lvl="2" fontAlgn="base"/>
            <a:endParaRPr lang="ru-RU" dirty="0"/>
          </a:p>
          <a:p>
            <a:pPr lvl="2" fontAlgn="base"/>
            <a:r>
              <a:rPr lang="en-US" dirty="0"/>
              <a:t>SELECT * FROM Products</a:t>
            </a:r>
          </a:p>
          <a:p>
            <a:pPr lvl="2" fontAlgn="base"/>
            <a:r>
              <a:rPr lang="en-US" dirty="0"/>
              <a:t>WHERE Manufacturer NOT IN ('Samsung', 'Xiaomi', 'Huawei')</a:t>
            </a:r>
          </a:p>
          <a:p>
            <a:endParaRPr lang="ru-RU" dirty="0"/>
          </a:p>
        </p:txBody>
      </p:sp>
    </p:spTree>
    <p:extLst>
      <p:ext uri="{BB962C8B-B14F-4D97-AF65-F5344CB8AC3E}">
        <p14:creationId xmlns:p14="http://schemas.microsoft.com/office/powerpoint/2010/main" val="3983649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095DD9B6-58B2-6A64-767E-12E35D9E5033}"/>
              </a:ext>
            </a:extLst>
          </p:cNvPr>
          <p:cNvSpPr>
            <a:spLocks noGrp="1"/>
          </p:cNvSpPr>
          <p:nvPr>
            <p:ph idx="1"/>
          </p:nvPr>
        </p:nvSpPr>
        <p:spPr/>
        <p:txBody>
          <a:bodyPr/>
          <a:lstStyle/>
          <a:p>
            <a:r>
              <a:rPr lang="ru-RU" b="1" dirty="0"/>
              <a:t>Оператор </a:t>
            </a:r>
            <a:r>
              <a:rPr lang="de-CH" b="1" dirty="0"/>
              <a:t>BETWEEN</a:t>
            </a:r>
          </a:p>
          <a:p>
            <a:r>
              <a:rPr lang="ru-RU" sz="2000" dirty="0"/>
              <a:t>Оператор </a:t>
            </a:r>
            <a:r>
              <a:rPr lang="ru-RU" sz="2000" b="1" dirty="0"/>
              <a:t>BETWEEN</a:t>
            </a:r>
            <a:r>
              <a:rPr lang="ru-RU" sz="2000" dirty="0"/>
              <a:t> определяет диапазон значений с помощью начального и конечного значения, которому должно соответствовать выражение:</a:t>
            </a:r>
          </a:p>
          <a:p>
            <a:endParaRPr lang="ru-RU" sz="2000" dirty="0"/>
          </a:p>
          <a:p>
            <a:pPr lvl="1"/>
            <a:r>
              <a:rPr lang="ru-RU" dirty="0"/>
              <a:t>WHERE выражение [NOT] BETWEEN </a:t>
            </a:r>
            <a:r>
              <a:rPr lang="ru-RU" dirty="0" err="1"/>
              <a:t>начальное_значение</a:t>
            </a:r>
            <a:r>
              <a:rPr lang="ru-RU" dirty="0"/>
              <a:t> AND </a:t>
            </a:r>
            <a:r>
              <a:rPr lang="ru-RU" dirty="0" err="1"/>
              <a:t>конечное_значение</a:t>
            </a:r>
            <a:endParaRPr lang="ru-RU" dirty="0"/>
          </a:p>
          <a:p>
            <a:pPr lvl="1"/>
            <a:endParaRPr lang="ru-RU" sz="2000" dirty="0"/>
          </a:p>
          <a:p>
            <a:pPr lvl="1"/>
            <a:endParaRPr lang="ru-RU" sz="2000" dirty="0"/>
          </a:p>
          <a:p>
            <a:pPr lvl="1" fontAlgn="base"/>
            <a:r>
              <a:rPr lang="en-US" dirty="0"/>
              <a:t>SELECT * FROM Products</a:t>
            </a:r>
          </a:p>
          <a:p>
            <a:pPr lvl="1" fontAlgn="base"/>
            <a:r>
              <a:rPr lang="en-US" dirty="0"/>
              <a:t>WHERE Price BETWEEN 20000 AND 40000</a:t>
            </a:r>
            <a:endParaRPr lang="ru-RU" dirty="0"/>
          </a:p>
          <a:p>
            <a:pPr lvl="1" fontAlgn="base"/>
            <a:endParaRPr lang="ru-RU" dirty="0"/>
          </a:p>
          <a:p>
            <a:pPr lvl="1" fontAlgn="base"/>
            <a:endParaRPr lang="ru-RU" dirty="0"/>
          </a:p>
          <a:p>
            <a:pPr lvl="1" fontAlgn="base"/>
            <a:r>
              <a:rPr lang="en-US" dirty="0"/>
              <a:t>SELECT * FROM Products</a:t>
            </a:r>
          </a:p>
          <a:p>
            <a:pPr lvl="1" fontAlgn="base"/>
            <a:r>
              <a:rPr lang="en-US" dirty="0"/>
              <a:t>WHERE Price NOT BETWEEN 20000 AND 40000</a:t>
            </a:r>
          </a:p>
          <a:p>
            <a:pPr lvl="1" fontAlgn="base"/>
            <a:endParaRPr lang="en-US" dirty="0"/>
          </a:p>
          <a:p>
            <a:pPr lvl="1"/>
            <a:endParaRPr lang="ru-RU" sz="2000" dirty="0"/>
          </a:p>
        </p:txBody>
      </p:sp>
    </p:spTree>
    <p:extLst>
      <p:ext uri="{BB962C8B-B14F-4D97-AF65-F5344CB8AC3E}">
        <p14:creationId xmlns:p14="http://schemas.microsoft.com/office/powerpoint/2010/main" val="2256517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B24A88E3-F6FE-BB7B-5ADA-821FAE5A3955}"/>
              </a:ext>
            </a:extLst>
          </p:cNvPr>
          <p:cNvSpPr>
            <a:spLocks noGrp="1"/>
          </p:cNvSpPr>
          <p:nvPr>
            <p:ph idx="1"/>
          </p:nvPr>
        </p:nvSpPr>
        <p:spPr/>
        <p:txBody>
          <a:bodyPr/>
          <a:lstStyle/>
          <a:p>
            <a:r>
              <a:rPr lang="ru-RU" b="1" dirty="0"/>
              <a:t>Оператор </a:t>
            </a:r>
            <a:r>
              <a:rPr lang="de-CH" b="1" dirty="0"/>
              <a:t>LIKE</a:t>
            </a:r>
          </a:p>
          <a:p>
            <a:endParaRPr lang="ru-RU" dirty="0"/>
          </a:p>
          <a:p>
            <a:pPr lvl="1"/>
            <a:r>
              <a:rPr lang="ru-RU" dirty="0"/>
              <a:t>Оператор </a:t>
            </a:r>
            <a:r>
              <a:rPr lang="ru-RU" b="1" dirty="0"/>
              <a:t>LIKE</a:t>
            </a:r>
            <a:r>
              <a:rPr lang="ru-RU" dirty="0"/>
              <a:t> принимает шаблон строки, которому должно соответствовать выражение.</a:t>
            </a:r>
          </a:p>
          <a:p>
            <a:pPr lvl="1"/>
            <a:endParaRPr lang="ru-RU" dirty="0"/>
          </a:p>
          <a:p>
            <a:pPr lvl="1"/>
            <a:r>
              <a:rPr lang="ru-RU" dirty="0"/>
              <a:t>WHERE выражение [NOT] LIKE </a:t>
            </a:r>
            <a:r>
              <a:rPr lang="ru-RU" dirty="0" err="1"/>
              <a:t>шаблон_строки</a:t>
            </a:r>
            <a:endParaRPr lang="ru-RU" dirty="0"/>
          </a:p>
        </p:txBody>
      </p:sp>
    </p:spTree>
    <p:extLst>
      <p:ext uri="{BB962C8B-B14F-4D97-AF65-F5344CB8AC3E}">
        <p14:creationId xmlns:p14="http://schemas.microsoft.com/office/powerpoint/2010/main" val="519665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072651D-DAD8-C6CB-E9CF-986DF4156274}"/>
              </a:ext>
            </a:extLst>
          </p:cNvPr>
          <p:cNvSpPr>
            <a:spLocks noGrp="1"/>
          </p:cNvSpPr>
          <p:nvPr>
            <p:ph idx="1"/>
          </p:nvPr>
        </p:nvSpPr>
        <p:spPr/>
        <p:txBody>
          <a:bodyPr/>
          <a:lstStyle/>
          <a:p>
            <a:r>
              <a:rPr lang="ru-RU" dirty="0"/>
              <a:t>Для определения шаблона могут применяться ряд специальных символов подстановки:</a:t>
            </a:r>
          </a:p>
          <a:p>
            <a:endParaRPr lang="ru-RU" dirty="0"/>
          </a:p>
          <a:p>
            <a:pPr lvl="1"/>
            <a:r>
              <a:rPr lang="ru-RU" sz="2000" b="1" dirty="0"/>
              <a:t>%</a:t>
            </a:r>
            <a:r>
              <a:rPr lang="ru-RU" sz="2000" dirty="0"/>
              <a:t>: соответствует любой подстроке, которая может иметь любое количество символов, при этом подстрока может и не содержать ни одного символа</a:t>
            </a:r>
          </a:p>
          <a:p>
            <a:pPr lvl="1"/>
            <a:endParaRPr lang="ru-RU" sz="2000" dirty="0"/>
          </a:p>
          <a:p>
            <a:pPr lvl="1"/>
            <a:r>
              <a:rPr lang="ru-RU" sz="2000" b="1" dirty="0"/>
              <a:t>_</a:t>
            </a:r>
            <a:r>
              <a:rPr lang="ru-RU" sz="2000" dirty="0"/>
              <a:t>: соответствует любому одиночному символу</a:t>
            </a:r>
          </a:p>
          <a:p>
            <a:pPr lvl="1"/>
            <a:endParaRPr lang="ru-RU" sz="2000" b="1" dirty="0"/>
          </a:p>
          <a:p>
            <a:pPr lvl="1"/>
            <a:r>
              <a:rPr lang="ru-RU" sz="2000" b="1" dirty="0"/>
              <a:t>[ ]</a:t>
            </a:r>
            <a:r>
              <a:rPr lang="ru-RU" sz="2000" dirty="0"/>
              <a:t>: соответствует одному символу, который указан в квадратных скобках</a:t>
            </a:r>
          </a:p>
          <a:p>
            <a:pPr lvl="1"/>
            <a:endParaRPr lang="ru-RU" sz="2000" b="1" dirty="0"/>
          </a:p>
          <a:p>
            <a:pPr lvl="1"/>
            <a:r>
              <a:rPr lang="ru-RU" sz="2000" b="1" dirty="0"/>
              <a:t>[ - ]</a:t>
            </a:r>
            <a:r>
              <a:rPr lang="ru-RU" sz="2000" dirty="0"/>
              <a:t>: соответствует одному символу из определенного диапазона</a:t>
            </a:r>
          </a:p>
          <a:p>
            <a:pPr lvl="1"/>
            <a:endParaRPr lang="ru-RU" sz="2000" b="1" dirty="0"/>
          </a:p>
          <a:p>
            <a:pPr lvl="1"/>
            <a:r>
              <a:rPr lang="ru-RU" sz="2000" b="1" dirty="0"/>
              <a:t>[ ^ ]</a:t>
            </a:r>
            <a:r>
              <a:rPr lang="ru-RU" sz="2000" dirty="0"/>
              <a:t>: соответствует одному символу, который </a:t>
            </a:r>
            <a:r>
              <a:rPr lang="ru-RU" sz="2000" b="1" dirty="0"/>
              <a:t>не</a:t>
            </a:r>
            <a:r>
              <a:rPr lang="ru-RU" sz="2000" dirty="0"/>
              <a:t> указан после символа ^</a:t>
            </a:r>
          </a:p>
          <a:p>
            <a:endParaRPr lang="ru-RU" dirty="0"/>
          </a:p>
        </p:txBody>
      </p:sp>
    </p:spTree>
    <p:extLst>
      <p:ext uri="{BB962C8B-B14F-4D97-AF65-F5344CB8AC3E}">
        <p14:creationId xmlns:p14="http://schemas.microsoft.com/office/powerpoint/2010/main" val="3006102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8C42B25-27EB-7590-726A-EAEFAA62336B}"/>
              </a:ext>
            </a:extLst>
          </p:cNvPr>
          <p:cNvSpPr>
            <a:spLocks noGrp="1"/>
          </p:cNvSpPr>
          <p:nvPr>
            <p:ph idx="1"/>
          </p:nvPr>
        </p:nvSpPr>
        <p:spPr/>
        <p:txBody>
          <a:bodyPr>
            <a:normAutofit lnSpcReduction="10000"/>
          </a:bodyPr>
          <a:lstStyle/>
          <a:p>
            <a:r>
              <a:rPr lang="ru-RU" dirty="0"/>
              <a:t>Некоторые примеры использования подстановок:</a:t>
            </a:r>
          </a:p>
          <a:p>
            <a:endParaRPr lang="ru-RU" dirty="0"/>
          </a:p>
          <a:p>
            <a:pPr marL="800100" lvl="1" indent="-342900">
              <a:buFont typeface="Arial" panose="020B0604020202020204" pitchFamily="34" charset="0"/>
              <a:buChar char="•"/>
            </a:pPr>
            <a:r>
              <a:rPr lang="de-CH" sz="2000" dirty="0"/>
              <a:t>WHERE </a:t>
            </a:r>
            <a:r>
              <a:rPr lang="de-CH" sz="2000" dirty="0" err="1"/>
              <a:t>ProductName</a:t>
            </a:r>
            <a:r>
              <a:rPr lang="de-CH" sz="2000" dirty="0"/>
              <a:t> LIKE 'Galaxy%’</a:t>
            </a:r>
            <a:r>
              <a:rPr lang="ru-RU" sz="2000" dirty="0"/>
              <a:t>  	Соответствует таким значениям как "</a:t>
            </a:r>
            <a:r>
              <a:rPr lang="de-CH" sz="2000" dirty="0"/>
              <a:t>Galaxy Ace 2" </a:t>
            </a:r>
            <a:r>
              <a:rPr lang="ru-RU" sz="2000" dirty="0"/>
              <a:t>или "</a:t>
            </a:r>
            <a:r>
              <a:rPr lang="de-CH" sz="2000" dirty="0"/>
              <a:t>Galaxy S7</a:t>
            </a:r>
            <a:r>
              <a:rPr lang="en-US" sz="2000" dirty="0"/>
              <a:t>”</a:t>
            </a:r>
            <a:endParaRPr lang="ru-RU" sz="2000" dirty="0"/>
          </a:p>
          <a:p>
            <a:pPr marL="800100" lvl="1" indent="-342900">
              <a:buFont typeface="Arial" panose="020B0604020202020204" pitchFamily="34" charset="0"/>
              <a:buChar char="•"/>
            </a:pPr>
            <a:endParaRPr lang="de-CH" sz="2000" dirty="0"/>
          </a:p>
          <a:p>
            <a:pPr marL="800100" lvl="1" indent="-342900">
              <a:buFont typeface="Arial" panose="020B0604020202020204" pitchFamily="34" charset="0"/>
              <a:buChar char="•"/>
            </a:pPr>
            <a:r>
              <a:rPr lang="de-CH" sz="2000" dirty="0"/>
              <a:t>WHERE </a:t>
            </a:r>
            <a:r>
              <a:rPr lang="de-CH" sz="2000" dirty="0" err="1"/>
              <a:t>ProductName</a:t>
            </a:r>
            <a:r>
              <a:rPr lang="de-CH" sz="2000" dirty="0"/>
              <a:t> LIKE 'Galaxy S_’</a:t>
            </a:r>
            <a:r>
              <a:rPr lang="ru-RU" sz="2000" dirty="0"/>
              <a:t> Соответствует таким значениям как "</a:t>
            </a:r>
            <a:r>
              <a:rPr lang="de-CH" sz="2000" dirty="0"/>
              <a:t>Galaxy S7" </a:t>
            </a:r>
            <a:r>
              <a:rPr lang="ru-RU" sz="2000" dirty="0"/>
              <a:t>или "</a:t>
            </a:r>
            <a:r>
              <a:rPr lang="de-CH" sz="2000" dirty="0"/>
              <a:t>Galaxy S8</a:t>
            </a:r>
            <a:r>
              <a:rPr lang="en-US" sz="2000" dirty="0"/>
              <a:t>”</a:t>
            </a:r>
            <a:endParaRPr lang="ru-RU" sz="2000" dirty="0"/>
          </a:p>
          <a:p>
            <a:pPr marL="800100" lvl="1" indent="-342900">
              <a:buFont typeface="Arial" panose="020B0604020202020204" pitchFamily="34" charset="0"/>
              <a:buChar char="•"/>
            </a:pPr>
            <a:endParaRPr lang="de-CH" sz="2000" dirty="0"/>
          </a:p>
          <a:p>
            <a:pPr marL="800100" lvl="1" indent="-342900">
              <a:buFont typeface="Arial" panose="020B0604020202020204" pitchFamily="34" charset="0"/>
              <a:buChar char="•"/>
            </a:pPr>
            <a:r>
              <a:rPr lang="de-CH" sz="2000" dirty="0"/>
              <a:t>WHERE </a:t>
            </a:r>
            <a:r>
              <a:rPr lang="de-CH" sz="2000" dirty="0" err="1"/>
              <a:t>ProductName</a:t>
            </a:r>
            <a:r>
              <a:rPr lang="de-CH" sz="2000" dirty="0"/>
              <a:t> LIKE 'iPhone [78]’</a:t>
            </a:r>
            <a:r>
              <a:rPr lang="ru-RU" sz="2000" dirty="0"/>
              <a:t> Соответствует таким значениям как "</a:t>
            </a:r>
            <a:r>
              <a:rPr lang="de-CH" sz="2000" dirty="0"/>
              <a:t>iPhone 7" </a:t>
            </a:r>
            <a:r>
              <a:rPr lang="ru-RU" sz="2000" dirty="0"/>
              <a:t>или "</a:t>
            </a:r>
            <a:r>
              <a:rPr lang="de-CH" sz="2000" dirty="0"/>
              <a:t>iPhone8"</a:t>
            </a:r>
            <a:r>
              <a:rPr lang="ru-RU" sz="2000" dirty="0"/>
              <a:t>  </a:t>
            </a:r>
          </a:p>
          <a:p>
            <a:pPr marL="800100" lvl="1" indent="-342900">
              <a:buFont typeface="Arial" panose="020B0604020202020204" pitchFamily="34" charset="0"/>
              <a:buChar char="•"/>
            </a:pPr>
            <a:endParaRPr lang="de-CH" sz="2000" dirty="0"/>
          </a:p>
          <a:p>
            <a:pPr marL="800100" lvl="1" indent="-342900">
              <a:buFont typeface="Arial" panose="020B0604020202020204" pitchFamily="34" charset="0"/>
              <a:buChar char="•"/>
            </a:pPr>
            <a:r>
              <a:rPr lang="de-CH" sz="2000" dirty="0"/>
              <a:t>WHERE </a:t>
            </a:r>
            <a:r>
              <a:rPr lang="de-CH" sz="2000" dirty="0" err="1"/>
              <a:t>ProductName</a:t>
            </a:r>
            <a:r>
              <a:rPr lang="de-CH" sz="2000" dirty="0"/>
              <a:t> LIKE 'iPhone [6-8]’</a:t>
            </a:r>
            <a:r>
              <a:rPr lang="ru-RU" sz="2000" dirty="0"/>
              <a:t> Соответствует таким значениям как "</a:t>
            </a:r>
            <a:r>
              <a:rPr lang="de-CH" sz="2000" dirty="0"/>
              <a:t>iPhone 6", "iPhone 7" </a:t>
            </a:r>
            <a:r>
              <a:rPr lang="ru-RU" sz="2000" dirty="0"/>
              <a:t>или "</a:t>
            </a:r>
            <a:r>
              <a:rPr lang="de-CH" sz="2000" dirty="0"/>
              <a:t>iPhone»</a:t>
            </a:r>
          </a:p>
          <a:p>
            <a:pPr marL="800100" lvl="1" indent="-342900">
              <a:buFont typeface="Arial" panose="020B0604020202020204" pitchFamily="34" charset="0"/>
              <a:buChar char="•"/>
            </a:pPr>
            <a:endParaRPr lang="de-CH" sz="2000" dirty="0"/>
          </a:p>
          <a:p>
            <a:pPr marL="800100" lvl="1" indent="-342900">
              <a:buFont typeface="Arial" panose="020B0604020202020204" pitchFamily="34" charset="0"/>
              <a:buChar char="•"/>
            </a:pPr>
            <a:r>
              <a:rPr lang="de-CH" sz="2000" dirty="0"/>
              <a:t>WHERE </a:t>
            </a:r>
            <a:r>
              <a:rPr lang="de-CH" sz="2000" dirty="0" err="1"/>
              <a:t>ProductName</a:t>
            </a:r>
            <a:r>
              <a:rPr lang="de-CH" sz="2000" dirty="0"/>
              <a:t> LIKE 'iPhone [^7]%’ </a:t>
            </a:r>
            <a:r>
              <a:rPr lang="ru-RU" sz="2000" dirty="0"/>
              <a:t>Соответствует таким значениям как "</a:t>
            </a:r>
            <a:r>
              <a:rPr lang="de-CH" sz="2000" dirty="0"/>
              <a:t>iPhone 6", "iPhone 6S" </a:t>
            </a:r>
            <a:r>
              <a:rPr lang="ru-RU" sz="2000" dirty="0"/>
              <a:t>или "</a:t>
            </a:r>
            <a:r>
              <a:rPr lang="de-CH" sz="2000" dirty="0"/>
              <a:t>iPhone8". </a:t>
            </a:r>
            <a:r>
              <a:rPr lang="ru-RU" sz="2000" dirty="0"/>
              <a:t>Но не соответствует значениям "</a:t>
            </a:r>
            <a:r>
              <a:rPr lang="de-CH" sz="2000" dirty="0"/>
              <a:t>iPhone 7" </a:t>
            </a:r>
            <a:r>
              <a:rPr lang="ru-RU" sz="2000" dirty="0"/>
              <a:t>и "</a:t>
            </a:r>
            <a:r>
              <a:rPr lang="de-CH" sz="2000" dirty="0"/>
              <a:t>iPhone 7S«</a:t>
            </a:r>
          </a:p>
          <a:p>
            <a:pPr marL="800100" lvl="1" indent="-342900">
              <a:buFont typeface="Arial" panose="020B0604020202020204" pitchFamily="34" charset="0"/>
              <a:buChar char="•"/>
            </a:pPr>
            <a:endParaRPr lang="de-CH" sz="2000" dirty="0"/>
          </a:p>
          <a:p>
            <a:pPr marL="800100" lvl="1" indent="-342900">
              <a:buFont typeface="Arial" panose="020B0604020202020204" pitchFamily="34" charset="0"/>
              <a:buChar char="•"/>
            </a:pPr>
            <a:r>
              <a:rPr lang="de-CH" sz="2000" dirty="0"/>
              <a:t>WHERE </a:t>
            </a:r>
            <a:r>
              <a:rPr lang="de-CH" sz="2000" dirty="0" err="1"/>
              <a:t>ProductName</a:t>
            </a:r>
            <a:r>
              <a:rPr lang="de-CH" sz="2000" dirty="0"/>
              <a:t> LIKE 'iPhone [^1-6]%’ </a:t>
            </a:r>
            <a:r>
              <a:rPr lang="ru-RU" sz="2000" dirty="0"/>
              <a:t>Соответствует таким значениям как "</a:t>
            </a:r>
            <a:r>
              <a:rPr lang="de-CH" sz="2000" dirty="0"/>
              <a:t>iPhone 7", "iPhone 7S" </a:t>
            </a:r>
            <a:r>
              <a:rPr lang="ru-RU" sz="2000" dirty="0"/>
              <a:t>и "</a:t>
            </a:r>
            <a:r>
              <a:rPr lang="de-CH" sz="2000" dirty="0"/>
              <a:t>iPhone 8". </a:t>
            </a:r>
            <a:r>
              <a:rPr lang="ru-RU" sz="2000" dirty="0"/>
              <a:t>Но не соответствует значениям "</a:t>
            </a:r>
            <a:r>
              <a:rPr lang="de-CH" sz="2000" dirty="0"/>
              <a:t>iPhone 5", "iPhone 6" </a:t>
            </a:r>
            <a:r>
              <a:rPr lang="ru-RU" sz="2000" dirty="0"/>
              <a:t>и "</a:t>
            </a:r>
            <a:r>
              <a:rPr lang="de-CH" sz="2000" dirty="0"/>
              <a:t>iPhone 6S"</a:t>
            </a:r>
          </a:p>
          <a:p>
            <a:pPr marL="800100" lvl="1" indent="-342900">
              <a:buFont typeface="Arial" panose="020B0604020202020204" pitchFamily="34" charset="0"/>
              <a:buChar char="•"/>
            </a:pPr>
            <a:endParaRPr lang="de-CH" sz="2000" dirty="0"/>
          </a:p>
          <a:p>
            <a:endParaRPr lang="ru-RU" dirty="0"/>
          </a:p>
        </p:txBody>
      </p:sp>
    </p:spTree>
    <p:extLst>
      <p:ext uri="{BB962C8B-B14F-4D97-AF65-F5344CB8AC3E}">
        <p14:creationId xmlns:p14="http://schemas.microsoft.com/office/powerpoint/2010/main" val="3152795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BD707731-1BBE-FBC9-B630-B388D3CB44AE}"/>
              </a:ext>
            </a:extLst>
          </p:cNvPr>
          <p:cNvSpPr>
            <a:spLocks noGrp="1"/>
          </p:cNvSpPr>
          <p:nvPr>
            <p:ph idx="1"/>
          </p:nvPr>
        </p:nvSpPr>
        <p:spPr/>
        <p:txBody>
          <a:bodyPr/>
          <a:lstStyle/>
          <a:p>
            <a:endParaRPr lang="en-US" dirty="0"/>
          </a:p>
          <a:p>
            <a:pPr fontAlgn="base"/>
            <a:r>
              <a:rPr lang="en-US" dirty="0"/>
              <a:t>	SELECT * FROM Products </a:t>
            </a:r>
          </a:p>
          <a:p>
            <a:pPr fontAlgn="base"/>
            <a:r>
              <a:rPr lang="en-US" dirty="0"/>
              <a:t>	WHERE ProductName LIKE 'iPhone [6-8]%'</a:t>
            </a:r>
          </a:p>
          <a:p>
            <a:endParaRPr lang="ru-RU" dirty="0"/>
          </a:p>
        </p:txBody>
      </p:sp>
    </p:spTree>
    <p:extLst>
      <p:ext uri="{BB962C8B-B14F-4D97-AF65-F5344CB8AC3E}">
        <p14:creationId xmlns:p14="http://schemas.microsoft.com/office/powerpoint/2010/main" val="3017889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D78FB7B-36A0-3D76-26DA-89ED7442268A}"/>
              </a:ext>
            </a:extLst>
          </p:cNvPr>
          <p:cNvSpPr>
            <a:spLocks noGrp="1"/>
          </p:cNvSpPr>
          <p:nvPr>
            <p:ph idx="1"/>
          </p:nvPr>
        </p:nvSpPr>
        <p:spPr/>
        <p:txBody>
          <a:bodyPr/>
          <a:lstStyle/>
          <a:p>
            <a:r>
              <a:rPr lang="ru-RU" b="1" dirty="0"/>
              <a:t>Обновление данных. Команда </a:t>
            </a:r>
            <a:r>
              <a:rPr lang="de-CH" b="1" dirty="0"/>
              <a:t>UPDATE</a:t>
            </a:r>
          </a:p>
          <a:p>
            <a:endParaRPr lang="en-US" dirty="0"/>
          </a:p>
          <a:p>
            <a:pPr lvl="1" fontAlgn="base"/>
            <a:r>
              <a:rPr lang="de-CH" sz="2000" dirty="0"/>
              <a:t>UPDATE </a:t>
            </a:r>
            <a:r>
              <a:rPr lang="ru-RU" sz="2000" dirty="0" err="1"/>
              <a:t>имя_таблицы</a:t>
            </a:r>
            <a:endParaRPr lang="ru-RU" sz="2000" dirty="0"/>
          </a:p>
          <a:p>
            <a:pPr lvl="1" fontAlgn="base"/>
            <a:r>
              <a:rPr lang="de-CH" sz="2000" dirty="0"/>
              <a:t>SET </a:t>
            </a:r>
            <a:r>
              <a:rPr lang="ru-RU" sz="2000" dirty="0"/>
              <a:t>столбец1 = значение1, столбец2 = значение2, ... столбец</a:t>
            </a:r>
            <a:r>
              <a:rPr lang="de-CH" sz="2000" dirty="0"/>
              <a:t>N = </a:t>
            </a:r>
            <a:r>
              <a:rPr lang="ru-RU" sz="2000" dirty="0"/>
              <a:t>значение</a:t>
            </a:r>
            <a:r>
              <a:rPr lang="de-CH" sz="2000" dirty="0"/>
              <a:t>N</a:t>
            </a:r>
          </a:p>
          <a:p>
            <a:pPr lvl="1" fontAlgn="base"/>
            <a:r>
              <a:rPr lang="de-CH" sz="2000" dirty="0"/>
              <a:t>[FROM </a:t>
            </a:r>
            <a:r>
              <a:rPr lang="ru-RU" sz="2000" dirty="0"/>
              <a:t>выборка </a:t>
            </a:r>
            <a:r>
              <a:rPr lang="de-CH" sz="2000" dirty="0"/>
              <a:t>AS </a:t>
            </a:r>
            <a:r>
              <a:rPr lang="ru-RU" sz="2000" dirty="0" err="1"/>
              <a:t>псевдоним_выборки</a:t>
            </a:r>
            <a:r>
              <a:rPr lang="ru-RU" sz="2000" dirty="0"/>
              <a:t>]</a:t>
            </a:r>
          </a:p>
          <a:p>
            <a:pPr lvl="1" fontAlgn="base"/>
            <a:r>
              <a:rPr lang="ru-RU" sz="2000" dirty="0"/>
              <a:t>[</a:t>
            </a:r>
            <a:r>
              <a:rPr lang="de-CH" sz="2000" dirty="0"/>
              <a:t>WHERE </a:t>
            </a:r>
            <a:r>
              <a:rPr lang="ru-RU" sz="2000" dirty="0" err="1"/>
              <a:t>условие_обновления</a:t>
            </a:r>
            <a:r>
              <a:rPr lang="ru-RU" sz="2000" dirty="0"/>
              <a:t>]</a:t>
            </a:r>
          </a:p>
          <a:p>
            <a:endParaRPr lang="en-US" sz="2000" dirty="0"/>
          </a:p>
          <a:p>
            <a:pPr lvl="1"/>
            <a:r>
              <a:rPr lang="en-US" sz="2000" dirty="0"/>
              <a:t>UPDATE Products</a:t>
            </a:r>
          </a:p>
          <a:p>
            <a:pPr lvl="1"/>
            <a:r>
              <a:rPr lang="en-US" sz="2000" dirty="0"/>
              <a:t>SET Price = Price + 5000</a:t>
            </a:r>
          </a:p>
          <a:p>
            <a:pPr lvl="1"/>
            <a:endParaRPr lang="en-US" sz="2000" dirty="0"/>
          </a:p>
          <a:p>
            <a:pPr lvl="1" fontAlgn="base"/>
            <a:r>
              <a:rPr lang="en-US" sz="2000" dirty="0"/>
              <a:t>UPDATE Products</a:t>
            </a:r>
          </a:p>
          <a:p>
            <a:pPr lvl="1" fontAlgn="base"/>
            <a:r>
              <a:rPr lang="en-US" sz="2000" dirty="0"/>
              <a:t>SET Manufacturer = 'Samsung Inc.'</a:t>
            </a:r>
          </a:p>
          <a:p>
            <a:pPr lvl="1" fontAlgn="base"/>
            <a:r>
              <a:rPr lang="en-US" sz="2000" dirty="0"/>
              <a:t>WHERE Manufacturer = 'Samsung'</a:t>
            </a:r>
          </a:p>
          <a:p>
            <a:pPr lvl="1"/>
            <a:endParaRPr lang="ru-RU" dirty="0"/>
          </a:p>
        </p:txBody>
      </p:sp>
    </p:spTree>
    <p:extLst>
      <p:ext uri="{BB962C8B-B14F-4D97-AF65-F5344CB8AC3E}">
        <p14:creationId xmlns:p14="http://schemas.microsoft.com/office/powerpoint/2010/main" val="2649503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7CDAD44-8231-A406-1FB9-52067D6DC7D3}"/>
              </a:ext>
            </a:extLst>
          </p:cNvPr>
          <p:cNvSpPr>
            <a:spLocks noGrp="1"/>
          </p:cNvSpPr>
          <p:nvPr>
            <p:ph idx="1"/>
          </p:nvPr>
        </p:nvSpPr>
        <p:spPr/>
        <p:txBody>
          <a:bodyPr>
            <a:normAutofit/>
          </a:bodyPr>
          <a:lstStyle/>
          <a:p>
            <a:pPr fontAlgn="base"/>
            <a:endParaRPr lang="en-US" dirty="0"/>
          </a:p>
          <a:p>
            <a:pPr fontAlgn="base"/>
            <a:endParaRPr lang="en-US" dirty="0"/>
          </a:p>
          <a:p>
            <a:pPr lvl="1" fontAlgn="base"/>
            <a:r>
              <a:rPr lang="en-US" sz="2000" dirty="0"/>
              <a:t>UPDATE Products</a:t>
            </a:r>
          </a:p>
          <a:p>
            <a:pPr lvl="1" fontAlgn="base"/>
            <a:r>
              <a:rPr lang="en-US" sz="2000" dirty="0"/>
              <a:t>SET Manufacturer = 'Apple Inc.'</a:t>
            </a:r>
          </a:p>
          <a:p>
            <a:pPr lvl="1" fontAlgn="base"/>
            <a:r>
              <a:rPr lang="en-US" sz="2000" dirty="0"/>
              <a:t>FROM</a:t>
            </a:r>
          </a:p>
          <a:p>
            <a:pPr lvl="1" fontAlgn="base"/>
            <a:r>
              <a:rPr lang="en-US" sz="2000" dirty="0"/>
              <a:t>(SELECT TOP 2 FROM Products WHERE Manufacturer='Apple') AS Selected</a:t>
            </a:r>
          </a:p>
          <a:p>
            <a:pPr lvl="1" fontAlgn="base"/>
            <a:r>
              <a:rPr lang="en-US" sz="2000" dirty="0"/>
              <a:t>WHERE </a:t>
            </a:r>
            <a:r>
              <a:rPr lang="en-US" sz="2000" dirty="0" err="1"/>
              <a:t>Products.Id</a:t>
            </a:r>
            <a:r>
              <a:rPr lang="en-US" sz="2000" dirty="0"/>
              <a:t> = </a:t>
            </a:r>
            <a:r>
              <a:rPr lang="en-US" sz="2000" dirty="0" err="1"/>
              <a:t>Selected.Id</a:t>
            </a:r>
            <a:endParaRPr lang="en-US" sz="2000" dirty="0"/>
          </a:p>
          <a:p>
            <a:pPr lvl="1" fontAlgn="base"/>
            <a:endParaRPr lang="en-US" sz="2000" dirty="0"/>
          </a:p>
          <a:p>
            <a:pPr lvl="1"/>
            <a:r>
              <a:rPr lang="ru-RU" sz="1900" dirty="0"/>
              <a:t>С помощью подзапроса после ключевого слова FROM производится выборка первых двух строк, в которых </a:t>
            </a:r>
            <a:r>
              <a:rPr lang="ru-RU" sz="1900" dirty="0" err="1"/>
              <a:t>Manufacturer</a:t>
            </a:r>
            <a:r>
              <a:rPr lang="ru-RU" sz="1900" dirty="0"/>
              <a:t>='Apple'. Для этой выборки будет определен псевдоним </a:t>
            </a:r>
            <a:r>
              <a:rPr lang="ru-RU" sz="1900" dirty="0" err="1"/>
              <a:t>Selected</a:t>
            </a:r>
            <a:r>
              <a:rPr lang="ru-RU" sz="1900" dirty="0"/>
              <a:t>. Псевдоним указывается после оператора </a:t>
            </a:r>
            <a:r>
              <a:rPr lang="ru-RU" sz="1900" b="1" dirty="0"/>
              <a:t>AS</a:t>
            </a:r>
            <a:r>
              <a:rPr lang="ru-RU" sz="1900" dirty="0"/>
              <a:t>.</a:t>
            </a:r>
          </a:p>
          <a:p>
            <a:pPr lvl="1"/>
            <a:r>
              <a:rPr lang="ru-RU" sz="1900" dirty="0"/>
              <a:t>Далее идет условие обновления </a:t>
            </a:r>
            <a:r>
              <a:rPr lang="ru-RU" sz="1900" dirty="0" err="1"/>
              <a:t>Products.Id</a:t>
            </a:r>
            <a:r>
              <a:rPr lang="ru-RU" sz="1900" dirty="0"/>
              <a:t> = </a:t>
            </a:r>
            <a:r>
              <a:rPr lang="ru-RU" sz="1900" dirty="0" err="1"/>
              <a:t>Selected.Id</a:t>
            </a:r>
            <a:r>
              <a:rPr lang="ru-RU" sz="1900" dirty="0"/>
              <a:t>. То есть фактически мы имеем дело с двумя таблицами - Products и </a:t>
            </a:r>
            <a:r>
              <a:rPr lang="ru-RU" sz="1900" dirty="0" err="1"/>
              <a:t>Selected</a:t>
            </a:r>
            <a:r>
              <a:rPr lang="ru-RU" sz="1900" dirty="0"/>
              <a:t> (которая является производной от Products). В </a:t>
            </a:r>
            <a:r>
              <a:rPr lang="ru-RU" sz="1900" dirty="0" err="1"/>
              <a:t>Selected</a:t>
            </a:r>
            <a:r>
              <a:rPr lang="ru-RU" sz="1900" dirty="0"/>
              <a:t> находится две первых строки, в которых </a:t>
            </a:r>
            <a:r>
              <a:rPr lang="ru-RU" sz="1900" dirty="0" err="1"/>
              <a:t>Manufacturer</a:t>
            </a:r>
            <a:r>
              <a:rPr lang="ru-RU" sz="1900" dirty="0"/>
              <a:t>='Apple'. В Products - вообще все строки. И обновление производится только для тех строк, которые есть в выборке </a:t>
            </a:r>
            <a:r>
              <a:rPr lang="ru-RU" sz="1900" dirty="0" err="1"/>
              <a:t>Selected</a:t>
            </a:r>
            <a:r>
              <a:rPr lang="ru-RU" sz="1900" dirty="0"/>
              <a:t>. То есть если в таблице Products десятки товаров с производителем Apple, то обновление коснется только двух первых из них.</a:t>
            </a:r>
          </a:p>
          <a:p>
            <a:pPr lvl="1" fontAlgn="base"/>
            <a:endParaRPr lang="en-US" sz="2000" dirty="0"/>
          </a:p>
          <a:p>
            <a:pPr lvl="1"/>
            <a:endParaRPr lang="ru-RU" sz="2000" dirty="0"/>
          </a:p>
        </p:txBody>
      </p:sp>
    </p:spTree>
    <p:extLst>
      <p:ext uri="{BB962C8B-B14F-4D97-AF65-F5344CB8AC3E}">
        <p14:creationId xmlns:p14="http://schemas.microsoft.com/office/powerpoint/2010/main" val="1107281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5D57D92-3F3C-CB55-F0ED-A90A9835E8E1}"/>
              </a:ext>
            </a:extLst>
          </p:cNvPr>
          <p:cNvSpPr>
            <a:spLocks noGrp="1"/>
          </p:cNvSpPr>
          <p:nvPr>
            <p:ph idx="1"/>
          </p:nvPr>
        </p:nvSpPr>
        <p:spPr/>
        <p:txBody>
          <a:bodyPr/>
          <a:lstStyle/>
          <a:p>
            <a:r>
              <a:rPr lang="ru-RU" b="1" dirty="0"/>
              <a:t>Удаление данных. Команда </a:t>
            </a:r>
            <a:r>
              <a:rPr lang="de-CH" b="1" dirty="0"/>
              <a:t>DELETE</a:t>
            </a:r>
          </a:p>
          <a:p>
            <a:endParaRPr lang="en-US" dirty="0"/>
          </a:p>
          <a:p>
            <a:pPr lvl="1" fontAlgn="base"/>
            <a:r>
              <a:rPr lang="ru-RU" dirty="0"/>
              <a:t>DELETE [FROM] </a:t>
            </a:r>
            <a:r>
              <a:rPr lang="ru-RU" dirty="0" err="1"/>
              <a:t>имя_таблицы</a:t>
            </a:r>
            <a:endParaRPr lang="ru-RU" dirty="0"/>
          </a:p>
          <a:p>
            <a:pPr lvl="1" fontAlgn="base"/>
            <a:r>
              <a:rPr lang="ru-RU" dirty="0"/>
              <a:t>WHERE </a:t>
            </a:r>
            <a:r>
              <a:rPr lang="ru-RU" dirty="0" err="1"/>
              <a:t>условие_удаления</a:t>
            </a:r>
            <a:endParaRPr lang="en-US" dirty="0"/>
          </a:p>
          <a:p>
            <a:pPr lvl="1" fontAlgn="base"/>
            <a:endParaRPr lang="en-US" dirty="0"/>
          </a:p>
          <a:p>
            <a:pPr lvl="1" fontAlgn="base"/>
            <a:r>
              <a:rPr lang="en-US" dirty="0"/>
              <a:t>DELETE Products</a:t>
            </a:r>
          </a:p>
          <a:p>
            <a:pPr lvl="1" fontAlgn="base"/>
            <a:r>
              <a:rPr lang="en-US" dirty="0"/>
              <a:t>WHERE Id=9</a:t>
            </a:r>
          </a:p>
          <a:p>
            <a:pPr lvl="1" fontAlgn="base"/>
            <a:endParaRPr lang="en-US" dirty="0"/>
          </a:p>
          <a:p>
            <a:pPr lvl="1" fontAlgn="base"/>
            <a:r>
              <a:rPr lang="en-US" dirty="0"/>
              <a:t>DELETE Products FROM</a:t>
            </a:r>
          </a:p>
          <a:p>
            <a:pPr lvl="1" fontAlgn="base"/>
            <a:r>
              <a:rPr lang="en-US" dirty="0"/>
              <a:t>(SELECT TOP 2 * FROM Products</a:t>
            </a:r>
          </a:p>
          <a:p>
            <a:pPr lvl="1" fontAlgn="base"/>
            <a:r>
              <a:rPr lang="en-US" dirty="0"/>
              <a:t>WHERE Manufacturer='Apple') AS Selected</a:t>
            </a:r>
          </a:p>
          <a:p>
            <a:pPr lvl="1" fontAlgn="base"/>
            <a:r>
              <a:rPr lang="en-US" dirty="0"/>
              <a:t>WHERE </a:t>
            </a:r>
            <a:r>
              <a:rPr lang="en-US" dirty="0" err="1"/>
              <a:t>Products.Id</a:t>
            </a:r>
            <a:r>
              <a:rPr lang="en-US" dirty="0"/>
              <a:t> = </a:t>
            </a:r>
            <a:r>
              <a:rPr lang="en-US" dirty="0" err="1"/>
              <a:t>Selected.Id</a:t>
            </a:r>
            <a:endParaRPr lang="en-US" dirty="0"/>
          </a:p>
          <a:p>
            <a:pPr lvl="1" fontAlgn="base"/>
            <a:endParaRPr lang="en-US" dirty="0"/>
          </a:p>
          <a:p>
            <a:pPr lvl="1" fontAlgn="base"/>
            <a:endParaRPr lang="ru-RU" dirty="0"/>
          </a:p>
          <a:p>
            <a:endParaRPr lang="ru-RU" dirty="0"/>
          </a:p>
        </p:txBody>
      </p:sp>
    </p:spTree>
    <p:extLst>
      <p:ext uri="{BB962C8B-B14F-4D97-AF65-F5344CB8AC3E}">
        <p14:creationId xmlns:p14="http://schemas.microsoft.com/office/powerpoint/2010/main" val="149245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BB89FDA-2ABD-B6EC-E97D-15D1CC16393F}"/>
              </a:ext>
            </a:extLst>
          </p:cNvPr>
          <p:cNvSpPr>
            <a:spLocks noGrp="1"/>
          </p:cNvSpPr>
          <p:nvPr>
            <p:ph idx="1"/>
          </p:nvPr>
        </p:nvSpPr>
        <p:spPr/>
        <p:txBody>
          <a:bodyPr/>
          <a:lstStyle/>
          <a:p>
            <a:r>
              <a:rPr lang="ru-RU" dirty="0"/>
              <a:t>Если необходимо вовсе удалить </a:t>
            </a:r>
            <a:r>
              <a:rPr lang="ru-RU" dirty="0">
                <a:solidFill>
                  <a:srgbClr val="FF0000"/>
                </a:solidFill>
              </a:rPr>
              <a:t>все</a:t>
            </a:r>
            <a:r>
              <a:rPr lang="ru-RU" dirty="0"/>
              <a:t> строки вне зависимости от условия, то условие можно не указывать:</a:t>
            </a:r>
            <a:endParaRPr lang="en-US" dirty="0"/>
          </a:p>
          <a:p>
            <a:endParaRPr lang="en-US" dirty="0"/>
          </a:p>
          <a:p>
            <a:r>
              <a:rPr lang="en-US" dirty="0"/>
              <a:t>	</a:t>
            </a:r>
            <a:r>
              <a:rPr lang="de-CH" dirty="0"/>
              <a:t>DELETE Products</a:t>
            </a:r>
            <a:endParaRPr lang="ru-RU" dirty="0"/>
          </a:p>
        </p:txBody>
      </p:sp>
    </p:spTree>
    <p:extLst>
      <p:ext uri="{BB962C8B-B14F-4D97-AF65-F5344CB8AC3E}">
        <p14:creationId xmlns:p14="http://schemas.microsoft.com/office/powerpoint/2010/main" val="1860934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46A136FD-5A78-7634-69BD-518725C68647}"/>
              </a:ext>
            </a:extLst>
          </p:cNvPr>
          <p:cNvSpPr>
            <a:spLocks noGrp="1"/>
          </p:cNvSpPr>
          <p:nvPr>
            <p:ph idx="1"/>
          </p:nvPr>
        </p:nvSpPr>
        <p:spPr/>
        <p:txBody>
          <a:bodyPr/>
          <a:lstStyle/>
          <a:p>
            <a:endParaRPr lang="en-US" dirty="0"/>
          </a:p>
          <a:p>
            <a:endParaRPr lang="en-US" dirty="0"/>
          </a:p>
          <a:p>
            <a:pPr lvl="1"/>
            <a:r>
              <a:rPr lang="de-CH" b="1" dirty="0" err="1"/>
              <a:t>Northwind</a:t>
            </a:r>
            <a:r>
              <a:rPr lang="de-CH" b="1" dirty="0"/>
              <a:t> </a:t>
            </a:r>
            <a:r>
              <a:rPr lang="ru-RU" b="1" dirty="0"/>
              <a:t>для </a:t>
            </a:r>
            <a:r>
              <a:rPr lang="de-CH" b="1" dirty="0"/>
              <a:t>SQL Server</a:t>
            </a:r>
          </a:p>
          <a:p>
            <a:pPr lvl="1"/>
            <a:endParaRPr lang="de-CH" dirty="0">
              <a:hlinkClick r:id="rId2"/>
            </a:endParaRPr>
          </a:p>
          <a:p>
            <a:pPr lvl="1"/>
            <a:endParaRPr lang="de-CH" dirty="0">
              <a:hlinkClick r:id="rId2"/>
            </a:endParaRPr>
          </a:p>
          <a:p>
            <a:pPr lvl="1"/>
            <a:r>
              <a:rPr lang="de-CH" dirty="0">
                <a:hlinkClick r:id="rId2"/>
              </a:rPr>
              <a:t>https://github.com/Microsoft/sql-server-samples/tree/master/samples/databases/northwind-pubs</a:t>
            </a:r>
            <a:endParaRPr lang="de-CH" dirty="0"/>
          </a:p>
          <a:p>
            <a:pPr lvl="1"/>
            <a:endParaRPr lang="de-CH" dirty="0"/>
          </a:p>
          <a:p>
            <a:pPr lvl="1"/>
            <a:endParaRPr lang="ru-RU" dirty="0"/>
          </a:p>
        </p:txBody>
      </p:sp>
    </p:spTree>
    <p:extLst>
      <p:ext uri="{BB962C8B-B14F-4D97-AF65-F5344CB8AC3E}">
        <p14:creationId xmlns:p14="http://schemas.microsoft.com/office/powerpoint/2010/main" val="3107479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05EB8788-E833-26C8-C379-6C6977C57869}"/>
              </a:ext>
            </a:extLst>
          </p:cNvPr>
          <p:cNvSpPr>
            <a:spLocks noGrp="1"/>
          </p:cNvSpPr>
          <p:nvPr>
            <p:ph idx="1"/>
          </p:nvPr>
        </p:nvSpPr>
        <p:spPr/>
        <p:txBody>
          <a:bodyPr/>
          <a:lstStyle/>
          <a:p>
            <a:endParaRPr lang="ru-RU"/>
          </a:p>
        </p:txBody>
      </p:sp>
      <p:pic>
        <p:nvPicPr>
          <p:cNvPr id="2050" name="Picture 2">
            <a:extLst>
              <a:ext uri="{FF2B5EF4-FFF2-40B4-BE49-F238E27FC236}">
                <a16:creationId xmlns:a16="http://schemas.microsoft.com/office/drawing/2014/main" id="{3A5D3F40-68F7-C6F2-F7D3-2DCB6CE9AB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1261" y="737134"/>
            <a:ext cx="5689478" cy="5577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837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0F454EDC-EDFF-01AB-5911-08C20696FE03}"/>
              </a:ext>
            </a:extLst>
          </p:cNvPr>
          <p:cNvSpPr>
            <a:spLocks noGrp="1"/>
          </p:cNvSpPr>
          <p:nvPr>
            <p:ph idx="1"/>
          </p:nvPr>
        </p:nvSpPr>
        <p:spPr/>
        <p:txBody>
          <a:bodyPr/>
          <a:lstStyle/>
          <a:p>
            <a:pPr lvl="1"/>
            <a:endParaRPr lang="en-US" dirty="0"/>
          </a:p>
          <a:p>
            <a:pPr lvl="1"/>
            <a:r>
              <a:rPr lang="ru-RU" b="1" dirty="0"/>
              <a:t>Основные таблицы и сущности</a:t>
            </a:r>
            <a:endParaRPr lang="en-US" b="1" dirty="0"/>
          </a:p>
          <a:p>
            <a:pPr lvl="1"/>
            <a:endParaRPr lang="ru-RU" dirty="0"/>
          </a:p>
          <a:p>
            <a:pPr marL="800100" lvl="1" indent="-342900">
              <a:buFont typeface="Arial" panose="020B0604020202020204" pitchFamily="34" charset="0"/>
              <a:buChar char="•"/>
            </a:pPr>
            <a:r>
              <a:rPr lang="ru-RU" sz="2000" dirty="0" err="1"/>
              <a:t>Customers</a:t>
            </a:r>
            <a:r>
              <a:rPr lang="ru-RU" sz="2000" dirty="0"/>
              <a:t>: Информация о клиентах.</a:t>
            </a:r>
          </a:p>
          <a:p>
            <a:pPr marL="800100" lvl="1" indent="-342900">
              <a:buFont typeface="Arial" panose="020B0604020202020204" pitchFamily="34" charset="0"/>
              <a:buChar char="•"/>
            </a:pPr>
            <a:r>
              <a:rPr lang="ru-RU" sz="2000" dirty="0" err="1"/>
              <a:t>Orders</a:t>
            </a:r>
            <a:r>
              <a:rPr lang="ru-RU" sz="2000" dirty="0"/>
              <a:t>: Сведения о заказах, включая дату заказа, клиента и статус.</a:t>
            </a:r>
          </a:p>
          <a:p>
            <a:pPr marL="800100" lvl="1" indent="-342900">
              <a:buFont typeface="Arial" panose="020B0604020202020204" pitchFamily="34" charset="0"/>
              <a:buChar char="•"/>
            </a:pPr>
            <a:r>
              <a:rPr lang="ru-RU" sz="2000" dirty="0" err="1"/>
              <a:t>OrderDetails</a:t>
            </a:r>
            <a:r>
              <a:rPr lang="ru-RU" sz="2000" dirty="0"/>
              <a:t>: Подробная информация о каждом товаре в заказе, включая количество и цену.</a:t>
            </a:r>
          </a:p>
          <a:p>
            <a:pPr marL="800100" lvl="1" indent="-342900">
              <a:buFont typeface="Arial" panose="020B0604020202020204" pitchFamily="34" charset="0"/>
              <a:buChar char="•"/>
            </a:pPr>
            <a:r>
              <a:rPr lang="ru-RU" sz="2000" dirty="0"/>
              <a:t>Products: Список продуктов, продаваемых компанией.</a:t>
            </a:r>
          </a:p>
          <a:p>
            <a:pPr marL="800100" lvl="1" indent="-342900">
              <a:buFont typeface="Arial" panose="020B0604020202020204" pitchFamily="34" charset="0"/>
              <a:buChar char="•"/>
            </a:pPr>
            <a:r>
              <a:rPr lang="ru-RU" sz="2000" dirty="0" err="1"/>
              <a:t>Suppliers</a:t>
            </a:r>
            <a:r>
              <a:rPr lang="ru-RU" sz="2000" dirty="0"/>
              <a:t>: Информация о поставщиках.</a:t>
            </a:r>
          </a:p>
          <a:p>
            <a:pPr marL="800100" lvl="1" indent="-342900">
              <a:buFont typeface="Arial" panose="020B0604020202020204" pitchFamily="34" charset="0"/>
              <a:buChar char="•"/>
            </a:pPr>
            <a:r>
              <a:rPr lang="ru-RU" sz="2000" dirty="0" err="1"/>
              <a:t>Employees</a:t>
            </a:r>
            <a:r>
              <a:rPr lang="ru-RU" sz="2000" dirty="0"/>
              <a:t>: Данные о сотрудниках, ответственных за заказы.</a:t>
            </a:r>
          </a:p>
          <a:p>
            <a:pPr marL="800100" lvl="1" indent="-342900">
              <a:buFont typeface="Arial" panose="020B0604020202020204" pitchFamily="34" charset="0"/>
              <a:buChar char="•"/>
            </a:pPr>
            <a:r>
              <a:rPr lang="ru-RU" sz="2000" dirty="0" err="1"/>
              <a:t>Categories</a:t>
            </a:r>
            <a:r>
              <a:rPr lang="ru-RU" sz="2000" dirty="0"/>
              <a:t>: Список категорий товаров.</a:t>
            </a:r>
          </a:p>
          <a:p>
            <a:pPr marL="800100" lvl="1" indent="-342900">
              <a:buFont typeface="Arial" panose="020B0604020202020204" pitchFamily="34" charset="0"/>
              <a:buChar char="•"/>
            </a:pPr>
            <a:r>
              <a:rPr lang="ru-RU" sz="2000" dirty="0" err="1"/>
              <a:t>Shippers</a:t>
            </a:r>
            <a:r>
              <a:rPr lang="ru-RU" sz="2000" dirty="0"/>
              <a:t>: Информация о службах доставки.</a:t>
            </a:r>
          </a:p>
          <a:p>
            <a:endParaRPr lang="ru-RU" dirty="0"/>
          </a:p>
        </p:txBody>
      </p:sp>
    </p:spTree>
    <p:extLst>
      <p:ext uri="{BB962C8B-B14F-4D97-AF65-F5344CB8AC3E}">
        <p14:creationId xmlns:p14="http://schemas.microsoft.com/office/powerpoint/2010/main" val="838526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A53288B-EEC1-9894-0E39-5F5B6D890818}"/>
              </a:ext>
            </a:extLst>
          </p:cNvPr>
          <p:cNvSpPr>
            <a:spLocks noGrp="1"/>
          </p:cNvSpPr>
          <p:nvPr>
            <p:ph idx="1"/>
          </p:nvPr>
        </p:nvSpPr>
        <p:spPr/>
        <p:txBody>
          <a:bodyPr>
            <a:normAutofit/>
          </a:bodyPr>
          <a:lstStyle/>
          <a:p>
            <a:r>
              <a:rPr lang="ru-RU" b="1" dirty="0"/>
              <a:t>Группировка</a:t>
            </a:r>
          </a:p>
          <a:p>
            <a:r>
              <a:rPr lang="ru-RU" b="1" dirty="0"/>
              <a:t>Агрегатные функции</a:t>
            </a:r>
          </a:p>
          <a:p>
            <a:r>
              <a:rPr lang="ru-RU" dirty="0"/>
              <a:t>Агрегатные функции выполняют вычисления над значениями в наборе строк. В T-SQL имеются следующие агрегатные функции:</a:t>
            </a:r>
            <a:endParaRPr lang="en-US" dirty="0"/>
          </a:p>
          <a:p>
            <a:endParaRPr lang="en-US" dirty="0"/>
          </a:p>
          <a:p>
            <a:pPr marL="800100" lvl="1" indent="-342900">
              <a:buFont typeface="Arial" panose="020B0604020202020204" pitchFamily="34" charset="0"/>
              <a:buChar char="•"/>
            </a:pPr>
            <a:r>
              <a:rPr lang="ru-RU" dirty="0"/>
              <a:t>AVG: находит среднее значение</a:t>
            </a:r>
          </a:p>
          <a:p>
            <a:pPr marL="800100" lvl="1" indent="-342900">
              <a:buFont typeface="Arial" panose="020B0604020202020204" pitchFamily="34" charset="0"/>
              <a:buChar char="•"/>
            </a:pPr>
            <a:endParaRPr lang="ru-RU" dirty="0"/>
          </a:p>
          <a:p>
            <a:pPr marL="800100" lvl="1" indent="-342900">
              <a:buFont typeface="Arial" panose="020B0604020202020204" pitchFamily="34" charset="0"/>
              <a:buChar char="•"/>
            </a:pPr>
            <a:r>
              <a:rPr lang="ru-RU" dirty="0"/>
              <a:t>SUM: находит сумму значений</a:t>
            </a:r>
          </a:p>
          <a:p>
            <a:pPr marL="800100" lvl="1" indent="-342900">
              <a:buFont typeface="Arial" panose="020B0604020202020204" pitchFamily="34" charset="0"/>
              <a:buChar char="•"/>
            </a:pPr>
            <a:endParaRPr lang="ru-RU" dirty="0"/>
          </a:p>
          <a:p>
            <a:pPr marL="800100" lvl="1" indent="-342900">
              <a:buFont typeface="Arial" panose="020B0604020202020204" pitchFamily="34" charset="0"/>
              <a:buChar char="•"/>
            </a:pPr>
            <a:r>
              <a:rPr lang="ru-RU" dirty="0"/>
              <a:t>MIN: находит наименьшее значение</a:t>
            </a:r>
          </a:p>
          <a:p>
            <a:pPr marL="800100" lvl="1" indent="-342900">
              <a:buFont typeface="Arial" panose="020B0604020202020204" pitchFamily="34" charset="0"/>
              <a:buChar char="•"/>
            </a:pPr>
            <a:endParaRPr lang="ru-RU" dirty="0"/>
          </a:p>
          <a:p>
            <a:pPr marL="800100" lvl="1" indent="-342900">
              <a:buFont typeface="Arial" panose="020B0604020202020204" pitchFamily="34" charset="0"/>
              <a:buChar char="•"/>
            </a:pPr>
            <a:r>
              <a:rPr lang="ru-RU" dirty="0"/>
              <a:t>MAX: находит наибольшее значение</a:t>
            </a:r>
          </a:p>
          <a:p>
            <a:pPr marL="800100" lvl="1" indent="-342900">
              <a:buFont typeface="Arial" panose="020B0604020202020204" pitchFamily="34" charset="0"/>
              <a:buChar char="•"/>
            </a:pPr>
            <a:endParaRPr lang="ru-RU" dirty="0"/>
          </a:p>
          <a:p>
            <a:pPr marL="800100" lvl="1" indent="-342900">
              <a:buFont typeface="Arial" panose="020B0604020202020204" pitchFamily="34" charset="0"/>
              <a:buChar char="•"/>
            </a:pPr>
            <a:r>
              <a:rPr lang="ru-RU" dirty="0"/>
              <a:t>COUNT: находит количество строк в запросе</a:t>
            </a:r>
          </a:p>
        </p:txBody>
      </p:sp>
    </p:spTree>
    <p:extLst>
      <p:ext uri="{BB962C8B-B14F-4D97-AF65-F5344CB8AC3E}">
        <p14:creationId xmlns:p14="http://schemas.microsoft.com/office/powerpoint/2010/main" val="2027335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0B9C572-65C2-43B3-FCEC-6226CF39BE59}"/>
              </a:ext>
            </a:extLst>
          </p:cNvPr>
          <p:cNvSpPr>
            <a:spLocks noGrp="1"/>
          </p:cNvSpPr>
          <p:nvPr>
            <p:ph idx="1"/>
          </p:nvPr>
        </p:nvSpPr>
        <p:spPr/>
        <p:txBody>
          <a:bodyPr/>
          <a:lstStyle/>
          <a:p>
            <a:endParaRPr lang="en-US" dirty="0"/>
          </a:p>
          <a:p>
            <a:r>
              <a:rPr lang="en-US" dirty="0"/>
              <a:t>	</a:t>
            </a:r>
            <a:r>
              <a:rPr lang="ru-RU" dirty="0"/>
              <a:t>Выражения в функциях </a:t>
            </a:r>
            <a:r>
              <a:rPr lang="ru-RU" b="1" dirty="0"/>
              <a:t>AVG</a:t>
            </a:r>
            <a:r>
              <a:rPr lang="ru-RU" dirty="0"/>
              <a:t> и </a:t>
            </a:r>
            <a:r>
              <a:rPr lang="ru-RU" b="1" dirty="0"/>
              <a:t>SUM</a:t>
            </a:r>
            <a:r>
              <a:rPr lang="ru-RU" dirty="0"/>
              <a:t> должно представлять </a:t>
            </a:r>
            <a:r>
              <a:rPr lang="en-US" dirty="0"/>
              <a:t>	</a:t>
            </a:r>
            <a:r>
              <a:rPr lang="ru-RU" dirty="0"/>
              <a:t>числовое значение</a:t>
            </a:r>
            <a:r>
              <a:rPr lang="en-US" dirty="0"/>
              <a:t>.</a:t>
            </a:r>
          </a:p>
          <a:p>
            <a:r>
              <a:rPr lang="en-US" dirty="0"/>
              <a:t>	</a:t>
            </a:r>
          </a:p>
          <a:p>
            <a:r>
              <a:rPr lang="en-US" dirty="0"/>
              <a:t>	</a:t>
            </a:r>
            <a:r>
              <a:rPr lang="ru-RU" dirty="0"/>
              <a:t>Выражение в функциях </a:t>
            </a:r>
            <a:r>
              <a:rPr lang="ru-RU" b="1" dirty="0"/>
              <a:t>MIN</a:t>
            </a:r>
            <a:r>
              <a:rPr lang="ru-RU" dirty="0"/>
              <a:t>, </a:t>
            </a:r>
            <a:r>
              <a:rPr lang="ru-RU" b="1" dirty="0"/>
              <a:t>MAX</a:t>
            </a:r>
            <a:r>
              <a:rPr lang="ru-RU" dirty="0"/>
              <a:t> и </a:t>
            </a:r>
            <a:r>
              <a:rPr lang="ru-RU" b="1" dirty="0"/>
              <a:t>COUNT</a:t>
            </a:r>
            <a:r>
              <a:rPr lang="ru-RU" dirty="0"/>
              <a:t> может представлять </a:t>
            </a:r>
            <a:r>
              <a:rPr lang="en-US" dirty="0"/>
              <a:t>	</a:t>
            </a:r>
            <a:r>
              <a:rPr lang="ru-RU" dirty="0"/>
              <a:t>числовое или строковое значение или дату.</a:t>
            </a:r>
            <a:endParaRPr lang="en-US" dirty="0"/>
          </a:p>
          <a:p>
            <a:endParaRPr lang="en-US" dirty="0"/>
          </a:p>
          <a:p>
            <a:r>
              <a:rPr lang="en-US" dirty="0"/>
              <a:t>	</a:t>
            </a:r>
            <a:r>
              <a:rPr lang="ru-RU" dirty="0"/>
              <a:t>Все агрегатные функции за исключением COUNT(*) игнорируют </a:t>
            </a:r>
            <a:r>
              <a:rPr lang="en-US" dirty="0"/>
              <a:t>	</a:t>
            </a:r>
            <a:r>
              <a:rPr lang="ru-RU" dirty="0"/>
              <a:t>значения NULL.</a:t>
            </a:r>
            <a:endParaRPr lang="en-US" dirty="0"/>
          </a:p>
          <a:p>
            <a:endParaRPr lang="en-US" dirty="0"/>
          </a:p>
          <a:p>
            <a:r>
              <a:rPr lang="en-US" dirty="0"/>
              <a:t>	</a:t>
            </a:r>
            <a:endParaRPr lang="ru-RU" dirty="0"/>
          </a:p>
        </p:txBody>
      </p:sp>
    </p:spTree>
    <p:extLst>
      <p:ext uri="{BB962C8B-B14F-4D97-AF65-F5344CB8AC3E}">
        <p14:creationId xmlns:p14="http://schemas.microsoft.com/office/powerpoint/2010/main" val="422280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D973DE8D-1EA9-E7BE-15DC-6FBFD7FD7962}"/>
              </a:ext>
            </a:extLst>
          </p:cNvPr>
          <p:cNvSpPr>
            <a:spLocks noGrp="1"/>
          </p:cNvSpPr>
          <p:nvPr>
            <p:ph idx="1"/>
          </p:nvPr>
        </p:nvSpPr>
        <p:spPr/>
        <p:txBody>
          <a:bodyPr/>
          <a:lstStyle/>
          <a:p>
            <a:r>
              <a:rPr lang="ru-RU" b="1" dirty="0" err="1"/>
              <a:t>Avg</a:t>
            </a:r>
            <a:endParaRPr lang="ru-RU" b="1" dirty="0"/>
          </a:p>
          <a:p>
            <a:r>
              <a:rPr lang="ru-RU" dirty="0"/>
              <a:t>Функция </a:t>
            </a:r>
            <a:r>
              <a:rPr lang="ru-RU" b="1" dirty="0" err="1"/>
              <a:t>Avg</a:t>
            </a:r>
            <a:r>
              <a:rPr lang="ru-RU" dirty="0"/>
              <a:t> возвращает среднее значение на диапазоне значений столбца таблицы.</a:t>
            </a:r>
          </a:p>
          <a:p>
            <a:endParaRPr lang="en-US" dirty="0"/>
          </a:p>
          <a:p>
            <a:r>
              <a:rPr lang="ru-RU" dirty="0"/>
              <a:t>Получение средней </a:t>
            </a:r>
            <a:r>
              <a:rPr lang="ru-RU" dirty="0" err="1"/>
              <a:t>це</a:t>
            </a:r>
            <a:r>
              <a:rPr lang="en-US" dirty="0"/>
              <a:t>y</a:t>
            </a:r>
            <a:r>
              <a:rPr lang="ru-RU" dirty="0"/>
              <a:t>ы продуктов</a:t>
            </a:r>
            <a:r>
              <a:rPr lang="en-US" dirty="0"/>
              <a:t>:</a:t>
            </a:r>
          </a:p>
          <a:p>
            <a:endParaRPr lang="en-US" dirty="0"/>
          </a:p>
          <a:p>
            <a:pPr lvl="1"/>
            <a:r>
              <a:rPr lang="en-US" dirty="0"/>
              <a:t>SELECT AVG(UnitPrice) as Average  </a:t>
            </a:r>
          </a:p>
          <a:p>
            <a:pPr lvl="1"/>
            <a:r>
              <a:rPr lang="de-CH" dirty="0"/>
              <a:t>  FROM [</a:t>
            </a:r>
            <a:r>
              <a:rPr lang="de-CH" dirty="0" err="1"/>
              <a:t>Northwind</a:t>
            </a:r>
            <a:r>
              <a:rPr lang="de-CH" dirty="0"/>
              <a:t>].[</a:t>
            </a:r>
            <a:r>
              <a:rPr lang="de-CH" dirty="0" err="1"/>
              <a:t>dbo</a:t>
            </a:r>
            <a:r>
              <a:rPr lang="de-CH" dirty="0"/>
              <a:t>].[Products]</a:t>
            </a:r>
          </a:p>
          <a:p>
            <a:pPr lvl="1"/>
            <a:endParaRPr lang="de-CH" dirty="0"/>
          </a:p>
          <a:p>
            <a:pPr lvl="1"/>
            <a:r>
              <a:rPr lang="en-US" dirty="0"/>
              <a:t>SELECT AVG(UnitPrice) as Average  </a:t>
            </a:r>
          </a:p>
          <a:p>
            <a:pPr lvl="1"/>
            <a:r>
              <a:rPr lang="en-US" dirty="0"/>
              <a:t>  FROM [</a:t>
            </a:r>
            <a:r>
              <a:rPr lang="en-US" dirty="0" err="1"/>
              <a:t>dbo</a:t>
            </a:r>
            <a:r>
              <a:rPr lang="en-US" dirty="0"/>
              <a:t>].[Products]</a:t>
            </a:r>
          </a:p>
          <a:p>
            <a:pPr lvl="1"/>
            <a:r>
              <a:rPr lang="en-US" dirty="0"/>
              <a:t>  WHERE </a:t>
            </a:r>
            <a:r>
              <a:rPr lang="en-US" dirty="0" err="1"/>
              <a:t>CategoryID</a:t>
            </a:r>
            <a:r>
              <a:rPr lang="en-US" dirty="0"/>
              <a:t>=1</a:t>
            </a:r>
            <a:endParaRPr lang="ru-RU" dirty="0"/>
          </a:p>
        </p:txBody>
      </p:sp>
    </p:spTree>
    <p:extLst>
      <p:ext uri="{BB962C8B-B14F-4D97-AF65-F5344CB8AC3E}">
        <p14:creationId xmlns:p14="http://schemas.microsoft.com/office/powerpoint/2010/main" val="1502748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C4A3F47-D5E4-A587-9910-8A8F764049A9}"/>
              </a:ext>
            </a:extLst>
          </p:cNvPr>
          <p:cNvSpPr>
            <a:spLocks noGrp="1"/>
          </p:cNvSpPr>
          <p:nvPr>
            <p:ph idx="1"/>
          </p:nvPr>
        </p:nvSpPr>
        <p:spPr/>
        <p:txBody>
          <a:bodyPr/>
          <a:lstStyle/>
          <a:p>
            <a:r>
              <a:rPr lang="ru-RU" dirty="0"/>
              <a:t>Можно находить среднее для более сложных выражение</a:t>
            </a:r>
            <a:r>
              <a:rPr lang="en-US" dirty="0"/>
              <a:t>:</a:t>
            </a:r>
          </a:p>
          <a:p>
            <a:endParaRPr lang="en-US" dirty="0"/>
          </a:p>
          <a:p>
            <a:pPr lvl="1"/>
            <a:r>
              <a:rPr lang="en-US" dirty="0"/>
              <a:t>SELECT AVG(UnitPrice * </a:t>
            </a:r>
            <a:r>
              <a:rPr lang="en-US" dirty="0" err="1"/>
              <a:t>UnitsInStock</a:t>
            </a:r>
            <a:r>
              <a:rPr lang="en-US" dirty="0"/>
              <a:t>) as Average  </a:t>
            </a:r>
          </a:p>
          <a:p>
            <a:pPr lvl="1"/>
            <a:r>
              <a:rPr lang="de-CH" dirty="0"/>
              <a:t>  FROM [</a:t>
            </a:r>
            <a:r>
              <a:rPr lang="de-CH" dirty="0" err="1"/>
              <a:t>dbo</a:t>
            </a:r>
            <a:r>
              <a:rPr lang="de-CH" dirty="0"/>
              <a:t>].[Products]</a:t>
            </a:r>
          </a:p>
          <a:p>
            <a:pPr lvl="1"/>
            <a:r>
              <a:rPr lang="de-CH" dirty="0"/>
              <a:t>  WHERE </a:t>
            </a:r>
            <a:r>
              <a:rPr lang="de-CH" dirty="0" err="1"/>
              <a:t>CategoryID</a:t>
            </a:r>
            <a:r>
              <a:rPr lang="de-CH" dirty="0"/>
              <a:t>=1</a:t>
            </a:r>
            <a:endParaRPr lang="ru-RU" dirty="0"/>
          </a:p>
        </p:txBody>
      </p:sp>
    </p:spTree>
    <p:extLst>
      <p:ext uri="{BB962C8B-B14F-4D97-AF65-F5344CB8AC3E}">
        <p14:creationId xmlns:p14="http://schemas.microsoft.com/office/powerpoint/2010/main" val="2908923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2E55942-12A0-DAD8-DFDA-2D554FE1309B}"/>
              </a:ext>
            </a:extLst>
          </p:cNvPr>
          <p:cNvSpPr>
            <a:spLocks noGrp="1"/>
          </p:cNvSpPr>
          <p:nvPr>
            <p:ph idx="1"/>
          </p:nvPr>
        </p:nvSpPr>
        <p:spPr/>
        <p:txBody>
          <a:bodyPr/>
          <a:lstStyle/>
          <a:p>
            <a:r>
              <a:rPr lang="de-CH" b="1" dirty="0"/>
              <a:t>Count</a:t>
            </a:r>
          </a:p>
          <a:p>
            <a:endParaRPr lang="de-CH" b="1" dirty="0"/>
          </a:p>
          <a:p>
            <a:pPr lvl="1"/>
            <a:r>
              <a:rPr lang="ru-RU" dirty="0"/>
              <a:t>Функция </a:t>
            </a:r>
            <a:r>
              <a:rPr lang="ru-RU" b="1" dirty="0" err="1"/>
              <a:t>Count</a:t>
            </a:r>
            <a:r>
              <a:rPr lang="ru-RU" dirty="0"/>
              <a:t> вычисляет количество строк в выборке. Есть две формы этой функции. Первая форма COUNT(*) подсчитывает число строк в выборке:</a:t>
            </a:r>
            <a:endParaRPr lang="en-US" dirty="0"/>
          </a:p>
          <a:p>
            <a:pPr lvl="1"/>
            <a:endParaRPr lang="en-US" dirty="0"/>
          </a:p>
          <a:p>
            <a:pPr lvl="1"/>
            <a:r>
              <a:rPr lang="en-US" dirty="0"/>
              <a:t>SELECT COUNT(*) AS COUNT</a:t>
            </a:r>
          </a:p>
          <a:p>
            <a:pPr lvl="1"/>
            <a:r>
              <a:rPr lang="en-US" dirty="0"/>
              <a:t>  FROM [</a:t>
            </a:r>
            <a:r>
              <a:rPr lang="en-US" dirty="0" err="1"/>
              <a:t>dbo</a:t>
            </a:r>
            <a:r>
              <a:rPr lang="en-US" dirty="0"/>
              <a:t>].[Orders]</a:t>
            </a:r>
          </a:p>
          <a:p>
            <a:pPr lvl="1"/>
            <a:endParaRPr lang="en-US" dirty="0"/>
          </a:p>
          <a:p>
            <a:pPr lvl="1"/>
            <a:r>
              <a:rPr lang="ru-RU" dirty="0"/>
              <a:t>Вторая форма функции вычисляет количество строк по определенному столбцу, при этом строки со значениями NULL игнорируются:</a:t>
            </a:r>
            <a:endParaRPr lang="en-US" dirty="0"/>
          </a:p>
          <a:p>
            <a:pPr lvl="1"/>
            <a:endParaRPr lang="en-US" dirty="0"/>
          </a:p>
          <a:p>
            <a:pPr lvl="1"/>
            <a:r>
              <a:rPr lang="en-US" dirty="0"/>
              <a:t>SELECT COUNT(</a:t>
            </a:r>
            <a:r>
              <a:rPr lang="en-US" dirty="0" err="1"/>
              <a:t>ShipRegion</a:t>
            </a:r>
            <a:r>
              <a:rPr lang="en-US" dirty="0"/>
              <a:t>) AS COUNT</a:t>
            </a:r>
          </a:p>
          <a:p>
            <a:pPr lvl="1"/>
            <a:r>
              <a:rPr lang="de-CH" dirty="0"/>
              <a:t>  FROM [</a:t>
            </a:r>
            <a:r>
              <a:rPr lang="de-CH" dirty="0" err="1"/>
              <a:t>dbo</a:t>
            </a:r>
            <a:r>
              <a:rPr lang="de-CH" dirty="0"/>
              <a:t>].[Orders]</a:t>
            </a:r>
            <a:endParaRPr lang="ru-RU" dirty="0"/>
          </a:p>
        </p:txBody>
      </p:sp>
    </p:spTree>
    <p:extLst>
      <p:ext uri="{BB962C8B-B14F-4D97-AF65-F5344CB8AC3E}">
        <p14:creationId xmlns:p14="http://schemas.microsoft.com/office/powerpoint/2010/main" val="2910251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C649ADC-C011-6A16-9A43-A2633DFD6271}"/>
              </a:ext>
            </a:extLst>
          </p:cNvPr>
          <p:cNvSpPr>
            <a:spLocks noGrp="1"/>
          </p:cNvSpPr>
          <p:nvPr>
            <p:ph idx="1"/>
          </p:nvPr>
        </p:nvSpPr>
        <p:spPr/>
        <p:txBody>
          <a:bodyPr/>
          <a:lstStyle/>
          <a:p>
            <a:r>
              <a:rPr lang="de-CH" b="1" dirty="0"/>
              <a:t>Min </a:t>
            </a:r>
            <a:r>
              <a:rPr lang="ru-RU" b="1" dirty="0"/>
              <a:t>и </a:t>
            </a:r>
            <a:r>
              <a:rPr lang="de-CH" b="1" dirty="0"/>
              <a:t>Max</a:t>
            </a:r>
          </a:p>
          <a:p>
            <a:r>
              <a:rPr lang="ru-RU" dirty="0"/>
              <a:t>Функции </a:t>
            </a:r>
            <a:r>
              <a:rPr lang="ru-RU" b="1" dirty="0" err="1"/>
              <a:t>Min</a:t>
            </a:r>
            <a:r>
              <a:rPr lang="ru-RU" dirty="0"/>
              <a:t> и </a:t>
            </a:r>
            <a:r>
              <a:rPr lang="ru-RU" b="1" dirty="0"/>
              <a:t>Max</a:t>
            </a:r>
            <a:r>
              <a:rPr lang="ru-RU" dirty="0"/>
              <a:t> возвращают соответственно минимальное и максимальное значение по столбцу.</a:t>
            </a:r>
            <a:endParaRPr lang="en-US" dirty="0"/>
          </a:p>
          <a:p>
            <a:endParaRPr lang="en-US" dirty="0"/>
          </a:p>
          <a:p>
            <a:r>
              <a:rPr lang="en-US" dirty="0"/>
              <a:t> 	Max</a:t>
            </a:r>
          </a:p>
          <a:p>
            <a:r>
              <a:rPr lang="en-US" dirty="0"/>
              <a:t>	SELECT MAX(UnitPrice) AS </a:t>
            </a:r>
            <a:r>
              <a:rPr lang="en-US" dirty="0" err="1"/>
              <a:t>MfxPrice</a:t>
            </a:r>
            <a:r>
              <a:rPr lang="en-US" dirty="0"/>
              <a:t> FROM [</a:t>
            </a:r>
            <a:r>
              <a:rPr lang="en-US" dirty="0" err="1"/>
              <a:t>dbo</a:t>
            </a:r>
            <a:r>
              <a:rPr lang="en-US" dirty="0"/>
              <a:t>].[Products]</a:t>
            </a:r>
          </a:p>
          <a:p>
            <a:endParaRPr lang="en-US" dirty="0"/>
          </a:p>
          <a:p>
            <a:r>
              <a:rPr lang="en-US" dirty="0"/>
              <a:t>	Min</a:t>
            </a:r>
          </a:p>
          <a:p>
            <a:r>
              <a:rPr lang="en-US" dirty="0"/>
              <a:t>	SELECT MIN(UnitPrice) AS </a:t>
            </a:r>
            <a:r>
              <a:rPr lang="en-US" dirty="0" err="1"/>
              <a:t>MfxPrice</a:t>
            </a:r>
            <a:r>
              <a:rPr lang="en-US" dirty="0"/>
              <a:t> FROM [</a:t>
            </a:r>
            <a:r>
              <a:rPr lang="en-US" dirty="0" err="1"/>
              <a:t>dbo</a:t>
            </a:r>
            <a:r>
              <a:rPr lang="en-US" dirty="0"/>
              <a:t>].[Products]</a:t>
            </a:r>
          </a:p>
        </p:txBody>
      </p:sp>
    </p:spTree>
    <p:extLst>
      <p:ext uri="{BB962C8B-B14F-4D97-AF65-F5344CB8AC3E}">
        <p14:creationId xmlns:p14="http://schemas.microsoft.com/office/powerpoint/2010/main" val="605208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024DD57-685C-7F65-58CA-76342BA1BC26}"/>
              </a:ext>
            </a:extLst>
          </p:cNvPr>
          <p:cNvSpPr>
            <a:spLocks noGrp="1"/>
          </p:cNvSpPr>
          <p:nvPr>
            <p:ph idx="1"/>
          </p:nvPr>
        </p:nvSpPr>
        <p:spPr/>
        <p:txBody>
          <a:bodyPr/>
          <a:lstStyle/>
          <a:p>
            <a:r>
              <a:rPr lang="de-CH" b="1" dirty="0" err="1"/>
              <a:t>Sum</a:t>
            </a:r>
            <a:endParaRPr lang="de-CH" b="1" dirty="0"/>
          </a:p>
          <a:p>
            <a:r>
              <a:rPr lang="ru-RU" dirty="0"/>
              <a:t>Функция </a:t>
            </a:r>
            <a:r>
              <a:rPr lang="ru-RU" b="1" dirty="0" err="1"/>
              <a:t>Sum</a:t>
            </a:r>
            <a:r>
              <a:rPr lang="ru-RU" dirty="0"/>
              <a:t> вычисляет сумму значений столбца. Например, подсчитаем общее количество товаров:</a:t>
            </a:r>
            <a:endParaRPr lang="en-US" dirty="0"/>
          </a:p>
          <a:p>
            <a:endParaRPr lang="en-US" dirty="0"/>
          </a:p>
          <a:p>
            <a:r>
              <a:rPr lang="en-US" dirty="0"/>
              <a:t>	SELECT SUM(UnitPrice) AS SUM FROM [</a:t>
            </a:r>
            <a:r>
              <a:rPr lang="en-US" dirty="0" err="1"/>
              <a:t>dbo</a:t>
            </a:r>
            <a:r>
              <a:rPr lang="en-US" dirty="0"/>
              <a:t>].[Products]</a:t>
            </a:r>
          </a:p>
          <a:p>
            <a:endParaRPr lang="en-US" dirty="0"/>
          </a:p>
          <a:p>
            <a:r>
              <a:rPr lang="en-US" dirty="0"/>
              <a:t>	SELECT SUM(UnitPrice * UnitPrice) AS SUM FROM 	[</a:t>
            </a:r>
            <a:r>
              <a:rPr lang="en-US" dirty="0" err="1"/>
              <a:t>dbo</a:t>
            </a:r>
            <a:r>
              <a:rPr lang="en-US" dirty="0"/>
              <a:t>].[Products]</a:t>
            </a:r>
            <a:endParaRPr lang="ru-RU" dirty="0"/>
          </a:p>
        </p:txBody>
      </p:sp>
    </p:spTree>
    <p:extLst>
      <p:ext uri="{BB962C8B-B14F-4D97-AF65-F5344CB8AC3E}">
        <p14:creationId xmlns:p14="http://schemas.microsoft.com/office/powerpoint/2010/main" val="1332568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179F4C2-B23D-5758-6B9D-1FD798150C3C}"/>
              </a:ext>
            </a:extLst>
          </p:cNvPr>
          <p:cNvSpPr>
            <a:spLocks noGrp="1"/>
          </p:cNvSpPr>
          <p:nvPr>
            <p:ph idx="1"/>
          </p:nvPr>
        </p:nvSpPr>
        <p:spPr/>
        <p:txBody>
          <a:bodyPr/>
          <a:lstStyle/>
          <a:p>
            <a:r>
              <a:rPr lang="de-CH" b="1" dirty="0"/>
              <a:t>All </a:t>
            </a:r>
            <a:r>
              <a:rPr lang="ru-RU" b="1" dirty="0"/>
              <a:t>и </a:t>
            </a:r>
            <a:r>
              <a:rPr lang="de-CH" b="1" dirty="0" err="1"/>
              <a:t>Distinct</a:t>
            </a:r>
            <a:endParaRPr lang="de-CH" b="1" dirty="0"/>
          </a:p>
          <a:p>
            <a:endParaRPr lang="en-US" dirty="0"/>
          </a:p>
          <a:p>
            <a:pPr lvl="1"/>
            <a:r>
              <a:rPr lang="ru-RU" sz="2000" dirty="0"/>
              <a:t>По умолчанию все агрегатные функций учитывают все строки выборки для вычисления результата. Но выборка может содержать повторяющие значения. Если необходимо выполнить вычисления только над уникальными значениями, исключив из набора значений повторяющиеся данные, то для этого применяется оператор </a:t>
            </a:r>
            <a:r>
              <a:rPr lang="ru-RU" sz="2000" b="1" dirty="0"/>
              <a:t>DISTINCT</a:t>
            </a:r>
            <a:r>
              <a:rPr lang="ru-RU" sz="2000" dirty="0"/>
              <a:t>.</a:t>
            </a:r>
          </a:p>
          <a:p>
            <a:endParaRPr lang="ru-RU" dirty="0"/>
          </a:p>
          <a:p>
            <a:r>
              <a:rPr lang="ru-RU" sz="2000" dirty="0"/>
              <a:t>	</a:t>
            </a:r>
            <a:r>
              <a:rPr lang="en-US" sz="2000" dirty="0"/>
              <a:t>SELECT AVG(DISTINCT Quantity) AS </a:t>
            </a:r>
            <a:r>
              <a:rPr lang="en-US" sz="2000" dirty="0" err="1"/>
              <a:t>MfxPrice</a:t>
            </a:r>
            <a:r>
              <a:rPr lang="en-US" sz="2000" dirty="0"/>
              <a:t> FROM [</a:t>
            </a:r>
            <a:r>
              <a:rPr lang="en-US" sz="2000" dirty="0" err="1"/>
              <a:t>dbo</a:t>
            </a:r>
            <a:r>
              <a:rPr lang="en-US" sz="2000" dirty="0"/>
              <a:t>].[Order Details]</a:t>
            </a:r>
            <a:endParaRPr lang="ru-RU" sz="2000" dirty="0"/>
          </a:p>
          <a:p>
            <a:endParaRPr lang="ru-RU" sz="2000" dirty="0"/>
          </a:p>
          <a:p>
            <a:r>
              <a:rPr lang="en-US" sz="2000" dirty="0"/>
              <a:t>	SELECT AVG(ALL Quantity) AS </a:t>
            </a:r>
            <a:r>
              <a:rPr lang="en-US" sz="2000" dirty="0" err="1"/>
              <a:t>MfxPrice</a:t>
            </a:r>
            <a:r>
              <a:rPr lang="en-US" sz="2000" dirty="0"/>
              <a:t> FROM [</a:t>
            </a:r>
            <a:r>
              <a:rPr lang="en-US" sz="2000" dirty="0" err="1"/>
              <a:t>dbo</a:t>
            </a:r>
            <a:r>
              <a:rPr lang="en-US" sz="2000" dirty="0"/>
              <a:t>].[Order Details]</a:t>
            </a:r>
          </a:p>
          <a:p>
            <a:endParaRPr lang="en-US" sz="2000" dirty="0"/>
          </a:p>
          <a:p>
            <a:endParaRPr lang="ru-RU" dirty="0"/>
          </a:p>
        </p:txBody>
      </p:sp>
    </p:spTree>
    <p:extLst>
      <p:ext uri="{BB962C8B-B14F-4D97-AF65-F5344CB8AC3E}">
        <p14:creationId xmlns:p14="http://schemas.microsoft.com/office/powerpoint/2010/main" val="2481493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6A4166CE-5BE1-F67E-2E55-AB932CCFB6E3}"/>
              </a:ext>
            </a:extLst>
          </p:cNvPr>
          <p:cNvSpPr>
            <a:spLocks noGrp="1"/>
          </p:cNvSpPr>
          <p:nvPr>
            <p:ph idx="1"/>
          </p:nvPr>
        </p:nvSpPr>
        <p:spPr/>
        <p:txBody>
          <a:bodyPr/>
          <a:lstStyle/>
          <a:p>
            <a:r>
              <a:rPr lang="ru-RU" b="1" dirty="0"/>
              <a:t>Комбинирование функций</a:t>
            </a:r>
          </a:p>
          <a:p>
            <a:r>
              <a:rPr lang="ru-RU" dirty="0"/>
              <a:t>Объединим применение нескольких функций:</a:t>
            </a:r>
          </a:p>
          <a:p>
            <a:endParaRPr lang="en-US" dirty="0"/>
          </a:p>
          <a:p>
            <a:pPr lvl="1"/>
            <a:endParaRPr lang="de-CH" dirty="0"/>
          </a:p>
          <a:p>
            <a:pPr lvl="1"/>
            <a:r>
              <a:rPr lang="de-CH" dirty="0"/>
              <a:t>SELECT </a:t>
            </a:r>
          </a:p>
          <a:p>
            <a:pPr lvl="1"/>
            <a:r>
              <a:rPr lang="de-CH" dirty="0"/>
              <a:t>MAX(</a:t>
            </a:r>
            <a:r>
              <a:rPr lang="de-CH" dirty="0" err="1"/>
              <a:t>UnitPrice</a:t>
            </a:r>
            <a:r>
              <a:rPr lang="de-CH" dirty="0"/>
              <a:t>) AS MAXPRICE,</a:t>
            </a:r>
          </a:p>
          <a:p>
            <a:pPr lvl="1"/>
            <a:r>
              <a:rPr lang="de-CH" dirty="0"/>
              <a:t>MIN(</a:t>
            </a:r>
            <a:r>
              <a:rPr lang="de-CH" dirty="0" err="1"/>
              <a:t>UnitPrice</a:t>
            </a:r>
            <a:r>
              <a:rPr lang="de-CH" dirty="0"/>
              <a:t>) AS  MINPRICE,</a:t>
            </a:r>
          </a:p>
          <a:p>
            <a:pPr lvl="1"/>
            <a:r>
              <a:rPr lang="de-CH" dirty="0"/>
              <a:t>AVG(</a:t>
            </a:r>
            <a:r>
              <a:rPr lang="de-CH" dirty="0" err="1"/>
              <a:t>UnitsOnOrder</a:t>
            </a:r>
            <a:r>
              <a:rPr lang="de-CH" dirty="0"/>
              <a:t>) AS AVERAGE</a:t>
            </a:r>
          </a:p>
          <a:p>
            <a:pPr lvl="1"/>
            <a:r>
              <a:rPr lang="de-CH" dirty="0"/>
              <a:t>FROM [</a:t>
            </a:r>
            <a:r>
              <a:rPr lang="de-CH" dirty="0" err="1"/>
              <a:t>dbo</a:t>
            </a:r>
            <a:r>
              <a:rPr lang="de-CH" dirty="0"/>
              <a:t>].[Products]</a:t>
            </a:r>
            <a:endParaRPr lang="ru-RU" dirty="0"/>
          </a:p>
        </p:txBody>
      </p:sp>
    </p:spTree>
    <p:extLst>
      <p:ext uri="{BB962C8B-B14F-4D97-AF65-F5344CB8AC3E}">
        <p14:creationId xmlns:p14="http://schemas.microsoft.com/office/powerpoint/2010/main" val="788420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761E7E1B-FA0B-6632-6A56-69340F7EF9B0}"/>
              </a:ext>
            </a:extLst>
          </p:cNvPr>
          <p:cNvSpPr>
            <a:spLocks noGrp="1"/>
          </p:cNvSpPr>
          <p:nvPr>
            <p:ph idx="1"/>
          </p:nvPr>
        </p:nvSpPr>
        <p:spPr/>
        <p:txBody>
          <a:bodyPr/>
          <a:lstStyle/>
          <a:p>
            <a:r>
              <a:rPr lang="ru-RU" b="1" dirty="0"/>
              <a:t>Операторы GROUP BY и HAVING</a:t>
            </a:r>
          </a:p>
          <a:p>
            <a:endParaRPr lang="en-US" dirty="0"/>
          </a:p>
          <a:p>
            <a:pPr lvl="1"/>
            <a:r>
              <a:rPr lang="ru-RU" sz="2000" dirty="0"/>
              <a:t>Для группировки данных в T-SQL применяются операторы </a:t>
            </a:r>
            <a:r>
              <a:rPr lang="ru-RU" sz="2000" b="1" dirty="0"/>
              <a:t>GROUP BY</a:t>
            </a:r>
            <a:r>
              <a:rPr lang="ru-RU" sz="2000" dirty="0"/>
              <a:t> и </a:t>
            </a:r>
            <a:r>
              <a:rPr lang="ru-RU" sz="2000" b="1" dirty="0"/>
              <a:t>HAVING</a:t>
            </a:r>
            <a:r>
              <a:rPr lang="ru-RU" sz="2000" dirty="0"/>
              <a:t>, для использования которых применяется следующий формальный синтаксис:</a:t>
            </a:r>
            <a:endParaRPr lang="en-US" sz="2000" dirty="0"/>
          </a:p>
          <a:p>
            <a:pPr lvl="1"/>
            <a:endParaRPr lang="en-US" sz="2000" dirty="0"/>
          </a:p>
          <a:p>
            <a:pPr lvl="2" fontAlgn="base"/>
            <a:r>
              <a:rPr lang="de-CH" dirty="0"/>
              <a:t>SELECT </a:t>
            </a:r>
            <a:r>
              <a:rPr lang="ru-RU" dirty="0"/>
              <a:t>столбцы</a:t>
            </a:r>
          </a:p>
          <a:p>
            <a:pPr lvl="2" fontAlgn="base"/>
            <a:r>
              <a:rPr lang="de-CH" dirty="0"/>
              <a:t>FROM </a:t>
            </a:r>
            <a:r>
              <a:rPr lang="ru-RU" dirty="0"/>
              <a:t>таблица</a:t>
            </a:r>
          </a:p>
          <a:p>
            <a:pPr lvl="2" fontAlgn="base"/>
            <a:r>
              <a:rPr lang="ru-RU" dirty="0"/>
              <a:t>[</a:t>
            </a:r>
            <a:r>
              <a:rPr lang="de-CH" dirty="0"/>
              <a:t>WHERE </a:t>
            </a:r>
            <a:r>
              <a:rPr lang="ru-RU" dirty="0" err="1"/>
              <a:t>условие_фильтрации_строк</a:t>
            </a:r>
            <a:r>
              <a:rPr lang="ru-RU" dirty="0"/>
              <a:t>]</a:t>
            </a:r>
          </a:p>
          <a:p>
            <a:pPr lvl="2" fontAlgn="base"/>
            <a:r>
              <a:rPr lang="ru-RU" dirty="0"/>
              <a:t>[</a:t>
            </a:r>
            <a:r>
              <a:rPr lang="de-CH" dirty="0"/>
              <a:t>GROUP BY </a:t>
            </a:r>
            <a:r>
              <a:rPr lang="ru-RU" dirty="0" err="1"/>
              <a:t>столбцы_для_группировки</a:t>
            </a:r>
            <a:r>
              <a:rPr lang="ru-RU" dirty="0"/>
              <a:t>]</a:t>
            </a:r>
          </a:p>
          <a:p>
            <a:pPr lvl="2" fontAlgn="base"/>
            <a:r>
              <a:rPr lang="ru-RU" dirty="0"/>
              <a:t>[</a:t>
            </a:r>
            <a:r>
              <a:rPr lang="de-CH" dirty="0"/>
              <a:t>HAVING </a:t>
            </a:r>
            <a:r>
              <a:rPr lang="ru-RU" dirty="0" err="1"/>
              <a:t>условие_фильтрации_групп</a:t>
            </a:r>
            <a:r>
              <a:rPr lang="ru-RU" dirty="0"/>
              <a:t>]</a:t>
            </a:r>
          </a:p>
          <a:p>
            <a:pPr lvl="2" fontAlgn="base"/>
            <a:r>
              <a:rPr lang="ru-RU" dirty="0"/>
              <a:t>[</a:t>
            </a:r>
            <a:r>
              <a:rPr lang="de-CH" dirty="0"/>
              <a:t>ORDER BY </a:t>
            </a:r>
            <a:r>
              <a:rPr lang="ru-RU" dirty="0" err="1"/>
              <a:t>столбцы_для_сортировки</a:t>
            </a:r>
            <a:r>
              <a:rPr lang="ru-RU" dirty="0"/>
              <a:t>]</a:t>
            </a:r>
          </a:p>
          <a:p>
            <a:pPr lvl="1"/>
            <a:endParaRPr lang="en-US" sz="2000" dirty="0"/>
          </a:p>
        </p:txBody>
      </p:sp>
    </p:spTree>
    <p:extLst>
      <p:ext uri="{BB962C8B-B14F-4D97-AF65-F5344CB8AC3E}">
        <p14:creationId xmlns:p14="http://schemas.microsoft.com/office/powerpoint/2010/main" val="358881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3634E35-9C28-1298-7289-DFC82B00799E}"/>
              </a:ext>
            </a:extLst>
          </p:cNvPr>
          <p:cNvSpPr>
            <a:spLocks noGrp="1"/>
          </p:cNvSpPr>
          <p:nvPr>
            <p:ph idx="1"/>
          </p:nvPr>
        </p:nvSpPr>
        <p:spPr/>
        <p:txBody>
          <a:bodyPr>
            <a:normAutofit/>
          </a:bodyPr>
          <a:lstStyle/>
          <a:p>
            <a:r>
              <a:rPr lang="de-CH" b="1" dirty="0"/>
              <a:t>GROUP BY</a:t>
            </a:r>
          </a:p>
          <a:p>
            <a:endParaRPr lang="en-US" dirty="0"/>
          </a:p>
          <a:p>
            <a:pPr lvl="1"/>
            <a:r>
              <a:rPr lang="ru-RU" dirty="0"/>
              <a:t>Оператор </a:t>
            </a:r>
            <a:r>
              <a:rPr lang="ru-RU" b="1" dirty="0"/>
              <a:t>GROUP BY</a:t>
            </a:r>
            <a:r>
              <a:rPr lang="ru-RU" dirty="0"/>
              <a:t> определяет, как строки будут группироваться.</a:t>
            </a:r>
            <a:endParaRPr lang="en-US" dirty="0"/>
          </a:p>
          <a:p>
            <a:pPr lvl="1"/>
            <a:endParaRPr lang="en-US" dirty="0"/>
          </a:p>
          <a:p>
            <a:pPr lvl="2"/>
            <a:r>
              <a:rPr lang="en-US" dirty="0"/>
              <a:t>SELECT [</a:t>
            </a:r>
            <a:r>
              <a:rPr lang="en-US" dirty="0" err="1"/>
              <a:t>ShipCity</a:t>
            </a:r>
            <a:r>
              <a:rPr lang="en-US" dirty="0"/>
              <a:t>] , COUNT(*) </a:t>
            </a:r>
            <a:r>
              <a:rPr lang="en-US" dirty="0" err="1"/>
              <a:t>OrdersCount</a:t>
            </a:r>
            <a:r>
              <a:rPr lang="en-US" dirty="0"/>
              <a:t>  FROM [</a:t>
            </a:r>
            <a:r>
              <a:rPr lang="en-US" dirty="0" err="1"/>
              <a:t>dbo</a:t>
            </a:r>
            <a:r>
              <a:rPr lang="en-US" dirty="0"/>
              <a:t>].[Orders] </a:t>
            </a:r>
          </a:p>
          <a:p>
            <a:pPr lvl="2"/>
            <a:r>
              <a:rPr lang="de-CH" dirty="0"/>
              <a:t>  GROUP BY </a:t>
            </a:r>
            <a:r>
              <a:rPr lang="de-CH" dirty="0" err="1"/>
              <a:t>ShipCity</a:t>
            </a:r>
            <a:endParaRPr lang="en-US" dirty="0"/>
          </a:p>
          <a:p>
            <a:pPr lvl="2" fontAlgn="base"/>
            <a:endParaRPr lang="en-US" dirty="0"/>
          </a:p>
          <a:p>
            <a:pPr lvl="1"/>
            <a:r>
              <a:rPr lang="ru-RU" sz="1700" dirty="0"/>
              <a:t>Стоит учитывать, что любой столбец, который используется в выражении SELECT (не считая столбцов, которые хранят результат агрегатных функций), должны быть указаны после оператора GROUP BY. Так, например, в случае выше столбец </a:t>
            </a:r>
            <a:r>
              <a:rPr lang="de-CH" sz="1800" dirty="0" err="1"/>
              <a:t>ShipCity</a:t>
            </a:r>
            <a:r>
              <a:rPr lang="ru-RU" sz="1800" dirty="0"/>
              <a:t> </a:t>
            </a:r>
            <a:r>
              <a:rPr lang="ru-RU" sz="1700" dirty="0"/>
              <a:t> указан и в выражении SELECT, и в выражении GROUP BY.</a:t>
            </a:r>
          </a:p>
          <a:p>
            <a:pPr lvl="1"/>
            <a:r>
              <a:rPr lang="ru-RU" sz="1700" dirty="0"/>
              <a:t>И если в выражении SELECT производится выборка по одному или нескольким столбцам и также используются агрегатные функции, то необходимо использовать выражение GROUP BY. </a:t>
            </a:r>
            <a:endParaRPr lang="en-US" dirty="0"/>
          </a:p>
          <a:p>
            <a:pPr lvl="1"/>
            <a:endParaRPr lang="ru-RU" dirty="0"/>
          </a:p>
        </p:txBody>
      </p:sp>
    </p:spTree>
    <p:extLst>
      <p:ext uri="{BB962C8B-B14F-4D97-AF65-F5344CB8AC3E}">
        <p14:creationId xmlns:p14="http://schemas.microsoft.com/office/powerpoint/2010/main" val="884500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63C6D43-E467-2325-1D98-DB811FD37B05}"/>
              </a:ext>
            </a:extLst>
          </p:cNvPr>
          <p:cNvSpPr>
            <a:spLocks noGrp="1"/>
          </p:cNvSpPr>
          <p:nvPr>
            <p:ph idx="1"/>
          </p:nvPr>
        </p:nvSpPr>
        <p:spPr/>
        <p:txBody>
          <a:bodyPr/>
          <a:lstStyle/>
          <a:p>
            <a:r>
              <a:rPr lang="ru-RU" b="1" dirty="0"/>
              <a:t>Фильтрация групп. </a:t>
            </a:r>
            <a:r>
              <a:rPr lang="de-CH" b="1" dirty="0"/>
              <a:t>HAVING</a:t>
            </a:r>
          </a:p>
          <a:p>
            <a:endParaRPr lang="en-US" dirty="0"/>
          </a:p>
          <a:p>
            <a:pPr lvl="1"/>
            <a:r>
              <a:rPr lang="ru-RU" sz="2000" dirty="0"/>
              <a:t>Оператор </a:t>
            </a:r>
            <a:r>
              <a:rPr lang="ru-RU" sz="2000" b="1" dirty="0"/>
              <a:t>HAVING определяет, какие группы будут включены в выходной результат, то есть выполняет фильтрацию групп.</a:t>
            </a:r>
            <a:endParaRPr lang="en-US" sz="2000" dirty="0"/>
          </a:p>
          <a:p>
            <a:pPr lvl="1"/>
            <a:endParaRPr lang="en-US" dirty="0"/>
          </a:p>
          <a:p>
            <a:pPr lvl="1"/>
            <a:r>
              <a:rPr lang="en-US" sz="2000" dirty="0"/>
              <a:t>SELECT [</a:t>
            </a:r>
            <a:r>
              <a:rPr lang="en-US" sz="2000" dirty="0" err="1"/>
              <a:t>ShipCity</a:t>
            </a:r>
            <a:r>
              <a:rPr lang="en-US" sz="2000" dirty="0"/>
              <a:t>] , COUNT(*) </a:t>
            </a:r>
            <a:r>
              <a:rPr lang="en-US" sz="2000" dirty="0" err="1"/>
              <a:t>OrdersCount</a:t>
            </a:r>
            <a:r>
              <a:rPr lang="en-US" sz="2000" dirty="0"/>
              <a:t>  FROM [</a:t>
            </a:r>
            <a:r>
              <a:rPr lang="en-US" sz="2000" dirty="0" err="1"/>
              <a:t>dbo</a:t>
            </a:r>
            <a:r>
              <a:rPr lang="en-US" sz="2000" dirty="0"/>
              <a:t>].[Orders] </a:t>
            </a:r>
          </a:p>
          <a:p>
            <a:pPr lvl="1"/>
            <a:r>
              <a:rPr lang="de-CH" sz="2000" dirty="0"/>
              <a:t>  GROUP BY </a:t>
            </a:r>
            <a:r>
              <a:rPr lang="de-CH" sz="2000" dirty="0" err="1"/>
              <a:t>ShipCity</a:t>
            </a:r>
            <a:endParaRPr lang="de-CH" sz="2000" dirty="0"/>
          </a:p>
          <a:p>
            <a:pPr lvl="1"/>
            <a:r>
              <a:rPr lang="de-CH" sz="2000" dirty="0"/>
              <a:t>  HAVING COUNT(*)&gt;10</a:t>
            </a:r>
          </a:p>
          <a:p>
            <a:pPr lvl="1"/>
            <a:endParaRPr lang="de-CH" sz="2000" dirty="0"/>
          </a:p>
          <a:p>
            <a:pPr lvl="1"/>
            <a:r>
              <a:rPr lang="ru-RU" sz="2000" dirty="0"/>
              <a:t>При этом в одной команде мы можем использовать выражения WHERE и HAVING:</a:t>
            </a:r>
            <a:endParaRPr lang="en-US" sz="2000" dirty="0"/>
          </a:p>
          <a:p>
            <a:pPr lvl="1"/>
            <a:endParaRPr lang="en-US" sz="2000" dirty="0"/>
          </a:p>
          <a:p>
            <a:pPr lvl="1"/>
            <a:r>
              <a:rPr lang="en-US" sz="2000" dirty="0"/>
              <a:t>SELECT [</a:t>
            </a:r>
            <a:r>
              <a:rPr lang="en-US" sz="2000" dirty="0" err="1"/>
              <a:t>ShipCity</a:t>
            </a:r>
            <a:r>
              <a:rPr lang="en-US" sz="2000" dirty="0"/>
              <a:t>] , COUNT(*) </a:t>
            </a:r>
            <a:r>
              <a:rPr lang="en-US" sz="2000" dirty="0" err="1"/>
              <a:t>OrdersCount</a:t>
            </a:r>
            <a:r>
              <a:rPr lang="en-US" sz="2000" dirty="0"/>
              <a:t>  FROM [</a:t>
            </a:r>
            <a:r>
              <a:rPr lang="en-US" sz="2000" dirty="0" err="1"/>
              <a:t>dbo</a:t>
            </a:r>
            <a:r>
              <a:rPr lang="en-US" sz="2000" dirty="0"/>
              <a:t>].[Orders] </a:t>
            </a:r>
          </a:p>
          <a:p>
            <a:pPr lvl="1"/>
            <a:r>
              <a:rPr lang="en-US" sz="2000" dirty="0"/>
              <a:t>WHERE </a:t>
            </a:r>
            <a:r>
              <a:rPr lang="en-US" sz="2000" dirty="0" err="1"/>
              <a:t>ShipVia</a:t>
            </a:r>
            <a:r>
              <a:rPr lang="en-US" sz="2000" dirty="0"/>
              <a:t> = 3</a:t>
            </a:r>
          </a:p>
          <a:p>
            <a:pPr lvl="1"/>
            <a:r>
              <a:rPr lang="en-US" sz="2000" dirty="0"/>
              <a:t>  GROUP BY </a:t>
            </a:r>
            <a:r>
              <a:rPr lang="en-US" sz="2000" dirty="0" err="1"/>
              <a:t>ShipCity</a:t>
            </a:r>
            <a:endParaRPr lang="en-US" sz="2000" dirty="0"/>
          </a:p>
          <a:p>
            <a:pPr lvl="1"/>
            <a:r>
              <a:rPr lang="en-US" sz="2000" dirty="0"/>
              <a:t>  HAVING COUNT(*)&gt;10</a:t>
            </a:r>
            <a:endParaRPr lang="ru-RU" sz="2000" dirty="0"/>
          </a:p>
        </p:txBody>
      </p:sp>
    </p:spTree>
    <p:extLst>
      <p:ext uri="{BB962C8B-B14F-4D97-AF65-F5344CB8AC3E}">
        <p14:creationId xmlns:p14="http://schemas.microsoft.com/office/powerpoint/2010/main" val="525034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E1A23FE-0D48-61CE-C208-F1BB983692A6}"/>
              </a:ext>
            </a:extLst>
          </p:cNvPr>
          <p:cNvSpPr>
            <a:spLocks noGrp="1"/>
          </p:cNvSpPr>
          <p:nvPr>
            <p:ph idx="1"/>
          </p:nvPr>
        </p:nvSpPr>
        <p:spPr/>
        <p:txBody>
          <a:bodyPr/>
          <a:lstStyle/>
          <a:p>
            <a:endParaRPr lang="en-US" dirty="0"/>
          </a:p>
          <a:p>
            <a:pPr lvl="1"/>
            <a:endParaRPr lang="en-US" dirty="0">
              <a:solidFill>
                <a:srgbClr val="0000FF"/>
              </a:solidFill>
              <a:highlight>
                <a:srgbClr val="FFFFFF"/>
              </a:highlight>
              <a:latin typeface="Cascadia Mono" panose="020B0609020000020004" pitchFamily="49" charset="0"/>
            </a:endParaRPr>
          </a:p>
          <a:p>
            <a:pPr lvl="1"/>
            <a:r>
              <a:rPr lang="en-US" dirty="0">
                <a:solidFill>
                  <a:srgbClr val="0000FF"/>
                </a:solidFill>
                <a:latin typeface="Cascadia Mono" panose="020B0609020000020004" pitchFamily="49" charset="0"/>
              </a:rPr>
              <a:t>SELECT</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ShipCity</a:t>
            </a:r>
            <a:r>
              <a:rPr lang="en-US" dirty="0">
                <a:solidFill>
                  <a:srgbClr val="000000"/>
                </a:solidFill>
                <a:latin typeface="Cascadia Mono" panose="020B0609020000020004" pitchFamily="49" charset="0"/>
              </a:rPr>
              <a:t>]</a:t>
            </a:r>
            <a:r>
              <a:rPr lang="en-US" dirty="0">
                <a:solidFill>
                  <a:srgbClr val="808080"/>
                </a:solidFill>
                <a:latin typeface="Cascadia Mono" panose="020B0609020000020004" pitchFamily="49" charset="0"/>
              </a:rPr>
              <a:t>,</a:t>
            </a:r>
            <a:r>
              <a:rPr lang="en-US" dirty="0">
                <a:solidFill>
                  <a:srgbClr val="FF00FF"/>
                </a:solidFill>
                <a:latin typeface="Cascadia Mono" panose="020B0609020000020004" pitchFamily="49" charset="0"/>
              </a:rPr>
              <a:t>COUNT</a:t>
            </a:r>
            <a:r>
              <a:rPr lang="en-US" dirty="0">
                <a:solidFill>
                  <a:srgbClr val="808080"/>
                </a:solidFill>
                <a:latin typeface="Cascadia Mono" panose="020B0609020000020004" pitchFamily="49" charset="0"/>
              </a:rPr>
              <a:t>(*) </a:t>
            </a:r>
            <a:r>
              <a:rPr lang="en-US" dirty="0">
                <a:solidFill>
                  <a:srgbClr val="0000FF"/>
                </a:solidFill>
                <a:latin typeface="Cascadia Mono" panose="020B0609020000020004" pitchFamily="49" charset="0"/>
              </a:rPr>
              <a:t>AS</a:t>
            </a:r>
            <a:r>
              <a:rPr lang="en-US" dirty="0">
                <a:solidFill>
                  <a:srgbClr val="808080"/>
                </a:solidFill>
                <a:latin typeface="Cascadia Mono" panose="020B0609020000020004" pitchFamily="49" charset="0"/>
              </a:rPr>
              <a:t> </a:t>
            </a:r>
            <a:r>
              <a:rPr lang="en-US" dirty="0" err="1">
                <a:solidFill>
                  <a:srgbClr val="000000"/>
                </a:solidFill>
                <a:latin typeface="Cascadia Mono" panose="020B0609020000020004" pitchFamily="49" charset="0"/>
              </a:rPr>
              <a:t>OrdersCount</a:t>
            </a:r>
            <a:r>
              <a:rPr lang="en-US" dirty="0">
                <a:solidFill>
                  <a:srgbClr val="000000"/>
                </a:solidFill>
                <a:latin typeface="Cascadia Mono" panose="020B0609020000020004" pitchFamily="49" charset="0"/>
              </a:rPr>
              <a:t>  </a:t>
            </a:r>
          </a:p>
          <a:p>
            <a:pPr lvl="1"/>
            <a:r>
              <a:rPr lang="en-US" dirty="0">
                <a:solidFill>
                  <a:srgbClr val="0000FF"/>
                </a:solidFill>
                <a:latin typeface="Cascadia Mono" panose="020B0609020000020004" pitchFamily="49" charset="0"/>
              </a:rPr>
              <a:t>FROM</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dbo</a:t>
            </a:r>
            <a:r>
              <a:rPr lang="en-US" dirty="0">
                <a:solidFill>
                  <a:srgbClr val="000000"/>
                </a:solidFill>
                <a:latin typeface="Cascadia Mono" panose="020B0609020000020004" pitchFamily="49" charset="0"/>
              </a:rPr>
              <a:t>]</a:t>
            </a:r>
            <a:r>
              <a:rPr lang="en-US" dirty="0">
                <a:solidFill>
                  <a:srgbClr val="808080"/>
                </a:solidFill>
                <a:latin typeface="Cascadia Mono" panose="020B0609020000020004" pitchFamily="49" charset="0"/>
              </a:rPr>
              <a:t>.</a:t>
            </a:r>
            <a:r>
              <a:rPr lang="en-US" dirty="0">
                <a:solidFill>
                  <a:srgbClr val="000000"/>
                </a:solidFill>
                <a:latin typeface="Cascadia Mono" panose="020B0609020000020004" pitchFamily="49" charset="0"/>
              </a:rPr>
              <a:t>[Orders] </a:t>
            </a:r>
          </a:p>
          <a:p>
            <a:pPr lvl="1"/>
            <a:r>
              <a:rPr lang="de-CH" dirty="0">
                <a:solidFill>
                  <a:srgbClr val="0000FF"/>
                </a:solidFill>
                <a:latin typeface="Cascadia Mono" panose="020B0609020000020004" pitchFamily="49" charset="0"/>
              </a:rPr>
              <a:t>WHERE</a:t>
            </a:r>
            <a:r>
              <a:rPr lang="de-CH" dirty="0">
                <a:solidFill>
                  <a:srgbClr val="000000"/>
                </a:solidFill>
                <a:latin typeface="Cascadia Mono" panose="020B0609020000020004" pitchFamily="49" charset="0"/>
              </a:rPr>
              <a:t> </a:t>
            </a:r>
            <a:r>
              <a:rPr lang="de-CH" dirty="0" err="1">
                <a:solidFill>
                  <a:srgbClr val="000000"/>
                </a:solidFill>
                <a:latin typeface="Cascadia Mono" panose="020B0609020000020004" pitchFamily="49" charset="0"/>
              </a:rPr>
              <a:t>ShipVia</a:t>
            </a:r>
            <a:r>
              <a:rPr lang="de-CH" dirty="0">
                <a:solidFill>
                  <a:srgbClr val="000000"/>
                </a:solidFill>
                <a:latin typeface="Cascadia Mono" panose="020B0609020000020004" pitchFamily="49" charset="0"/>
              </a:rPr>
              <a:t> </a:t>
            </a:r>
            <a:r>
              <a:rPr lang="de-CH" dirty="0">
                <a:solidFill>
                  <a:srgbClr val="808080"/>
                </a:solidFill>
                <a:latin typeface="Cascadia Mono" panose="020B0609020000020004" pitchFamily="49" charset="0"/>
              </a:rPr>
              <a:t>=</a:t>
            </a:r>
            <a:r>
              <a:rPr lang="de-CH" dirty="0">
                <a:solidFill>
                  <a:srgbClr val="000000"/>
                </a:solidFill>
                <a:latin typeface="Cascadia Mono" panose="020B0609020000020004" pitchFamily="49" charset="0"/>
              </a:rPr>
              <a:t> 3</a:t>
            </a:r>
          </a:p>
          <a:p>
            <a:pPr lvl="1"/>
            <a:r>
              <a:rPr lang="de-CH" dirty="0">
                <a:solidFill>
                  <a:srgbClr val="0000FF"/>
                </a:solidFill>
                <a:latin typeface="Cascadia Mono" panose="020B0609020000020004" pitchFamily="49" charset="0"/>
              </a:rPr>
              <a:t>GROUP</a:t>
            </a:r>
            <a:r>
              <a:rPr lang="de-CH" dirty="0">
                <a:solidFill>
                  <a:srgbClr val="000000"/>
                </a:solidFill>
                <a:latin typeface="Cascadia Mono" panose="020B0609020000020004" pitchFamily="49" charset="0"/>
              </a:rPr>
              <a:t> </a:t>
            </a:r>
            <a:r>
              <a:rPr lang="de-CH" dirty="0">
                <a:solidFill>
                  <a:srgbClr val="0000FF"/>
                </a:solidFill>
                <a:latin typeface="Cascadia Mono" panose="020B0609020000020004" pitchFamily="49" charset="0"/>
              </a:rPr>
              <a:t>BY</a:t>
            </a:r>
            <a:r>
              <a:rPr lang="de-CH" dirty="0">
                <a:solidFill>
                  <a:srgbClr val="000000"/>
                </a:solidFill>
                <a:latin typeface="Cascadia Mono" panose="020B0609020000020004" pitchFamily="49" charset="0"/>
              </a:rPr>
              <a:t> </a:t>
            </a:r>
            <a:r>
              <a:rPr lang="de-CH" dirty="0" err="1">
                <a:solidFill>
                  <a:srgbClr val="000000"/>
                </a:solidFill>
                <a:latin typeface="Cascadia Mono" panose="020B0609020000020004" pitchFamily="49" charset="0"/>
              </a:rPr>
              <a:t>ShipCity</a:t>
            </a:r>
            <a:endParaRPr lang="de-CH" dirty="0">
              <a:solidFill>
                <a:srgbClr val="000000"/>
              </a:solidFill>
              <a:latin typeface="Cascadia Mono" panose="020B0609020000020004" pitchFamily="49" charset="0"/>
            </a:endParaRPr>
          </a:p>
          <a:p>
            <a:pPr lvl="1"/>
            <a:r>
              <a:rPr lang="de-CH" dirty="0">
                <a:solidFill>
                  <a:srgbClr val="0000FF"/>
                </a:solidFill>
                <a:latin typeface="Cascadia Mono" panose="020B0609020000020004" pitchFamily="49" charset="0"/>
              </a:rPr>
              <a:t>HAVING</a:t>
            </a:r>
            <a:r>
              <a:rPr lang="de-CH" dirty="0">
                <a:solidFill>
                  <a:srgbClr val="000000"/>
                </a:solidFill>
                <a:latin typeface="Cascadia Mono" panose="020B0609020000020004" pitchFamily="49" charset="0"/>
              </a:rPr>
              <a:t> </a:t>
            </a:r>
            <a:r>
              <a:rPr lang="de-CH" dirty="0">
                <a:solidFill>
                  <a:srgbClr val="FF00FF"/>
                </a:solidFill>
                <a:latin typeface="Cascadia Mono" panose="020B0609020000020004" pitchFamily="49" charset="0"/>
              </a:rPr>
              <a:t>COUNT</a:t>
            </a:r>
            <a:r>
              <a:rPr lang="de-CH" dirty="0">
                <a:solidFill>
                  <a:srgbClr val="808080"/>
                </a:solidFill>
                <a:latin typeface="Cascadia Mono" panose="020B0609020000020004" pitchFamily="49" charset="0"/>
              </a:rPr>
              <a:t>(*)&gt;</a:t>
            </a:r>
            <a:r>
              <a:rPr lang="de-CH" dirty="0">
                <a:solidFill>
                  <a:srgbClr val="000000"/>
                </a:solidFill>
                <a:latin typeface="Cascadia Mono" panose="020B0609020000020004" pitchFamily="49" charset="0"/>
              </a:rPr>
              <a:t>10</a:t>
            </a:r>
          </a:p>
          <a:p>
            <a:pPr lvl="1"/>
            <a:r>
              <a:rPr lang="de-CH" dirty="0">
                <a:solidFill>
                  <a:srgbClr val="0000FF"/>
                </a:solidFill>
                <a:latin typeface="Cascadia Mono" panose="020B0609020000020004" pitchFamily="49" charset="0"/>
              </a:rPr>
              <a:t>ORDER</a:t>
            </a:r>
            <a:r>
              <a:rPr lang="de-CH" dirty="0">
                <a:solidFill>
                  <a:srgbClr val="000000"/>
                </a:solidFill>
                <a:latin typeface="Cascadia Mono" panose="020B0609020000020004" pitchFamily="49" charset="0"/>
              </a:rPr>
              <a:t> </a:t>
            </a:r>
            <a:r>
              <a:rPr lang="de-CH" dirty="0">
                <a:solidFill>
                  <a:srgbClr val="0000FF"/>
                </a:solidFill>
                <a:latin typeface="Cascadia Mono" panose="020B0609020000020004" pitchFamily="49" charset="0"/>
              </a:rPr>
              <a:t>BY</a:t>
            </a:r>
            <a:r>
              <a:rPr lang="de-CH" dirty="0">
                <a:solidFill>
                  <a:srgbClr val="000000"/>
                </a:solidFill>
                <a:latin typeface="Cascadia Mono" panose="020B0609020000020004" pitchFamily="49" charset="0"/>
              </a:rPr>
              <a:t> </a:t>
            </a:r>
            <a:r>
              <a:rPr lang="de-CH" dirty="0" err="1">
                <a:solidFill>
                  <a:srgbClr val="000000"/>
                </a:solidFill>
                <a:latin typeface="Cascadia Mono" panose="020B0609020000020004" pitchFamily="49" charset="0"/>
              </a:rPr>
              <a:t>OrdersCount</a:t>
            </a:r>
            <a:r>
              <a:rPr lang="de-CH" dirty="0">
                <a:solidFill>
                  <a:srgbClr val="000000"/>
                </a:solidFill>
                <a:latin typeface="Cascadia Mono" panose="020B0609020000020004" pitchFamily="49" charset="0"/>
              </a:rPr>
              <a:t> </a:t>
            </a:r>
            <a:r>
              <a:rPr lang="de-CH" dirty="0">
                <a:solidFill>
                  <a:srgbClr val="0000FF"/>
                </a:solidFill>
                <a:latin typeface="Cascadia Mono" panose="020B0609020000020004" pitchFamily="49" charset="0"/>
              </a:rPr>
              <a:t>DESC</a:t>
            </a:r>
            <a:endParaRPr lang="ru-RU" dirty="0"/>
          </a:p>
        </p:txBody>
      </p:sp>
    </p:spTree>
    <p:extLst>
      <p:ext uri="{BB962C8B-B14F-4D97-AF65-F5344CB8AC3E}">
        <p14:creationId xmlns:p14="http://schemas.microsoft.com/office/powerpoint/2010/main" val="3136139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D2378F2B-90F7-9FE2-F6C9-E1A6F0379407}"/>
              </a:ext>
            </a:extLst>
          </p:cNvPr>
          <p:cNvSpPr>
            <a:spLocks noGrp="1"/>
          </p:cNvSpPr>
          <p:nvPr>
            <p:ph idx="1"/>
          </p:nvPr>
        </p:nvSpPr>
        <p:spPr/>
        <p:txBody>
          <a:bodyPr/>
          <a:lstStyle/>
          <a:p>
            <a:r>
              <a:rPr lang="ru-RU" b="1" dirty="0"/>
              <a:t>Расширения SQL Server для группировки</a:t>
            </a:r>
            <a:endParaRPr lang="en-US" b="1" dirty="0"/>
          </a:p>
          <a:p>
            <a:endParaRPr lang="ru-RU" b="1" dirty="0"/>
          </a:p>
          <a:p>
            <a:pPr lvl="1"/>
            <a:r>
              <a:rPr lang="ru-RU" sz="2000" dirty="0"/>
              <a:t>Дополнительно к стандартным операторам GROUP BY и HAVING SQL Server поддерживает еще четыре специальных расширения для группировки данных: </a:t>
            </a:r>
            <a:r>
              <a:rPr lang="ru-RU" sz="2000" b="1" dirty="0"/>
              <a:t>ROLLUP</a:t>
            </a:r>
            <a:r>
              <a:rPr lang="ru-RU" sz="2000" dirty="0"/>
              <a:t>, </a:t>
            </a:r>
            <a:r>
              <a:rPr lang="ru-RU" sz="2000" b="1" dirty="0"/>
              <a:t>CUBE</a:t>
            </a:r>
            <a:r>
              <a:rPr lang="ru-RU" sz="2000" dirty="0"/>
              <a:t>, </a:t>
            </a:r>
            <a:r>
              <a:rPr lang="ru-RU" sz="2000" b="1" dirty="0"/>
              <a:t>GROUPING SETS</a:t>
            </a:r>
            <a:r>
              <a:rPr lang="ru-RU" sz="2000" dirty="0"/>
              <a:t> и </a:t>
            </a:r>
            <a:r>
              <a:rPr lang="ru-RU" sz="2000" b="1" dirty="0"/>
              <a:t>OVER</a:t>
            </a:r>
            <a:r>
              <a:rPr lang="ru-RU" sz="2000" dirty="0"/>
              <a:t>.</a:t>
            </a:r>
          </a:p>
        </p:txBody>
      </p:sp>
    </p:spTree>
    <p:extLst>
      <p:ext uri="{BB962C8B-B14F-4D97-AF65-F5344CB8AC3E}">
        <p14:creationId xmlns:p14="http://schemas.microsoft.com/office/powerpoint/2010/main" val="3561279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5924A84D-550C-1560-D0C5-28FB37F9C601}"/>
              </a:ext>
            </a:extLst>
          </p:cNvPr>
          <p:cNvSpPr>
            <a:spLocks noGrp="1"/>
          </p:cNvSpPr>
          <p:nvPr>
            <p:ph idx="1"/>
          </p:nvPr>
        </p:nvSpPr>
        <p:spPr/>
        <p:txBody>
          <a:bodyPr/>
          <a:lstStyle/>
          <a:p>
            <a:r>
              <a:rPr lang="de-CH" b="1" dirty="0"/>
              <a:t>ROLLUP</a:t>
            </a:r>
          </a:p>
          <a:p>
            <a:endParaRPr lang="en-US" dirty="0"/>
          </a:p>
          <a:p>
            <a:pPr lvl="1"/>
            <a:r>
              <a:rPr lang="ru-RU" sz="2000" dirty="0"/>
              <a:t>Оператор ROLLUP добавляет суммирующую строку в результирующий набор:</a:t>
            </a:r>
            <a:endParaRPr lang="en-US" sz="2000" dirty="0"/>
          </a:p>
          <a:p>
            <a:pPr lvl="1"/>
            <a:endParaRPr lang="en-US" sz="2000" dirty="0"/>
          </a:p>
          <a:p>
            <a:pPr lvl="2"/>
            <a:r>
              <a:rPr lang="en-US" sz="1400" dirty="0">
                <a:solidFill>
                  <a:srgbClr val="0000FF"/>
                </a:solidFill>
                <a:latin typeface="Cascadia Mono" panose="020B0609020000020004" pitchFamily="49" charset="0"/>
              </a:rPr>
              <a:t>SELECT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ShipCity</a:t>
            </a:r>
            <a:r>
              <a:rPr lang="en-US" sz="1400" dirty="0">
                <a:solidFill>
                  <a:srgbClr val="000000"/>
                </a:solidFill>
                <a:latin typeface="Cascadia Mono" panose="020B0609020000020004" pitchFamily="49" charset="0"/>
              </a:rPr>
              <a:t>] </a:t>
            </a:r>
            <a:r>
              <a:rPr lang="en-US" sz="1400" dirty="0">
                <a:solidFill>
                  <a:srgbClr val="808080"/>
                </a:solidFill>
                <a:latin typeface="Cascadia Mono" panose="020B0609020000020004" pitchFamily="49" charset="0"/>
              </a:rPr>
              <a:t>,</a:t>
            </a:r>
            <a:r>
              <a:rPr lang="en-US" sz="1400" dirty="0">
                <a:solidFill>
                  <a:srgbClr val="000000"/>
                </a:solidFill>
                <a:latin typeface="Cascadia Mono" panose="020B0609020000020004" pitchFamily="49" charset="0"/>
              </a:rPr>
              <a:t> </a:t>
            </a:r>
            <a:r>
              <a:rPr lang="en-US" sz="1400" dirty="0">
                <a:solidFill>
                  <a:srgbClr val="FF00FF"/>
                </a:solidFill>
                <a:latin typeface="Cascadia Mono" panose="020B0609020000020004" pitchFamily="49" charset="0"/>
              </a:rPr>
              <a:t>COUNT</a:t>
            </a:r>
            <a:r>
              <a:rPr lang="en-US" sz="1400" dirty="0">
                <a:solidFill>
                  <a:srgbClr val="808080"/>
                </a:solidFill>
                <a:latin typeface="Cascadia Mono" panose="020B0609020000020004" pitchFamily="49" charset="0"/>
              </a:rPr>
              <a: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OrdersCount</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FROM</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dbo</a:t>
            </a:r>
            <a:r>
              <a:rPr lang="en-US" sz="1400" dirty="0">
                <a:solidFill>
                  <a:srgbClr val="000000"/>
                </a:solidFill>
                <a:latin typeface="Cascadia Mono" panose="020B0609020000020004" pitchFamily="49" charset="0"/>
              </a:rPr>
              <a:t>]</a:t>
            </a:r>
            <a:r>
              <a:rPr lang="en-US" sz="1400" dirty="0">
                <a:solidFill>
                  <a:srgbClr val="808080"/>
                </a:solidFill>
                <a:latin typeface="Cascadia Mono" panose="020B0609020000020004" pitchFamily="49" charset="0"/>
              </a:rPr>
              <a:t>.</a:t>
            </a:r>
            <a:r>
              <a:rPr lang="en-US" sz="1400" dirty="0">
                <a:solidFill>
                  <a:srgbClr val="000000"/>
                </a:solidFill>
                <a:latin typeface="Cascadia Mono" panose="020B0609020000020004" pitchFamily="49" charset="0"/>
              </a:rPr>
              <a:t>[Orders] </a:t>
            </a:r>
          </a:p>
          <a:p>
            <a:pPr lvl="2"/>
            <a:r>
              <a:rPr lang="de-CH" sz="1400" dirty="0">
                <a:solidFill>
                  <a:srgbClr val="0000FF"/>
                </a:solidFill>
                <a:latin typeface="Cascadia Mono" panose="020B0609020000020004" pitchFamily="49" charset="0"/>
              </a:rPr>
              <a:t>WHERE</a:t>
            </a:r>
            <a:r>
              <a:rPr lang="de-CH" sz="1400" dirty="0">
                <a:solidFill>
                  <a:srgbClr val="000000"/>
                </a:solidFill>
                <a:latin typeface="Cascadia Mono" panose="020B0609020000020004" pitchFamily="49" charset="0"/>
              </a:rPr>
              <a:t> </a:t>
            </a:r>
            <a:r>
              <a:rPr lang="de-CH" sz="1400" dirty="0" err="1">
                <a:solidFill>
                  <a:srgbClr val="000000"/>
                </a:solidFill>
                <a:latin typeface="Cascadia Mono" panose="020B0609020000020004" pitchFamily="49" charset="0"/>
              </a:rPr>
              <a:t>ShipVia</a:t>
            </a:r>
            <a:r>
              <a:rPr lang="de-CH" sz="1400" dirty="0">
                <a:solidFill>
                  <a:srgbClr val="000000"/>
                </a:solidFill>
                <a:latin typeface="Cascadia Mono" panose="020B0609020000020004" pitchFamily="49" charset="0"/>
              </a:rPr>
              <a:t> </a:t>
            </a:r>
            <a:r>
              <a:rPr lang="de-CH" sz="1400" dirty="0">
                <a:solidFill>
                  <a:srgbClr val="808080"/>
                </a:solidFill>
                <a:latin typeface="Cascadia Mono" panose="020B0609020000020004" pitchFamily="49" charset="0"/>
              </a:rPr>
              <a:t>=</a:t>
            </a:r>
            <a:r>
              <a:rPr lang="de-CH" sz="1400" dirty="0">
                <a:solidFill>
                  <a:srgbClr val="000000"/>
                </a:solidFill>
                <a:latin typeface="Cascadia Mono" panose="020B0609020000020004" pitchFamily="49" charset="0"/>
              </a:rPr>
              <a:t> 3</a:t>
            </a:r>
          </a:p>
          <a:p>
            <a:pPr lvl="2"/>
            <a:r>
              <a:rPr lang="de-CH" sz="1400" dirty="0">
                <a:solidFill>
                  <a:srgbClr val="0000FF"/>
                </a:solidFill>
                <a:latin typeface="Cascadia Mono" panose="020B0609020000020004" pitchFamily="49" charset="0"/>
              </a:rPr>
              <a:t>GROUP</a:t>
            </a:r>
            <a:r>
              <a:rPr lang="de-CH" sz="1400" dirty="0">
                <a:solidFill>
                  <a:srgbClr val="000000"/>
                </a:solidFill>
                <a:latin typeface="Cascadia Mono" panose="020B0609020000020004" pitchFamily="49" charset="0"/>
              </a:rPr>
              <a:t> </a:t>
            </a:r>
            <a:r>
              <a:rPr lang="de-CH" sz="1400" dirty="0">
                <a:solidFill>
                  <a:srgbClr val="0000FF"/>
                </a:solidFill>
                <a:latin typeface="Cascadia Mono" panose="020B0609020000020004" pitchFamily="49" charset="0"/>
              </a:rPr>
              <a:t>BY</a:t>
            </a:r>
            <a:r>
              <a:rPr lang="de-CH" sz="1400" dirty="0">
                <a:solidFill>
                  <a:srgbClr val="000000"/>
                </a:solidFill>
                <a:latin typeface="Cascadia Mono" panose="020B0609020000020004" pitchFamily="49" charset="0"/>
              </a:rPr>
              <a:t> </a:t>
            </a:r>
            <a:r>
              <a:rPr lang="de-CH" sz="1400" dirty="0">
                <a:solidFill>
                  <a:srgbClr val="0000FF"/>
                </a:solidFill>
                <a:latin typeface="Cascadia Mono" panose="020B0609020000020004" pitchFamily="49" charset="0"/>
              </a:rPr>
              <a:t>ROLLUP </a:t>
            </a:r>
            <a:r>
              <a:rPr lang="de-CH" sz="1400" dirty="0">
                <a:solidFill>
                  <a:srgbClr val="808080"/>
                </a:solidFill>
                <a:latin typeface="Cascadia Mono" panose="020B0609020000020004" pitchFamily="49" charset="0"/>
              </a:rPr>
              <a:t>(</a:t>
            </a:r>
            <a:r>
              <a:rPr lang="de-CH" sz="1400" dirty="0" err="1">
                <a:solidFill>
                  <a:srgbClr val="000000"/>
                </a:solidFill>
                <a:latin typeface="Cascadia Mono" panose="020B0609020000020004" pitchFamily="49" charset="0"/>
              </a:rPr>
              <a:t>ShipCity</a:t>
            </a:r>
            <a:r>
              <a:rPr lang="de-CH" sz="1400" dirty="0">
                <a:solidFill>
                  <a:srgbClr val="808080"/>
                </a:solidFill>
                <a:latin typeface="Cascadia Mono" panose="020B0609020000020004" pitchFamily="49" charset="0"/>
              </a:rPr>
              <a:t>)</a:t>
            </a:r>
            <a:endParaRPr lang="de-CH" sz="1400" dirty="0">
              <a:solidFill>
                <a:srgbClr val="000000"/>
              </a:solidFill>
              <a:latin typeface="Cascadia Mono" panose="020B0609020000020004" pitchFamily="49" charset="0"/>
            </a:endParaRPr>
          </a:p>
          <a:p>
            <a:pPr lvl="2"/>
            <a:r>
              <a:rPr lang="de-CH" sz="1400" dirty="0">
                <a:solidFill>
                  <a:srgbClr val="0000FF"/>
                </a:solidFill>
                <a:latin typeface="Cascadia Mono" panose="020B0609020000020004" pitchFamily="49" charset="0"/>
              </a:rPr>
              <a:t>HAVING</a:t>
            </a:r>
            <a:r>
              <a:rPr lang="de-CH" sz="1400" dirty="0">
                <a:solidFill>
                  <a:srgbClr val="000000"/>
                </a:solidFill>
                <a:latin typeface="Cascadia Mono" panose="020B0609020000020004" pitchFamily="49" charset="0"/>
              </a:rPr>
              <a:t> </a:t>
            </a:r>
            <a:r>
              <a:rPr lang="de-CH" sz="1400" dirty="0">
                <a:solidFill>
                  <a:srgbClr val="FF00FF"/>
                </a:solidFill>
                <a:latin typeface="Cascadia Mono" panose="020B0609020000020004" pitchFamily="49" charset="0"/>
              </a:rPr>
              <a:t>COUNT</a:t>
            </a:r>
            <a:r>
              <a:rPr lang="de-CH" sz="1400" dirty="0">
                <a:solidFill>
                  <a:srgbClr val="808080"/>
                </a:solidFill>
                <a:latin typeface="Cascadia Mono" panose="020B0609020000020004" pitchFamily="49" charset="0"/>
              </a:rPr>
              <a:t>(*)&gt;</a:t>
            </a:r>
            <a:r>
              <a:rPr lang="de-CH" sz="1400" dirty="0">
                <a:solidFill>
                  <a:srgbClr val="000000"/>
                </a:solidFill>
                <a:latin typeface="Cascadia Mono" panose="020B0609020000020004" pitchFamily="49" charset="0"/>
              </a:rPr>
              <a:t>10</a:t>
            </a:r>
          </a:p>
          <a:p>
            <a:pPr lvl="2"/>
            <a:r>
              <a:rPr lang="de-CH" sz="1400" dirty="0">
                <a:solidFill>
                  <a:srgbClr val="0000FF"/>
                </a:solidFill>
                <a:latin typeface="Cascadia Mono" panose="020B0609020000020004" pitchFamily="49" charset="0"/>
              </a:rPr>
              <a:t>ORDER</a:t>
            </a:r>
            <a:r>
              <a:rPr lang="de-CH" sz="1400" dirty="0">
                <a:solidFill>
                  <a:srgbClr val="000000"/>
                </a:solidFill>
                <a:latin typeface="Cascadia Mono" panose="020B0609020000020004" pitchFamily="49" charset="0"/>
              </a:rPr>
              <a:t> </a:t>
            </a:r>
            <a:r>
              <a:rPr lang="de-CH" sz="1400" dirty="0">
                <a:solidFill>
                  <a:srgbClr val="0000FF"/>
                </a:solidFill>
                <a:latin typeface="Cascadia Mono" panose="020B0609020000020004" pitchFamily="49" charset="0"/>
              </a:rPr>
              <a:t>BY</a:t>
            </a:r>
            <a:r>
              <a:rPr lang="de-CH" sz="1400" dirty="0">
                <a:solidFill>
                  <a:srgbClr val="000000"/>
                </a:solidFill>
                <a:latin typeface="Cascadia Mono" panose="020B0609020000020004" pitchFamily="49" charset="0"/>
              </a:rPr>
              <a:t> </a:t>
            </a:r>
            <a:r>
              <a:rPr lang="de-CH" sz="1400" dirty="0" err="1">
                <a:solidFill>
                  <a:srgbClr val="000000"/>
                </a:solidFill>
                <a:latin typeface="Cascadia Mono" panose="020B0609020000020004" pitchFamily="49" charset="0"/>
              </a:rPr>
              <a:t>OrdersCount</a:t>
            </a:r>
            <a:r>
              <a:rPr lang="de-CH" sz="1400" dirty="0">
                <a:solidFill>
                  <a:srgbClr val="000000"/>
                </a:solidFill>
                <a:latin typeface="Cascadia Mono" panose="020B0609020000020004" pitchFamily="49" charset="0"/>
              </a:rPr>
              <a:t> </a:t>
            </a:r>
          </a:p>
          <a:p>
            <a:pPr lvl="2"/>
            <a:endParaRPr lang="de-CH" sz="1400" dirty="0">
              <a:solidFill>
                <a:srgbClr val="000000"/>
              </a:solidFill>
              <a:latin typeface="Cascadia Mono" panose="020B0609020000020004" pitchFamily="49" charset="0"/>
            </a:endParaRPr>
          </a:p>
          <a:p>
            <a:pPr lvl="2"/>
            <a:endParaRPr lang="de-CH" sz="1400" dirty="0">
              <a:solidFill>
                <a:srgbClr val="000000"/>
              </a:solidFill>
              <a:latin typeface="Cascadia Mono" panose="020B0609020000020004" pitchFamily="49" charset="0"/>
            </a:endParaRPr>
          </a:p>
          <a:p>
            <a:pPr lvl="2"/>
            <a:endParaRPr lang="ru-RU" sz="1400" dirty="0"/>
          </a:p>
        </p:txBody>
      </p:sp>
    </p:spTree>
    <p:extLst>
      <p:ext uri="{BB962C8B-B14F-4D97-AF65-F5344CB8AC3E}">
        <p14:creationId xmlns:p14="http://schemas.microsoft.com/office/powerpoint/2010/main" val="3473648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D1F72C3-9998-9C78-6C74-861D874FE1E4}"/>
              </a:ext>
            </a:extLst>
          </p:cNvPr>
          <p:cNvSpPr>
            <a:spLocks noGrp="1"/>
          </p:cNvSpPr>
          <p:nvPr>
            <p:ph idx="1"/>
          </p:nvPr>
        </p:nvSpPr>
        <p:spPr/>
        <p:txBody>
          <a:bodyPr/>
          <a:lstStyle/>
          <a:p>
            <a:r>
              <a:rPr lang="de-CH" b="1" dirty="0"/>
              <a:t>CUBE</a:t>
            </a:r>
          </a:p>
          <a:p>
            <a:endParaRPr lang="de-CH" b="1" dirty="0"/>
          </a:p>
          <a:p>
            <a:pPr lvl="1"/>
            <a:r>
              <a:rPr lang="ru-RU" sz="2000" b="1" dirty="0"/>
              <a:t>CUBE</a:t>
            </a:r>
            <a:r>
              <a:rPr lang="ru-RU" sz="2000" dirty="0"/>
              <a:t> похож на ROLLUP за тем исключением, что CUBE добавляет суммирующие строки для каждой комбинации групп.</a:t>
            </a:r>
            <a:endParaRPr lang="en-US" sz="2000" dirty="0"/>
          </a:p>
          <a:p>
            <a:pPr lvl="1"/>
            <a:endParaRPr lang="en-US" sz="2000" dirty="0"/>
          </a:p>
          <a:p>
            <a:pPr lvl="1"/>
            <a:r>
              <a:rPr lang="en-US" sz="1800" dirty="0">
                <a:solidFill>
                  <a:srgbClr val="0000FF"/>
                </a:solidFill>
                <a:latin typeface="Cascadia Mono" panose="020B0609020000020004" pitchFamily="49" charset="0"/>
              </a:rPr>
              <a:t>SELECT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ShipCity</a:t>
            </a:r>
            <a:r>
              <a:rPr lang="en-US" sz="1800" dirty="0">
                <a:solidFill>
                  <a:srgbClr val="808080"/>
                </a:solidFill>
                <a:latin typeface="Cascadia Mono" panose="020B0609020000020004" pitchFamily="49" charset="0"/>
              </a:rPr>
              <a: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ShipRegion</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a:t>
            </a:r>
            <a:r>
              <a:rPr lang="en-US" sz="1800" dirty="0">
                <a:solidFill>
                  <a:srgbClr val="000000"/>
                </a:solidFill>
                <a:latin typeface="Cascadia Mono" panose="020B0609020000020004" pitchFamily="49" charset="0"/>
              </a:rPr>
              <a:t> </a:t>
            </a:r>
            <a:r>
              <a:rPr lang="en-US" sz="1800" dirty="0">
                <a:solidFill>
                  <a:srgbClr val="FF00FF"/>
                </a:solidFill>
                <a:latin typeface="Cascadia Mono" panose="020B0609020000020004" pitchFamily="49" charset="0"/>
              </a:rPr>
              <a:t>COUNT</a:t>
            </a:r>
            <a:r>
              <a:rPr lang="en-US" sz="1800" dirty="0">
                <a:solidFill>
                  <a:srgbClr val="808080"/>
                </a:solidFill>
                <a:latin typeface="Cascadia Mono" panose="020B0609020000020004" pitchFamily="49" charset="0"/>
              </a:rPr>
              <a: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OrdersCount</a:t>
            </a:r>
            <a:r>
              <a:rPr lang="en-US" sz="1800" dirty="0">
                <a:solidFill>
                  <a:srgbClr val="000000"/>
                </a:solidFill>
                <a:latin typeface="Cascadia Mono" panose="020B0609020000020004" pitchFamily="49" charset="0"/>
              </a:rPr>
              <a:t>  </a:t>
            </a:r>
          </a:p>
          <a:p>
            <a:pPr lvl="1"/>
            <a:r>
              <a:rPr lang="en-US" sz="1800" dirty="0">
                <a:solidFill>
                  <a:srgbClr val="0000FF"/>
                </a:solidFill>
                <a:latin typeface="Cascadia Mono" panose="020B0609020000020004" pitchFamily="49" charset="0"/>
              </a:rPr>
              <a:t>FROM</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dbo</a:t>
            </a:r>
            <a:r>
              <a:rPr lang="en-US" sz="1800" dirty="0">
                <a:solidFill>
                  <a:srgbClr val="000000"/>
                </a:solidFill>
                <a:latin typeface="Cascadia Mono" panose="020B0609020000020004" pitchFamily="49" charset="0"/>
              </a:rPr>
              <a:t>]</a:t>
            </a:r>
            <a:r>
              <a:rPr lang="en-US" sz="1800" dirty="0">
                <a:solidFill>
                  <a:srgbClr val="808080"/>
                </a:solidFill>
                <a:latin typeface="Cascadia Mono" panose="020B0609020000020004" pitchFamily="49" charset="0"/>
              </a:rPr>
              <a:t>.</a:t>
            </a:r>
            <a:r>
              <a:rPr lang="en-US" sz="1800" dirty="0">
                <a:solidFill>
                  <a:srgbClr val="000000"/>
                </a:solidFill>
                <a:latin typeface="Cascadia Mono" panose="020B0609020000020004" pitchFamily="49" charset="0"/>
              </a:rPr>
              <a:t>[Orders] </a:t>
            </a:r>
          </a:p>
          <a:p>
            <a:pPr lvl="1"/>
            <a:r>
              <a:rPr lang="de-CH" sz="1800" dirty="0">
                <a:solidFill>
                  <a:srgbClr val="0000FF"/>
                </a:solidFill>
                <a:latin typeface="Cascadia Mono" panose="020B0609020000020004" pitchFamily="49" charset="0"/>
              </a:rPr>
              <a:t>WHERE</a:t>
            </a:r>
            <a:r>
              <a:rPr lang="de-CH" sz="1800" dirty="0">
                <a:solidFill>
                  <a:srgbClr val="000000"/>
                </a:solidFill>
                <a:latin typeface="Cascadia Mono" panose="020B0609020000020004" pitchFamily="49" charset="0"/>
              </a:rPr>
              <a:t> </a:t>
            </a:r>
            <a:r>
              <a:rPr lang="de-CH" sz="1800" dirty="0" err="1">
                <a:solidFill>
                  <a:srgbClr val="000000"/>
                </a:solidFill>
                <a:latin typeface="Cascadia Mono" panose="020B0609020000020004" pitchFamily="49" charset="0"/>
              </a:rPr>
              <a:t>ShipVia</a:t>
            </a:r>
            <a:r>
              <a:rPr lang="de-CH" sz="1800" dirty="0">
                <a:solidFill>
                  <a:srgbClr val="000000"/>
                </a:solidFill>
                <a:latin typeface="Cascadia Mono" panose="020B0609020000020004" pitchFamily="49" charset="0"/>
              </a:rPr>
              <a:t> </a:t>
            </a:r>
            <a:r>
              <a:rPr lang="de-CH" sz="1800" dirty="0">
                <a:solidFill>
                  <a:srgbClr val="808080"/>
                </a:solidFill>
                <a:latin typeface="Cascadia Mono" panose="020B0609020000020004" pitchFamily="49" charset="0"/>
              </a:rPr>
              <a:t>=</a:t>
            </a:r>
            <a:r>
              <a:rPr lang="de-CH" sz="1800" dirty="0">
                <a:solidFill>
                  <a:srgbClr val="000000"/>
                </a:solidFill>
                <a:latin typeface="Cascadia Mono" panose="020B0609020000020004" pitchFamily="49" charset="0"/>
              </a:rPr>
              <a:t> 3</a:t>
            </a:r>
          </a:p>
          <a:p>
            <a:pPr lvl="1"/>
            <a:r>
              <a:rPr lang="en-US" sz="1800" dirty="0">
                <a:solidFill>
                  <a:srgbClr val="0000FF"/>
                </a:solidFill>
                <a:latin typeface="Cascadia Mono" panose="020B0609020000020004" pitchFamily="49" charset="0"/>
              </a:rPr>
              <a:t>GROUP</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BY</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ShipCity</a:t>
            </a:r>
            <a:r>
              <a:rPr lang="en-US" sz="1800" dirty="0">
                <a:solidFill>
                  <a:srgbClr val="808080"/>
                </a:solidFill>
                <a:latin typeface="Cascadia Mono" panose="020B0609020000020004" pitchFamily="49" charset="0"/>
              </a:rPr>
              <a: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ShipRegion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WITH</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CUBE</a:t>
            </a:r>
            <a:endParaRPr lang="ru-RU" sz="1800" dirty="0"/>
          </a:p>
          <a:p>
            <a:pPr lvl="1" algn="l"/>
            <a:endParaRPr lang="en-US" dirty="0"/>
          </a:p>
          <a:p>
            <a:pPr lvl="1" algn="l"/>
            <a:br>
              <a:rPr lang="ru-RU" dirty="0"/>
            </a:br>
            <a:endParaRPr lang="ru-RU" dirty="0"/>
          </a:p>
        </p:txBody>
      </p:sp>
    </p:spTree>
    <p:extLst>
      <p:ext uri="{BB962C8B-B14F-4D97-AF65-F5344CB8AC3E}">
        <p14:creationId xmlns:p14="http://schemas.microsoft.com/office/powerpoint/2010/main" val="2931878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64B138B4-EE5B-AF1B-6696-3CEEADA013E5}"/>
              </a:ext>
            </a:extLst>
          </p:cNvPr>
          <p:cNvSpPr>
            <a:spLocks noGrp="1"/>
          </p:cNvSpPr>
          <p:nvPr>
            <p:ph idx="1"/>
          </p:nvPr>
        </p:nvSpPr>
        <p:spPr/>
        <p:txBody>
          <a:bodyPr/>
          <a:lstStyle/>
          <a:p>
            <a:r>
              <a:rPr lang="de-CH" b="1" dirty="0"/>
              <a:t>GROUPING SETS</a:t>
            </a:r>
          </a:p>
          <a:p>
            <a:endParaRPr lang="de-CH" b="1" dirty="0"/>
          </a:p>
          <a:p>
            <a:pPr lvl="1"/>
            <a:r>
              <a:rPr lang="ru-RU" sz="2000" dirty="0"/>
              <a:t>Оператор </a:t>
            </a:r>
            <a:r>
              <a:rPr lang="ru-RU" sz="2000" b="1" dirty="0"/>
              <a:t>GROUPING SETS</a:t>
            </a:r>
            <a:r>
              <a:rPr lang="ru-RU" sz="2000" dirty="0"/>
              <a:t> аналогично ROLLUP и CUBE добавляет суммирующую строку для групп. Но при этом он не включает сами группам:</a:t>
            </a:r>
            <a:endParaRPr lang="en-US" sz="2000" dirty="0"/>
          </a:p>
          <a:p>
            <a:pPr lvl="1"/>
            <a:endParaRPr lang="en-US" sz="2000" dirty="0"/>
          </a:p>
          <a:p>
            <a:pPr lvl="1"/>
            <a:endParaRPr lang="en-US" sz="2000" dirty="0"/>
          </a:p>
          <a:p>
            <a:pPr lvl="1"/>
            <a:r>
              <a:rPr lang="en-US" sz="2000" dirty="0">
                <a:solidFill>
                  <a:srgbClr val="0000FF"/>
                </a:solidFill>
                <a:latin typeface="Cascadia Mono" panose="020B0609020000020004" pitchFamily="49" charset="0"/>
              </a:rPr>
              <a:t>SELECT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ShipCity</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ShipRegion</a:t>
            </a:r>
            <a:r>
              <a:rPr lang="en-US" sz="2000" dirty="0">
                <a:solidFill>
                  <a:srgbClr val="000000"/>
                </a:solidFill>
                <a:latin typeface="Cascadia Mono" panose="020B0609020000020004" pitchFamily="49" charset="0"/>
              </a:rPr>
              <a:t> </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a:solidFill>
                  <a:srgbClr val="FF00FF"/>
                </a:solidFill>
                <a:latin typeface="Cascadia Mono" panose="020B0609020000020004" pitchFamily="49" charset="0"/>
              </a:rPr>
              <a:t>COUNT</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OrdersCount</a:t>
            </a:r>
            <a:r>
              <a:rPr lang="en-US" sz="2000" dirty="0">
                <a:solidFill>
                  <a:srgbClr val="000000"/>
                </a:solidFill>
                <a:latin typeface="Cascadia Mono" panose="020B0609020000020004" pitchFamily="49" charset="0"/>
              </a:rPr>
              <a:t>  </a:t>
            </a:r>
          </a:p>
          <a:p>
            <a:pPr lvl="1"/>
            <a:r>
              <a:rPr lang="en-US" sz="2000" dirty="0">
                <a:solidFill>
                  <a:srgbClr val="0000FF"/>
                </a:solidFill>
                <a:latin typeface="Cascadia Mono" panose="020B0609020000020004" pitchFamily="49" charset="0"/>
              </a:rPr>
              <a:t>FROM</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dbo</a:t>
            </a:r>
            <a:r>
              <a:rPr lang="en-US" sz="2000" dirty="0">
                <a:solidFill>
                  <a:srgbClr val="000000"/>
                </a:solidFill>
                <a:latin typeface="Cascadia Mono" panose="020B0609020000020004" pitchFamily="49" charset="0"/>
              </a:rPr>
              <a:t>]</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[Orders] </a:t>
            </a:r>
          </a:p>
          <a:p>
            <a:pPr lvl="1"/>
            <a:r>
              <a:rPr lang="de-CH" sz="2000" dirty="0">
                <a:solidFill>
                  <a:srgbClr val="0000FF"/>
                </a:solidFill>
                <a:latin typeface="Cascadia Mono" panose="020B0609020000020004" pitchFamily="49" charset="0"/>
              </a:rPr>
              <a:t>WHERE</a:t>
            </a:r>
            <a:r>
              <a:rPr lang="de-CH" sz="2000" dirty="0">
                <a:solidFill>
                  <a:srgbClr val="000000"/>
                </a:solidFill>
                <a:latin typeface="Cascadia Mono" panose="020B0609020000020004" pitchFamily="49" charset="0"/>
              </a:rPr>
              <a:t> </a:t>
            </a:r>
            <a:r>
              <a:rPr lang="de-CH" sz="2000" dirty="0" err="1">
                <a:solidFill>
                  <a:srgbClr val="000000"/>
                </a:solidFill>
                <a:latin typeface="Cascadia Mono" panose="020B0609020000020004" pitchFamily="49" charset="0"/>
              </a:rPr>
              <a:t>ShipVia</a:t>
            </a:r>
            <a:r>
              <a:rPr lang="de-CH" sz="2000" dirty="0">
                <a:solidFill>
                  <a:srgbClr val="000000"/>
                </a:solidFill>
                <a:latin typeface="Cascadia Mono" panose="020B0609020000020004" pitchFamily="49" charset="0"/>
              </a:rPr>
              <a:t> </a:t>
            </a:r>
            <a:r>
              <a:rPr lang="de-CH" sz="2000" dirty="0">
                <a:solidFill>
                  <a:srgbClr val="808080"/>
                </a:solidFill>
                <a:latin typeface="Cascadia Mono" panose="020B0609020000020004" pitchFamily="49" charset="0"/>
              </a:rPr>
              <a:t>=</a:t>
            </a:r>
            <a:r>
              <a:rPr lang="de-CH" sz="2000" dirty="0">
                <a:solidFill>
                  <a:srgbClr val="000000"/>
                </a:solidFill>
                <a:latin typeface="Cascadia Mono" panose="020B0609020000020004" pitchFamily="49" charset="0"/>
              </a:rPr>
              <a:t> 3</a:t>
            </a:r>
          </a:p>
          <a:p>
            <a:pPr lvl="1"/>
            <a:r>
              <a:rPr lang="en-US" sz="2000" dirty="0">
                <a:solidFill>
                  <a:srgbClr val="0000FF"/>
                </a:solidFill>
                <a:latin typeface="Cascadia Mono" panose="020B0609020000020004" pitchFamily="49" charset="0"/>
              </a:rPr>
              <a:t>GROUP</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BY</a:t>
            </a:r>
            <a:r>
              <a:rPr lang="en-US" sz="2000" dirty="0">
                <a:solidFill>
                  <a:srgbClr val="000000"/>
                </a:solidFill>
                <a:latin typeface="Cascadia Mono" panose="020B0609020000020004" pitchFamily="49" charset="0"/>
              </a:rPr>
              <a:t> </a:t>
            </a:r>
            <a:r>
              <a:rPr lang="en-US" sz="2000" dirty="0">
                <a:solidFill>
                  <a:srgbClr val="FF00FF"/>
                </a:solidFill>
                <a:latin typeface="Cascadia Mono" panose="020B0609020000020004" pitchFamily="49" charset="0"/>
              </a:rPr>
              <a:t>GROUPING</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SETS</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ShipCity</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ShipRegion</a:t>
            </a:r>
            <a:r>
              <a:rPr lang="en-US" sz="2000" dirty="0">
                <a:solidFill>
                  <a:srgbClr val="000000"/>
                </a:solidFill>
                <a:latin typeface="Cascadia Mono" panose="020B0609020000020004" pitchFamily="49" charset="0"/>
              </a:rPr>
              <a:t> </a:t>
            </a:r>
            <a:r>
              <a:rPr lang="en-US" sz="2000" dirty="0">
                <a:solidFill>
                  <a:srgbClr val="808080"/>
                </a:solidFill>
                <a:latin typeface="Cascadia Mono" panose="020B0609020000020004" pitchFamily="49" charset="0"/>
              </a:rPr>
              <a:t>)</a:t>
            </a:r>
            <a:endParaRPr lang="ru-RU" sz="2000" dirty="0"/>
          </a:p>
        </p:txBody>
      </p:sp>
    </p:spTree>
    <p:extLst>
      <p:ext uri="{BB962C8B-B14F-4D97-AF65-F5344CB8AC3E}">
        <p14:creationId xmlns:p14="http://schemas.microsoft.com/office/powerpoint/2010/main" val="2212552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9E713AD-99C4-6E90-5E1C-B94694EDE6E0}"/>
              </a:ext>
            </a:extLst>
          </p:cNvPr>
          <p:cNvSpPr>
            <a:spLocks noGrp="1"/>
          </p:cNvSpPr>
          <p:nvPr>
            <p:ph idx="1"/>
          </p:nvPr>
        </p:nvSpPr>
        <p:spPr/>
        <p:txBody>
          <a:bodyPr/>
          <a:lstStyle/>
          <a:p>
            <a:r>
              <a:rPr lang="de-CH" b="1" dirty="0"/>
              <a:t>OVER</a:t>
            </a:r>
          </a:p>
          <a:p>
            <a:endParaRPr lang="en-US" dirty="0"/>
          </a:p>
          <a:p>
            <a:pPr lvl="1"/>
            <a:r>
              <a:rPr lang="ru-RU" sz="2000" dirty="0"/>
              <a:t>Выражение </a:t>
            </a:r>
            <a:r>
              <a:rPr lang="ru-RU" sz="2000" b="1" dirty="0"/>
              <a:t>OVER</a:t>
            </a:r>
            <a:r>
              <a:rPr lang="ru-RU" sz="2000" dirty="0"/>
              <a:t> позволяет суммировать данные, при этому возвращая те строки, которые использовались для получения суммированных данных. Например, найдем количество моделей и общее количество товаров этих моделей по производителю:</a:t>
            </a:r>
            <a:endParaRPr lang="en-US" sz="2000" dirty="0"/>
          </a:p>
          <a:p>
            <a:pPr lvl="1"/>
            <a:endParaRPr lang="en-US" sz="2000"/>
          </a:p>
          <a:p>
            <a:pPr lvl="1"/>
            <a:endParaRPr lang="ru-RU" sz="2000" dirty="0"/>
          </a:p>
        </p:txBody>
      </p:sp>
    </p:spTree>
    <p:extLst>
      <p:ext uri="{BB962C8B-B14F-4D97-AF65-F5344CB8AC3E}">
        <p14:creationId xmlns:p14="http://schemas.microsoft.com/office/powerpoint/2010/main" val="198846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93F5EA8-E882-EB2D-222A-386C2EFDDC87}"/>
              </a:ext>
            </a:extLst>
          </p:cNvPr>
          <p:cNvSpPr>
            <a:spLocks noGrp="1"/>
          </p:cNvSpPr>
          <p:nvPr>
            <p:ph idx="1"/>
          </p:nvPr>
        </p:nvSpPr>
        <p:spPr/>
        <p:txBody>
          <a:bodyPr/>
          <a:lstStyle/>
          <a:p>
            <a:r>
              <a:rPr lang="ru-RU" b="1" dirty="0"/>
              <a:t>Соединение таблиц</a:t>
            </a:r>
          </a:p>
          <a:p>
            <a:r>
              <a:rPr lang="ru-RU" b="1" dirty="0"/>
              <a:t>Неявное соединение таблиц</a:t>
            </a:r>
          </a:p>
          <a:p>
            <a:endParaRPr lang="ru-RU" sz="2000" b="1" dirty="0"/>
          </a:p>
          <a:p>
            <a:pPr lvl="1"/>
            <a:r>
              <a:rPr lang="ru-RU" sz="2000" dirty="0"/>
              <a:t>Для сведения данных из разных таблиц мы можем использовать стандартную команду SELECT. </a:t>
            </a:r>
            <a:endParaRPr lang="en-US" sz="2000" dirty="0"/>
          </a:p>
          <a:p>
            <a:pPr lvl="1"/>
            <a:endParaRPr lang="en-US" sz="2000" dirty="0"/>
          </a:p>
          <a:p>
            <a:pPr lvl="1"/>
            <a:r>
              <a:rPr lang="en-US" sz="2000" dirty="0">
                <a:solidFill>
                  <a:srgbClr val="0000FF"/>
                </a:solidFill>
                <a:latin typeface="Cascadia Mono" panose="020B0609020000020004" pitchFamily="49" charset="0"/>
              </a:rPr>
              <a:t>SELECT</a:t>
            </a:r>
            <a:r>
              <a:rPr lang="en-US" sz="2000" dirty="0">
                <a:solidFill>
                  <a:srgbClr val="000000"/>
                </a:solidFill>
                <a:latin typeface="Cascadia Mono" panose="020B0609020000020004" pitchFamily="49" charset="0"/>
              </a:rPr>
              <a:t> </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FROM</a:t>
            </a:r>
            <a:r>
              <a:rPr lang="en-US" sz="2000" dirty="0">
                <a:solidFill>
                  <a:srgbClr val="000000"/>
                </a:solidFill>
                <a:latin typeface="Cascadia Mono" panose="020B0609020000020004" pitchFamily="49" charset="0"/>
              </a:rPr>
              <a:t> Customers</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Orders </a:t>
            </a:r>
            <a:r>
              <a:rPr lang="en-US" sz="2000" dirty="0">
                <a:solidFill>
                  <a:srgbClr val="0000FF"/>
                </a:solidFill>
                <a:latin typeface="Cascadia Mono" panose="020B0609020000020004" pitchFamily="49" charset="0"/>
              </a:rPr>
              <a:t>WHERE</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Customers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CustomerID</a:t>
            </a:r>
            <a:r>
              <a:rPr lang="en-US" sz="2000" dirty="0">
                <a:solidFill>
                  <a:srgbClr val="000000"/>
                </a:solidFill>
                <a:latin typeface="Cascadia Mono" panose="020B0609020000020004" pitchFamily="49" charset="0"/>
              </a:rPr>
              <a:t> </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Orders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CustomerID</a:t>
            </a:r>
            <a:endParaRPr lang="ru-RU" sz="2000" dirty="0"/>
          </a:p>
        </p:txBody>
      </p:sp>
    </p:spTree>
    <p:extLst>
      <p:ext uri="{BB962C8B-B14F-4D97-AF65-F5344CB8AC3E}">
        <p14:creationId xmlns:p14="http://schemas.microsoft.com/office/powerpoint/2010/main" val="146624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147F3A73-E589-F84F-2F2E-5DC757AB6D9B}"/>
              </a:ext>
            </a:extLst>
          </p:cNvPr>
          <p:cNvSpPr>
            <a:spLocks noGrp="1"/>
          </p:cNvSpPr>
          <p:nvPr>
            <p:ph idx="1"/>
          </p:nvPr>
        </p:nvSpPr>
        <p:spPr/>
        <p:txBody>
          <a:bodyPr/>
          <a:lstStyle/>
          <a:p>
            <a:r>
              <a:rPr lang="de-CH" b="1" dirty="0"/>
              <a:t>INNER JOIN</a:t>
            </a:r>
          </a:p>
          <a:p>
            <a:endParaRPr lang="de-CH" b="1" dirty="0"/>
          </a:p>
          <a:p>
            <a:pPr lvl="1"/>
            <a:r>
              <a:rPr lang="ru-RU" sz="2000" dirty="0"/>
              <a:t>Для явного соединения данных из двух таблиц применяется оператор </a:t>
            </a:r>
            <a:r>
              <a:rPr lang="ru-RU" sz="2000" b="1" dirty="0"/>
              <a:t>JOIN</a:t>
            </a:r>
            <a:r>
              <a:rPr lang="ru-RU" sz="2000" dirty="0"/>
              <a:t>. Общий формальный синтаксис применения оператора </a:t>
            </a:r>
            <a:r>
              <a:rPr lang="ru-RU" sz="2000" b="1" dirty="0"/>
              <a:t>INNER JOIN</a:t>
            </a:r>
            <a:r>
              <a:rPr lang="ru-RU" sz="2000" dirty="0"/>
              <a:t>:</a:t>
            </a:r>
            <a:endParaRPr lang="en-US" sz="2000" dirty="0"/>
          </a:p>
          <a:p>
            <a:pPr lvl="1"/>
            <a:endParaRPr lang="en-US" sz="2000" dirty="0"/>
          </a:p>
          <a:p>
            <a:pPr lvl="1" algn="l" fontAlgn="base">
              <a:lnSpc>
                <a:spcPts val="1575"/>
              </a:lnSpc>
            </a:pPr>
            <a:r>
              <a:rPr lang="de-CH" sz="1600" b="0" i="0" dirty="0">
                <a:solidFill>
                  <a:srgbClr val="006699"/>
                </a:solidFill>
                <a:effectLst/>
                <a:latin typeface="SFMono-Regular"/>
              </a:rPr>
              <a:t>SELECT</a:t>
            </a:r>
            <a:r>
              <a:rPr lang="de-CH" sz="1600" b="0" i="0" dirty="0">
                <a:solidFill>
                  <a:srgbClr val="000000"/>
                </a:solidFill>
                <a:effectLst/>
                <a:latin typeface="SFMono-Regular"/>
              </a:rPr>
              <a:t> </a:t>
            </a:r>
            <a:r>
              <a:rPr lang="ru-RU" sz="1600" b="0" i="0" dirty="0">
                <a:solidFill>
                  <a:srgbClr val="000000"/>
                </a:solidFill>
                <a:effectLst/>
                <a:latin typeface="SFMono-Regular"/>
              </a:rPr>
              <a:t>столбцы</a:t>
            </a:r>
          </a:p>
          <a:p>
            <a:pPr lvl="1" algn="l" fontAlgn="base">
              <a:lnSpc>
                <a:spcPts val="1575"/>
              </a:lnSpc>
            </a:pPr>
            <a:r>
              <a:rPr lang="de-CH" sz="1600" b="0" i="0" dirty="0">
                <a:solidFill>
                  <a:srgbClr val="006699"/>
                </a:solidFill>
                <a:effectLst/>
                <a:latin typeface="SFMono-Regular"/>
              </a:rPr>
              <a:t>FROM</a:t>
            </a:r>
            <a:r>
              <a:rPr lang="de-CH" sz="1600" b="0" i="0" dirty="0">
                <a:solidFill>
                  <a:srgbClr val="000000"/>
                </a:solidFill>
                <a:effectLst/>
                <a:latin typeface="SFMono-Regular"/>
              </a:rPr>
              <a:t> </a:t>
            </a:r>
            <a:r>
              <a:rPr lang="ru-RU" sz="1600" b="0" i="0" dirty="0">
                <a:solidFill>
                  <a:srgbClr val="000000"/>
                </a:solidFill>
                <a:effectLst/>
                <a:latin typeface="SFMono-Regular"/>
              </a:rPr>
              <a:t>таблица1</a:t>
            </a:r>
          </a:p>
          <a:p>
            <a:pPr lvl="1" algn="l" fontAlgn="base">
              <a:lnSpc>
                <a:spcPts val="1575"/>
              </a:lnSpc>
            </a:pPr>
            <a:r>
              <a:rPr lang="ru-RU" sz="1600" b="0" i="0" dirty="0">
                <a:solidFill>
                  <a:srgbClr val="000000"/>
                </a:solidFill>
                <a:effectLst/>
                <a:latin typeface="SFMono-Regular"/>
              </a:rPr>
              <a:t>    [</a:t>
            </a:r>
            <a:r>
              <a:rPr lang="de-CH" sz="1600" b="0" i="0" dirty="0">
                <a:solidFill>
                  <a:srgbClr val="006699"/>
                </a:solidFill>
                <a:effectLst/>
                <a:latin typeface="SFMono-Regular"/>
              </a:rPr>
              <a:t>INNER</a:t>
            </a:r>
            <a:r>
              <a:rPr lang="de-CH" sz="1600" b="0" i="0" dirty="0">
                <a:solidFill>
                  <a:srgbClr val="000000"/>
                </a:solidFill>
                <a:effectLst/>
                <a:latin typeface="SFMono-Regular"/>
              </a:rPr>
              <a:t>] </a:t>
            </a:r>
            <a:r>
              <a:rPr lang="de-CH" sz="1600" b="0" i="0" dirty="0">
                <a:solidFill>
                  <a:srgbClr val="808080"/>
                </a:solidFill>
                <a:effectLst/>
                <a:latin typeface="SFMono-Regular"/>
              </a:rPr>
              <a:t>JOIN</a:t>
            </a:r>
            <a:r>
              <a:rPr lang="de-CH" sz="1600" b="0" i="0" dirty="0">
                <a:solidFill>
                  <a:srgbClr val="000000"/>
                </a:solidFill>
                <a:effectLst/>
                <a:latin typeface="SFMono-Regular"/>
              </a:rPr>
              <a:t> </a:t>
            </a:r>
            <a:r>
              <a:rPr lang="ru-RU" sz="1600" b="0" i="0" dirty="0">
                <a:solidFill>
                  <a:srgbClr val="000000"/>
                </a:solidFill>
                <a:effectLst/>
                <a:latin typeface="SFMono-Regular"/>
              </a:rPr>
              <a:t>таблица2</a:t>
            </a:r>
          </a:p>
          <a:p>
            <a:pPr lvl="1" algn="l" fontAlgn="base">
              <a:lnSpc>
                <a:spcPts val="1575"/>
              </a:lnSpc>
            </a:pPr>
            <a:r>
              <a:rPr lang="ru-RU" sz="1600" b="0" i="0" dirty="0">
                <a:solidFill>
                  <a:srgbClr val="000000"/>
                </a:solidFill>
                <a:effectLst/>
                <a:latin typeface="SFMono-Regular"/>
              </a:rPr>
              <a:t>    </a:t>
            </a:r>
            <a:r>
              <a:rPr lang="de-CH" sz="1600" b="0" i="0" dirty="0">
                <a:solidFill>
                  <a:srgbClr val="006699"/>
                </a:solidFill>
                <a:effectLst/>
                <a:latin typeface="SFMono-Regular"/>
              </a:rPr>
              <a:t>ON</a:t>
            </a:r>
            <a:r>
              <a:rPr lang="de-CH" sz="1600" b="0" i="0" dirty="0">
                <a:solidFill>
                  <a:srgbClr val="000000"/>
                </a:solidFill>
                <a:effectLst/>
                <a:latin typeface="SFMono-Regular"/>
              </a:rPr>
              <a:t> </a:t>
            </a:r>
            <a:r>
              <a:rPr lang="ru-RU" sz="1600" b="0" i="0" dirty="0">
                <a:solidFill>
                  <a:srgbClr val="000000"/>
                </a:solidFill>
                <a:effectLst/>
                <a:latin typeface="SFMono-Regular"/>
              </a:rPr>
              <a:t>условие1</a:t>
            </a:r>
          </a:p>
          <a:p>
            <a:pPr lvl="1" algn="l" fontAlgn="base">
              <a:lnSpc>
                <a:spcPts val="1575"/>
              </a:lnSpc>
            </a:pPr>
            <a:r>
              <a:rPr lang="ru-RU" sz="1600" b="0" i="0" dirty="0">
                <a:solidFill>
                  <a:srgbClr val="000000"/>
                </a:solidFill>
                <a:effectLst/>
                <a:latin typeface="SFMono-Regular"/>
              </a:rPr>
              <a:t>    [[</a:t>
            </a:r>
            <a:r>
              <a:rPr lang="de-CH" sz="1600" b="0" i="0" dirty="0">
                <a:solidFill>
                  <a:srgbClr val="006699"/>
                </a:solidFill>
                <a:effectLst/>
                <a:latin typeface="SFMono-Regular"/>
              </a:rPr>
              <a:t>INNER</a:t>
            </a:r>
            <a:r>
              <a:rPr lang="de-CH" sz="1600" b="0" i="0" dirty="0">
                <a:solidFill>
                  <a:srgbClr val="000000"/>
                </a:solidFill>
                <a:effectLst/>
                <a:latin typeface="SFMono-Regular"/>
              </a:rPr>
              <a:t>] </a:t>
            </a:r>
            <a:r>
              <a:rPr lang="de-CH" sz="1600" b="0" i="0" dirty="0">
                <a:solidFill>
                  <a:srgbClr val="808080"/>
                </a:solidFill>
                <a:effectLst/>
                <a:latin typeface="SFMono-Regular"/>
              </a:rPr>
              <a:t>JOIN</a:t>
            </a:r>
            <a:r>
              <a:rPr lang="de-CH" sz="1600" b="0" i="0" dirty="0">
                <a:solidFill>
                  <a:srgbClr val="000000"/>
                </a:solidFill>
                <a:effectLst/>
                <a:latin typeface="SFMono-Regular"/>
              </a:rPr>
              <a:t> </a:t>
            </a:r>
            <a:r>
              <a:rPr lang="ru-RU" sz="1600" b="0" i="0" dirty="0">
                <a:solidFill>
                  <a:srgbClr val="000000"/>
                </a:solidFill>
                <a:effectLst/>
                <a:latin typeface="SFMono-Regular"/>
              </a:rPr>
              <a:t>таблица3</a:t>
            </a:r>
          </a:p>
          <a:p>
            <a:pPr lvl="1" algn="l" fontAlgn="base">
              <a:lnSpc>
                <a:spcPts val="1575"/>
              </a:lnSpc>
            </a:pPr>
            <a:r>
              <a:rPr lang="ru-RU" sz="1600" b="0" i="0" dirty="0">
                <a:solidFill>
                  <a:srgbClr val="000000"/>
                </a:solidFill>
                <a:effectLst/>
                <a:latin typeface="SFMono-Regular"/>
              </a:rPr>
              <a:t>    </a:t>
            </a:r>
            <a:r>
              <a:rPr lang="de-CH" sz="1600" b="0" i="0" dirty="0">
                <a:solidFill>
                  <a:srgbClr val="006699"/>
                </a:solidFill>
                <a:effectLst/>
                <a:latin typeface="SFMono-Regular"/>
              </a:rPr>
              <a:t>ON</a:t>
            </a:r>
            <a:r>
              <a:rPr lang="de-CH" sz="1600" b="0" i="0" dirty="0">
                <a:solidFill>
                  <a:srgbClr val="000000"/>
                </a:solidFill>
                <a:effectLst/>
                <a:latin typeface="SFMono-Regular"/>
              </a:rPr>
              <a:t> </a:t>
            </a:r>
            <a:r>
              <a:rPr lang="ru-RU" sz="1600" b="0" i="0" dirty="0">
                <a:solidFill>
                  <a:srgbClr val="000000"/>
                </a:solidFill>
                <a:effectLst/>
                <a:latin typeface="SFMono-Regular"/>
              </a:rPr>
              <a:t>условие2]</a:t>
            </a:r>
          </a:p>
          <a:p>
            <a:pPr lvl="1"/>
            <a:endParaRPr lang="en-US" sz="2000" dirty="0"/>
          </a:p>
          <a:p>
            <a:pPr lvl="1"/>
            <a:endParaRPr lang="en-US" sz="2000" dirty="0"/>
          </a:p>
          <a:p>
            <a:pPr lvl="1"/>
            <a:r>
              <a:rPr lang="de-CH" sz="2000" dirty="0">
                <a:solidFill>
                  <a:srgbClr val="0000FF"/>
                </a:solidFill>
                <a:latin typeface="Cascadia Mono" panose="020B0609020000020004" pitchFamily="49" charset="0"/>
              </a:rPr>
              <a:t>SELECT</a:t>
            </a:r>
            <a:r>
              <a:rPr lang="de-CH" sz="2000" dirty="0">
                <a:solidFill>
                  <a:srgbClr val="000000"/>
                </a:solidFill>
                <a:latin typeface="Cascadia Mono" panose="020B0609020000020004" pitchFamily="49" charset="0"/>
              </a:rPr>
              <a:t> </a:t>
            </a:r>
            <a:r>
              <a:rPr lang="de-CH" sz="2000" dirty="0">
                <a:solidFill>
                  <a:srgbClr val="808080"/>
                </a:solidFill>
                <a:latin typeface="Cascadia Mono" panose="020B0609020000020004" pitchFamily="49" charset="0"/>
              </a:rPr>
              <a:t>*</a:t>
            </a:r>
            <a:r>
              <a:rPr lang="de-CH" sz="2000" dirty="0">
                <a:solidFill>
                  <a:srgbClr val="000000"/>
                </a:solidFill>
                <a:latin typeface="Cascadia Mono" panose="020B0609020000020004" pitchFamily="49" charset="0"/>
              </a:rPr>
              <a:t> </a:t>
            </a:r>
            <a:r>
              <a:rPr lang="de-CH" sz="2000" dirty="0">
                <a:solidFill>
                  <a:srgbClr val="0000FF"/>
                </a:solidFill>
                <a:latin typeface="Cascadia Mono" panose="020B0609020000020004" pitchFamily="49" charset="0"/>
              </a:rPr>
              <a:t>FROM</a:t>
            </a:r>
            <a:r>
              <a:rPr lang="de-CH" sz="2000" dirty="0">
                <a:solidFill>
                  <a:srgbClr val="000000"/>
                </a:solidFill>
                <a:latin typeface="Cascadia Mono" panose="020B0609020000020004" pitchFamily="49" charset="0"/>
              </a:rPr>
              <a:t> Orders </a:t>
            </a:r>
          </a:p>
          <a:p>
            <a:pPr lvl="1"/>
            <a:r>
              <a:rPr lang="en-US" sz="2000" dirty="0">
                <a:solidFill>
                  <a:srgbClr val="808080"/>
                </a:solidFill>
                <a:latin typeface="Cascadia Mono" panose="020B0609020000020004" pitchFamily="49" charset="0"/>
              </a:rPr>
              <a:t>JOIN</a:t>
            </a:r>
            <a:r>
              <a:rPr lang="en-US" sz="2000" dirty="0">
                <a:solidFill>
                  <a:srgbClr val="000000"/>
                </a:solidFill>
                <a:latin typeface="Cascadia Mono" panose="020B0609020000020004" pitchFamily="49" charset="0"/>
              </a:rPr>
              <a:t> Customers </a:t>
            </a:r>
            <a:r>
              <a:rPr lang="en-US" sz="2000" dirty="0">
                <a:solidFill>
                  <a:srgbClr val="0000FF"/>
                </a:solidFill>
                <a:latin typeface="Cascadia Mono" panose="020B0609020000020004" pitchFamily="49" charset="0"/>
              </a:rPr>
              <a:t>ON</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Orders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CustomerID</a:t>
            </a:r>
            <a:r>
              <a:rPr lang="en-US" sz="2000" dirty="0">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Customers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CustomerID</a:t>
            </a:r>
            <a:endParaRPr lang="ru-RU" sz="2000" dirty="0"/>
          </a:p>
        </p:txBody>
      </p:sp>
    </p:spTree>
    <p:extLst>
      <p:ext uri="{BB962C8B-B14F-4D97-AF65-F5344CB8AC3E}">
        <p14:creationId xmlns:p14="http://schemas.microsoft.com/office/powerpoint/2010/main" val="335561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7BC090AB-5C10-18D2-2AB7-F1CD283D7059}"/>
              </a:ext>
            </a:extLst>
          </p:cNvPr>
          <p:cNvSpPr>
            <a:spLocks noGrp="1"/>
          </p:cNvSpPr>
          <p:nvPr>
            <p:ph idx="1"/>
          </p:nvPr>
        </p:nvSpPr>
        <p:spPr/>
        <p:txBody>
          <a:bodyPr/>
          <a:lstStyle/>
          <a:p>
            <a:r>
              <a:rPr lang="de-CH" b="1" dirty="0"/>
              <a:t>OUTER JOIN</a:t>
            </a:r>
          </a:p>
          <a:p>
            <a:endParaRPr lang="ru-RU" dirty="0"/>
          </a:p>
          <a:p>
            <a:pPr lvl="1" algn="l" fontAlgn="base">
              <a:lnSpc>
                <a:spcPts val="1575"/>
              </a:lnSpc>
            </a:pPr>
            <a:r>
              <a:rPr lang="de-CH" sz="2000" b="0" i="0" dirty="0">
                <a:solidFill>
                  <a:srgbClr val="006699"/>
                </a:solidFill>
                <a:effectLst/>
                <a:latin typeface="SFMono-Regular"/>
              </a:rPr>
              <a:t>SELECT</a:t>
            </a:r>
            <a:r>
              <a:rPr lang="de-CH" sz="2000" b="0" i="0" dirty="0">
                <a:solidFill>
                  <a:srgbClr val="000000"/>
                </a:solidFill>
                <a:effectLst/>
                <a:latin typeface="SFMono-Regular"/>
              </a:rPr>
              <a:t> </a:t>
            </a:r>
            <a:r>
              <a:rPr lang="ru-RU" sz="2000" b="0" i="0" dirty="0">
                <a:solidFill>
                  <a:srgbClr val="000000"/>
                </a:solidFill>
                <a:effectLst/>
                <a:latin typeface="SFMono-Regular"/>
              </a:rPr>
              <a:t>столбцы</a:t>
            </a:r>
          </a:p>
          <a:p>
            <a:pPr lvl="1" algn="l" fontAlgn="base">
              <a:lnSpc>
                <a:spcPts val="1575"/>
              </a:lnSpc>
            </a:pPr>
            <a:r>
              <a:rPr lang="de-CH" sz="2000" b="0" i="0" dirty="0">
                <a:solidFill>
                  <a:srgbClr val="006699"/>
                </a:solidFill>
                <a:effectLst/>
                <a:latin typeface="SFMono-Regular"/>
              </a:rPr>
              <a:t>FROM</a:t>
            </a:r>
            <a:r>
              <a:rPr lang="de-CH" sz="2000" b="0" i="0" dirty="0">
                <a:solidFill>
                  <a:srgbClr val="000000"/>
                </a:solidFill>
                <a:effectLst/>
                <a:latin typeface="SFMono-Regular"/>
              </a:rPr>
              <a:t> </a:t>
            </a:r>
            <a:r>
              <a:rPr lang="ru-RU" sz="2000" b="0" i="0" dirty="0">
                <a:solidFill>
                  <a:srgbClr val="000000"/>
                </a:solidFill>
                <a:effectLst/>
                <a:latin typeface="SFMono-Regular"/>
              </a:rPr>
              <a:t>таблица1</a:t>
            </a:r>
          </a:p>
          <a:p>
            <a:pPr lvl="1" algn="l" fontAlgn="base">
              <a:lnSpc>
                <a:spcPts val="1575"/>
              </a:lnSpc>
            </a:pPr>
            <a:r>
              <a:rPr lang="ru-RU" sz="2000" b="0" i="0" dirty="0">
                <a:solidFill>
                  <a:srgbClr val="000000"/>
                </a:solidFill>
                <a:effectLst/>
                <a:latin typeface="SFMono-Regular"/>
              </a:rPr>
              <a:t>    {</a:t>
            </a:r>
            <a:r>
              <a:rPr lang="de-CH" sz="2000" b="0" i="0" dirty="0">
                <a:solidFill>
                  <a:srgbClr val="FF1493"/>
                </a:solidFill>
                <a:effectLst/>
                <a:latin typeface="SFMono-Regular"/>
              </a:rPr>
              <a:t>LEFT</a:t>
            </a:r>
            <a:r>
              <a:rPr lang="de-CH" sz="2000" b="0" i="0" dirty="0">
                <a:solidFill>
                  <a:srgbClr val="000000"/>
                </a:solidFill>
                <a:effectLst/>
                <a:latin typeface="SFMono-Regular"/>
              </a:rPr>
              <a:t>|</a:t>
            </a:r>
            <a:r>
              <a:rPr lang="de-CH" sz="2000" b="0" i="0" dirty="0">
                <a:solidFill>
                  <a:srgbClr val="FF1493"/>
                </a:solidFill>
                <a:effectLst/>
                <a:latin typeface="SFMono-Regular"/>
              </a:rPr>
              <a:t>RIGHT</a:t>
            </a:r>
            <a:r>
              <a:rPr lang="de-CH" sz="2000" b="0" i="0" dirty="0">
                <a:solidFill>
                  <a:srgbClr val="000000"/>
                </a:solidFill>
                <a:effectLst/>
                <a:latin typeface="SFMono-Regular"/>
              </a:rPr>
              <a:t>|</a:t>
            </a:r>
            <a:r>
              <a:rPr lang="de-CH" sz="2000" b="0" i="0" dirty="0">
                <a:solidFill>
                  <a:srgbClr val="006699"/>
                </a:solidFill>
                <a:effectLst/>
                <a:latin typeface="SFMono-Regular"/>
              </a:rPr>
              <a:t>FULL</a:t>
            </a:r>
            <a:r>
              <a:rPr lang="de-CH" sz="2000" b="0" i="0" dirty="0">
                <a:solidFill>
                  <a:srgbClr val="000000"/>
                </a:solidFill>
                <a:effectLst/>
                <a:latin typeface="SFMono-Regular"/>
              </a:rPr>
              <a:t>} [</a:t>
            </a:r>
            <a:r>
              <a:rPr lang="de-CH" sz="2000" b="0" i="0" dirty="0">
                <a:solidFill>
                  <a:srgbClr val="808080"/>
                </a:solidFill>
                <a:effectLst/>
                <a:latin typeface="SFMono-Regular"/>
              </a:rPr>
              <a:t>OUTER</a:t>
            </a:r>
            <a:r>
              <a:rPr lang="de-CH" sz="2000" b="0" i="0" dirty="0">
                <a:solidFill>
                  <a:srgbClr val="000000"/>
                </a:solidFill>
                <a:effectLst/>
                <a:latin typeface="SFMono-Regular"/>
              </a:rPr>
              <a:t>] </a:t>
            </a:r>
            <a:r>
              <a:rPr lang="de-CH" sz="2000" b="0" i="0" dirty="0">
                <a:solidFill>
                  <a:srgbClr val="808080"/>
                </a:solidFill>
                <a:effectLst/>
                <a:latin typeface="SFMono-Regular"/>
              </a:rPr>
              <a:t>JOIN</a:t>
            </a:r>
            <a:r>
              <a:rPr lang="de-CH" sz="2000" b="0" i="0" dirty="0">
                <a:solidFill>
                  <a:srgbClr val="000000"/>
                </a:solidFill>
                <a:effectLst/>
                <a:latin typeface="SFMono-Regular"/>
              </a:rPr>
              <a:t> </a:t>
            </a:r>
            <a:r>
              <a:rPr lang="ru-RU" sz="2000" b="0" i="0" dirty="0">
                <a:solidFill>
                  <a:srgbClr val="000000"/>
                </a:solidFill>
                <a:effectLst/>
                <a:latin typeface="SFMono-Regular"/>
              </a:rPr>
              <a:t>таблица2 </a:t>
            </a:r>
            <a:r>
              <a:rPr lang="de-CH" sz="2000" b="0" i="0" dirty="0">
                <a:solidFill>
                  <a:srgbClr val="006699"/>
                </a:solidFill>
                <a:effectLst/>
                <a:latin typeface="SFMono-Regular"/>
              </a:rPr>
              <a:t>ON</a:t>
            </a:r>
            <a:r>
              <a:rPr lang="de-CH" sz="2000" b="0" i="0" dirty="0">
                <a:solidFill>
                  <a:srgbClr val="000000"/>
                </a:solidFill>
                <a:effectLst/>
                <a:latin typeface="SFMono-Regular"/>
              </a:rPr>
              <a:t> </a:t>
            </a:r>
            <a:r>
              <a:rPr lang="ru-RU" sz="2000" b="0" i="0" dirty="0">
                <a:solidFill>
                  <a:srgbClr val="000000"/>
                </a:solidFill>
                <a:effectLst/>
                <a:latin typeface="SFMono-Regular"/>
              </a:rPr>
              <a:t>условие1</a:t>
            </a:r>
          </a:p>
          <a:p>
            <a:pPr lvl="1" algn="l" fontAlgn="base">
              <a:lnSpc>
                <a:spcPts val="1575"/>
              </a:lnSpc>
            </a:pPr>
            <a:r>
              <a:rPr lang="ru-RU" sz="2000" b="0" i="0" dirty="0">
                <a:solidFill>
                  <a:srgbClr val="000000"/>
                </a:solidFill>
                <a:effectLst/>
                <a:latin typeface="SFMono-Regular"/>
              </a:rPr>
              <a:t>    [{</a:t>
            </a:r>
            <a:r>
              <a:rPr lang="de-CH" sz="2000" b="0" i="0" dirty="0">
                <a:solidFill>
                  <a:srgbClr val="FF1493"/>
                </a:solidFill>
                <a:effectLst/>
                <a:latin typeface="SFMono-Regular"/>
              </a:rPr>
              <a:t>LEFT</a:t>
            </a:r>
            <a:r>
              <a:rPr lang="de-CH" sz="2000" b="0" i="0" dirty="0">
                <a:solidFill>
                  <a:srgbClr val="000000"/>
                </a:solidFill>
                <a:effectLst/>
                <a:latin typeface="SFMono-Regular"/>
              </a:rPr>
              <a:t>|</a:t>
            </a:r>
            <a:r>
              <a:rPr lang="de-CH" sz="2000" b="0" i="0" dirty="0">
                <a:solidFill>
                  <a:srgbClr val="FF1493"/>
                </a:solidFill>
                <a:effectLst/>
                <a:latin typeface="SFMono-Regular"/>
              </a:rPr>
              <a:t>RIGHT</a:t>
            </a:r>
            <a:r>
              <a:rPr lang="de-CH" sz="2000" b="0" i="0" dirty="0">
                <a:solidFill>
                  <a:srgbClr val="000000"/>
                </a:solidFill>
                <a:effectLst/>
                <a:latin typeface="SFMono-Regular"/>
              </a:rPr>
              <a:t>|</a:t>
            </a:r>
            <a:r>
              <a:rPr lang="de-CH" sz="2000" b="0" i="0" dirty="0">
                <a:solidFill>
                  <a:srgbClr val="006699"/>
                </a:solidFill>
                <a:effectLst/>
                <a:latin typeface="SFMono-Regular"/>
              </a:rPr>
              <a:t>FULL</a:t>
            </a:r>
            <a:r>
              <a:rPr lang="de-CH" sz="2000" b="0" i="0" dirty="0">
                <a:solidFill>
                  <a:srgbClr val="000000"/>
                </a:solidFill>
                <a:effectLst/>
                <a:latin typeface="SFMono-Regular"/>
              </a:rPr>
              <a:t>} [</a:t>
            </a:r>
            <a:r>
              <a:rPr lang="de-CH" sz="2000" b="0" i="0" dirty="0">
                <a:solidFill>
                  <a:srgbClr val="808080"/>
                </a:solidFill>
                <a:effectLst/>
                <a:latin typeface="SFMono-Regular"/>
              </a:rPr>
              <a:t>OUTER</a:t>
            </a:r>
            <a:r>
              <a:rPr lang="de-CH" sz="2000" b="0" i="0" dirty="0">
                <a:solidFill>
                  <a:srgbClr val="000000"/>
                </a:solidFill>
                <a:effectLst/>
                <a:latin typeface="SFMono-Regular"/>
              </a:rPr>
              <a:t>] </a:t>
            </a:r>
            <a:r>
              <a:rPr lang="de-CH" sz="2000" b="0" i="0" dirty="0">
                <a:solidFill>
                  <a:srgbClr val="808080"/>
                </a:solidFill>
                <a:effectLst/>
                <a:latin typeface="SFMono-Regular"/>
              </a:rPr>
              <a:t>JOIN</a:t>
            </a:r>
            <a:r>
              <a:rPr lang="de-CH" sz="2000" b="0" i="0" dirty="0">
                <a:solidFill>
                  <a:srgbClr val="000000"/>
                </a:solidFill>
                <a:effectLst/>
                <a:latin typeface="SFMono-Regular"/>
              </a:rPr>
              <a:t> </a:t>
            </a:r>
            <a:r>
              <a:rPr lang="ru-RU" sz="2000" b="0" i="0" dirty="0">
                <a:solidFill>
                  <a:srgbClr val="000000"/>
                </a:solidFill>
                <a:effectLst/>
                <a:latin typeface="SFMono-Regular"/>
              </a:rPr>
              <a:t>таблица3 </a:t>
            </a:r>
            <a:r>
              <a:rPr lang="de-CH" sz="2000" b="0" i="0" dirty="0">
                <a:solidFill>
                  <a:srgbClr val="006699"/>
                </a:solidFill>
                <a:effectLst/>
                <a:latin typeface="SFMono-Regular"/>
              </a:rPr>
              <a:t>ON</a:t>
            </a:r>
            <a:r>
              <a:rPr lang="de-CH" sz="2000" b="0" i="0" dirty="0">
                <a:solidFill>
                  <a:srgbClr val="000000"/>
                </a:solidFill>
                <a:effectLst/>
                <a:latin typeface="SFMono-Regular"/>
              </a:rPr>
              <a:t> </a:t>
            </a:r>
            <a:r>
              <a:rPr lang="ru-RU" sz="2000" b="0" i="0" dirty="0">
                <a:solidFill>
                  <a:srgbClr val="000000"/>
                </a:solidFill>
                <a:effectLst/>
                <a:latin typeface="SFMono-Regular"/>
              </a:rPr>
              <a:t>условие2]...</a:t>
            </a:r>
          </a:p>
          <a:p>
            <a:pPr lvl="1" algn="l" fontAlgn="base">
              <a:lnSpc>
                <a:spcPts val="1575"/>
              </a:lnSpc>
            </a:pPr>
            <a:endParaRPr lang="ru-RU" sz="2000" dirty="0">
              <a:solidFill>
                <a:srgbClr val="000000"/>
              </a:solidFill>
              <a:latin typeface="SFMono-Regular"/>
            </a:endParaRPr>
          </a:p>
          <a:p>
            <a:pPr lvl="1" algn="l" fontAlgn="base">
              <a:lnSpc>
                <a:spcPts val="1575"/>
              </a:lnSpc>
            </a:pPr>
            <a:endParaRPr lang="ru-RU" sz="2000" b="0" i="0" dirty="0">
              <a:solidFill>
                <a:srgbClr val="000000"/>
              </a:solidFill>
              <a:effectLst/>
              <a:latin typeface="SFMono-Regular"/>
            </a:endParaRPr>
          </a:p>
          <a:p>
            <a:pPr lvl="1"/>
            <a:r>
              <a:rPr lang="ru-RU" sz="1800" dirty="0"/>
              <a:t>Перед оператором </a:t>
            </a:r>
            <a:r>
              <a:rPr lang="ru-RU" sz="1800" b="1" dirty="0"/>
              <a:t>JOIN</a:t>
            </a:r>
            <a:r>
              <a:rPr lang="ru-RU" sz="1800" dirty="0"/>
              <a:t> указывается одно из ключевых слов </a:t>
            </a:r>
            <a:r>
              <a:rPr lang="ru-RU" sz="1800" b="1" dirty="0"/>
              <a:t>LEFT</a:t>
            </a:r>
            <a:r>
              <a:rPr lang="ru-RU" sz="1800" dirty="0"/>
              <a:t>, </a:t>
            </a:r>
            <a:r>
              <a:rPr lang="ru-RU" sz="1800" b="1" dirty="0"/>
              <a:t>RIGHT</a:t>
            </a:r>
            <a:r>
              <a:rPr lang="ru-RU" sz="1800" dirty="0"/>
              <a:t> или </a:t>
            </a:r>
            <a:r>
              <a:rPr lang="ru-RU" sz="1800" b="1" dirty="0"/>
              <a:t>FULL</a:t>
            </a:r>
            <a:r>
              <a:rPr lang="ru-RU" sz="1800" dirty="0"/>
              <a:t>, которые определяют тип соединения:</a:t>
            </a:r>
          </a:p>
          <a:p>
            <a:pPr lvl="1"/>
            <a:endParaRPr lang="ru-RU" sz="1800" dirty="0"/>
          </a:p>
          <a:p>
            <a:pPr lvl="1"/>
            <a:r>
              <a:rPr lang="ru-RU" sz="1800" b="1" dirty="0"/>
              <a:t>LEFT</a:t>
            </a:r>
            <a:r>
              <a:rPr lang="ru-RU" sz="1800" dirty="0"/>
              <a:t>: выборка будет содержать все строки из первой или левой таблицы</a:t>
            </a:r>
          </a:p>
          <a:p>
            <a:pPr lvl="1"/>
            <a:endParaRPr lang="ru-RU" sz="1800" b="1" dirty="0"/>
          </a:p>
          <a:p>
            <a:pPr lvl="1"/>
            <a:r>
              <a:rPr lang="ru-RU" sz="1800" b="1" dirty="0"/>
              <a:t>RIGHT</a:t>
            </a:r>
            <a:r>
              <a:rPr lang="ru-RU" sz="1800" dirty="0"/>
              <a:t>: выборка будет содержать все строки из второй или правой таблицы</a:t>
            </a:r>
          </a:p>
          <a:p>
            <a:pPr lvl="1"/>
            <a:endParaRPr lang="ru-RU" sz="1800" b="1" dirty="0"/>
          </a:p>
          <a:p>
            <a:pPr lvl="1"/>
            <a:r>
              <a:rPr lang="ru-RU" sz="1800" b="1" dirty="0"/>
              <a:t>FULL</a:t>
            </a:r>
            <a:r>
              <a:rPr lang="ru-RU" sz="1800" dirty="0"/>
              <a:t>: выборка будет содержать все строки из обоих таблиц</a:t>
            </a:r>
          </a:p>
          <a:p>
            <a:pPr lvl="1" algn="l" fontAlgn="base">
              <a:lnSpc>
                <a:spcPts val="1575"/>
              </a:lnSpc>
            </a:pPr>
            <a:endParaRPr lang="ru-RU" sz="2000" b="0" i="0" dirty="0">
              <a:solidFill>
                <a:srgbClr val="000000"/>
              </a:solidFill>
              <a:effectLst/>
              <a:latin typeface="SFMono-Regular"/>
            </a:endParaRPr>
          </a:p>
          <a:p>
            <a:endParaRPr lang="ru-RU" dirty="0"/>
          </a:p>
        </p:txBody>
      </p:sp>
    </p:spTree>
    <p:extLst>
      <p:ext uri="{BB962C8B-B14F-4D97-AF65-F5344CB8AC3E}">
        <p14:creationId xmlns:p14="http://schemas.microsoft.com/office/powerpoint/2010/main" val="3864385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3880AF2-2D3B-0C36-F452-C013AADB4AF2}"/>
              </a:ext>
            </a:extLst>
          </p:cNvPr>
          <p:cNvSpPr>
            <a:spLocks noGrp="1"/>
          </p:cNvSpPr>
          <p:nvPr>
            <p:ph idx="1"/>
          </p:nvPr>
        </p:nvSpPr>
        <p:spPr/>
        <p:txBody>
          <a:bodyPr/>
          <a:lstStyle/>
          <a:p>
            <a:r>
              <a:rPr lang="de-CH" b="1" dirty="0"/>
              <a:t>Cross </a:t>
            </a:r>
            <a:r>
              <a:rPr lang="de-CH" b="1" dirty="0" err="1"/>
              <a:t>Join</a:t>
            </a:r>
            <a:endParaRPr lang="ru-RU" b="1" dirty="0"/>
          </a:p>
          <a:p>
            <a:endParaRPr lang="ru-RU" b="1" dirty="0"/>
          </a:p>
          <a:p>
            <a:pPr lvl="1"/>
            <a:r>
              <a:rPr lang="ru-RU" dirty="0"/>
              <a:t>Cross </a:t>
            </a:r>
            <a:r>
              <a:rPr lang="ru-RU" dirty="0" err="1"/>
              <a:t>Join</a:t>
            </a:r>
            <a:r>
              <a:rPr lang="ru-RU" dirty="0"/>
              <a:t> или перекрестное соединение создает набор строк, где каждая строка из одной таблицы соединяется с каждой строкой из второй таблицы. Например, соединим таблицу заказов </a:t>
            </a:r>
            <a:r>
              <a:rPr lang="ru-RU" dirty="0" err="1"/>
              <a:t>Orders</a:t>
            </a:r>
            <a:r>
              <a:rPr lang="ru-RU" dirty="0"/>
              <a:t> и таблицу покупателей </a:t>
            </a:r>
            <a:r>
              <a:rPr lang="ru-RU" dirty="0" err="1"/>
              <a:t>Customers</a:t>
            </a:r>
            <a:r>
              <a:rPr lang="ru-RU" dirty="0"/>
              <a:t>:</a:t>
            </a:r>
          </a:p>
          <a:p>
            <a:pPr lvl="1"/>
            <a:endParaRPr lang="ru-RU" dirty="0"/>
          </a:p>
          <a:p>
            <a:pPr lvl="1"/>
            <a:r>
              <a:rPr lang="en-US" dirty="0"/>
              <a:t>	</a:t>
            </a:r>
          </a:p>
          <a:p>
            <a:pPr lvl="1"/>
            <a:r>
              <a:rPr lang="en-US" dirty="0"/>
              <a:t>SELECT * FROM Orders CROSS JOIN Customers</a:t>
            </a:r>
            <a:endParaRPr lang="ru-RU" dirty="0"/>
          </a:p>
          <a:p>
            <a:br>
              <a:rPr lang="ru-RU" dirty="0"/>
            </a:br>
            <a:endParaRPr lang="de-CH" b="1" dirty="0"/>
          </a:p>
          <a:p>
            <a:endParaRPr lang="ru-RU" dirty="0"/>
          </a:p>
        </p:txBody>
      </p:sp>
    </p:spTree>
    <p:extLst>
      <p:ext uri="{BB962C8B-B14F-4D97-AF65-F5344CB8AC3E}">
        <p14:creationId xmlns:p14="http://schemas.microsoft.com/office/powerpoint/2010/main" val="3736319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0443298-9825-57F5-1A8F-1FC0558F675A}"/>
              </a:ext>
            </a:extLst>
          </p:cNvPr>
          <p:cNvSpPr>
            <a:spLocks noGrp="1"/>
          </p:cNvSpPr>
          <p:nvPr>
            <p:ph idx="1"/>
          </p:nvPr>
        </p:nvSpPr>
        <p:spPr/>
        <p:txBody>
          <a:bodyPr/>
          <a:lstStyle/>
          <a:p>
            <a:r>
              <a:rPr lang="ru-RU" b="1" dirty="0"/>
              <a:t>Группировка в соединениях</a:t>
            </a:r>
          </a:p>
          <a:p>
            <a:endParaRPr lang="ru-RU" dirty="0"/>
          </a:p>
          <a:p>
            <a:pPr lvl="1"/>
            <a:r>
              <a:rPr lang="ru-RU" sz="2000" dirty="0"/>
              <a:t>В выражениях INNER/OUTER JOIN также можно использовать группировку. Например, выведем для каждого пользователя количество заказов, которые он сделал:</a:t>
            </a:r>
          </a:p>
          <a:p>
            <a:pPr lvl="1"/>
            <a:endParaRPr lang="ru-RU" sz="2000" dirty="0"/>
          </a:p>
          <a:p>
            <a:pPr lvl="1" algn="l" fontAlgn="base">
              <a:lnSpc>
                <a:spcPts val="1575"/>
              </a:lnSpc>
            </a:pPr>
            <a:r>
              <a:rPr lang="en-US" sz="1600" b="0" i="0" dirty="0">
                <a:solidFill>
                  <a:srgbClr val="006699"/>
                </a:solidFill>
                <a:effectLst/>
                <a:latin typeface="SFMono-Regular"/>
              </a:rPr>
              <a:t>SELECT</a:t>
            </a:r>
            <a:r>
              <a:rPr lang="en-US" sz="1600" b="0" i="0" dirty="0">
                <a:solidFill>
                  <a:srgbClr val="000000"/>
                </a:solidFill>
                <a:effectLst/>
                <a:latin typeface="SFMono-Regular"/>
              </a:rPr>
              <a:t> FirstName, </a:t>
            </a:r>
            <a:r>
              <a:rPr lang="en-US" sz="1600" b="0" i="0" dirty="0">
                <a:solidFill>
                  <a:srgbClr val="FF1493"/>
                </a:solidFill>
                <a:effectLst/>
                <a:latin typeface="SFMono-Regular"/>
              </a:rPr>
              <a:t>COUNT</a:t>
            </a:r>
            <a:r>
              <a:rPr lang="en-US" sz="1600" b="0" i="0" dirty="0">
                <a:solidFill>
                  <a:srgbClr val="000000"/>
                </a:solidFill>
                <a:effectLst/>
                <a:latin typeface="SFMono-Regular"/>
              </a:rPr>
              <a:t>(</a:t>
            </a:r>
            <a:r>
              <a:rPr lang="en-US" sz="1600" b="0" i="0" dirty="0" err="1">
                <a:solidFill>
                  <a:srgbClr val="000000"/>
                </a:solidFill>
                <a:effectLst/>
                <a:latin typeface="SFMono-Regular"/>
              </a:rPr>
              <a:t>Orders.Id</a:t>
            </a:r>
            <a:r>
              <a:rPr lang="en-US" sz="1600" b="0" i="0" dirty="0">
                <a:solidFill>
                  <a:srgbClr val="000000"/>
                </a:solidFill>
                <a:effectLst/>
                <a:latin typeface="SFMono-Regular"/>
              </a:rPr>
              <a:t>)</a:t>
            </a:r>
          </a:p>
          <a:p>
            <a:pPr lvl="1" algn="l" fontAlgn="base">
              <a:lnSpc>
                <a:spcPts val="1575"/>
              </a:lnSpc>
            </a:pPr>
            <a:r>
              <a:rPr lang="en-US" sz="1600" b="0" i="0" dirty="0">
                <a:solidFill>
                  <a:srgbClr val="006699"/>
                </a:solidFill>
                <a:effectLst/>
                <a:latin typeface="SFMono-Regular"/>
              </a:rPr>
              <a:t>FROM</a:t>
            </a:r>
            <a:r>
              <a:rPr lang="en-US" sz="1600" b="0" i="0" dirty="0">
                <a:solidFill>
                  <a:srgbClr val="000000"/>
                </a:solidFill>
                <a:effectLst/>
                <a:latin typeface="SFMono-Regular"/>
              </a:rPr>
              <a:t> Customers </a:t>
            </a:r>
            <a:r>
              <a:rPr lang="en-US" sz="1600" b="0" i="0" dirty="0">
                <a:solidFill>
                  <a:srgbClr val="FF1493"/>
                </a:solidFill>
                <a:effectLst/>
                <a:latin typeface="SFMono-Regular"/>
              </a:rPr>
              <a:t>LEFT</a:t>
            </a:r>
            <a:r>
              <a:rPr lang="en-US" sz="1600" b="0" i="0" dirty="0">
                <a:solidFill>
                  <a:srgbClr val="000000"/>
                </a:solidFill>
                <a:effectLst/>
                <a:latin typeface="SFMono-Regular"/>
              </a:rPr>
              <a:t> </a:t>
            </a:r>
            <a:r>
              <a:rPr lang="en-US" sz="1600" b="0" i="0" dirty="0">
                <a:solidFill>
                  <a:srgbClr val="808080"/>
                </a:solidFill>
                <a:effectLst/>
                <a:latin typeface="SFMono-Regular"/>
              </a:rPr>
              <a:t>JOIN</a:t>
            </a:r>
            <a:r>
              <a:rPr lang="en-US" sz="1600" b="0" i="0" dirty="0">
                <a:solidFill>
                  <a:srgbClr val="000000"/>
                </a:solidFill>
                <a:effectLst/>
                <a:latin typeface="SFMono-Regular"/>
              </a:rPr>
              <a:t> Orders </a:t>
            </a:r>
          </a:p>
          <a:p>
            <a:pPr lvl="1" algn="l" fontAlgn="base">
              <a:lnSpc>
                <a:spcPts val="1575"/>
              </a:lnSpc>
            </a:pPr>
            <a:r>
              <a:rPr lang="en-US" sz="1600" b="0" i="0" dirty="0">
                <a:solidFill>
                  <a:srgbClr val="006699"/>
                </a:solidFill>
                <a:effectLst/>
                <a:latin typeface="SFMono-Regular"/>
              </a:rPr>
              <a:t>ON</a:t>
            </a:r>
            <a:r>
              <a:rPr lang="en-US" sz="1600" b="0" i="0" dirty="0">
                <a:solidFill>
                  <a:srgbClr val="000000"/>
                </a:solidFill>
                <a:effectLst/>
                <a:latin typeface="SFMono-Regular"/>
              </a:rPr>
              <a:t> </a:t>
            </a:r>
            <a:r>
              <a:rPr lang="en-US" sz="1600" b="0" i="0" dirty="0" err="1">
                <a:solidFill>
                  <a:srgbClr val="000000"/>
                </a:solidFill>
                <a:effectLst/>
                <a:latin typeface="SFMono-Regular"/>
              </a:rPr>
              <a:t>Orders.CustomerId</a:t>
            </a:r>
            <a:r>
              <a:rPr lang="en-US" sz="1600" b="0" i="0" dirty="0">
                <a:solidFill>
                  <a:srgbClr val="000000"/>
                </a:solidFill>
                <a:effectLst/>
                <a:latin typeface="SFMono-Regular"/>
              </a:rPr>
              <a:t> = </a:t>
            </a:r>
            <a:r>
              <a:rPr lang="en-US" sz="1600" b="0" i="0" dirty="0" err="1">
                <a:solidFill>
                  <a:srgbClr val="000000"/>
                </a:solidFill>
                <a:effectLst/>
                <a:latin typeface="SFMono-Regular"/>
              </a:rPr>
              <a:t>Customers.Id</a:t>
            </a:r>
            <a:endParaRPr lang="en-US" sz="1600" b="0" i="0" dirty="0">
              <a:solidFill>
                <a:srgbClr val="000000"/>
              </a:solidFill>
              <a:effectLst/>
              <a:latin typeface="SFMono-Regular"/>
            </a:endParaRPr>
          </a:p>
          <a:p>
            <a:pPr lvl="1" algn="l" fontAlgn="base">
              <a:lnSpc>
                <a:spcPts val="1575"/>
              </a:lnSpc>
            </a:pPr>
            <a:r>
              <a:rPr lang="en-US" sz="1600" b="0" i="0" dirty="0">
                <a:solidFill>
                  <a:srgbClr val="006699"/>
                </a:solidFill>
                <a:effectLst/>
                <a:latin typeface="SFMono-Regular"/>
              </a:rPr>
              <a:t>GROUP</a:t>
            </a:r>
            <a:r>
              <a:rPr lang="en-US" sz="1600" b="0" i="0" dirty="0">
                <a:solidFill>
                  <a:srgbClr val="000000"/>
                </a:solidFill>
                <a:effectLst/>
                <a:latin typeface="SFMono-Regular"/>
              </a:rPr>
              <a:t> </a:t>
            </a:r>
            <a:r>
              <a:rPr lang="en-US" sz="1600" b="0" i="0" dirty="0">
                <a:solidFill>
                  <a:srgbClr val="006699"/>
                </a:solidFill>
                <a:effectLst/>
                <a:latin typeface="SFMono-Regular"/>
              </a:rPr>
              <a:t>BY</a:t>
            </a:r>
            <a:r>
              <a:rPr lang="en-US" sz="1600" b="0" i="0" dirty="0">
                <a:solidFill>
                  <a:srgbClr val="000000"/>
                </a:solidFill>
                <a:effectLst/>
                <a:latin typeface="SFMono-Regular"/>
              </a:rPr>
              <a:t> </a:t>
            </a:r>
            <a:r>
              <a:rPr lang="en-US" sz="1600" b="0" i="0" dirty="0" err="1">
                <a:solidFill>
                  <a:srgbClr val="000000"/>
                </a:solidFill>
                <a:effectLst/>
                <a:latin typeface="SFMono-Regular"/>
              </a:rPr>
              <a:t>Customers.Id</a:t>
            </a:r>
            <a:r>
              <a:rPr lang="en-US" sz="1600" b="0" i="0" dirty="0">
                <a:solidFill>
                  <a:srgbClr val="000000"/>
                </a:solidFill>
                <a:effectLst/>
                <a:latin typeface="SFMono-Regular"/>
              </a:rPr>
              <a:t>, </a:t>
            </a:r>
            <a:r>
              <a:rPr lang="en-US" sz="1600" b="0" i="0" dirty="0" err="1">
                <a:solidFill>
                  <a:srgbClr val="000000"/>
                </a:solidFill>
                <a:effectLst/>
                <a:latin typeface="SFMono-Regular"/>
              </a:rPr>
              <a:t>Customers.FirstName</a:t>
            </a:r>
            <a:r>
              <a:rPr lang="en-US" sz="1600" b="0" i="0" dirty="0">
                <a:solidFill>
                  <a:srgbClr val="000000"/>
                </a:solidFill>
                <a:effectLst/>
                <a:latin typeface="SFMono-Regular"/>
              </a:rPr>
              <a:t>;</a:t>
            </a:r>
          </a:p>
          <a:p>
            <a:pPr lvl="1"/>
            <a:endParaRPr lang="ru-RU" sz="2000" dirty="0"/>
          </a:p>
        </p:txBody>
      </p:sp>
    </p:spTree>
    <p:extLst>
      <p:ext uri="{BB962C8B-B14F-4D97-AF65-F5344CB8AC3E}">
        <p14:creationId xmlns:p14="http://schemas.microsoft.com/office/powerpoint/2010/main" val="2788083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026F420-469A-8489-9388-0890CEBBD3C7}"/>
              </a:ext>
            </a:extLst>
          </p:cNvPr>
          <p:cNvSpPr>
            <a:spLocks noGrp="1"/>
          </p:cNvSpPr>
          <p:nvPr>
            <p:ph idx="1"/>
          </p:nvPr>
        </p:nvSpPr>
        <p:spPr/>
        <p:txBody>
          <a:bodyPr/>
          <a:lstStyle/>
          <a:p>
            <a:r>
              <a:rPr lang="de-CH" b="1" dirty="0"/>
              <a:t>UNION</a:t>
            </a:r>
            <a:endParaRPr lang="ru-RU" b="1" dirty="0"/>
          </a:p>
          <a:p>
            <a:endParaRPr lang="de-CH" b="1" dirty="0"/>
          </a:p>
          <a:p>
            <a:pPr lvl="1"/>
            <a:r>
              <a:rPr lang="ru-RU" sz="2000" dirty="0"/>
              <a:t>Оператор </a:t>
            </a:r>
            <a:r>
              <a:rPr lang="ru-RU" sz="2000" b="1" dirty="0"/>
              <a:t>UNION</a:t>
            </a:r>
            <a:r>
              <a:rPr lang="ru-RU" sz="2000" dirty="0"/>
              <a:t> подобно </a:t>
            </a:r>
            <a:r>
              <a:rPr lang="ru-RU" sz="2000" dirty="0" err="1"/>
              <a:t>inner</a:t>
            </a:r>
            <a:r>
              <a:rPr lang="ru-RU" sz="2000" dirty="0"/>
              <a:t> </a:t>
            </a:r>
            <a:r>
              <a:rPr lang="ru-RU" sz="2000" dirty="0" err="1"/>
              <a:t>join</a:t>
            </a:r>
            <a:r>
              <a:rPr lang="ru-RU" sz="2000" dirty="0"/>
              <a:t> или </a:t>
            </a:r>
            <a:r>
              <a:rPr lang="ru-RU" sz="2000" dirty="0" err="1"/>
              <a:t>outer</a:t>
            </a:r>
            <a:r>
              <a:rPr lang="ru-RU" sz="2000" dirty="0"/>
              <a:t> </a:t>
            </a:r>
            <a:r>
              <a:rPr lang="ru-RU" sz="2000" dirty="0" err="1"/>
              <a:t>join</a:t>
            </a:r>
            <a:r>
              <a:rPr lang="ru-RU" sz="2000" dirty="0"/>
              <a:t> позволяет соединить две таблицы. Но в отличие от </a:t>
            </a:r>
            <a:r>
              <a:rPr lang="ru-RU" sz="2000" dirty="0" err="1"/>
              <a:t>inner</a:t>
            </a:r>
            <a:r>
              <a:rPr lang="ru-RU" sz="2000" dirty="0"/>
              <a:t>/</a:t>
            </a:r>
            <a:r>
              <a:rPr lang="ru-RU" sz="2000" dirty="0" err="1"/>
              <a:t>outer</a:t>
            </a:r>
            <a:r>
              <a:rPr lang="ru-RU" sz="2000" dirty="0"/>
              <a:t> </a:t>
            </a:r>
            <a:r>
              <a:rPr lang="ru-RU" sz="2000" dirty="0" err="1"/>
              <a:t>join</a:t>
            </a:r>
            <a:r>
              <a:rPr lang="ru-RU" sz="2000" dirty="0"/>
              <a:t> объединения соединяют не столбцы разных таблиц, а два однотипных набора в один. Формальный синтаксис объединения:</a:t>
            </a:r>
          </a:p>
          <a:p>
            <a:pPr lvl="1"/>
            <a:endParaRPr lang="ru-RU" sz="2000" dirty="0"/>
          </a:p>
          <a:p>
            <a:pPr lvl="1" algn="l" fontAlgn="base">
              <a:lnSpc>
                <a:spcPts val="1575"/>
              </a:lnSpc>
            </a:pPr>
            <a:r>
              <a:rPr lang="de-CH" sz="2000" b="0" i="0" dirty="0">
                <a:solidFill>
                  <a:srgbClr val="000000"/>
                </a:solidFill>
                <a:effectLst/>
                <a:latin typeface="SFMono-Regular"/>
              </a:rPr>
              <a:t>SELECT_</a:t>
            </a:r>
            <a:r>
              <a:rPr lang="ru-RU" sz="2000" b="0" i="0" dirty="0">
                <a:solidFill>
                  <a:srgbClr val="000000"/>
                </a:solidFill>
                <a:effectLst/>
                <a:latin typeface="SFMono-Regular"/>
              </a:rPr>
              <a:t>выражение1</a:t>
            </a:r>
          </a:p>
          <a:p>
            <a:pPr lvl="1" algn="l" fontAlgn="base">
              <a:lnSpc>
                <a:spcPts val="1575"/>
              </a:lnSpc>
            </a:pPr>
            <a:r>
              <a:rPr lang="de-CH" sz="2000" b="0" i="0" dirty="0">
                <a:solidFill>
                  <a:srgbClr val="006699"/>
                </a:solidFill>
                <a:effectLst/>
                <a:latin typeface="SFMono-Regular"/>
              </a:rPr>
              <a:t>UNION</a:t>
            </a:r>
            <a:r>
              <a:rPr lang="de-CH" sz="2000" b="0" i="0" dirty="0">
                <a:solidFill>
                  <a:srgbClr val="000000"/>
                </a:solidFill>
                <a:effectLst/>
                <a:latin typeface="SFMono-Regular"/>
              </a:rPr>
              <a:t> [</a:t>
            </a:r>
            <a:r>
              <a:rPr lang="de-CH" sz="2000" b="0" i="0" dirty="0">
                <a:solidFill>
                  <a:srgbClr val="808080"/>
                </a:solidFill>
                <a:effectLst/>
                <a:latin typeface="SFMono-Regular"/>
              </a:rPr>
              <a:t>ALL</a:t>
            </a:r>
            <a:r>
              <a:rPr lang="de-CH" sz="2000" b="0" i="0" dirty="0">
                <a:solidFill>
                  <a:srgbClr val="000000"/>
                </a:solidFill>
                <a:effectLst/>
                <a:latin typeface="SFMono-Regular"/>
              </a:rPr>
              <a:t>] SELECT_</a:t>
            </a:r>
            <a:r>
              <a:rPr lang="ru-RU" sz="2000" b="0" i="0" dirty="0">
                <a:solidFill>
                  <a:srgbClr val="000000"/>
                </a:solidFill>
                <a:effectLst/>
                <a:latin typeface="SFMono-Regular"/>
              </a:rPr>
              <a:t>выражение2</a:t>
            </a:r>
          </a:p>
          <a:p>
            <a:pPr lvl="1" algn="l" fontAlgn="base">
              <a:lnSpc>
                <a:spcPts val="1575"/>
              </a:lnSpc>
            </a:pPr>
            <a:r>
              <a:rPr lang="ru-RU" sz="2000" b="0" i="0" dirty="0">
                <a:solidFill>
                  <a:srgbClr val="000000"/>
                </a:solidFill>
                <a:effectLst/>
                <a:latin typeface="SFMono-Regular"/>
              </a:rPr>
              <a:t>[</a:t>
            </a:r>
            <a:r>
              <a:rPr lang="de-CH" sz="2000" b="0" i="0" dirty="0">
                <a:solidFill>
                  <a:srgbClr val="006699"/>
                </a:solidFill>
                <a:effectLst/>
                <a:latin typeface="SFMono-Regular"/>
              </a:rPr>
              <a:t>UNION</a:t>
            </a:r>
            <a:r>
              <a:rPr lang="de-CH" sz="2000" b="0" i="0" dirty="0">
                <a:solidFill>
                  <a:srgbClr val="000000"/>
                </a:solidFill>
                <a:effectLst/>
                <a:latin typeface="SFMono-Regular"/>
              </a:rPr>
              <a:t> [</a:t>
            </a:r>
            <a:r>
              <a:rPr lang="de-CH" sz="2000" b="0" i="0" dirty="0">
                <a:solidFill>
                  <a:srgbClr val="808080"/>
                </a:solidFill>
                <a:effectLst/>
                <a:latin typeface="SFMono-Regular"/>
              </a:rPr>
              <a:t>ALL</a:t>
            </a:r>
            <a:r>
              <a:rPr lang="de-CH" sz="2000" b="0" i="0" dirty="0">
                <a:solidFill>
                  <a:srgbClr val="000000"/>
                </a:solidFill>
                <a:effectLst/>
                <a:latin typeface="SFMono-Regular"/>
              </a:rPr>
              <a:t>] SELECT_</a:t>
            </a:r>
            <a:r>
              <a:rPr lang="ru-RU" sz="2000" b="0" i="0" dirty="0">
                <a:solidFill>
                  <a:srgbClr val="000000"/>
                </a:solidFill>
                <a:effectLst/>
                <a:latin typeface="SFMono-Regular"/>
              </a:rPr>
              <a:t>выражение</a:t>
            </a:r>
            <a:r>
              <a:rPr lang="de-CH" sz="2000" b="0" i="0" dirty="0">
                <a:solidFill>
                  <a:srgbClr val="000000"/>
                </a:solidFill>
                <a:effectLst/>
                <a:latin typeface="SFMono-Regular"/>
              </a:rPr>
              <a:t>N]</a:t>
            </a:r>
          </a:p>
          <a:p>
            <a:pPr lvl="1"/>
            <a:endParaRPr lang="ru-RU" sz="2000" dirty="0"/>
          </a:p>
        </p:txBody>
      </p:sp>
    </p:spTree>
    <p:extLst>
      <p:ext uri="{BB962C8B-B14F-4D97-AF65-F5344CB8AC3E}">
        <p14:creationId xmlns:p14="http://schemas.microsoft.com/office/powerpoint/2010/main" val="233098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4EE7595E-2925-7DC2-9934-8DB2744973DF}"/>
              </a:ext>
            </a:extLst>
          </p:cNvPr>
          <p:cNvSpPr>
            <a:spLocks noGrp="1"/>
          </p:cNvSpPr>
          <p:nvPr>
            <p:ph idx="1"/>
          </p:nvPr>
        </p:nvSpPr>
        <p:spPr/>
        <p:txBody>
          <a:bodyPr/>
          <a:lstStyle/>
          <a:p>
            <a:r>
              <a:rPr lang="de-CH" b="1" dirty="0"/>
              <a:t>EXCEPT</a:t>
            </a:r>
          </a:p>
          <a:p>
            <a:endParaRPr lang="ru-RU" dirty="0"/>
          </a:p>
          <a:p>
            <a:pPr lvl="1"/>
            <a:r>
              <a:rPr lang="ru-RU" sz="2000" dirty="0"/>
              <a:t>Оператор EXCEPT позволяет найти разность двух выборок, то есть те строки которые есть в первой выборке, но которых нет во второй. Для его использования применяется следующий формальный синтаксис:</a:t>
            </a:r>
          </a:p>
          <a:p>
            <a:pPr lvl="1"/>
            <a:endParaRPr lang="ru-RU" sz="2000" dirty="0"/>
          </a:p>
          <a:p>
            <a:pPr lvl="1" algn="l" fontAlgn="base">
              <a:lnSpc>
                <a:spcPts val="1575"/>
              </a:lnSpc>
            </a:pPr>
            <a:r>
              <a:rPr lang="de-CH" sz="1600" b="0" i="0" dirty="0">
                <a:solidFill>
                  <a:srgbClr val="000000"/>
                </a:solidFill>
                <a:effectLst/>
                <a:latin typeface="SFMono-Regular"/>
              </a:rPr>
              <a:t>SELECT_</a:t>
            </a:r>
            <a:r>
              <a:rPr lang="ru-RU" sz="1600" b="0" i="0" dirty="0">
                <a:solidFill>
                  <a:srgbClr val="000000"/>
                </a:solidFill>
                <a:effectLst/>
                <a:latin typeface="SFMono-Regular"/>
              </a:rPr>
              <a:t>выражение1</a:t>
            </a:r>
          </a:p>
          <a:p>
            <a:pPr lvl="1" algn="l" fontAlgn="base">
              <a:lnSpc>
                <a:spcPts val="1575"/>
              </a:lnSpc>
            </a:pPr>
            <a:r>
              <a:rPr lang="de-CH" sz="1600" b="0" i="0" dirty="0">
                <a:solidFill>
                  <a:srgbClr val="006699"/>
                </a:solidFill>
                <a:effectLst/>
                <a:latin typeface="SFMono-Regular"/>
              </a:rPr>
              <a:t>EXCEPT</a:t>
            </a:r>
            <a:r>
              <a:rPr lang="de-CH" sz="1600" b="0" i="0" dirty="0">
                <a:solidFill>
                  <a:srgbClr val="000000"/>
                </a:solidFill>
                <a:effectLst/>
                <a:latin typeface="SFMono-Regular"/>
              </a:rPr>
              <a:t> SELECT_</a:t>
            </a:r>
            <a:r>
              <a:rPr lang="ru-RU" sz="1600" b="0" i="0" dirty="0">
                <a:solidFill>
                  <a:srgbClr val="000000"/>
                </a:solidFill>
                <a:effectLst/>
                <a:latin typeface="SFMono-Regular"/>
              </a:rPr>
              <a:t>выражение2</a:t>
            </a:r>
          </a:p>
          <a:p>
            <a:pPr lvl="1"/>
            <a:endParaRPr lang="ru-RU" sz="2000" dirty="0"/>
          </a:p>
        </p:txBody>
      </p:sp>
    </p:spTree>
    <p:extLst>
      <p:ext uri="{BB962C8B-B14F-4D97-AF65-F5344CB8AC3E}">
        <p14:creationId xmlns:p14="http://schemas.microsoft.com/office/powerpoint/2010/main" val="162022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279F6E7-D2E5-A021-2B11-25BD4160D4DF}"/>
              </a:ext>
            </a:extLst>
          </p:cNvPr>
          <p:cNvSpPr>
            <a:spLocks noGrp="1"/>
          </p:cNvSpPr>
          <p:nvPr>
            <p:ph idx="1"/>
          </p:nvPr>
        </p:nvSpPr>
        <p:spPr/>
        <p:txBody>
          <a:bodyPr/>
          <a:lstStyle/>
          <a:p>
            <a:r>
              <a:rPr lang="de-CH" b="1" dirty="0"/>
              <a:t>INTERSECT</a:t>
            </a:r>
          </a:p>
          <a:p>
            <a:endParaRPr lang="ru-RU" dirty="0"/>
          </a:p>
          <a:p>
            <a:pPr lvl="1"/>
            <a:r>
              <a:rPr lang="ru-RU" sz="2000" dirty="0"/>
              <a:t>Оператор </a:t>
            </a:r>
            <a:r>
              <a:rPr lang="ru-RU" sz="2000" b="1" dirty="0"/>
              <a:t>INTERSECT</a:t>
            </a:r>
            <a:r>
              <a:rPr lang="ru-RU" sz="2000" dirty="0"/>
              <a:t> позволяет найти общие строки для двух выборок, то есть данный оператор выполняет операцию пересечения множеств. Для его использования применяется следующий формальный синтаксис:</a:t>
            </a:r>
          </a:p>
          <a:p>
            <a:pPr lvl="1"/>
            <a:endParaRPr lang="ru-RU" sz="2000" dirty="0"/>
          </a:p>
          <a:p>
            <a:pPr lvl="1" algn="l" fontAlgn="base">
              <a:lnSpc>
                <a:spcPts val="1575"/>
              </a:lnSpc>
            </a:pPr>
            <a:r>
              <a:rPr lang="de-CH" sz="1600" b="0" i="0" dirty="0">
                <a:solidFill>
                  <a:srgbClr val="000000"/>
                </a:solidFill>
                <a:effectLst/>
                <a:latin typeface="SFMono-Regular"/>
              </a:rPr>
              <a:t>SELECT_</a:t>
            </a:r>
            <a:r>
              <a:rPr lang="ru-RU" sz="1600" b="0" i="0" dirty="0">
                <a:solidFill>
                  <a:srgbClr val="000000"/>
                </a:solidFill>
                <a:effectLst/>
                <a:latin typeface="SFMono-Regular"/>
              </a:rPr>
              <a:t>выражение1</a:t>
            </a:r>
          </a:p>
          <a:p>
            <a:pPr lvl="1" algn="l" fontAlgn="base">
              <a:lnSpc>
                <a:spcPts val="1575"/>
              </a:lnSpc>
            </a:pPr>
            <a:r>
              <a:rPr lang="de-CH" sz="1600" b="0" i="0" dirty="0">
                <a:solidFill>
                  <a:srgbClr val="006699"/>
                </a:solidFill>
                <a:effectLst/>
                <a:latin typeface="SFMono-Regular"/>
              </a:rPr>
              <a:t>INTERSECT</a:t>
            </a:r>
            <a:r>
              <a:rPr lang="de-CH" sz="1600" b="0" i="0" dirty="0">
                <a:solidFill>
                  <a:srgbClr val="000000"/>
                </a:solidFill>
                <a:effectLst/>
                <a:latin typeface="SFMono-Regular"/>
              </a:rPr>
              <a:t> SELECT_</a:t>
            </a:r>
            <a:r>
              <a:rPr lang="ru-RU" sz="1600" b="0" i="0" dirty="0">
                <a:solidFill>
                  <a:srgbClr val="000000"/>
                </a:solidFill>
                <a:effectLst/>
                <a:latin typeface="SFMono-Regular"/>
              </a:rPr>
              <a:t>выражение2</a:t>
            </a:r>
          </a:p>
          <a:p>
            <a:pPr lvl="1"/>
            <a:endParaRPr lang="ru-RU" sz="2000" dirty="0"/>
          </a:p>
        </p:txBody>
      </p:sp>
    </p:spTree>
    <p:extLst>
      <p:ext uri="{BB962C8B-B14F-4D97-AF65-F5344CB8AC3E}">
        <p14:creationId xmlns:p14="http://schemas.microsoft.com/office/powerpoint/2010/main" val="369756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77D647F-2595-65D5-5E27-882819E57D28}"/>
              </a:ext>
            </a:extLst>
          </p:cNvPr>
          <p:cNvSpPr>
            <a:spLocks noGrp="1"/>
          </p:cNvSpPr>
          <p:nvPr>
            <p:ph idx="1"/>
          </p:nvPr>
        </p:nvSpPr>
        <p:spPr/>
        <p:txBody>
          <a:bodyPr>
            <a:normAutofit/>
          </a:bodyPr>
          <a:lstStyle/>
          <a:p>
            <a:r>
              <a:rPr lang="ru-RU" b="1" dirty="0"/>
              <a:t>Преобразование данных</a:t>
            </a:r>
            <a:endParaRPr lang="en-US" b="1" dirty="0"/>
          </a:p>
          <a:p>
            <a:endParaRPr lang="ru-RU" b="1" dirty="0"/>
          </a:p>
          <a:p>
            <a:pPr lvl="1"/>
            <a:r>
              <a:rPr lang="ru-RU" sz="2000" dirty="0"/>
              <a:t>Когда мы присваиваем значение одного типа столбцу, который хранит данные другого типа, либо выполняем операции, которые вовлекают данные разных типов, SQL Server пытается выполнить преобразование и привести используемое значение к нужному типу. Но не все преобразования SQL Server может выполнить автоматически. SQL Server может выполнять неявные преобразования от типа с меньшим приоритетом к типу с большим приоритетом. Таблица приоритетов (чем выше, тем больший приоритет):</a:t>
            </a:r>
            <a:endParaRPr lang="en-US" sz="2000" dirty="0"/>
          </a:p>
          <a:p>
            <a:pPr lvl="1"/>
            <a:endParaRPr lang="en-US" sz="2000" dirty="0"/>
          </a:p>
          <a:p>
            <a:pPr lvl="1"/>
            <a:endParaRPr lang="ru-RU" sz="2000" dirty="0"/>
          </a:p>
        </p:txBody>
      </p:sp>
    </p:spTree>
    <p:extLst>
      <p:ext uri="{BB962C8B-B14F-4D97-AF65-F5344CB8AC3E}">
        <p14:creationId xmlns:p14="http://schemas.microsoft.com/office/powerpoint/2010/main" val="1670140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DD4E47F5-46DE-99F8-BBE2-2A13E2D7D1B7}"/>
              </a:ext>
            </a:extLst>
          </p:cNvPr>
          <p:cNvSpPr>
            <a:spLocks noGrp="1"/>
          </p:cNvSpPr>
          <p:nvPr>
            <p:ph idx="1"/>
          </p:nvPr>
        </p:nvSpPr>
        <p:spPr/>
        <p:txBody>
          <a:bodyPr/>
          <a:lstStyle/>
          <a:p>
            <a:pPr lvl="1"/>
            <a:r>
              <a:rPr lang="en-US" sz="2000" dirty="0"/>
              <a:t>datetime </a:t>
            </a:r>
          </a:p>
          <a:p>
            <a:pPr lvl="1"/>
            <a:r>
              <a:rPr lang="en-US" sz="2000" dirty="0" err="1"/>
              <a:t>smalldatetime</a:t>
            </a:r>
            <a:endParaRPr lang="en-US" sz="2000" dirty="0"/>
          </a:p>
          <a:p>
            <a:pPr lvl="1"/>
            <a:r>
              <a:rPr lang="en-US" sz="2000" dirty="0"/>
              <a:t>float</a:t>
            </a:r>
          </a:p>
          <a:p>
            <a:pPr lvl="1"/>
            <a:r>
              <a:rPr lang="en-US" sz="2000" dirty="0"/>
              <a:t>real</a:t>
            </a:r>
          </a:p>
          <a:p>
            <a:pPr lvl="1"/>
            <a:r>
              <a:rPr lang="en-US" sz="2000" dirty="0"/>
              <a:t>decimal</a:t>
            </a:r>
          </a:p>
          <a:p>
            <a:pPr lvl="1"/>
            <a:r>
              <a:rPr lang="en-US" sz="2000" dirty="0"/>
              <a:t>money</a:t>
            </a:r>
          </a:p>
          <a:p>
            <a:pPr lvl="1"/>
            <a:r>
              <a:rPr lang="en-US" sz="2000" dirty="0" err="1"/>
              <a:t>smallmoney</a:t>
            </a:r>
            <a:endParaRPr lang="en-US" sz="2000" dirty="0"/>
          </a:p>
          <a:p>
            <a:pPr lvl="1"/>
            <a:r>
              <a:rPr lang="en-US" sz="2000" dirty="0"/>
              <a:t>int</a:t>
            </a:r>
          </a:p>
          <a:p>
            <a:pPr lvl="1"/>
            <a:r>
              <a:rPr lang="en-US" sz="2000" dirty="0" err="1"/>
              <a:t>smallint</a:t>
            </a:r>
            <a:endParaRPr lang="en-US" sz="2000" dirty="0"/>
          </a:p>
          <a:p>
            <a:pPr lvl="1"/>
            <a:r>
              <a:rPr lang="en-US" sz="2000" dirty="0" err="1"/>
              <a:t>tinyint</a:t>
            </a:r>
            <a:endParaRPr lang="en-US" sz="2000" dirty="0"/>
          </a:p>
          <a:p>
            <a:pPr lvl="1"/>
            <a:r>
              <a:rPr lang="en-US" sz="2000" dirty="0"/>
              <a:t>bit</a:t>
            </a:r>
          </a:p>
          <a:p>
            <a:pPr lvl="1"/>
            <a:r>
              <a:rPr lang="en-US" sz="2000" dirty="0" err="1"/>
              <a:t>nvarchar</a:t>
            </a:r>
            <a:endParaRPr lang="en-US" sz="2000" dirty="0"/>
          </a:p>
          <a:p>
            <a:pPr lvl="1"/>
            <a:r>
              <a:rPr lang="en-US" sz="2000" dirty="0" err="1"/>
              <a:t>nchar</a:t>
            </a:r>
            <a:endParaRPr lang="en-US" sz="2000" dirty="0"/>
          </a:p>
          <a:p>
            <a:pPr lvl="1"/>
            <a:r>
              <a:rPr lang="en-US" sz="2000" dirty="0"/>
              <a:t>varchar</a:t>
            </a:r>
          </a:p>
          <a:p>
            <a:pPr lvl="1"/>
            <a:r>
              <a:rPr lang="en-US" sz="2000" dirty="0"/>
              <a:t>char</a:t>
            </a:r>
          </a:p>
          <a:p>
            <a:endParaRPr lang="ru-RU" dirty="0"/>
          </a:p>
        </p:txBody>
      </p:sp>
    </p:spTree>
    <p:extLst>
      <p:ext uri="{BB962C8B-B14F-4D97-AF65-F5344CB8AC3E}">
        <p14:creationId xmlns:p14="http://schemas.microsoft.com/office/powerpoint/2010/main" val="2280326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4BAC0A9E-62E7-18E6-D3FF-C74C05F7FE4F}"/>
              </a:ext>
            </a:extLst>
          </p:cNvPr>
          <p:cNvSpPr>
            <a:spLocks noGrp="1"/>
          </p:cNvSpPr>
          <p:nvPr>
            <p:ph idx="1"/>
          </p:nvPr>
        </p:nvSpPr>
        <p:spPr/>
        <p:txBody>
          <a:bodyPr/>
          <a:lstStyle/>
          <a:p>
            <a:r>
              <a:rPr lang="ru-RU" dirty="0"/>
              <a:t>В тех случаях, когда необходимо выполнить преобразования от типов с высшим приоритетом к типам с низшим приоритетом, то надо выполнять явное приведение типов. Для этого в T-SQL определены две функции: </a:t>
            </a:r>
            <a:r>
              <a:rPr lang="ru-RU" b="1" dirty="0"/>
              <a:t>CONVERT</a:t>
            </a:r>
            <a:r>
              <a:rPr lang="ru-RU" dirty="0"/>
              <a:t> и </a:t>
            </a:r>
            <a:r>
              <a:rPr lang="ru-RU" b="1" dirty="0"/>
              <a:t>CAST</a:t>
            </a:r>
            <a:r>
              <a:rPr lang="ru-RU" dirty="0"/>
              <a:t>.</a:t>
            </a:r>
            <a:endParaRPr lang="en-US" dirty="0"/>
          </a:p>
          <a:p>
            <a:endParaRPr lang="en-US" dirty="0"/>
          </a:p>
          <a:p>
            <a:r>
              <a:rPr lang="ru-RU" dirty="0"/>
              <a:t>Функция </a:t>
            </a:r>
            <a:r>
              <a:rPr lang="ru-RU" b="1" dirty="0"/>
              <a:t>CAST</a:t>
            </a:r>
            <a:r>
              <a:rPr lang="ru-RU" dirty="0"/>
              <a:t> преобразует выражение одного типа к другому. Она имеет следующую форму:</a:t>
            </a:r>
            <a:endParaRPr lang="en-US" dirty="0"/>
          </a:p>
          <a:p>
            <a:endParaRPr lang="en-US" dirty="0"/>
          </a:p>
          <a:p>
            <a:r>
              <a:rPr lang="ru-RU" dirty="0"/>
              <a:t>CAST(выражение AS </a:t>
            </a:r>
            <a:r>
              <a:rPr lang="ru-RU" dirty="0" err="1"/>
              <a:t>тип_данных</a:t>
            </a:r>
            <a:r>
              <a:rPr lang="ru-RU" dirty="0"/>
              <a:t>)</a:t>
            </a:r>
          </a:p>
        </p:txBody>
      </p:sp>
    </p:spTree>
    <p:extLst>
      <p:ext uri="{BB962C8B-B14F-4D97-AF65-F5344CB8AC3E}">
        <p14:creationId xmlns:p14="http://schemas.microsoft.com/office/powerpoint/2010/main" val="4131186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19355CF5-C730-EC89-F37F-72B0DEC2ED36}"/>
              </a:ext>
            </a:extLst>
          </p:cNvPr>
          <p:cNvSpPr>
            <a:spLocks noGrp="1"/>
          </p:cNvSpPr>
          <p:nvPr>
            <p:ph idx="1"/>
          </p:nvPr>
        </p:nvSpPr>
        <p:spPr/>
        <p:txBody>
          <a:bodyPr/>
          <a:lstStyle/>
          <a:p>
            <a:r>
              <a:rPr lang="ru-RU" b="1" dirty="0" err="1"/>
              <a:t>Convert</a:t>
            </a:r>
            <a:endParaRPr lang="ru-RU" b="1" dirty="0"/>
          </a:p>
          <a:p>
            <a:r>
              <a:rPr lang="ru-RU" dirty="0"/>
              <a:t>Большую часть преобразований охватывает функция CAST. Если же необходимо какое-то дополнительное форматирование, то можно использовать функцию </a:t>
            </a:r>
            <a:r>
              <a:rPr lang="ru-RU" b="1" dirty="0"/>
              <a:t>CONVERT</a:t>
            </a:r>
            <a:r>
              <a:rPr lang="ru-RU" dirty="0"/>
              <a:t>. Она имеет следующую форму:</a:t>
            </a:r>
          </a:p>
          <a:p>
            <a:endParaRPr lang="en-US" dirty="0"/>
          </a:p>
          <a:p>
            <a:r>
              <a:rPr lang="ru-RU" dirty="0"/>
              <a:t>CONVERT(</a:t>
            </a:r>
            <a:r>
              <a:rPr lang="ru-RU" dirty="0" err="1"/>
              <a:t>тип_данных</a:t>
            </a:r>
            <a:r>
              <a:rPr lang="ru-RU" dirty="0"/>
              <a:t>, выражение [, стиль])</a:t>
            </a:r>
            <a:endParaRPr lang="en-US" dirty="0"/>
          </a:p>
          <a:p>
            <a:endParaRPr lang="en-US" dirty="0"/>
          </a:p>
          <a:p>
            <a:endParaRPr lang="ru-RU" dirty="0"/>
          </a:p>
        </p:txBody>
      </p:sp>
    </p:spTree>
    <p:extLst>
      <p:ext uri="{BB962C8B-B14F-4D97-AF65-F5344CB8AC3E}">
        <p14:creationId xmlns:p14="http://schemas.microsoft.com/office/powerpoint/2010/main" val="2685592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EDE5007-4A33-7031-B4D0-DC22986DDBC3}"/>
              </a:ext>
            </a:extLst>
          </p:cNvPr>
          <p:cNvSpPr>
            <a:spLocks noGrp="1"/>
          </p:cNvSpPr>
          <p:nvPr>
            <p:ph idx="1"/>
          </p:nvPr>
        </p:nvSpPr>
        <p:spPr/>
        <p:txBody>
          <a:bodyPr/>
          <a:lstStyle/>
          <a:p>
            <a:r>
              <a:rPr lang="ru-RU" dirty="0"/>
              <a:t>Третий необязательный параметр задает стиль форматирования данных. Этот параметр представляет числовое значение, которое для разных типов данных имеет разную интерпретацию. Например, некоторые значения для форматирования дат и времени:</a:t>
            </a:r>
            <a:endParaRPr lang="en-US" dirty="0"/>
          </a:p>
          <a:p>
            <a:endParaRPr lang="en-US" dirty="0"/>
          </a:p>
          <a:p>
            <a:r>
              <a:rPr lang="ru-RU" dirty="0"/>
              <a:t>0 или 100 - формат даты "</a:t>
            </a:r>
            <a:r>
              <a:rPr lang="de-CH" dirty="0"/>
              <a:t>Mon </a:t>
            </a:r>
            <a:r>
              <a:rPr lang="de-CH" dirty="0" err="1"/>
              <a:t>dd</a:t>
            </a:r>
            <a:r>
              <a:rPr lang="de-CH" dirty="0"/>
              <a:t> </a:t>
            </a:r>
            <a:r>
              <a:rPr lang="de-CH" dirty="0" err="1"/>
              <a:t>yyyy</a:t>
            </a:r>
            <a:r>
              <a:rPr lang="de-CH" dirty="0"/>
              <a:t> </a:t>
            </a:r>
            <a:r>
              <a:rPr lang="de-CH" dirty="0" err="1"/>
              <a:t>hh:miAM</a:t>
            </a:r>
            <a:r>
              <a:rPr lang="de-CH" dirty="0"/>
              <a:t>/PM" (</a:t>
            </a:r>
            <a:r>
              <a:rPr lang="ru-RU" dirty="0"/>
              <a:t>значение по </a:t>
            </a:r>
            <a:r>
              <a:rPr lang="en-US" dirty="0"/>
              <a:t>	</a:t>
            </a:r>
            <a:r>
              <a:rPr lang="ru-RU" dirty="0"/>
              <a:t>умолчанию)</a:t>
            </a:r>
          </a:p>
          <a:p>
            <a:r>
              <a:rPr lang="ru-RU" dirty="0"/>
              <a:t>1 или 101 - формат даты "</a:t>
            </a:r>
            <a:r>
              <a:rPr lang="de-CH" dirty="0"/>
              <a:t>mm/</a:t>
            </a:r>
            <a:r>
              <a:rPr lang="de-CH" dirty="0" err="1"/>
              <a:t>dd</a:t>
            </a:r>
            <a:r>
              <a:rPr lang="de-CH" dirty="0"/>
              <a:t>/</a:t>
            </a:r>
            <a:r>
              <a:rPr lang="de-CH" dirty="0" err="1"/>
              <a:t>yyyy</a:t>
            </a:r>
            <a:r>
              <a:rPr lang="de-CH" dirty="0"/>
              <a:t>"</a:t>
            </a:r>
          </a:p>
          <a:p>
            <a:r>
              <a:rPr lang="de-CH" dirty="0"/>
              <a:t>3 </a:t>
            </a:r>
            <a:r>
              <a:rPr lang="ru-RU" dirty="0"/>
              <a:t>или 103 - формат даты "</a:t>
            </a:r>
            <a:r>
              <a:rPr lang="de-CH" dirty="0" err="1"/>
              <a:t>dd</a:t>
            </a:r>
            <a:r>
              <a:rPr lang="de-CH" dirty="0"/>
              <a:t>/mm/</a:t>
            </a:r>
            <a:r>
              <a:rPr lang="de-CH" dirty="0" err="1"/>
              <a:t>yyyy</a:t>
            </a:r>
            <a:r>
              <a:rPr lang="de-CH" dirty="0"/>
              <a:t>"</a:t>
            </a:r>
          </a:p>
          <a:p>
            <a:r>
              <a:rPr lang="de-CH" dirty="0"/>
              <a:t>7 </a:t>
            </a:r>
            <a:r>
              <a:rPr lang="ru-RU" dirty="0"/>
              <a:t>или 107 - формат даты "</a:t>
            </a:r>
            <a:r>
              <a:rPr lang="de-CH" dirty="0"/>
              <a:t>Mon </a:t>
            </a:r>
            <a:r>
              <a:rPr lang="de-CH" dirty="0" err="1"/>
              <a:t>dd</a:t>
            </a:r>
            <a:r>
              <a:rPr lang="de-CH" dirty="0"/>
              <a:t>, </a:t>
            </a:r>
            <a:r>
              <a:rPr lang="de-CH" dirty="0" err="1"/>
              <a:t>yyyy</a:t>
            </a:r>
            <a:r>
              <a:rPr lang="de-CH" dirty="0"/>
              <a:t> </a:t>
            </a:r>
            <a:r>
              <a:rPr lang="de-CH" dirty="0" err="1"/>
              <a:t>hh:miAM</a:t>
            </a:r>
            <a:r>
              <a:rPr lang="de-CH" dirty="0"/>
              <a:t>/PM"</a:t>
            </a:r>
          </a:p>
          <a:p>
            <a:r>
              <a:rPr lang="de-CH" dirty="0"/>
              <a:t>8 </a:t>
            </a:r>
            <a:r>
              <a:rPr lang="ru-RU" dirty="0"/>
              <a:t>или 108 - формат даты "</a:t>
            </a:r>
            <a:r>
              <a:rPr lang="de-CH" dirty="0" err="1"/>
              <a:t>hh:mi:ss</a:t>
            </a:r>
            <a:r>
              <a:rPr lang="de-CH" dirty="0"/>
              <a:t>"</a:t>
            </a:r>
          </a:p>
          <a:p>
            <a:r>
              <a:rPr lang="de-CH" dirty="0"/>
              <a:t>10 </a:t>
            </a:r>
            <a:r>
              <a:rPr lang="ru-RU" dirty="0"/>
              <a:t>или 110 - формат даты "</a:t>
            </a:r>
            <a:r>
              <a:rPr lang="de-CH" dirty="0"/>
              <a:t>mm-</a:t>
            </a:r>
            <a:r>
              <a:rPr lang="de-CH" dirty="0" err="1"/>
              <a:t>dd</a:t>
            </a:r>
            <a:r>
              <a:rPr lang="de-CH" dirty="0"/>
              <a:t>-</a:t>
            </a:r>
            <a:r>
              <a:rPr lang="de-CH" dirty="0" err="1"/>
              <a:t>yyyy</a:t>
            </a:r>
            <a:r>
              <a:rPr lang="de-CH" dirty="0"/>
              <a:t>"</a:t>
            </a:r>
          </a:p>
          <a:p>
            <a:r>
              <a:rPr lang="de-CH" dirty="0"/>
              <a:t>14 </a:t>
            </a:r>
            <a:r>
              <a:rPr lang="ru-RU" dirty="0"/>
              <a:t>или 114 - формат даты "</a:t>
            </a:r>
            <a:r>
              <a:rPr lang="de-CH" dirty="0" err="1"/>
              <a:t>hh:mi:ss:mmmm</a:t>
            </a:r>
            <a:r>
              <a:rPr lang="de-CH" dirty="0"/>
              <a:t>" (24-</a:t>
            </a:r>
            <a:r>
              <a:rPr lang="ru-RU" dirty="0"/>
              <a:t>часовой формат </a:t>
            </a:r>
            <a:r>
              <a:rPr lang="en-US" dirty="0"/>
              <a:t>	</a:t>
            </a:r>
            <a:r>
              <a:rPr lang="ru-RU" dirty="0"/>
              <a:t>времени)</a:t>
            </a:r>
          </a:p>
          <a:p>
            <a:endParaRPr lang="ru-RU" dirty="0"/>
          </a:p>
        </p:txBody>
      </p:sp>
    </p:spTree>
    <p:extLst>
      <p:ext uri="{BB962C8B-B14F-4D97-AF65-F5344CB8AC3E}">
        <p14:creationId xmlns:p14="http://schemas.microsoft.com/office/powerpoint/2010/main" val="3813727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DD24A68-A38D-1E81-4FC6-2038E7A8AF10}"/>
              </a:ext>
            </a:extLst>
          </p:cNvPr>
          <p:cNvSpPr>
            <a:spLocks noGrp="1"/>
          </p:cNvSpPr>
          <p:nvPr>
            <p:ph idx="1"/>
          </p:nvPr>
        </p:nvSpPr>
        <p:spPr/>
        <p:txBody>
          <a:bodyPr/>
          <a:lstStyle/>
          <a:p>
            <a:r>
              <a:rPr lang="ru-RU" dirty="0"/>
              <a:t>Некоторые значения для форматирования данных типа </a:t>
            </a:r>
            <a:r>
              <a:rPr lang="ru-RU" dirty="0" err="1"/>
              <a:t>money</a:t>
            </a:r>
            <a:r>
              <a:rPr lang="ru-RU" dirty="0"/>
              <a:t> в строку:</a:t>
            </a:r>
          </a:p>
          <a:p>
            <a:endParaRPr lang="en-US" dirty="0"/>
          </a:p>
          <a:p>
            <a:r>
              <a:rPr lang="ru-RU" dirty="0"/>
              <a:t>0 </a:t>
            </a:r>
            <a:r>
              <a:rPr lang="en-US" dirty="0"/>
              <a:t> </a:t>
            </a:r>
            <a:r>
              <a:rPr lang="ru-RU" dirty="0"/>
              <a:t>- в дробной части числа остаются только две цифры (по умолчанию)</a:t>
            </a:r>
          </a:p>
          <a:p>
            <a:r>
              <a:rPr lang="ru-RU" dirty="0"/>
              <a:t>1</a:t>
            </a:r>
            <a:r>
              <a:rPr lang="en-US" dirty="0"/>
              <a:t> </a:t>
            </a:r>
            <a:r>
              <a:rPr lang="ru-RU" dirty="0"/>
              <a:t>- в дробной части числа остаются только две цифры, а для </a:t>
            </a:r>
            <a:r>
              <a:rPr lang="en-US" dirty="0"/>
              <a:t>	</a:t>
            </a:r>
            <a:r>
              <a:rPr lang="ru-RU" dirty="0"/>
              <a:t>разделения разрядов применяется запятая</a:t>
            </a:r>
          </a:p>
          <a:p>
            <a:r>
              <a:rPr lang="ru-RU" dirty="0"/>
              <a:t>2 </a:t>
            </a:r>
            <a:r>
              <a:rPr lang="en-US" dirty="0"/>
              <a:t> </a:t>
            </a:r>
            <a:r>
              <a:rPr lang="ru-RU" dirty="0"/>
              <a:t>- в дробной части числа остаются только четыре цифры</a:t>
            </a:r>
          </a:p>
          <a:p>
            <a:endParaRPr lang="ru-RU" dirty="0"/>
          </a:p>
        </p:txBody>
      </p:sp>
    </p:spTree>
    <p:extLst>
      <p:ext uri="{BB962C8B-B14F-4D97-AF65-F5344CB8AC3E}">
        <p14:creationId xmlns:p14="http://schemas.microsoft.com/office/powerpoint/2010/main" val="3779363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DF409D62-AAB1-CBF2-9D11-8A598393C49E}"/>
              </a:ext>
            </a:extLst>
          </p:cNvPr>
          <p:cNvSpPr>
            <a:spLocks noGrp="1"/>
          </p:cNvSpPr>
          <p:nvPr>
            <p:ph idx="1"/>
          </p:nvPr>
        </p:nvSpPr>
        <p:spPr/>
        <p:txBody>
          <a:bodyPr/>
          <a:lstStyle/>
          <a:p>
            <a:r>
              <a:rPr lang="de-CH" b="1" dirty="0"/>
              <a:t>TRY_CONVERT</a:t>
            </a:r>
          </a:p>
          <a:p>
            <a:r>
              <a:rPr lang="ru-RU" dirty="0"/>
              <a:t>При использовании функций CAST и CONVERT SQL Server выбрасывает исключение, если данные нельзя привести к определенному типу.</a:t>
            </a:r>
            <a:endParaRPr lang="en-US" dirty="0"/>
          </a:p>
          <a:p>
            <a:r>
              <a:rPr lang="ru-RU" dirty="0"/>
              <a:t>При использовании функций CAST и CONVERT SQL Server выбрасывает исключение, если данные нельзя привести к определенному типу.</a:t>
            </a:r>
            <a:endParaRPr lang="en-US" dirty="0"/>
          </a:p>
          <a:p>
            <a:endParaRPr lang="en-US" dirty="0"/>
          </a:p>
          <a:p>
            <a:r>
              <a:rPr lang="en-US" dirty="0"/>
              <a:t>SELECT TRY_CONVERT(int, '</a:t>
            </a:r>
            <a:r>
              <a:rPr lang="en-US" dirty="0" err="1"/>
              <a:t>sql</a:t>
            </a:r>
            <a:r>
              <a:rPr lang="en-US" dirty="0"/>
              <a:t>')      -- NULL</a:t>
            </a:r>
          </a:p>
          <a:p>
            <a:r>
              <a:rPr lang="en-US" dirty="0"/>
              <a:t>SELECT TRY_CONVERT(int, '22')       -- 22</a:t>
            </a:r>
            <a:endParaRPr lang="ru-RU" dirty="0"/>
          </a:p>
        </p:txBody>
      </p:sp>
    </p:spTree>
    <p:extLst>
      <p:ext uri="{BB962C8B-B14F-4D97-AF65-F5344CB8AC3E}">
        <p14:creationId xmlns:p14="http://schemas.microsoft.com/office/powerpoint/2010/main" val="226383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5F7469C-CE9A-340C-7525-5FF37A3B39BA}"/>
              </a:ext>
            </a:extLst>
          </p:cNvPr>
          <p:cNvSpPr>
            <a:spLocks noGrp="1"/>
          </p:cNvSpPr>
          <p:nvPr>
            <p:ph idx="1"/>
          </p:nvPr>
        </p:nvSpPr>
        <p:spPr/>
        <p:txBody>
          <a:bodyPr>
            <a:normAutofit lnSpcReduction="10000"/>
          </a:bodyPr>
          <a:lstStyle/>
          <a:p>
            <a:r>
              <a:rPr lang="ru-RU" b="1" dirty="0"/>
              <a:t>Дополнительные функции</a:t>
            </a:r>
          </a:p>
          <a:p>
            <a:endParaRPr lang="en-US" dirty="0"/>
          </a:p>
          <a:p>
            <a:r>
              <a:rPr lang="ru-RU" b="1" dirty="0"/>
              <a:t>STR(</a:t>
            </a:r>
            <a:r>
              <a:rPr lang="ru-RU" b="1" dirty="0" err="1"/>
              <a:t>float</a:t>
            </a:r>
            <a:r>
              <a:rPr lang="ru-RU" b="1" dirty="0"/>
              <a:t> [, </a:t>
            </a:r>
            <a:r>
              <a:rPr lang="ru-RU" b="1" dirty="0" err="1"/>
              <a:t>length</a:t>
            </a:r>
            <a:r>
              <a:rPr lang="ru-RU" b="1" dirty="0"/>
              <a:t> [,</a:t>
            </a:r>
            <a:r>
              <a:rPr lang="ru-RU" b="1" dirty="0" err="1"/>
              <a:t>decimal</a:t>
            </a:r>
            <a:r>
              <a:rPr lang="ru-RU" b="1" dirty="0"/>
              <a:t>]])</a:t>
            </a:r>
            <a:r>
              <a:rPr lang="ru-RU" dirty="0"/>
              <a:t>: преобразует число в строку. Второй параметр указывает на длину строки, а третий - сколько знаков в дробной части числа надо оставлять</a:t>
            </a:r>
          </a:p>
          <a:p>
            <a:endParaRPr lang="en-US" b="1" dirty="0"/>
          </a:p>
          <a:p>
            <a:r>
              <a:rPr lang="ru-RU" b="1" dirty="0"/>
              <a:t>CHAR(int)</a:t>
            </a:r>
            <a:r>
              <a:rPr lang="ru-RU" dirty="0"/>
              <a:t>: преобразует числовой код ASCII в символ. Нередко используется для тех ситуаций, когда необходим символ, который нельзя ввести с клавиатуры</a:t>
            </a:r>
          </a:p>
          <a:p>
            <a:endParaRPr lang="en-US" b="1" dirty="0"/>
          </a:p>
          <a:p>
            <a:r>
              <a:rPr lang="ru-RU" b="1" dirty="0"/>
              <a:t>ASCII(</a:t>
            </a:r>
            <a:r>
              <a:rPr lang="ru-RU" b="1" dirty="0" err="1"/>
              <a:t>char</a:t>
            </a:r>
            <a:r>
              <a:rPr lang="ru-RU" b="1" dirty="0"/>
              <a:t>)</a:t>
            </a:r>
            <a:r>
              <a:rPr lang="ru-RU" dirty="0"/>
              <a:t>: преобразует символ в числовой код ASCII</a:t>
            </a:r>
          </a:p>
          <a:p>
            <a:endParaRPr lang="en-US" b="1" dirty="0"/>
          </a:p>
          <a:p>
            <a:r>
              <a:rPr lang="ru-RU" b="1" dirty="0"/>
              <a:t>NCHAR(int)</a:t>
            </a:r>
            <a:r>
              <a:rPr lang="ru-RU" dirty="0"/>
              <a:t>: преобразует числовой код UNICODE в символ</a:t>
            </a:r>
          </a:p>
          <a:p>
            <a:endParaRPr lang="en-US" b="1" dirty="0"/>
          </a:p>
          <a:p>
            <a:r>
              <a:rPr lang="ru-RU" b="1" dirty="0"/>
              <a:t>UNICODE(</a:t>
            </a:r>
            <a:r>
              <a:rPr lang="ru-RU" b="1" dirty="0" err="1"/>
              <a:t>char</a:t>
            </a:r>
            <a:r>
              <a:rPr lang="ru-RU" b="1" dirty="0"/>
              <a:t>)</a:t>
            </a:r>
            <a:r>
              <a:rPr lang="ru-RU" dirty="0"/>
              <a:t>: преобразует символ в числовой код UNICODE</a:t>
            </a:r>
          </a:p>
          <a:p>
            <a:endParaRPr lang="en-US" dirty="0"/>
          </a:p>
        </p:txBody>
      </p:sp>
    </p:spTree>
    <p:extLst>
      <p:ext uri="{BB962C8B-B14F-4D97-AF65-F5344CB8AC3E}">
        <p14:creationId xmlns:p14="http://schemas.microsoft.com/office/powerpoint/2010/main" val="14178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1E6EBB13-789D-4517-B7EE-D9B4CF674F3D}"/>
              </a:ext>
            </a:extLst>
          </p:cNvPr>
          <p:cNvSpPr>
            <a:spLocks noGrp="1"/>
          </p:cNvSpPr>
          <p:nvPr>
            <p:ph idx="1"/>
          </p:nvPr>
        </p:nvSpPr>
        <p:spPr/>
        <p:txBody>
          <a:bodyPr/>
          <a:lstStyle/>
          <a:p>
            <a:endParaRPr lang="en-US" dirty="0"/>
          </a:p>
          <a:p>
            <a:r>
              <a:rPr lang="de-CH" dirty="0"/>
              <a:t>SELECT STR(123.4567, 6,2)   -- 123.46</a:t>
            </a:r>
          </a:p>
          <a:p>
            <a:r>
              <a:rPr lang="de-CH" dirty="0"/>
              <a:t>SELECT CHAR(219)            --  </a:t>
            </a:r>
            <a:r>
              <a:rPr lang="ru-RU" dirty="0"/>
              <a:t>Ы</a:t>
            </a:r>
          </a:p>
          <a:p>
            <a:r>
              <a:rPr lang="de-CH" dirty="0"/>
              <a:t>SELECT ASCII('</a:t>
            </a:r>
            <a:r>
              <a:rPr lang="ru-RU" dirty="0"/>
              <a:t>Ы')           -- 219</a:t>
            </a:r>
          </a:p>
          <a:p>
            <a:r>
              <a:rPr lang="de-CH" dirty="0"/>
              <a:t>SELECT NCHAR(1067)          -- </a:t>
            </a:r>
            <a:r>
              <a:rPr lang="ru-RU" dirty="0"/>
              <a:t>Ы</a:t>
            </a:r>
          </a:p>
          <a:p>
            <a:r>
              <a:rPr lang="de-CH" dirty="0"/>
              <a:t>SELECT UNICODE('</a:t>
            </a:r>
            <a:r>
              <a:rPr lang="ru-RU" dirty="0"/>
              <a:t>Ы')     -- 1067</a:t>
            </a:r>
          </a:p>
        </p:txBody>
      </p:sp>
    </p:spTree>
    <p:extLst>
      <p:ext uri="{BB962C8B-B14F-4D97-AF65-F5344CB8AC3E}">
        <p14:creationId xmlns:p14="http://schemas.microsoft.com/office/powerpoint/2010/main" val="1290694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314CA50-F327-92B1-CD73-A925EBCBF966}"/>
              </a:ext>
            </a:extLst>
          </p:cNvPr>
          <p:cNvSpPr>
            <a:spLocks noGrp="1"/>
          </p:cNvSpPr>
          <p:nvPr>
            <p:ph idx="1"/>
          </p:nvPr>
        </p:nvSpPr>
        <p:spPr/>
        <p:txBody>
          <a:bodyPr/>
          <a:lstStyle/>
          <a:p>
            <a:r>
              <a:rPr lang="de-CH" b="1" dirty="0"/>
              <a:t>CASE</a:t>
            </a:r>
          </a:p>
          <a:p>
            <a:r>
              <a:rPr lang="ru-RU" dirty="0"/>
              <a:t>Функция </a:t>
            </a:r>
            <a:r>
              <a:rPr lang="ru-RU" b="1" dirty="0"/>
              <a:t>CASE</a:t>
            </a:r>
            <a:r>
              <a:rPr lang="ru-RU" dirty="0"/>
              <a:t> проверяет значение некоторого выражение, и в зависимости от результата проверки может возвращать тот или иной результат.</a:t>
            </a:r>
            <a:endParaRPr lang="en-US" dirty="0"/>
          </a:p>
          <a:p>
            <a:endParaRPr lang="en-US" b="1" dirty="0"/>
          </a:p>
          <a:p>
            <a:pPr lvl="2"/>
            <a:r>
              <a:rPr lang="ru-RU" sz="2800" b="1" dirty="0"/>
              <a:t>CASE выражение</a:t>
            </a:r>
          </a:p>
          <a:p>
            <a:pPr lvl="2"/>
            <a:r>
              <a:rPr lang="ru-RU" sz="2800" b="1" dirty="0"/>
              <a:t>    WHEN значение_1 THEN результат_1</a:t>
            </a:r>
          </a:p>
          <a:p>
            <a:pPr lvl="2"/>
            <a:r>
              <a:rPr lang="ru-RU" sz="2800" b="1" dirty="0"/>
              <a:t>    WHEN значение_2 THEN результат_2</a:t>
            </a:r>
          </a:p>
          <a:p>
            <a:pPr lvl="2"/>
            <a:r>
              <a:rPr lang="ru-RU" sz="2800" b="1" dirty="0"/>
              <a:t>    .................................</a:t>
            </a:r>
          </a:p>
          <a:p>
            <a:pPr lvl="2"/>
            <a:r>
              <a:rPr lang="ru-RU" sz="2800" b="1" dirty="0"/>
              <a:t>    WHEN </a:t>
            </a:r>
            <a:r>
              <a:rPr lang="ru-RU" sz="2800" b="1" dirty="0" err="1"/>
              <a:t>значение_N</a:t>
            </a:r>
            <a:r>
              <a:rPr lang="ru-RU" sz="2800" b="1" dirty="0"/>
              <a:t> THEN </a:t>
            </a:r>
            <a:r>
              <a:rPr lang="ru-RU" sz="2800" b="1" dirty="0" err="1"/>
              <a:t>результат_N</a:t>
            </a:r>
            <a:endParaRPr lang="ru-RU" sz="2800" b="1" dirty="0"/>
          </a:p>
          <a:p>
            <a:pPr lvl="2"/>
            <a:r>
              <a:rPr lang="ru-RU" sz="2800" b="1" dirty="0"/>
              <a:t>    [ELSE </a:t>
            </a:r>
            <a:r>
              <a:rPr lang="ru-RU" sz="2800" b="1" dirty="0" err="1"/>
              <a:t>альтернативный_результат</a:t>
            </a:r>
            <a:r>
              <a:rPr lang="ru-RU" sz="2800" b="1" dirty="0"/>
              <a:t>]</a:t>
            </a:r>
          </a:p>
          <a:p>
            <a:pPr lvl="2"/>
            <a:r>
              <a:rPr lang="ru-RU" sz="2800" b="1" dirty="0"/>
              <a:t>END</a:t>
            </a:r>
            <a:endParaRPr lang="de-CH" sz="2800" b="1" dirty="0"/>
          </a:p>
        </p:txBody>
      </p:sp>
    </p:spTree>
    <p:extLst>
      <p:ext uri="{BB962C8B-B14F-4D97-AF65-F5344CB8AC3E}">
        <p14:creationId xmlns:p14="http://schemas.microsoft.com/office/powerpoint/2010/main" val="163834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5FB7853D-2245-819C-D015-E7DA79CDCDE5}"/>
              </a:ext>
            </a:extLst>
          </p:cNvPr>
          <p:cNvSpPr>
            <a:spLocks noGrp="1"/>
          </p:cNvSpPr>
          <p:nvPr>
            <p:ph idx="1"/>
          </p:nvPr>
        </p:nvSpPr>
        <p:spPr/>
        <p:txBody>
          <a:bodyPr/>
          <a:lstStyle/>
          <a:p>
            <a:pPr lvl="2"/>
            <a:endParaRPr lang="de-CH" dirty="0"/>
          </a:p>
          <a:p>
            <a:pPr lvl="2"/>
            <a:r>
              <a:rPr lang="de-CH" dirty="0"/>
              <a:t>SELECT </a:t>
            </a:r>
            <a:r>
              <a:rPr lang="de-CH" dirty="0" err="1"/>
              <a:t>ProductName</a:t>
            </a:r>
            <a:r>
              <a:rPr lang="de-CH" dirty="0"/>
              <a:t>, </a:t>
            </a:r>
            <a:r>
              <a:rPr lang="de-CH" dirty="0" err="1"/>
              <a:t>Manufacturer</a:t>
            </a:r>
            <a:r>
              <a:rPr lang="de-CH" dirty="0"/>
              <a:t>,</a:t>
            </a:r>
          </a:p>
          <a:p>
            <a:pPr lvl="2"/>
            <a:r>
              <a:rPr lang="de-CH" dirty="0"/>
              <a:t>    CASE </a:t>
            </a:r>
            <a:r>
              <a:rPr lang="de-CH" dirty="0" err="1"/>
              <a:t>ProductCount</a:t>
            </a:r>
            <a:endParaRPr lang="de-CH" dirty="0"/>
          </a:p>
          <a:p>
            <a:pPr lvl="2"/>
            <a:r>
              <a:rPr lang="de-CH" dirty="0"/>
              <a:t>        WHEN 1 THEN '</a:t>
            </a:r>
            <a:r>
              <a:rPr lang="ru-RU" dirty="0"/>
              <a:t>Товар заканчивается'</a:t>
            </a:r>
          </a:p>
          <a:p>
            <a:pPr lvl="2"/>
            <a:r>
              <a:rPr lang="ru-RU" dirty="0"/>
              <a:t>        </a:t>
            </a:r>
            <a:r>
              <a:rPr lang="de-CH" dirty="0"/>
              <a:t>WHEN 2 THEN '</a:t>
            </a:r>
            <a:r>
              <a:rPr lang="ru-RU" dirty="0"/>
              <a:t>Мало товара'</a:t>
            </a:r>
          </a:p>
          <a:p>
            <a:pPr lvl="2"/>
            <a:r>
              <a:rPr lang="ru-RU" dirty="0"/>
              <a:t>        </a:t>
            </a:r>
            <a:r>
              <a:rPr lang="de-CH" dirty="0"/>
              <a:t>WHEN 3 THEN '</a:t>
            </a:r>
            <a:r>
              <a:rPr lang="ru-RU" dirty="0"/>
              <a:t>Есть в наличии'</a:t>
            </a:r>
          </a:p>
          <a:p>
            <a:pPr lvl="2"/>
            <a:r>
              <a:rPr lang="ru-RU" dirty="0"/>
              <a:t>        </a:t>
            </a:r>
            <a:r>
              <a:rPr lang="de-CH" dirty="0"/>
              <a:t>ELSE '</a:t>
            </a:r>
            <a:r>
              <a:rPr lang="ru-RU" dirty="0"/>
              <a:t>Много товара'</a:t>
            </a:r>
          </a:p>
          <a:p>
            <a:pPr lvl="2"/>
            <a:r>
              <a:rPr lang="ru-RU" dirty="0"/>
              <a:t>    </a:t>
            </a:r>
            <a:r>
              <a:rPr lang="de-CH" dirty="0"/>
              <a:t>END AS </a:t>
            </a:r>
            <a:r>
              <a:rPr lang="de-CH" dirty="0" err="1"/>
              <a:t>EvaluateCount</a:t>
            </a:r>
            <a:endParaRPr lang="de-CH" dirty="0"/>
          </a:p>
          <a:p>
            <a:pPr lvl="2"/>
            <a:r>
              <a:rPr lang="de-CH" dirty="0"/>
              <a:t>FROM Products</a:t>
            </a:r>
          </a:p>
          <a:p>
            <a:pPr lvl="2"/>
            <a:endParaRPr lang="de-CH" dirty="0"/>
          </a:p>
          <a:p>
            <a:pPr lvl="2"/>
            <a:r>
              <a:rPr lang="de-CH" dirty="0"/>
              <a:t>SELECT </a:t>
            </a:r>
            <a:r>
              <a:rPr lang="de-CH" dirty="0" err="1"/>
              <a:t>ProductName</a:t>
            </a:r>
            <a:r>
              <a:rPr lang="de-CH" dirty="0"/>
              <a:t>, </a:t>
            </a:r>
            <a:r>
              <a:rPr lang="de-CH" dirty="0" err="1"/>
              <a:t>Manufacturer</a:t>
            </a:r>
            <a:r>
              <a:rPr lang="de-CH" dirty="0"/>
              <a:t>,</a:t>
            </a:r>
          </a:p>
          <a:p>
            <a:pPr lvl="2"/>
            <a:r>
              <a:rPr lang="de-CH" dirty="0"/>
              <a:t>    CASE</a:t>
            </a:r>
          </a:p>
          <a:p>
            <a:pPr lvl="2"/>
            <a:r>
              <a:rPr lang="de-CH" dirty="0"/>
              <a:t>        WHEN Price &gt; 50000 THEN '</a:t>
            </a:r>
            <a:r>
              <a:rPr lang="ru-RU" dirty="0"/>
              <a:t>Категория </a:t>
            </a:r>
            <a:r>
              <a:rPr lang="de-CH" dirty="0"/>
              <a:t>A'</a:t>
            </a:r>
          </a:p>
          <a:p>
            <a:pPr lvl="2"/>
            <a:r>
              <a:rPr lang="de-CH" dirty="0"/>
              <a:t>        WHEN Price BETWEEN 40000 AND 50000 THEN '</a:t>
            </a:r>
            <a:r>
              <a:rPr lang="ru-RU" dirty="0"/>
              <a:t>Категория </a:t>
            </a:r>
            <a:r>
              <a:rPr lang="de-CH" dirty="0"/>
              <a:t>B'</a:t>
            </a:r>
          </a:p>
          <a:p>
            <a:pPr lvl="2"/>
            <a:r>
              <a:rPr lang="de-CH" dirty="0"/>
              <a:t>        WHEN Price BETWEEN 30000 AND 40000 THEN '</a:t>
            </a:r>
            <a:r>
              <a:rPr lang="ru-RU" dirty="0"/>
              <a:t>Категория </a:t>
            </a:r>
            <a:r>
              <a:rPr lang="de-CH" dirty="0"/>
              <a:t>C'</a:t>
            </a:r>
          </a:p>
          <a:p>
            <a:pPr lvl="2"/>
            <a:r>
              <a:rPr lang="de-CH" dirty="0"/>
              <a:t>        ELSE '</a:t>
            </a:r>
            <a:r>
              <a:rPr lang="ru-RU" dirty="0"/>
              <a:t>Категория </a:t>
            </a:r>
            <a:r>
              <a:rPr lang="de-CH" dirty="0"/>
              <a:t>D'</a:t>
            </a:r>
          </a:p>
          <a:p>
            <a:pPr lvl="2"/>
            <a:r>
              <a:rPr lang="de-CH" dirty="0"/>
              <a:t>    END AS </a:t>
            </a:r>
            <a:r>
              <a:rPr lang="de-CH" dirty="0" err="1"/>
              <a:t>Category</a:t>
            </a:r>
            <a:endParaRPr lang="de-CH" dirty="0"/>
          </a:p>
          <a:p>
            <a:pPr lvl="2"/>
            <a:r>
              <a:rPr lang="de-CH" dirty="0"/>
              <a:t>FROM Products</a:t>
            </a:r>
            <a:endParaRPr lang="ru-RU" dirty="0"/>
          </a:p>
        </p:txBody>
      </p:sp>
    </p:spTree>
    <p:extLst>
      <p:ext uri="{BB962C8B-B14F-4D97-AF65-F5344CB8AC3E}">
        <p14:creationId xmlns:p14="http://schemas.microsoft.com/office/powerpoint/2010/main" val="2719400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A04AE23-8060-3804-208A-BECD9A3BB974}"/>
              </a:ext>
            </a:extLst>
          </p:cNvPr>
          <p:cNvSpPr>
            <a:spLocks noGrp="1"/>
          </p:cNvSpPr>
          <p:nvPr>
            <p:ph idx="1"/>
          </p:nvPr>
        </p:nvSpPr>
        <p:spPr/>
        <p:txBody>
          <a:bodyPr/>
          <a:lstStyle/>
          <a:p>
            <a:r>
              <a:rPr lang="de-CH" b="1" dirty="0"/>
              <a:t>IIF</a:t>
            </a:r>
          </a:p>
          <a:p>
            <a:r>
              <a:rPr lang="ru-RU" dirty="0"/>
              <a:t>Функция </a:t>
            </a:r>
            <a:r>
              <a:rPr lang="ru-RU" b="1" dirty="0"/>
              <a:t>IIF</a:t>
            </a:r>
            <a:r>
              <a:rPr lang="ru-RU" dirty="0"/>
              <a:t> в зависимости от результата условного выражения возвращает одно из двух значений. Общая форма функции выглядит следующим образом:</a:t>
            </a:r>
            <a:endParaRPr lang="en-US" dirty="0"/>
          </a:p>
          <a:p>
            <a:r>
              <a:rPr lang="ru-RU" dirty="0"/>
              <a:t>	</a:t>
            </a:r>
          </a:p>
          <a:p>
            <a:r>
              <a:rPr lang="ru-RU" dirty="0"/>
              <a:t>IIF(условие, значение_1, значение_2)</a:t>
            </a:r>
            <a:endParaRPr lang="en-US" dirty="0"/>
          </a:p>
          <a:p>
            <a:endParaRPr lang="en-US" dirty="0"/>
          </a:p>
          <a:p>
            <a:r>
              <a:rPr lang="de-CH" dirty="0"/>
              <a:t>SELECT </a:t>
            </a:r>
            <a:r>
              <a:rPr lang="de-CH" dirty="0" err="1"/>
              <a:t>ProductName</a:t>
            </a:r>
            <a:r>
              <a:rPr lang="de-CH" dirty="0"/>
              <a:t>, </a:t>
            </a:r>
            <a:r>
              <a:rPr lang="de-CH" dirty="0" err="1"/>
              <a:t>Manufacturer</a:t>
            </a:r>
            <a:r>
              <a:rPr lang="de-CH" dirty="0"/>
              <a:t>,</a:t>
            </a:r>
          </a:p>
          <a:p>
            <a:r>
              <a:rPr lang="de-CH" dirty="0"/>
              <a:t>    IIF(</a:t>
            </a:r>
            <a:r>
              <a:rPr lang="de-CH" dirty="0" err="1"/>
              <a:t>ProductCount</a:t>
            </a:r>
            <a:r>
              <a:rPr lang="de-CH" dirty="0"/>
              <a:t>&gt;3, '</a:t>
            </a:r>
            <a:r>
              <a:rPr lang="ru-RU" dirty="0"/>
              <a:t>Много товара', 'Мало товара')</a:t>
            </a:r>
          </a:p>
          <a:p>
            <a:r>
              <a:rPr lang="de-CH" dirty="0"/>
              <a:t>FROM Products</a:t>
            </a:r>
            <a:endParaRPr lang="ru-RU" dirty="0"/>
          </a:p>
        </p:txBody>
      </p:sp>
    </p:spTree>
    <p:extLst>
      <p:ext uri="{BB962C8B-B14F-4D97-AF65-F5344CB8AC3E}">
        <p14:creationId xmlns:p14="http://schemas.microsoft.com/office/powerpoint/2010/main" val="1992652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9BB9F52-43E1-0ABA-704A-7013E17D465B}"/>
              </a:ext>
            </a:extLst>
          </p:cNvPr>
          <p:cNvSpPr>
            <a:spLocks noGrp="1"/>
          </p:cNvSpPr>
          <p:nvPr>
            <p:ph idx="1"/>
          </p:nvPr>
        </p:nvSpPr>
        <p:spPr/>
        <p:txBody>
          <a:bodyPr/>
          <a:lstStyle/>
          <a:p>
            <a:r>
              <a:rPr lang="de-CH" b="1" dirty="0"/>
              <a:t>NEWID</a:t>
            </a:r>
          </a:p>
          <a:p>
            <a:r>
              <a:rPr lang="ru-RU" dirty="0"/>
              <a:t>Для генерации объекта UNIQUEIDENTIFIER, то есть некоторого уникального значения, используется функция </a:t>
            </a:r>
            <a:r>
              <a:rPr lang="ru-RU" b="1" dirty="0"/>
              <a:t>NEWID()</a:t>
            </a:r>
            <a:r>
              <a:rPr lang="ru-RU" dirty="0"/>
              <a:t>. </a:t>
            </a:r>
          </a:p>
        </p:txBody>
      </p:sp>
    </p:spTree>
    <p:extLst>
      <p:ext uri="{BB962C8B-B14F-4D97-AF65-F5344CB8AC3E}">
        <p14:creationId xmlns:p14="http://schemas.microsoft.com/office/powerpoint/2010/main" val="323846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EC30C6F-E970-28C9-38AD-87E879E2B3BA}"/>
              </a:ext>
            </a:extLst>
          </p:cNvPr>
          <p:cNvSpPr>
            <a:spLocks noGrp="1"/>
          </p:cNvSpPr>
          <p:nvPr>
            <p:ph idx="1"/>
          </p:nvPr>
        </p:nvSpPr>
        <p:spPr/>
        <p:txBody>
          <a:bodyPr/>
          <a:lstStyle/>
          <a:p>
            <a:r>
              <a:rPr lang="de-CH" b="1" dirty="0"/>
              <a:t>ISNULL</a:t>
            </a:r>
          </a:p>
          <a:p>
            <a:r>
              <a:rPr lang="ru-RU" dirty="0"/>
              <a:t>Функция </a:t>
            </a:r>
            <a:r>
              <a:rPr lang="ru-RU" b="1" dirty="0"/>
              <a:t>ISNULL</a:t>
            </a:r>
            <a:r>
              <a:rPr lang="ru-RU" dirty="0"/>
              <a:t> проверяет значение некоторого выражения. Если оно равно NULL, то функция возвращает значение, которое передается в качестве второго параметра:</a:t>
            </a:r>
            <a:endParaRPr lang="en-US" dirty="0"/>
          </a:p>
          <a:p>
            <a:endParaRPr lang="en-US" dirty="0"/>
          </a:p>
          <a:p>
            <a:r>
              <a:rPr lang="de-CH" dirty="0"/>
              <a:t>	ISNULL(</a:t>
            </a:r>
            <a:r>
              <a:rPr lang="ru-RU" dirty="0"/>
              <a:t>выражение, значение)</a:t>
            </a:r>
            <a:endParaRPr lang="en-US" dirty="0"/>
          </a:p>
          <a:p>
            <a:endParaRPr lang="en-US" dirty="0"/>
          </a:p>
          <a:p>
            <a:pPr lvl="2"/>
            <a:r>
              <a:rPr lang="en-US" dirty="0"/>
              <a:t>SELECT FirstName, LastName,</a:t>
            </a:r>
          </a:p>
          <a:p>
            <a:pPr lvl="2"/>
            <a:r>
              <a:rPr lang="en-US" dirty="0"/>
              <a:t>        ISNULL(Phone, '</a:t>
            </a:r>
            <a:r>
              <a:rPr lang="ru-RU" dirty="0"/>
              <a:t>не определено') </a:t>
            </a:r>
            <a:r>
              <a:rPr lang="en-US" dirty="0"/>
              <a:t>AS Phone,</a:t>
            </a:r>
          </a:p>
          <a:p>
            <a:pPr lvl="2"/>
            <a:r>
              <a:rPr lang="en-US" dirty="0"/>
              <a:t>        ISNULL(Email, '</a:t>
            </a:r>
            <a:r>
              <a:rPr lang="ru-RU" dirty="0"/>
              <a:t>неизвестно') </a:t>
            </a:r>
            <a:r>
              <a:rPr lang="en-US" dirty="0"/>
              <a:t>AS Email</a:t>
            </a:r>
          </a:p>
          <a:p>
            <a:pPr lvl="2"/>
            <a:r>
              <a:rPr lang="en-US" dirty="0"/>
              <a:t>FROM Clients</a:t>
            </a:r>
          </a:p>
        </p:txBody>
      </p:sp>
    </p:spTree>
    <p:extLst>
      <p:ext uri="{BB962C8B-B14F-4D97-AF65-F5344CB8AC3E}">
        <p14:creationId xmlns:p14="http://schemas.microsoft.com/office/powerpoint/2010/main" val="1127084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4C0EECBE-1C2C-AC5F-45C7-44289544232E}"/>
              </a:ext>
            </a:extLst>
          </p:cNvPr>
          <p:cNvSpPr>
            <a:spLocks noGrp="1"/>
          </p:cNvSpPr>
          <p:nvPr>
            <p:ph idx="1"/>
          </p:nvPr>
        </p:nvSpPr>
        <p:spPr/>
        <p:txBody>
          <a:bodyPr/>
          <a:lstStyle/>
          <a:p>
            <a:r>
              <a:rPr lang="ru-RU" b="1" dirty="0"/>
              <a:t>COALESCE</a:t>
            </a:r>
          </a:p>
          <a:p>
            <a:r>
              <a:rPr lang="ru-RU" dirty="0"/>
              <a:t>Функция </a:t>
            </a:r>
            <a:r>
              <a:rPr lang="ru-RU" b="1" dirty="0"/>
              <a:t>COALESCE</a:t>
            </a:r>
            <a:r>
              <a:rPr lang="ru-RU" dirty="0"/>
              <a:t> принимает список значений и возвращает первое из них, которое не равно NULL:</a:t>
            </a:r>
          </a:p>
          <a:p>
            <a:endParaRPr lang="en-US" dirty="0"/>
          </a:p>
          <a:p>
            <a:pPr lvl="1"/>
            <a:r>
              <a:rPr lang="ru-RU" dirty="0"/>
              <a:t>COALESCE(выражение_1, выражение_2, </a:t>
            </a:r>
            <a:r>
              <a:rPr lang="ru-RU" dirty="0" err="1"/>
              <a:t>выражение_N</a:t>
            </a:r>
            <a:r>
              <a:rPr lang="ru-RU" dirty="0"/>
              <a:t>)</a:t>
            </a:r>
            <a:endParaRPr lang="en-US" dirty="0"/>
          </a:p>
          <a:p>
            <a:pPr lvl="1"/>
            <a:endParaRPr lang="en-US" dirty="0"/>
          </a:p>
          <a:p>
            <a:pPr lvl="1"/>
            <a:r>
              <a:rPr lang="en-US" dirty="0"/>
              <a:t>SELECT FirstName, LastName,</a:t>
            </a:r>
          </a:p>
          <a:p>
            <a:pPr lvl="1"/>
            <a:r>
              <a:rPr lang="en-US" dirty="0"/>
              <a:t>        COALESCE(Phone, Email, '</a:t>
            </a:r>
            <a:r>
              <a:rPr lang="en-US" dirty="0" err="1"/>
              <a:t>не</a:t>
            </a:r>
            <a:r>
              <a:rPr lang="en-US" dirty="0"/>
              <a:t> </a:t>
            </a:r>
            <a:r>
              <a:rPr lang="en-US" dirty="0" err="1"/>
              <a:t>определено</a:t>
            </a:r>
            <a:r>
              <a:rPr lang="en-US" dirty="0"/>
              <a:t>') AS Contacts</a:t>
            </a:r>
          </a:p>
          <a:p>
            <a:pPr lvl="1"/>
            <a:r>
              <a:rPr lang="en-US" dirty="0"/>
              <a:t>FROM Clients</a:t>
            </a:r>
            <a:endParaRPr lang="ru-RU" dirty="0"/>
          </a:p>
        </p:txBody>
      </p:sp>
    </p:spTree>
    <p:extLst>
      <p:ext uri="{BB962C8B-B14F-4D97-AF65-F5344CB8AC3E}">
        <p14:creationId xmlns:p14="http://schemas.microsoft.com/office/powerpoint/2010/main" val="371108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D182F45A-FD15-B053-C985-D9362F947C49}"/>
              </a:ext>
            </a:extLst>
          </p:cNvPr>
          <p:cNvSpPr>
            <a:spLocks noGrp="1"/>
          </p:cNvSpPr>
          <p:nvPr>
            <p:ph idx="1"/>
          </p:nvPr>
        </p:nvSpPr>
        <p:spPr/>
        <p:txBody>
          <a:bodyPr/>
          <a:lstStyle/>
          <a:p>
            <a:r>
              <a:rPr lang="ru-RU" b="1" dirty="0"/>
              <a:t>Переменные в </a:t>
            </a:r>
            <a:r>
              <a:rPr lang="de-CH" b="1" dirty="0"/>
              <a:t>T-SQL</a:t>
            </a:r>
          </a:p>
          <a:p>
            <a:pPr lvl="1"/>
            <a:r>
              <a:rPr lang="ru-RU" sz="2000" dirty="0"/>
              <a:t>Переменная представляет именованный объект, который хранит некоторое значение. Для определения переменных применяется выражение </a:t>
            </a:r>
            <a:r>
              <a:rPr lang="ru-RU" sz="2000" b="1" dirty="0"/>
              <a:t>DECLARE</a:t>
            </a:r>
            <a:r>
              <a:rPr lang="ru-RU" sz="2000" dirty="0"/>
              <a:t>, после которого указывается название и тип переменной. При этом название локальной переменной должно начинаться с символа </a:t>
            </a:r>
            <a:r>
              <a:rPr lang="ru-RU" sz="2000" b="1" dirty="0"/>
              <a:t>@</a:t>
            </a:r>
            <a:r>
              <a:rPr lang="ru-RU" sz="2000" dirty="0"/>
              <a:t>:</a:t>
            </a:r>
          </a:p>
          <a:p>
            <a:pPr lvl="1"/>
            <a:endParaRPr lang="ru-RU" sz="2000" dirty="0"/>
          </a:p>
          <a:p>
            <a:pPr lvl="1"/>
            <a:r>
              <a:rPr lang="de-CH" sz="2000" dirty="0"/>
              <a:t>DECLARE @name NVARCHAR(20)</a:t>
            </a:r>
            <a:endParaRPr lang="ru-RU" sz="2000" dirty="0"/>
          </a:p>
          <a:p>
            <a:pPr lvl="1"/>
            <a:r>
              <a:rPr lang="de-CH" sz="2000" dirty="0"/>
              <a:t>DECLARE @name NVARCHAR(20), @age INT</a:t>
            </a:r>
            <a:endParaRPr lang="ru-RU" sz="2000" dirty="0"/>
          </a:p>
          <a:p>
            <a:pPr lvl="1"/>
            <a:endParaRPr lang="ru-RU" sz="2000" dirty="0"/>
          </a:p>
          <a:p>
            <a:pPr lvl="1"/>
            <a:r>
              <a:rPr lang="ru-RU" sz="2000" dirty="0"/>
              <a:t>С помощью выражения </a:t>
            </a:r>
            <a:r>
              <a:rPr lang="ru-RU" sz="2000" b="1" dirty="0"/>
              <a:t>SET</a:t>
            </a:r>
            <a:r>
              <a:rPr lang="ru-RU" sz="2000" dirty="0"/>
              <a:t> можно присвоить переменной некоторое значение:</a:t>
            </a:r>
          </a:p>
          <a:p>
            <a:pPr lvl="1"/>
            <a:endParaRPr lang="ru-RU" sz="2000" dirty="0"/>
          </a:p>
          <a:p>
            <a:pPr lvl="1"/>
            <a:r>
              <a:rPr lang="en-US" sz="2000" dirty="0"/>
              <a:t>DECLARE @name NVARCHAR(20), @age INT;</a:t>
            </a:r>
          </a:p>
          <a:p>
            <a:pPr lvl="1"/>
            <a:r>
              <a:rPr lang="en-US" sz="2000" dirty="0"/>
              <a:t>SET @name='Tom';</a:t>
            </a:r>
          </a:p>
          <a:p>
            <a:pPr lvl="1"/>
            <a:r>
              <a:rPr lang="en-US" sz="2000" dirty="0"/>
              <a:t>SET @age = 18;</a:t>
            </a:r>
            <a:endParaRPr lang="ru-RU" sz="2000" dirty="0"/>
          </a:p>
          <a:p>
            <a:pPr lvl="1"/>
            <a:endParaRPr lang="ru-RU" sz="2000" dirty="0"/>
          </a:p>
          <a:p>
            <a:pPr lvl="1"/>
            <a:endParaRPr lang="ru-RU" sz="2000" dirty="0"/>
          </a:p>
        </p:txBody>
      </p:sp>
    </p:spTree>
    <p:extLst>
      <p:ext uri="{BB962C8B-B14F-4D97-AF65-F5344CB8AC3E}">
        <p14:creationId xmlns:p14="http://schemas.microsoft.com/office/powerpoint/2010/main" val="3368528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A6E7FC8-29D9-C646-7302-72B4FC400C95}"/>
              </a:ext>
            </a:extLst>
          </p:cNvPr>
          <p:cNvSpPr>
            <a:spLocks noGrp="1"/>
          </p:cNvSpPr>
          <p:nvPr>
            <p:ph idx="1"/>
          </p:nvPr>
        </p:nvSpPr>
        <p:spPr/>
        <p:txBody>
          <a:bodyPr/>
          <a:lstStyle/>
          <a:p>
            <a:r>
              <a:rPr lang="ru-RU" dirty="0"/>
              <a:t>Выражение </a:t>
            </a:r>
            <a:r>
              <a:rPr lang="ru-RU" b="1" dirty="0"/>
              <a:t>PRINT</a:t>
            </a:r>
            <a:r>
              <a:rPr lang="ru-RU" dirty="0"/>
              <a:t> возвращает сообщение клиенту. Например:</a:t>
            </a:r>
          </a:p>
          <a:p>
            <a:endParaRPr lang="ru-RU" dirty="0"/>
          </a:p>
          <a:p>
            <a:r>
              <a:rPr lang="de-CH" dirty="0"/>
              <a:t>PRINT 'Hello World'</a:t>
            </a:r>
            <a:endParaRPr lang="ru-RU" dirty="0"/>
          </a:p>
        </p:txBody>
      </p:sp>
    </p:spTree>
    <p:extLst>
      <p:ext uri="{BB962C8B-B14F-4D97-AF65-F5344CB8AC3E}">
        <p14:creationId xmlns:p14="http://schemas.microsoft.com/office/powerpoint/2010/main" val="1703326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D89301BD-79DE-85BF-BDAF-0529DDF042E1}"/>
              </a:ext>
            </a:extLst>
          </p:cNvPr>
          <p:cNvSpPr>
            <a:spLocks noGrp="1"/>
          </p:cNvSpPr>
          <p:nvPr>
            <p:ph idx="1"/>
          </p:nvPr>
        </p:nvSpPr>
        <p:spPr/>
        <p:txBody>
          <a:bodyPr>
            <a:normAutofit/>
          </a:bodyPr>
          <a:lstStyle/>
          <a:p>
            <a:r>
              <a:rPr lang="ru-RU" b="1" dirty="0"/>
              <a:t>Переменные в запросах</a:t>
            </a:r>
          </a:p>
          <a:p>
            <a:endParaRPr lang="ru-RU" b="1" dirty="0"/>
          </a:p>
          <a:p>
            <a:r>
              <a:rPr lang="ru-RU" sz="2000" dirty="0"/>
              <a:t>Через переменные мы можем передавать данные в запросы. И также мы можем получать данные, которые являются результатом запросов, в переменные. Например, при выборке из таблиц с помощью команды </a:t>
            </a:r>
            <a:r>
              <a:rPr lang="ru-RU" sz="2000" b="1" dirty="0"/>
              <a:t>SELECT</a:t>
            </a:r>
            <a:r>
              <a:rPr lang="ru-RU" sz="2000" dirty="0"/>
              <a:t> мы можем извлекать данные в переменную с помощью следующего синтаксиса:</a:t>
            </a:r>
            <a:endParaRPr lang="ru-RU" sz="2000" b="1" dirty="0"/>
          </a:p>
          <a:p>
            <a:endParaRPr lang="ru-RU" dirty="0"/>
          </a:p>
          <a:p>
            <a:pPr lvl="1"/>
            <a:r>
              <a:rPr lang="de-CH" sz="1500" dirty="0"/>
              <a:t>DECLARE @maxPrice MONEY, </a:t>
            </a:r>
          </a:p>
          <a:p>
            <a:pPr lvl="1"/>
            <a:r>
              <a:rPr lang="de-CH" sz="1500" dirty="0"/>
              <a:t>    @minPrice MONEY, </a:t>
            </a:r>
          </a:p>
          <a:p>
            <a:pPr lvl="1"/>
            <a:r>
              <a:rPr lang="de-CH" sz="1500" dirty="0"/>
              <a:t>    @dif MONEY, </a:t>
            </a:r>
          </a:p>
          <a:p>
            <a:pPr lvl="1"/>
            <a:r>
              <a:rPr lang="de-CH" sz="1500" dirty="0"/>
              <a:t>    @count INT</a:t>
            </a:r>
          </a:p>
          <a:p>
            <a:pPr lvl="1"/>
            <a:r>
              <a:rPr lang="de-CH" sz="1500" dirty="0"/>
              <a:t> </a:t>
            </a:r>
          </a:p>
          <a:p>
            <a:pPr lvl="1"/>
            <a:r>
              <a:rPr lang="de-CH" sz="1500" dirty="0"/>
              <a:t>SET @count = (SELECT SUM(</a:t>
            </a:r>
            <a:r>
              <a:rPr lang="de-CH" sz="1500" dirty="0" err="1"/>
              <a:t>ProductCount</a:t>
            </a:r>
            <a:r>
              <a:rPr lang="de-CH" sz="1500" dirty="0"/>
              <a:t>) FROM Orders);</a:t>
            </a:r>
          </a:p>
          <a:p>
            <a:pPr lvl="1"/>
            <a:r>
              <a:rPr lang="de-CH" sz="1500" dirty="0"/>
              <a:t> </a:t>
            </a:r>
          </a:p>
          <a:p>
            <a:pPr lvl="1"/>
            <a:r>
              <a:rPr lang="de-CH" sz="1500" dirty="0"/>
              <a:t>SELECT @minPrice=MIN(Price), @maxPrice = MAX(Price) FROM Products</a:t>
            </a:r>
          </a:p>
          <a:p>
            <a:pPr lvl="1"/>
            <a:r>
              <a:rPr lang="de-CH" sz="1500" dirty="0"/>
              <a:t> </a:t>
            </a:r>
          </a:p>
          <a:p>
            <a:pPr lvl="1"/>
            <a:r>
              <a:rPr lang="de-CH" sz="1500" dirty="0"/>
              <a:t>SET @dif = @maxPrice - @minPrice;</a:t>
            </a:r>
          </a:p>
          <a:p>
            <a:pPr lvl="1"/>
            <a:r>
              <a:rPr lang="de-CH" sz="1500" dirty="0"/>
              <a:t> </a:t>
            </a:r>
          </a:p>
          <a:p>
            <a:pPr lvl="1"/>
            <a:r>
              <a:rPr lang="de-CH" sz="1500" dirty="0"/>
              <a:t>PRINT '</a:t>
            </a:r>
            <a:r>
              <a:rPr lang="ru-RU" sz="1500" dirty="0"/>
              <a:t>Всего продано: ' + </a:t>
            </a:r>
            <a:r>
              <a:rPr lang="de-CH" sz="1500" dirty="0"/>
              <a:t>STR(@count, 5) + ' </a:t>
            </a:r>
            <a:r>
              <a:rPr lang="ru-RU" sz="1500" dirty="0"/>
              <a:t>товар</a:t>
            </a:r>
            <a:r>
              <a:rPr lang="de-CH" sz="1500" dirty="0"/>
              <a:t>a(</a:t>
            </a:r>
            <a:r>
              <a:rPr lang="ru-RU" sz="1500" dirty="0" err="1"/>
              <a:t>ов</a:t>
            </a:r>
            <a:r>
              <a:rPr lang="ru-RU" sz="1500" dirty="0"/>
              <a:t>)';</a:t>
            </a:r>
          </a:p>
          <a:p>
            <a:pPr lvl="1"/>
            <a:r>
              <a:rPr lang="de-CH" sz="1500" dirty="0"/>
              <a:t>PRINT '</a:t>
            </a:r>
            <a:r>
              <a:rPr lang="ru-RU" sz="1500" dirty="0"/>
              <a:t>Разница между максимальной и минимальной ценой: ' + </a:t>
            </a:r>
            <a:r>
              <a:rPr lang="de-CH" sz="1500" dirty="0"/>
              <a:t>STR(@dif)</a:t>
            </a:r>
            <a:endParaRPr lang="ru-RU" sz="1500" dirty="0"/>
          </a:p>
        </p:txBody>
      </p:sp>
    </p:spTree>
    <p:extLst>
      <p:ext uri="{BB962C8B-B14F-4D97-AF65-F5344CB8AC3E}">
        <p14:creationId xmlns:p14="http://schemas.microsoft.com/office/powerpoint/2010/main" val="42051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E77E6E1-4BD4-29CD-ED60-A0B07DDFA026}"/>
              </a:ext>
            </a:extLst>
          </p:cNvPr>
          <p:cNvSpPr>
            <a:spLocks noGrp="1"/>
          </p:cNvSpPr>
          <p:nvPr>
            <p:ph idx="1"/>
          </p:nvPr>
        </p:nvSpPr>
        <p:spPr/>
        <p:txBody>
          <a:bodyPr/>
          <a:lstStyle/>
          <a:p>
            <a:r>
              <a:rPr lang="ru-RU" b="1" dirty="0"/>
              <a:t>Условные выражения</a:t>
            </a:r>
          </a:p>
          <a:p>
            <a:pPr fontAlgn="base"/>
            <a:r>
              <a:rPr lang="de-CH" dirty="0"/>
              <a:t>IF </a:t>
            </a:r>
            <a:r>
              <a:rPr lang="ru-RU" dirty="0"/>
              <a:t>условие</a:t>
            </a:r>
          </a:p>
          <a:p>
            <a:pPr fontAlgn="base"/>
            <a:r>
              <a:rPr lang="ru-RU" dirty="0"/>
              <a:t>    {инструкция|</a:t>
            </a:r>
            <a:r>
              <a:rPr lang="de-CH" dirty="0"/>
              <a:t>BEGIN...END}</a:t>
            </a:r>
          </a:p>
          <a:p>
            <a:pPr fontAlgn="base"/>
            <a:r>
              <a:rPr lang="de-CH" dirty="0"/>
              <a:t>[ELSE</a:t>
            </a:r>
          </a:p>
          <a:p>
            <a:pPr fontAlgn="base"/>
            <a:r>
              <a:rPr lang="de-CH" dirty="0"/>
              <a:t>    {</a:t>
            </a:r>
            <a:r>
              <a:rPr lang="ru-RU" dirty="0"/>
              <a:t>инструкция|</a:t>
            </a:r>
            <a:r>
              <a:rPr lang="de-CH" dirty="0"/>
              <a:t>BEGIN...END}]</a:t>
            </a:r>
          </a:p>
          <a:p>
            <a:endParaRPr lang="ru-RU" dirty="0"/>
          </a:p>
          <a:p>
            <a:endParaRPr lang="ru-RU" dirty="0"/>
          </a:p>
          <a:p>
            <a:pPr fontAlgn="base"/>
            <a:r>
              <a:rPr lang="en-US" dirty="0"/>
              <a:t>DECLARE @lastDate DATE</a:t>
            </a:r>
          </a:p>
          <a:p>
            <a:pPr fontAlgn="base"/>
            <a:r>
              <a:rPr lang="en-US" dirty="0"/>
              <a:t> </a:t>
            </a:r>
          </a:p>
          <a:p>
            <a:pPr fontAlgn="base"/>
            <a:r>
              <a:rPr lang="en-US" dirty="0"/>
              <a:t>SELECT @lastDate = MAX(</a:t>
            </a:r>
            <a:r>
              <a:rPr lang="en-US" dirty="0" err="1"/>
              <a:t>CreatedAt</a:t>
            </a:r>
            <a:r>
              <a:rPr lang="en-US" dirty="0"/>
              <a:t>) FROM Orders</a:t>
            </a:r>
          </a:p>
          <a:p>
            <a:pPr fontAlgn="base"/>
            <a:r>
              <a:rPr lang="en-US" dirty="0"/>
              <a:t> </a:t>
            </a:r>
          </a:p>
          <a:p>
            <a:pPr fontAlgn="base"/>
            <a:r>
              <a:rPr lang="en-US" dirty="0"/>
              <a:t>IF DATEDIFF(day, @lastDate, GETDATE()) &gt; 10</a:t>
            </a:r>
          </a:p>
          <a:p>
            <a:pPr fontAlgn="base"/>
            <a:r>
              <a:rPr lang="en-US" dirty="0"/>
              <a:t>    PRINT '</a:t>
            </a:r>
            <a:r>
              <a:rPr lang="en-US" dirty="0" err="1"/>
              <a:t>За</a:t>
            </a:r>
            <a:r>
              <a:rPr lang="en-US" dirty="0"/>
              <a:t> </a:t>
            </a:r>
            <a:r>
              <a:rPr lang="en-US" dirty="0" err="1"/>
              <a:t>последние</a:t>
            </a:r>
            <a:r>
              <a:rPr lang="en-US" dirty="0"/>
              <a:t> </a:t>
            </a:r>
            <a:r>
              <a:rPr lang="en-US" dirty="0" err="1"/>
              <a:t>десять</a:t>
            </a:r>
            <a:r>
              <a:rPr lang="en-US" dirty="0"/>
              <a:t> </a:t>
            </a:r>
            <a:r>
              <a:rPr lang="en-US" dirty="0" err="1"/>
              <a:t>дней</a:t>
            </a:r>
            <a:r>
              <a:rPr lang="en-US" dirty="0"/>
              <a:t> </a:t>
            </a:r>
            <a:r>
              <a:rPr lang="en-US" dirty="0" err="1"/>
              <a:t>не</a:t>
            </a:r>
            <a:r>
              <a:rPr lang="en-US" dirty="0"/>
              <a:t> </a:t>
            </a:r>
            <a:r>
              <a:rPr lang="en-US" dirty="0" err="1"/>
              <a:t>было</a:t>
            </a:r>
            <a:r>
              <a:rPr lang="en-US" dirty="0"/>
              <a:t> </a:t>
            </a:r>
            <a:r>
              <a:rPr lang="en-US" dirty="0" err="1"/>
              <a:t>заказов</a:t>
            </a:r>
            <a:r>
              <a:rPr lang="en-US" dirty="0"/>
              <a:t>'</a:t>
            </a:r>
          </a:p>
          <a:p>
            <a:endParaRPr lang="ru-RU" dirty="0"/>
          </a:p>
        </p:txBody>
      </p:sp>
    </p:spTree>
    <p:extLst>
      <p:ext uri="{BB962C8B-B14F-4D97-AF65-F5344CB8AC3E}">
        <p14:creationId xmlns:p14="http://schemas.microsoft.com/office/powerpoint/2010/main" val="2935889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77D89276-04D9-B909-B330-176F0A52CD22}"/>
              </a:ext>
            </a:extLst>
          </p:cNvPr>
          <p:cNvSpPr>
            <a:spLocks noGrp="1"/>
          </p:cNvSpPr>
          <p:nvPr>
            <p:ph idx="1"/>
          </p:nvPr>
        </p:nvSpPr>
        <p:spPr/>
        <p:txBody>
          <a:bodyPr>
            <a:normAutofit fontScale="92500" lnSpcReduction="20000"/>
          </a:bodyPr>
          <a:lstStyle/>
          <a:p>
            <a:pPr>
              <a:lnSpc>
                <a:spcPct val="120000"/>
              </a:lnSpc>
            </a:pPr>
            <a:r>
              <a:rPr lang="ru-RU" dirty="0"/>
              <a:t>Если после IF или ELSE идут две и более инструкций, то они заключаются в блок BEGIN...END:</a:t>
            </a:r>
          </a:p>
          <a:p>
            <a:pPr>
              <a:lnSpc>
                <a:spcPct val="120000"/>
              </a:lnSpc>
            </a:pPr>
            <a:endParaRPr lang="ru-RU" dirty="0"/>
          </a:p>
          <a:p>
            <a:r>
              <a:rPr lang="de-CH" sz="1900" dirty="0"/>
              <a:t>DECLARE @lastDate DATE, @count INT, @sum MONEY</a:t>
            </a:r>
          </a:p>
          <a:p>
            <a:r>
              <a:rPr lang="de-CH" sz="1900" dirty="0"/>
              <a:t> </a:t>
            </a:r>
          </a:p>
          <a:p>
            <a:r>
              <a:rPr lang="de-CH" sz="1900" dirty="0"/>
              <a:t>SELECT @lastDate = MAX(</a:t>
            </a:r>
            <a:r>
              <a:rPr lang="de-CH" sz="1900" dirty="0" err="1"/>
              <a:t>CreatedAt</a:t>
            </a:r>
            <a:r>
              <a:rPr lang="de-CH" sz="1900" dirty="0"/>
              <a:t>), </a:t>
            </a:r>
          </a:p>
          <a:p>
            <a:r>
              <a:rPr lang="de-CH" sz="1900" dirty="0"/>
              <a:t>        @count = SUM(</a:t>
            </a:r>
            <a:r>
              <a:rPr lang="de-CH" sz="1900" dirty="0" err="1"/>
              <a:t>ProductCount</a:t>
            </a:r>
            <a:r>
              <a:rPr lang="de-CH" sz="1900" dirty="0"/>
              <a:t>) ,</a:t>
            </a:r>
          </a:p>
          <a:p>
            <a:r>
              <a:rPr lang="de-CH" sz="1900" dirty="0"/>
              <a:t>        @sum = SUM(</a:t>
            </a:r>
            <a:r>
              <a:rPr lang="de-CH" sz="1900" dirty="0" err="1"/>
              <a:t>ProductCount</a:t>
            </a:r>
            <a:r>
              <a:rPr lang="de-CH" sz="1900" dirty="0"/>
              <a:t> * Price)</a:t>
            </a:r>
          </a:p>
          <a:p>
            <a:r>
              <a:rPr lang="de-CH" sz="1900" dirty="0"/>
              <a:t>FROM Orders</a:t>
            </a:r>
          </a:p>
          <a:p>
            <a:r>
              <a:rPr lang="de-CH" sz="1900" dirty="0"/>
              <a:t> </a:t>
            </a:r>
          </a:p>
          <a:p>
            <a:r>
              <a:rPr lang="de-CH" sz="1900" dirty="0"/>
              <a:t>IF @count &gt; 0</a:t>
            </a:r>
          </a:p>
          <a:p>
            <a:r>
              <a:rPr lang="de-CH" sz="1900" dirty="0"/>
              <a:t>    BEGIN</a:t>
            </a:r>
          </a:p>
          <a:p>
            <a:r>
              <a:rPr lang="de-CH" sz="1900" dirty="0"/>
              <a:t>        PRINT '</a:t>
            </a:r>
            <a:r>
              <a:rPr lang="ru-RU" sz="1900" dirty="0"/>
              <a:t>Дата последнего заказа: ' + </a:t>
            </a:r>
            <a:r>
              <a:rPr lang="de-CH" sz="1900" dirty="0"/>
              <a:t>CONVERT(NVARCHAR, @lastDate) </a:t>
            </a:r>
          </a:p>
          <a:p>
            <a:r>
              <a:rPr lang="de-CH" sz="1900" dirty="0"/>
              <a:t>        PRINT '</a:t>
            </a:r>
            <a:r>
              <a:rPr lang="ru-RU" sz="1900" dirty="0"/>
              <a:t>Продано ' + </a:t>
            </a:r>
            <a:r>
              <a:rPr lang="de-CH" sz="1900" dirty="0"/>
              <a:t>CONVERT(NVARCHAR, @count) + ' </a:t>
            </a:r>
            <a:r>
              <a:rPr lang="ru-RU" sz="1900" dirty="0"/>
              <a:t>единиц(ы)'</a:t>
            </a:r>
          </a:p>
          <a:p>
            <a:r>
              <a:rPr lang="ru-RU" sz="1900" dirty="0"/>
              <a:t>        </a:t>
            </a:r>
            <a:r>
              <a:rPr lang="de-CH" sz="1900" dirty="0"/>
              <a:t>PRINT '</a:t>
            </a:r>
            <a:r>
              <a:rPr lang="ru-RU" sz="1900" dirty="0"/>
              <a:t>На общую сумму ' + </a:t>
            </a:r>
            <a:r>
              <a:rPr lang="de-CH" sz="1900" dirty="0"/>
              <a:t>CONVERT(NVARCHAR, @sum)</a:t>
            </a:r>
          </a:p>
          <a:p>
            <a:r>
              <a:rPr lang="de-CH" sz="1900" dirty="0"/>
              <a:t>    END;</a:t>
            </a:r>
          </a:p>
          <a:p>
            <a:r>
              <a:rPr lang="de-CH" sz="1900" dirty="0"/>
              <a:t>ELSE</a:t>
            </a:r>
          </a:p>
          <a:p>
            <a:r>
              <a:rPr lang="de-CH" sz="1900" dirty="0"/>
              <a:t>    PRINT '</a:t>
            </a:r>
            <a:r>
              <a:rPr lang="ru-RU" sz="1900" dirty="0"/>
              <a:t>Заказы в базе данных отсутствуют'</a:t>
            </a:r>
          </a:p>
        </p:txBody>
      </p:sp>
    </p:spTree>
    <p:extLst>
      <p:ext uri="{BB962C8B-B14F-4D97-AF65-F5344CB8AC3E}">
        <p14:creationId xmlns:p14="http://schemas.microsoft.com/office/powerpoint/2010/main" val="272818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5721E6E7-1928-E25F-2CE9-A0367A3FDE78}"/>
              </a:ext>
            </a:extLst>
          </p:cNvPr>
          <p:cNvSpPr>
            <a:spLocks noGrp="1"/>
          </p:cNvSpPr>
          <p:nvPr>
            <p:ph idx="1"/>
          </p:nvPr>
        </p:nvSpPr>
        <p:spPr/>
        <p:txBody>
          <a:bodyPr/>
          <a:lstStyle/>
          <a:p>
            <a:r>
              <a:rPr lang="ru-RU" b="1" dirty="0"/>
              <a:t>Представления и табличные объекты</a:t>
            </a:r>
          </a:p>
          <a:p>
            <a:r>
              <a:rPr lang="ru-RU" b="1" dirty="0"/>
              <a:t>Представления</a:t>
            </a:r>
          </a:p>
          <a:p>
            <a:endParaRPr lang="ru-RU" dirty="0"/>
          </a:p>
          <a:p>
            <a:pPr lvl="1"/>
            <a:r>
              <a:rPr lang="ru-RU" dirty="0"/>
              <a:t>Представления или </a:t>
            </a:r>
            <a:r>
              <a:rPr lang="ru-RU" dirty="0" err="1"/>
              <a:t>Views</a:t>
            </a:r>
            <a:r>
              <a:rPr lang="ru-RU" dirty="0"/>
              <a:t> представляют виртуальные таблицы. Но в отличии от обычных стандартных таблиц в базе данных представления содержат запросы, которые динамически извлекают используемые данные.</a:t>
            </a:r>
          </a:p>
        </p:txBody>
      </p:sp>
    </p:spTree>
    <p:extLst>
      <p:ext uri="{BB962C8B-B14F-4D97-AF65-F5344CB8AC3E}">
        <p14:creationId xmlns:p14="http://schemas.microsoft.com/office/powerpoint/2010/main" val="2302483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0089E07-857F-70F7-350D-DA920AA94DF7}"/>
              </a:ext>
            </a:extLst>
          </p:cNvPr>
          <p:cNvSpPr>
            <a:spLocks noGrp="1"/>
          </p:cNvSpPr>
          <p:nvPr>
            <p:ph idx="1"/>
          </p:nvPr>
        </p:nvSpPr>
        <p:spPr/>
        <p:txBody>
          <a:bodyPr/>
          <a:lstStyle/>
          <a:p>
            <a:pPr lvl="1"/>
            <a:r>
              <a:rPr lang="ru-RU" dirty="0"/>
              <a:t>Представления дают нам ряд преимуществ. Они упрощают комплексные SQL-операции. Они защищают данные, так как представления могут дать доступ к части таблицы, а не ко всей таблице. Представления также позволяют возвращать отформатированные значения из таблиц в нужной и удобной форме.</a:t>
            </a:r>
          </a:p>
          <a:p>
            <a:pPr lvl="1"/>
            <a:r>
              <a:rPr lang="ru-RU" dirty="0"/>
              <a:t>Для создания представления используется команда </a:t>
            </a:r>
            <a:r>
              <a:rPr lang="ru-RU" b="1" dirty="0"/>
              <a:t>CREATE VIEW</a:t>
            </a:r>
            <a:r>
              <a:rPr lang="ru-RU" dirty="0"/>
              <a:t>, которая имеет следующую форму:</a:t>
            </a:r>
          </a:p>
          <a:p>
            <a:endParaRPr lang="ru-RU" dirty="0"/>
          </a:p>
          <a:p>
            <a:pPr algn="l" fontAlgn="base">
              <a:lnSpc>
                <a:spcPts val="1575"/>
              </a:lnSpc>
              <a:buNone/>
            </a:pPr>
            <a:r>
              <a:rPr lang="ru-RU" dirty="0"/>
              <a:t>	</a:t>
            </a:r>
            <a:r>
              <a:rPr lang="ru-RU" b="0" i="0" dirty="0">
                <a:solidFill>
                  <a:srgbClr val="006699"/>
                </a:solidFill>
                <a:effectLst/>
                <a:latin typeface="SFMono-Regular"/>
              </a:rPr>
              <a:t>CREATE</a:t>
            </a:r>
            <a:r>
              <a:rPr lang="ru-RU" b="0" i="0" dirty="0">
                <a:solidFill>
                  <a:srgbClr val="000000"/>
                </a:solidFill>
                <a:effectLst/>
                <a:latin typeface="SFMono-Regular"/>
              </a:rPr>
              <a:t> </a:t>
            </a:r>
            <a:r>
              <a:rPr lang="ru-RU" b="0" i="0" dirty="0">
                <a:solidFill>
                  <a:srgbClr val="006699"/>
                </a:solidFill>
                <a:effectLst/>
                <a:latin typeface="SFMono-Regular"/>
              </a:rPr>
              <a:t>VIEW</a:t>
            </a:r>
            <a:r>
              <a:rPr lang="ru-RU" b="0" i="0" dirty="0">
                <a:solidFill>
                  <a:srgbClr val="000000"/>
                </a:solidFill>
                <a:effectLst/>
                <a:latin typeface="SFMono-Regular"/>
              </a:rPr>
              <a:t> </a:t>
            </a:r>
            <a:r>
              <a:rPr lang="ru-RU" b="0" i="0" dirty="0" err="1">
                <a:solidFill>
                  <a:srgbClr val="000000"/>
                </a:solidFill>
                <a:effectLst/>
                <a:latin typeface="SFMono-Regular"/>
              </a:rPr>
              <a:t>название_представления</a:t>
            </a:r>
            <a:r>
              <a:rPr lang="ru-RU" b="0" i="0" dirty="0">
                <a:solidFill>
                  <a:srgbClr val="000000"/>
                </a:solidFill>
                <a:effectLst/>
                <a:latin typeface="SFMono-Regular"/>
              </a:rPr>
              <a:t> [(столбец_1, столбец_2, ....)]</a:t>
            </a:r>
          </a:p>
          <a:p>
            <a:pPr algn="l" fontAlgn="base">
              <a:lnSpc>
                <a:spcPts val="1575"/>
              </a:lnSpc>
              <a:buNone/>
            </a:pPr>
            <a:r>
              <a:rPr lang="ru-RU" b="0" i="0" dirty="0">
                <a:solidFill>
                  <a:srgbClr val="006699"/>
                </a:solidFill>
                <a:effectLst/>
                <a:latin typeface="SFMono-Regular"/>
              </a:rPr>
              <a:t>	AS</a:t>
            </a:r>
            <a:r>
              <a:rPr lang="ru-RU" b="0" i="0" dirty="0">
                <a:solidFill>
                  <a:srgbClr val="000000"/>
                </a:solidFill>
                <a:effectLst/>
                <a:latin typeface="SFMono-Regular"/>
              </a:rPr>
              <a:t> </a:t>
            </a:r>
            <a:r>
              <a:rPr lang="ru-RU" b="0" i="0" dirty="0" err="1">
                <a:solidFill>
                  <a:srgbClr val="000000"/>
                </a:solidFill>
                <a:effectLst/>
                <a:latin typeface="SFMono-Regular"/>
              </a:rPr>
              <a:t>выражение_SELECT</a:t>
            </a:r>
            <a:endParaRPr lang="ru-RU" b="0" i="0" dirty="0">
              <a:solidFill>
                <a:srgbClr val="000000"/>
              </a:solidFill>
              <a:effectLst/>
              <a:latin typeface="SFMono-Regular"/>
            </a:endParaRPr>
          </a:p>
          <a:p>
            <a:endParaRPr lang="ru-RU" dirty="0"/>
          </a:p>
        </p:txBody>
      </p:sp>
    </p:spTree>
    <p:extLst>
      <p:ext uri="{BB962C8B-B14F-4D97-AF65-F5344CB8AC3E}">
        <p14:creationId xmlns:p14="http://schemas.microsoft.com/office/powerpoint/2010/main" val="2304782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E5FF82B-DC16-5BC3-EE86-568E5C2158F9}"/>
              </a:ext>
            </a:extLst>
          </p:cNvPr>
          <p:cNvSpPr>
            <a:spLocks noGrp="1"/>
          </p:cNvSpPr>
          <p:nvPr>
            <p:ph idx="1"/>
          </p:nvPr>
        </p:nvSpPr>
        <p:spPr/>
        <p:txBody>
          <a:bodyPr/>
          <a:lstStyle/>
          <a:p>
            <a:r>
              <a:rPr lang="ru-RU" dirty="0"/>
              <a:t>Создание представления</a:t>
            </a:r>
          </a:p>
          <a:p>
            <a:endParaRPr lang="ru-RU" dirty="0"/>
          </a:p>
          <a:p>
            <a:pPr lvl="1"/>
            <a:r>
              <a:rPr lang="de-CH" sz="2000" dirty="0">
                <a:solidFill>
                  <a:srgbClr val="0000FF"/>
                </a:solidFill>
                <a:latin typeface="Cascadia Mono" panose="020B0609020000020004" pitchFamily="49" charset="0"/>
              </a:rPr>
              <a:t>CREATE</a:t>
            </a:r>
            <a:r>
              <a:rPr lang="de-CH" sz="2000" dirty="0">
                <a:solidFill>
                  <a:srgbClr val="000000"/>
                </a:solidFill>
                <a:latin typeface="Cascadia Mono" panose="020B0609020000020004" pitchFamily="49" charset="0"/>
              </a:rPr>
              <a:t> </a:t>
            </a:r>
            <a:r>
              <a:rPr lang="de-CH" sz="2000" dirty="0">
                <a:solidFill>
                  <a:srgbClr val="0000FF"/>
                </a:solidFill>
                <a:latin typeface="Cascadia Mono" panose="020B0609020000020004" pitchFamily="49" charset="0"/>
              </a:rPr>
              <a:t>VIEW</a:t>
            </a:r>
            <a:r>
              <a:rPr lang="de-CH" sz="2000" dirty="0">
                <a:solidFill>
                  <a:srgbClr val="000000"/>
                </a:solidFill>
                <a:latin typeface="Cascadia Mono" panose="020B0609020000020004" pitchFamily="49" charset="0"/>
              </a:rPr>
              <a:t> </a:t>
            </a:r>
            <a:r>
              <a:rPr lang="de-CH" sz="2000" dirty="0" err="1">
                <a:solidFill>
                  <a:srgbClr val="000000"/>
                </a:solidFill>
                <a:latin typeface="Cascadia Mono" panose="020B0609020000020004" pitchFamily="49" charset="0"/>
              </a:rPr>
              <a:t>CompanyCountryAverageFreight</a:t>
            </a:r>
            <a:r>
              <a:rPr lang="de-CH" sz="2000" dirty="0">
                <a:solidFill>
                  <a:srgbClr val="000000"/>
                </a:solidFill>
                <a:latin typeface="Cascadia Mono" panose="020B0609020000020004" pitchFamily="49" charset="0"/>
              </a:rPr>
              <a:t> </a:t>
            </a:r>
            <a:r>
              <a:rPr lang="de-CH" sz="2000" dirty="0">
                <a:solidFill>
                  <a:srgbClr val="0000FF"/>
                </a:solidFill>
                <a:latin typeface="Cascadia Mono" panose="020B0609020000020004" pitchFamily="49" charset="0"/>
              </a:rPr>
              <a:t>AS</a:t>
            </a:r>
            <a:endParaRPr lang="de-CH" sz="2000" dirty="0">
              <a:solidFill>
                <a:srgbClr val="000000"/>
              </a:solidFill>
              <a:latin typeface="Cascadia Mono" panose="020B0609020000020004" pitchFamily="49" charset="0"/>
            </a:endParaRPr>
          </a:p>
          <a:p>
            <a:pPr lvl="1"/>
            <a:r>
              <a:rPr lang="en-US" sz="2000" dirty="0">
                <a:solidFill>
                  <a:srgbClr val="0000FF"/>
                </a:solidFill>
                <a:latin typeface="Cascadia Mono" panose="020B0609020000020004" pitchFamily="49" charset="0"/>
              </a:rPr>
              <a:t>SELECT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ShipCountry</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AS</a:t>
            </a:r>
            <a:r>
              <a:rPr lang="en-US" sz="2000" dirty="0">
                <a:solidFill>
                  <a:srgbClr val="000000"/>
                </a:solidFill>
                <a:latin typeface="Cascadia Mono" panose="020B0609020000020004" pitchFamily="49" charset="0"/>
              </a:rPr>
              <a:t> COUNTRY</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Shippers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CompanyName</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AS</a:t>
            </a:r>
            <a:r>
              <a:rPr lang="en-US" sz="2000" dirty="0">
                <a:solidFill>
                  <a:srgbClr val="000000"/>
                </a:solidFill>
                <a:latin typeface="Cascadia Mono" panose="020B0609020000020004" pitchFamily="49" charset="0"/>
              </a:rPr>
              <a:t> [CCOMPANY NAME]</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a:solidFill>
                  <a:srgbClr val="FF00FF"/>
                </a:solidFill>
                <a:latin typeface="Cascadia Mono" panose="020B0609020000020004" pitchFamily="49" charset="0"/>
              </a:rPr>
              <a:t>AVG</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Freight</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AS</a:t>
            </a:r>
            <a:r>
              <a:rPr lang="en-US" sz="2000" dirty="0">
                <a:solidFill>
                  <a:srgbClr val="000000"/>
                </a:solidFill>
                <a:latin typeface="Cascadia Mono" panose="020B0609020000020004" pitchFamily="49" charset="0"/>
              </a:rPr>
              <a:t> FREIGHT</a:t>
            </a:r>
          </a:p>
          <a:p>
            <a:pPr lvl="1"/>
            <a:r>
              <a:rPr lang="en-US" sz="2000" dirty="0">
                <a:solidFill>
                  <a:srgbClr val="0000FF"/>
                </a:solidFill>
                <a:latin typeface="Cascadia Mono" panose="020B0609020000020004" pitchFamily="49" charset="0"/>
              </a:rPr>
              <a:t>FROM</a:t>
            </a:r>
            <a:r>
              <a:rPr lang="en-US" sz="2000" dirty="0">
                <a:solidFill>
                  <a:srgbClr val="000000"/>
                </a:solidFill>
                <a:latin typeface="Cascadia Mono" panose="020B0609020000020004" pitchFamily="49" charset="0"/>
              </a:rPr>
              <a:t> Orders </a:t>
            </a:r>
            <a:r>
              <a:rPr lang="en-US" sz="2000" dirty="0">
                <a:solidFill>
                  <a:srgbClr val="808080"/>
                </a:solidFill>
                <a:latin typeface="Cascadia Mono" panose="020B0609020000020004" pitchFamily="49" charset="0"/>
              </a:rPr>
              <a:t>JOIN</a:t>
            </a:r>
            <a:r>
              <a:rPr lang="en-US" sz="2000" dirty="0">
                <a:solidFill>
                  <a:srgbClr val="000000"/>
                </a:solidFill>
                <a:latin typeface="Cascadia Mono" panose="020B0609020000020004" pitchFamily="49" charset="0"/>
              </a:rPr>
              <a:t> Shippers </a:t>
            </a:r>
            <a:r>
              <a:rPr lang="en-US" sz="2000" dirty="0">
                <a:solidFill>
                  <a:srgbClr val="0000FF"/>
                </a:solidFill>
                <a:latin typeface="Cascadia Mono" panose="020B0609020000020004" pitchFamily="49" charset="0"/>
              </a:rPr>
              <a:t>ON</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Orders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ShipVia</a:t>
            </a:r>
            <a:r>
              <a:rPr lang="en-US" sz="2000" dirty="0">
                <a:solidFill>
                  <a:srgbClr val="000000"/>
                </a:solidFill>
                <a:latin typeface="Cascadia Mono" panose="020B0609020000020004" pitchFamily="49" charset="0"/>
              </a:rPr>
              <a:t> </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Shippers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ShipperID</a:t>
            </a:r>
            <a:endParaRPr lang="en-US" sz="2000" dirty="0">
              <a:solidFill>
                <a:srgbClr val="000000"/>
              </a:solidFill>
              <a:latin typeface="Cascadia Mono" panose="020B0609020000020004" pitchFamily="49" charset="0"/>
            </a:endParaRPr>
          </a:p>
          <a:p>
            <a:pPr lvl="1"/>
            <a:r>
              <a:rPr lang="en-US" sz="2000" dirty="0">
                <a:solidFill>
                  <a:srgbClr val="0000FF"/>
                </a:solidFill>
                <a:latin typeface="Cascadia Mono" panose="020B0609020000020004" pitchFamily="49" charset="0"/>
              </a:rPr>
              <a:t>GROUP</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BY</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ShipCountry</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Shippers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CompanyName</a:t>
            </a:r>
            <a:endParaRPr lang="ru-RU" sz="2000" dirty="0"/>
          </a:p>
        </p:txBody>
      </p:sp>
    </p:spTree>
    <p:extLst>
      <p:ext uri="{BB962C8B-B14F-4D97-AF65-F5344CB8AC3E}">
        <p14:creationId xmlns:p14="http://schemas.microsoft.com/office/powerpoint/2010/main" val="87744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6CEB4A5-B957-ED43-07B1-06065CD50600}"/>
              </a:ext>
            </a:extLst>
          </p:cNvPr>
          <p:cNvSpPr>
            <a:spLocks noGrp="1"/>
          </p:cNvSpPr>
          <p:nvPr>
            <p:ph idx="1"/>
          </p:nvPr>
        </p:nvSpPr>
        <p:spPr/>
        <p:txBody>
          <a:bodyPr>
            <a:normAutofit/>
          </a:bodyPr>
          <a:lstStyle/>
          <a:p>
            <a:r>
              <a:rPr lang="ru-RU" b="1" dirty="0"/>
              <a:t>При создании представлений следует учитывать, что</a:t>
            </a:r>
            <a:r>
              <a:rPr lang="en-US" b="1" dirty="0"/>
              <a:t> :</a:t>
            </a:r>
            <a:r>
              <a:rPr lang="ru-RU" b="1" dirty="0"/>
              <a:t> </a:t>
            </a:r>
          </a:p>
          <a:p>
            <a:endParaRPr lang="en-US" dirty="0"/>
          </a:p>
          <a:p>
            <a:pPr marL="342900" indent="-342900">
              <a:buFont typeface="Arial" panose="020B0604020202020204" pitchFamily="34" charset="0"/>
              <a:buChar char="•"/>
            </a:pPr>
            <a:r>
              <a:rPr lang="ru-RU" dirty="0"/>
              <a:t>Представления, как и таблицы, должны иметь уникальные имена в рамках той же базы данных</a:t>
            </a:r>
          </a:p>
          <a:p>
            <a:pPr marL="342900" indent="-342900">
              <a:buFont typeface="Arial" panose="020B0604020202020204" pitchFamily="34" charset="0"/>
              <a:buChar char="•"/>
            </a:pPr>
            <a:r>
              <a:rPr lang="ru-RU" sz="2000" dirty="0"/>
              <a:t>Представления могут иметь не более 1024 столбцов и могут обращаться не более чем к 256 таблицам.</a:t>
            </a:r>
          </a:p>
          <a:p>
            <a:pPr marL="342900" indent="-342900">
              <a:buFont typeface="Arial" panose="020B0604020202020204" pitchFamily="34" charset="0"/>
              <a:buChar char="•"/>
            </a:pPr>
            <a:r>
              <a:rPr lang="ru-RU" sz="2000" dirty="0"/>
              <a:t>Также можно создавать представления на основе других представлений. Такие представления еще называют вложенными (</a:t>
            </a:r>
            <a:r>
              <a:rPr lang="ru-RU" sz="2000" dirty="0" err="1"/>
              <a:t>nested</a:t>
            </a:r>
            <a:r>
              <a:rPr lang="ru-RU" sz="2000" dirty="0"/>
              <a:t> </a:t>
            </a:r>
            <a:r>
              <a:rPr lang="ru-RU" sz="2000" dirty="0" err="1"/>
              <a:t>views</a:t>
            </a:r>
            <a:r>
              <a:rPr lang="ru-RU" sz="2000" dirty="0"/>
              <a:t>). Однако уровень вложенности не может быть </a:t>
            </a:r>
            <a:r>
              <a:rPr lang="ru-RU" sz="2000" dirty="0" err="1"/>
              <a:t>больще</a:t>
            </a:r>
            <a:r>
              <a:rPr lang="ru-RU" sz="2000" dirty="0"/>
              <a:t> 32-х.</a:t>
            </a:r>
          </a:p>
          <a:p>
            <a:pPr marL="342900" indent="-342900">
              <a:buFont typeface="Arial" panose="020B0604020202020204" pitchFamily="34" charset="0"/>
              <a:buChar char="•"/>
            </a:pPr>
            <a:r>
              <a:rPr lang="ru-RU" sz="2000" dirty="0"/>
              <a:t>Команда </a:t>
            </a:r>
            <a:r>
              <a:rPr lang="ru-RU" sz="2000" b="1" dirty="0"/>
              <a:t>SELECT</a:t>
            </a:r>
            <a:r>
              <a:rPr lang="ru-RU" sz="2000" dirty="0"/>
              <a:t>, используемая в представлении, не может включать выражения </a:t>
            </a:r>
            <a:r>
              <a:rPr lang="ru-RU" sz="2000" b="1" dirty="0"/>
              <a:t>INTO</a:t>
            </a:r>
            <a:r>
              <a:rPr lang="ru-RU" sz="2000" dirty="0"/>
              <a:t> или </a:t>
            </a:r>
            <a:r>
              <a:rPr lang="ru-RU" sz="2000" b="1" dirty="0"/>
              <a:t>ORDER BY</a:t>
            </a:r>
            <a:r>
              <a:rPr lang="ru-RU" sz="2000" dirty="0"/>
              <a:t> (за исключением тех случаев, когда также применяется выражение </a:t>
            </a:r>
            <a:r>
              <a:rPr lang="ru-RU" sz="2000" b="1" dirty="0"/>
              <a:t>TOP</a:t>
            </a:r>
            <a:r>
              <a:rPr lang="ru-RU" sz="2000" dirty="0"/>
              <a:t> или </a:t>
            </a:r>
            <a:r>
              <a:rPr lang="ru-RU" sz="2000" b="1" dirty="0"/>
              <a:t>OFFSET</a:t>
            </a:r>
            <a:r>
              <a:rPr lang="ru-RU" sz="2000" dirty="0"/>
              <a:t>). Если же необходима сортировка данных в представлении, то выражение ORDER BY применяется в команде SELECT, которая извлекает данные из представления.</a:t>
            </a:r>
          </a:p>
          <a:p>
            <a:pPr marL="342900" indent="-342900">
              <a:buFont typeface="Arial" panose="020B0604020202020204" pitchFamily="34" charset="0"/>
              <a:buChar char="•"/>
            </a:pPr>
            <a:r>
              <a:rPr lang="ru-RU" sz="2000" dirty="0"/>
              <a:t>Также при создании представления можно определить набор его столбцов</a:t>
            </a:r>
            <a:r>
              <a:rPr lang="en-US" sz="2000" dirty="0"/>
              <a:t>.</a:t>
            </a:r>
            <a:endParaRPr lang="ru-RU" sz="2000" dirty="0"/>
          </a:p>
          <a:p>
            <a:endParaRPr lang="ru-RU" dirty="0"/>
          </a:p>
        </p:txBody>
      </p:sp>
    </p:spTree>
    <p:extLst>
      <p:ext uri="{BB962C8B-B14F-4D97-AF65-F5344CB8AC3E}">
        <p14:creationId xmlns:p14="http://schemas.microsoft.com/office/powerpoint/2010/main" val="675568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67D5C9D-E1A6-D0E5-56AB-A117598A3F37}"/>
              </a:ext>
            </a:extLst>
          </p:cNvPr>
          <p:cNvSpPr>
            <a:spLocks noGrp="1"/>
          </p:cNvSpPr>
          <p:nvPr>
            <p:ph idx="1"/>
          </p:nvPr>
        </p:nvSpPr>
        <p:spPr/>
        <p:txBody>
          <a:bodyPr/>
          <a:lstStyle/>
          <a:p>
            <a:r>
              <a:rPr lang="ru-RU" b="1" dirty="0"/>
              <a:t>Изменение представления</a:t>
            </a:r>
          </a:p>
          <a:p>
            <a:endParaRPr lang="en-US" dirty="0"/>
          </a:p>
          <a:p>
            <a:pPr lvl="1"/>
            <a:r>
              <a:rPr lang="ru-RU" dirty="0"/>
              <a:t>Для изменения представления используется команда </a:t>
            </a:r>
            <a:r>
              <a:rPr lang="ru-RU" b="1" dirty="0"/>
              <a:t>ALTER VIEW</a:t>
            </a:r>
            <a:r>
              <a:rPr lang="ru-RU" dirty="0"/>
              <a:t>. Эта команда имеет практически тот же самый синтаксис, что и </a:t>
            </a:r>
            <a:r>
              <a:rPr lang="ru-RU" b="1" dirty="0"/>
              <a:t>CREATE VIEW</a:t>
            </a:r>
            <a:r>
              <a:rPr lang="ru-RU" dirty="0"/>
              <a:t>:</a:t>
            </a:r>
            <a:endParaRPr lang="en-US" dirty="0"/>
          </a:p>
          <a:p>
            <a:pPr lvl="1"/>
            <a:endParaRPr lang="en-US" dirty="0"/>
          </a:p>
          <a:p>
            <a:pPr lvl="1" algn="l" fontAlgn="base">
              <a:lnSpc>
                <a:spcPts val="1575"/>
              </a:lnSpc>
            </a:pPr>
            <a:r>
              <a:rPr lang="ru-RU" b="0" i="0" dirty="0">
                <a:solidFill>
                  <a:srgbClr val="006699"/>
                </a:solidFill>
                <a:effectLst/>
                <a:latin typeface="SFMono-Regular"/>
              </a:rPr>
              <a:t>ALTER</a:t>
            </a:r>
            <a:r>
              <a:rPr lang="ru-RU" b="0" i="0" dirty="0">
                <a:solidFill>
                  <a:srgbClr val="000000"/>
                </a:solidFill>
                <a:effectLst/>
                <a:latin typeface="SFMono-Regular"/>
              </a:rPr>
              <a:t> </a:t>
            </a:r>
            <a:r>
              <a:rPr lang="ru-RU" b="0" i="0" dirty="0">
                <a:solidFill>
                  <a:srgbClr val="006699"/>
                </a:solidFill>
                <a:effectLst/>
                <a:latin typeface="SFMono-Regular"/>
              </a:rPr>
              <a:t>VIEW</a:t>
            </a:r>
            <a:r>
              <a:rPr lang="ru-RU" b="0" i="0" dirty="0">
                <a:solidFill>
                  <a:srgbClr val="000000"/>
                </a:solidFill>
                <a:effectLst/>
                <a:latin typeface="SFMono-Regular"/>
              </a:rPr>
              <a:t> </a:t>
            </a:r>
            <a:r>
              <a:rPr lang="ru-RU" b="0" i="0" dirty="0" err="1">
                <a:solidFill>
                  <a:srgbClr val="000000"/>
                </a:solidFill>
                <a:effectLst/>
                <a:latin typeface="SFMono-Regular"/>
              </a:rPr>
              <a:t>название_представления</a:t>
            </a:r>
            <a:r>
              <a:rPr lang="ru-RU" b="0" i="0" dirty="0">
                <a:solidFill>
                  <a:srgbClr val="000000"/>
                </a:solidFill>
                <a:effectLst/>
                <a:latin typeface="SFMono-Regular"/>
              </a:rPr>
              <a:t> [(столбец_1, столбец_2, ....)]</a:t>
            </a:r>
          </a:p>
          <a:p>
            <a:pPr lvl="1" algn="l" fontAlgn="base">
              <a:lnSpc>
                <a:spcPts val="1575"/>
              </a:lnSpc>
            </a:pPr>
            <a:r>
              <a:rPr lang="ru-RU" b="0" i="0" dirty="0">
                <a:solidFill>
                  <a:srgbClr val="006699"/>
                </a:solidFill>
                <a:effectLst/>
                <a:latin typeface="SFMono-Regular"/>
              </a:rPr>
              <a:t>AS</a:t>
            </a:r>
            <a:r>
              <a:rPr lang="ru-RU" b="0" i="0" dirty="0">
                <a:solidFill>
                  <a:srgbClr val="000000"/>
                </a:solidFill>
                <a:effectLst/>
                <a:latin typeface="SFMono-Regular"/>
              </a:rPr>
              <a:t> </a:t>
            </a:r>
            <a:r>
              <a:rPr lang="ru-RU" b="0" i="0" dirty="0" err="1">
                <a:solidFill>
                  <a:srgbClr val="000000"/>
                </a:solidFill>
                <a:effectLst/>
                <a:latin typeface="SFMono-Regular"/>
              </a:rPr>
              <a:t>выражение_SELECT</a:t>
            </a:r>
            <a:endParaRPr lang="ru-RU" b="0" i="0" dirty="0">
              <a:solidFill>
                <a:srgbClr val="000000"/>
              </a:solidFill>
              <a:effectLst/>
              <a:latin typeface="SFMono-Regular"/>
            </a:endParaRPr>
          </a:p>
          <a:p>
            <a:pPr lvl="1"/>
            <a:endParaRPr lang="ru-RU" dirty="0"/>
          </a:p>
        </p:txBody>
      </p:sp>
    </p:spTree>
    <p:extLst>
      <p:ext uri="{BB962C8B-B14F-4D97-AF65-F5344CB8AC3E}">
        <p14:creationId xmlns:p14="http://schemas.microsoft.com/office/powerpoint/2010/main" val="3436409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18F7252-4229-2B81-986D-AB198C9E9C3E}"/>
              </a:ext>
            </a:extLst>
          </p:cNvPr>
          <p:cNvSpPr>
            <a:spLocks noGrp="1"/>
          </p:cNvSpPr>
          <p:nvPr>
            <p:ph idx="1"/>
          </p:nvPr>
        </p:nvSpPr>
        <p:spPr/>
        <p:txBody>
          <a:bodyPr>
            <a:normAutofit/>
          </a:bodyPr>
          <a:lstStyle/>
          <a:p>
            <a:endParaRPr lang="en-US" sz="2000" dirty="0">
              <a:solidFill>
                <a:srgbClr val="0000FF"/>
              </a:solidFill>
              <a:latin typeface="Cascadia Mono" panose="020B0609020000020004" pitchFamily="49" charset="0"/>
            </a:endParaRPr>
          </a:p>
          <a:p>
            <a:endParaRPr lang="en-US" sz="2000" dirty="0">
              <a:solidFill>
                <a:srgbClr val="0000FF"/>
              </a:solidFill>
              <a:latin typeface="Cascadia Mono" panose="020B0609020000020004" pitchFamily="49" charset="0"/>
            </a:endParaRPr>
          </a:p>
          <a:p>
            <a:r>
              <a:rPr lang="de-CH" sz="2000" dirty="0">
                <a:solidFill>
                  <a:srgbClr val="0000FF"/>
                </a:solidFill>
                <a:latin typeface="Cascadia Mono" panose="020B0609020000020004" pitchFamily="49" charset="0"/>
              </a:rPr>
              <a:t>CREATE</a:t>
            </a:r>
            <a:r>
              <a:rPr lang="de-CH" sz="2000" dirty="0">
                <a:solidFill>
                  <a:srgbClr val="000000"/>
                </a:solidFill>
                <a:latin typeface="Cascadia Mono" panose="020B0609020000020004" pitchFamily="49" charset="0"/>
              </a:rPr>
              <a:t> </a:t>
            </a:r>
            <a:r>
              <a:rPr lang="de-CH" sz="2000" dirty="0">
                <a:solidFill>
                  <a:srgbClr val="0000FF"/>
                </a:solidFill>
                <a:latin typeface="Cascadia Mono" panose="020B0609020000020004" pitchFamily="49" charset="0"/>
              </a:rPr>
              <a:t>VIEW</a:t>
            </a:r>
            <a:r>
              <a:rPr lang="de-CH" sz="2000" dirty="0">
                <a:solidFill>
                  <a:srgbClr val="000000"/>
                </a:solidFill>
                <a:latin typeface="Cascadia Mono" panose="020B0609020000020004" pitchFamily="49" charset="0"/>
              </a:rPr>
              <a:t> </a:t>
            </a:r>
            <a:r>
              <a:rPr lang="de-CH" sz="2000" dirty="0" err="1">
                <a:solidFill>
                  <a:srgbClr val="000000"/>
                </a:solidFill>
                <a:latin typeface="Cascadia Mono" panose="020B0609020000020004" pitchFamily="49" charset="0"/>
              </a:rPr>
              <a:t>OrderView</a:t>
            </a:r>
            <a:r>
              <a:rPr lang="de-CH" sz="2000" dirty="0">
                <a:solidFill>
                  <a:srgbClr val="000000"/>
                </a:solidFill>
                <a:latin typeface="Cascadia Mono" panose="020B0609020000020004" pitchFamily="49" charset="0"/>
              </a:rPr>
              <a:t> </a:t>
            </a:r>
            <a:r>
              <a:rPr lang="de-CH" sz="2000" dirty="0">
                <a:solidFill>
                  <a:srgbClr val="0000FF"/>
                </a:solidFill>
                <a:latin typeface="Cascadia Mono" panose="020B0609020000020004" pitchFamily="49" charset="0"/>
              </a:rPr>
              <a:t>AS</a:t>
            </a:r>
            <a:endParaRPr lang="de-CH" sz="2000" dirty="0">
              <a:solidFill>
                <a:srgbClr val="000000"/>
              </a:solidFill>
              <a:latin typeface="Cascadia Mono" panose="020B0609020000020004" pitchFamily="49" charset="0"/>
            </a:endParaRPr>
          </a:p>
          <a:p>
            <a:endParaRPr lang="ru-RU" sz="2000" dirty="0">
              <a:solidFill>
                <a:srgbClr val="000000"/>
              </a:solidFill>
              <a:latin typeface="Cascadia Mono" panose="020B0609020000020004" pitchFamily="49" charset="0"/>
            </a:endParaRPr>
          </a:p>
          <a:p>
            <a:r>
              <a:rPr lang="en-US" sz="2000" dirty="0">
                <a:solidFill>
                  <a:srgbClr val="0000FF"/>
                </a:solidFill>
                <a:latin typeface="Cascadia Mono" panose="020B0609020000020004" pitchFamily="49" charset="0"/>
              </a:rPr>
              <a:t>SELECT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Orders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OrderID</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Customers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CompanyName</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AS</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CustomerCompanyname</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p>
          <a:p>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Orders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ShippedDate</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Shippers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CompanyName</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AS</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ShippersCompanyname</a:t>
            </a:r>
            <a:endParaRPr lang="en-US" sz="2000" dirty="0">
              <a:solidFill>
                <a:srgbClr val="000000"/>
              </a:solidFill>
              <a:latin typeface="Cascadia Mono" panose="020B0609020000020004" pitchFamily="49" charset="0"/>
            </a:endParaRPr>
          </a:p>
          <a:p>
            <a:r>
              <a:rPr lang="en-US" sz="2000" dirty="0">
                <a:solidFill>
                  <a:srgbClr val="0000FF"/>
                </a:solidFill>
                <a:latin typeface="Cascadia Mono" panose="020B0609020000020004" pitchFamily="49" charset="0"/>
              </a:rPr>
              <a:t>FROM</a:t>
            </a:r>
            <a:r>
              <a:rPr lang="en-US" sz="2000" dirty="0">
                <a:solidFill>
                  <a:srgbClr val="000000"/>
                </a:solidFill>
                <a:latin typeface="Cascadia Mono" panose="020B0609020000020004" pitchFamily="49" charset="0"/>
              </a:rPr>
              <a:t> Orders </a:t>
            </a:r>
            <a:r>
              <a:rPr lang="en-US" sz="2000" dirty="0">
                <a:solidFill>
                  <a:srgbClr val="808080"/>
                </a:solidFill>
                <a:latin typeface="Cascadia Mono" panose="020B0609020000020004" pitchFamily="49" charset="0"/>
              </a:rPr>
              <a:t>JOIN</a:t>
            </a:r>
            <a:r>
              <a:rPr lang="en-US" sz="2000" dirty="0">
                <a:solidFill>
                  <a:srgbClr val="000000"/>
                </a:solidFill>
                <a:latin typeface="Cascadia Mono" panose="020B0609020000020004" pitchFamily="49" charset="0"/>
              </a:rPr>
              <a:t> Employees </a:t>
            </a:r>
            <a:r>
              <a:rPr lang="en-US" sz="2000" dirty="0">
                <a:solidFill>
                  <a:srgbClr val="0000FF"/>
                </a:solidFill>
                <a:latin typeface="Cascadia Mono" panose="020B0609020000020004" pitchFamily="49" charset="0"/>
              </a:rPr>
              <a:t>ON</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Orders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EmployeeID</a:t>
            </a:r>
            <a:r>
              <a:rPr lang="en-US" sz="2000" dirty="0">
                <a:solidFill>
                  <a:srgbClr val="000000"/>
                </a:solidFill>
                <a:latin typeface="Cascadia Mono" panose="020B0609020000020004" pitchFamily="49" charset="0"/>
              </a:rPr>
              <a:t> </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Employees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EmployeeID</a:t>
            </a:r>
            <a:endParaRPr lang="en-US" sz="2000" dirty="0">
              <a:solidFill>
                <a:srgbClr val="000000"/>
              </a:solidFill>
              <a:latin typeface="Cascadia Mono" panose="020B0609020000020004" pitchFamily="49" charset="0"/>
            </a:endParaRPr>
          </a:p>
          <a:p>
            <a:r>
              <a:rPr lang="en-US" sz="2000" dirty="0">
                <a:solidFill>
                  <a:srgbClr val="000000"/>
                </a:solidFill>
                <a:latin typeface="Cascadia Mono" panose="020B0609020000020004" pitchFamily="49" charset="0"/>
              </a:rPr>
              <a:t> </a:t>
            </a:r>
            <a:r>
              <a:rPr lang="en-US" sz="2000" dirty="0">
                <a:solidFill>
                  <a:srgbClr val="808080"/>
                </a:solidFill>
                <a:latin typeface="Cascadia Mono" panose="020B0609020000020004" pitchFamily="49" charset="0"/>
              </a:rPr>
              <a:t>JOIN</a:t>
            </a:r>
            <a:r>
              <a:rPr lang="en-US" sz="2000" dirty="0">
                <a:solidFill>
                  <a:srgbClr val="000000"/>
                </a:solidFill>
                <a:latin typeface="Cascadia Mono" panose="020B0609020000020004" pitchFamily="49" charset="0"/>
              </a:rPr>
              <a:t> Shippers  </a:t>
            </a:r>
            <a:r>
              <a:rPr lang="en-US" sz="2000" dirty="0">
                <a:solidFill>
                  <a:srgbClr val="0000FF"/>
                </a:solidFill>
                <a:latin typeface="Cascadia Mono" panose="020B0609020000020004" pitchFamily="49" charset="0"/>
              </a:rPr>
              <a:t>ON</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Orders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ShipVia</a:t>
            </a:r>
            <a:r>
              <a:rPr lang="en-US" sz="2000" dirty="0">
                <a:solidFill>
                  <a:srgbClr val="000000"/>
                </a:solidFill>
                <a:latin typeface="Cascadia Mono" panose="020B0609020000020004" pitchFamily="49" charset="0"/>
              </a:rPr>
              <a:t> </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Shippers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ShipperID</a:t>
            </a:r>
            <a:endParaRPr lang="en-US" sz="2000" dirty="0">
              <a:solidFill>
                <a:srgbClr val="000000"/>
              </a:solidFill>
              <a:latin typeface="Cascadia Mono" panose="020B0609020000020004" pitchFamily="49" charset="0"/>
            </a:endParaRPr>
          </a:p>
          <a:p>
            <a:r>
              <a:rPr lang="en-US" sz="2000" dirty="0">
                <a:solidFill>
                  <a:srgbClr val="000000"/>
                </a:solidFill>
                <a:latin typeface="Cascadia Mono" panose="020B0609020000020004" pitchFamily="49" charset="0"/>
              </a:rPr>
              <a:t> </a:t>
            </a:r>
            <a:r>
              <a:rPr lang="en-US" sz="2000" dirty="0">
                <a:solidFill>
                  <a:srgbClr val="808080"/>
                </a:solidFill>
                <a:latin typeface="Cascadia Mono" panose="020B0609020000020004" pitchFamily="49" charset="0"/>
              </a:rPr>
              <a:t>JOIN</a:t>
            </a:r>
            <a:r>
              <a:rPr lang="en-US" sz="2000" dirty="0">
                <a:solidFill>
                  <a:srgbClr val="000000"/>
                </a:solidFill>
                <a:latin typeface="Cascadia Mono" panose="020B0609020000020004" pitchFamily="49" charset="0"/>
              </a:rPr>
              <a:t> Customers </a:t>
            </a:r>
            <a:r>
              <a:rPr lang="en-US" sz="2000" dirty="0">
                <a:solidFill>
                  <a:srgbClr val="0000FF"/>
                </a:solidFill>
                <a:latin typeface="Cascadia Mono" panose="020B0609020000020004" pitchFamily="49" charset="0"/>
              </a:rPr>
              <a:t>ON</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Orders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CustomerID</a:t>
            </a:r>
            <a:r>
              <a:rPr lang="en-US" sz="2000" dirty="0">
                <a:solidFill>
                  <a:srgbClr val="000000"/>
                </a:solidFill>
                <a:latin typeface="Cascadia Mono" panose="020B0609020000020004" pitchFamily="49" charset="0"/>
              </a:rPr>
              <a:t> </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Customers</a:t>
            </a:r>
            <a:r>
              <a:rPr lang="en-US" sz="2000" dirty="0" err="1">
                <a:solidFill>
                  <a:srgbClr val="808080"/>
                </a:solidFill>
                <a:latin typeface="Cascadia Mono" panose="020B0609020000020004" pitchFamily="49" charset="0"/>
              </a:rPr>
              <a:t>.</a:t>
            </a:r>
            <a:r>
              <a:rPr lang="en-US" sz="2000" dirty="0" err="1">
                <a:solidFill>
                  <a:srgbClr val="000000"/>
                </a:solidFill>
                <a:latin typeface="Cascadia Mono" panose="020B0609020000020004" pitchFamily="49" charset="0"/>
              </a:rPr>
              <a:t>CustomerID</a:t>
            </a:r>
            <a:endParaRPr lang="ru-RU" sz="2000" dirty="0"/>
          </a:p>
        </p:txBody>
      </p:sp>
    </p:spTree>
    <p:extLst>
      <p:ext uri="{BB962C8B-B14F-4D97-AF65-F5344CB8AC3E}">
        <p14:creationId xmlns:p14="http://schemas.microsoft.com/office/powerpoint/2010/main" val="880883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2438D37-2F45-FE63-5337-97993A1328A0}"/>
              </a:ext>
            </a:extLst>
          </p:cNvPr>
          <p:cNvSpPr>
            <a:spLocks noGrp="1"/>
          </p:cNvSpPr>
          <p:nvPr>
            <p:ph idx="1"/>
          </p:nvPr>
        </p:nvSpPr>
        <p:spPr/>
        <p:txBody>
          <a:bodyPr/>
          <a:lstStyle/>
          <a:p>
            <a:r>
              <a:rPr lang="ru-RU" b="1" dirty="0"/>
              <a:t>Удаление представления</a:t>
            </a:r>
          </a:p>
          <a:p>
            <a:endParaRPr lang="en-US" dirty="0"/>
          </a:p>
          <a:p>
            <a:pPr lvl="1"/>
            <a:r>
              <a:rPr lang="ru-RU" sz="2000" dirty="0"/>
              <a:t>Для удаления представления вызывается команда </a:t>
            </a:r>
            <a:r>
              <a:rPr lang="ru-RU" sz="2000" b="1" dirty="0"/>
              <a:t>DROP VIEW</a:t>
            </a:r>
            <a:r>
              <a:rPr lang="ru-RU" sz="2000" dirty="0"/>
              <a:t>:</a:t>
            </a:r>
            <a:endParaRPr lang="en-US" sz="2000" dirty="0"/>
          </a:p>
          <a:p>
            <a:pPr lvl="1"/>
            <a:endParaRPr lang="en-US" dirty="0"/>
          </a:p>
          <a:p>
            <a:pPr lvl="1"/>
            <a:r>
              <a:rPr lang="de-CH" b="0" i="0" dirty="0">
                <a:solidFill>
                  <a:srgbClr val="006699"/>
                </a:solidFill>
                <a:effectLst/>
                <a:latin typeface="SFMono-Regular"/>
              </a:rPr>
              <a:t>DROP</a:t>
            </a:r>
            <a:r>
              <a:rPr lang="de-CH" b="0" i="0" dirty="0">
                <a:solidFill>
                  <a:srgbClr val="000000"/>
                </a:solidFill>
                <a:effectLst/>
                <a:latin typeface="SFMono-Regular"/>
              </a:rPr>
              <a:t> </a:t>
            </a:r>
            <a:r>
              <a:rPr lang="de-CH" b="0" i="0" dirty="0">
                <a:solidFill>
                  <a:srgbClr val="006699"/>
                </a:solidFill>
                <a:effectLst/>
                <a:latin typeface="SFMono-Regular"/>
              </a:rPr>
              <a:t>VIEW</a:t>
            </a:r>
            <a:r>
              <a:rPr lang="de-CH" b="0" i="0" dirty="0">
                <a:solidFill>
                  <a:srgbClr val="000000"/>
                </a:solidFill>
                <a:effectLst/>
                <a:latin typeface="SFMono-Regular"/>
              </a:rPr>
              <a:t> </a:t>
            </a:r>
            <a:r>
              <a:rPr lang="de-CH" b="0" i="0" dirty="0" err="1">
                <a:solidFill>
                  <a:srgbClr val="000000"/>
                </a:solidFill>
                <a:effectLst/>
                <a:latin typeface="SFMono-Regular"/>
              </a:rPr>
              <a:t>OrdersProductsCustomers</a:t>
            </a:r>
            <a:endParaRPr lang="de-CH" b="0" i="0" dirty="0">
              <a:solidFill>
                <a:srgbClr val="000000"/>
              </a:solidFill>
              <a:effectLst/>
              <a:latin typeface="SFMono-Regular"/>
            </a:endParaRPr>
          </a:p>
          <a:p>
            <a:pPr lvl="1"/>
            <a:endParaRPr lang="de-CH" dirty="0">
              <a:solidFill>
                <a:srgbClr val="000000"/>
              </a:solidFill>
              <a:latin typeface="SFMono-Regular"/>
            </a:endParaRPr>
          </a:p>
          <a:p>
            <a:pPr lvl="1"/>
            <a:r>
              <a:rPr lang="ru-RU" sz="2000" dirty="0"/>
              <a:t>Также стоит отметить, что при удалении таблиц также следует удалить и представления, которые используют эти таблицы.</a:t>
            </a:r>
          </a:p>
        </p:txBody>
      </p:sp>
    </p:spTree>
    <p:extLst>
      <p:ext uri="{BB962C8B-B14F-4D97-AF65-F5344CB8AC3E}">
        <p14:creationId xmlns:p14="http://schemas.microsoft.com/office/powerpoint/2010/main" val="4285342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7EC53D6B-A54E-4A92-9594-E4C81408A7CB}"/>
              </a:ext>
            </a:extLst>
          </p:cNvPr>
          <p:cNvSpPr>
            <a:spLocks noGrp="1"/>
          </p:cNvSpPr>
          <p:nvPr>
            <p:ph idx="1"/>
          </p:nvPr>
        </p:nvSpPr>
        <p:spPr/>
        <p:txBody>
          <a:bodyPr>
            <a:normAutofit lnSpcReduction="10000"/>
          </a:bodyPr>
          <a:lstStyle/>
          <a:p>
            <a:r>
              <a:rPr lang="ru-RU" b="1" dirty="0"/>
              <a:t>Обновляемое представление</a:t>
            </a:r>
          </a:p>
          <a:p>
            <a:endParaRPr lang="en-US" dirty="0"/>
          </a:p>
          <a:p>
            <a:pPr lvl="1"/>
            <a:r>
              <a:rPr lang="ru-RU" sz="2000" dirty="0"/>
              <a:t>Представления могут быть обновляемыми (</a:t>
            </a:r>
            <a:r>
              <a:rPr lang="ru-RU" sz="2000" dirty="0" err="1"/>
              <a:t>updatable</a:t>
            </a:r>
            <a:r>
              <a:rPr lang="ru-RU" sz="2000" dirty="0"/>
              <a:t>). В таких представлениях мы можем изменить или удалить строки или добавить в них новые строки.</a:t>
            </a:r>
            <a:endParaRPr lang="en-US" sz="2000" dirty="0"/>
          </a:p>
          <a:p>
            <a:pPr lvl="1"/>
            <a:endParaRPr lang="ru-RU" sz="2000" dirty="0"/>
          </a:p>
          <a:p>
            <a:pPr lvl="1"/>
            <a:r>
              <a:rPr lang="ru-RU" sz="2000" dirty="0"/>
              <a:t>При создании подобных представлений есть множество ограничений. В частности, команда SELECT при создании обновляемого представления не может содержать:</a:t>
            </a:r>
          </a:p>
          <a:p>
            <a:endParaRPr lang="en-US" dirty="0"/>
          </a:p>
          <a:p>
            <a:pPr marL="800100" lvl="1" indent="-342900">
              <a:buFont typeface="Arial" panose="020B0604020202020204" pitchFamily="34" charset="0"/>
              <a:buChar char="•"/>
            </a:pPr>
            <a:r>
              <a:rPr lang="ru-RU" sz="1900" b="1" dirty="0"/>
              <a:t>TOP</a:t>
            </a:r>
            <a:endParaRPr lang="ru-RU" sz="1900" dirty="0"/>
          </a:p>
          <a:p>
            <a:pPr marL="800100" lvl="1" indent="-342900">
              <a:buFont typeface="Arial" panose="020B0604020202020204" pitchFamily="34" charset="0"/>
              <a:buChar char="•"/>
            </a:pPr>
            <a:r>
              <a:rPr lang="ru-RU" sz="1900" b="1" dirty="0"/>
              <a:t>DISTINCT</a:t>
            </a:r>
            <a:endParaRPr lang="ru-RU" sz="1900" dirty="0"/>
          </a:p>
          <a:p>
            <a:pPr marL="800100" lvl="1" indent="-342900">
              <a:buFont typeface="Arial" panose="020B0604020202020204" pitchFamily="34" charset="0"/>
              <a:buChar char="•"/>
            </a:pPr>
            <a:r>
              <a:rPr lang="ru-RU" sz="1900" b="1" dirty="0"/>
              <a:t>UNION</a:t>
            </a:r>
            <a:endParaRPr lang="ru-RU" sz="1900" dirty="0"/>
          </a:p>
          <a:p>
            <a:pPr marL="800100" lvl="1" indent="-342900">
              <a:buFont typeface="Arial" panose="020B0604020202020204" pitchFamily="34" charset="0"/>
              <a:buChar char="•"/>
            </a:pPr>
            <a:r>
              <a:rPr lang="ru-RU" sz="1900" b="1" dirty="0"/>
              <a:t>JOIN</a:t>
            </a:r>
            <a:endParaRPr lang="ru-RU" sz="1900" dirty="0"/>
          </a:p>
          <a:p>
            <a:pPr marL="800100" lvl="1" indent="-342900">
              <a:buFont typeface="Arial" panose="020B0604020202020204" pitchFamily="34" charset="0"/>
              <a:buChar char="•"/>
            </a:pPr>
            <a:r>
              <a:rPr lang="ru-RU" sz="1900" dirty="0"/>
              <a:t>агрегатные функции типа </a:t>
            </a:r>
            <a:r>
              <a:rPr lang="ru-RU" sz="1900" b="1" dirty="0"/>
              <a:t>COUNT</a:t>
            </a:r>
            <a:r>
              <a:rPr lang="ru-RU" sz="1900" dirty="0"/>
              <a:t> или </a:t>
            </a:r>
            <a:r>
              <a:rPr lang="ru-RU" sz="1900" b="1" dirty="0"/>
              <a:t>MAX</a:t>
            </a:r>
            <a:endParaRPr lang="ru-RU" sz="1900" dirty="0"/>
          </a:p>
          <a:p>
            <a:pPr marL="800100" lvl="1" indent="-342900">
              <a:buFont typeface="Arial" panose="020B0604020202020204" pitchFamily="34" charset="0"/>
              <a:buChar char="•"/>
            </a:pPr>
            <a:r>
              <a:rPr lang="ru-RU" sz="1900" b="1" dirty="0"/>
              <a:t>GROUP BY</a:t>
            </a:r>
            <a:r>
              <a:rPr lang="ru-RU" sz="1900" dirty="0"/>
              <a:t> и </a:t>
            </a:r>
            <a:r>
              <a:rPr lang="ru-RU" sz="1900" b="1" dirty="0"/>
              <a:t>HAVING</a:t>
            </a:r>
            <a:endParaRPr lang="ru-RU" sz="1900" dirty="0"/>
          </a:p>
          <a:p>
            <a:pPr marL="800100" lvl="1" indent="-342900">
              <a:buFont typeface="Arial" panose="020B0604020202020204" pitchFamily="34" charset="0"/>
              <a:buChar char="•"/>
            </a:pPr>
            <a:r>
              <a:rPr lang="ru-RU" sz="1900" dirty="0"/>
              <a:t>подзапросы</a:t>
            </a:r>
          </a:p>
          <a:p>
            <a:pPr marL="800100" lvl="1" indent="-342900">
              <a:buFont typeface="Arial" panose="020B0604020202020204" pitchFamily="34" charset="0"/>
              <a:buChar char="•"/>
            </a:pPr>
            <a:r>
              <a:rPr lang="ru-RU" sz="1900" dirty="0"/>
              <a:t>производные столбцы или столбцы, которые вычисляются на основании нескольких значений</a:t>
            </a:r>
          </a:p>
          <a:p>
            <a:pPr marL="800100" lvl="1" indent="-342900">
              <a:buFont typeface="Arial" panose="020B0604020202020204" pitchFamily="34" charset="0"/>
              <a:buChar char="•"/>
            </a:pPr>
            <a:r>
              <a:rPr lang="ru-RU" sz="1900" dirty="0"/>
              <a:t>обращения одновременно к нескольким таблицам</a:t>
            </a:r>
          </a:p>
          <a:p>
            <a:endParaRPr lang="ru-RU" dirty="0"/>
          </a:p>
        </p:txBody>
      </p:sp>
    </p:spTree>
    <p:extLst>
      <p:ext uri="{BB962C8B-B14F-4D97-AF65-F5344CB8AC3E}">
        <p14:creationId xmlns:p14="http://schemas.microsoft.com/office/powerpoint/2010/main" val="338550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ACDF98D7-2ACA-8BD0-A18F-6B0FEEB8D279}"/>
              </a:ext>
            </a:extLst>
          </p:cNvPr>
          <p:cNvSpPr>
            <a:spLocks noGrp="1"/>
          </p:cNvSpPr>
          <p:nvPr>
            <p:ph idx="1"/>
          </p:nvPr>
        </p:nvSpPr>
        <p:spPr/>
        <p:txBody>
          <a:bodyPr/>
          <a:lstStyle/>
          <a:p>
            <a:r>
              <a:rPr lang="ru-RU" b="1" dirty="0"/>
              <a:t>Табличные переменные</a:t>
            </a:r>
          </a:p>
          <a:p>
            <a:pPr lvl="1"/>
            <a:endParaRPr lang="en-US" sz="2000" dirty="0"/>
          </a:p>
          <a:p>
            <a:pPr lvl="1"/>
            <a:r>
              <a:rPr lang="ru-RU" sz="2000" dirty="0"/>
              <a:t>Табличные переменные (</a:t>
            </a:r>
            <a:r>
              <a:rPr lang="ru-RU" sz="2000" dirty="0" err="1"/>
              <a:t>table</a:t>
            </a:r>
            <a:r>
              <a:rPr lang="ru-RU" sz="2000" dirty="0"/>
              <a:t> </a:t>
            </a:r>
            <a:r>
              <a:rPr lang="ru-RU" sz="2000" dirty="0" err="1"/>
              <a:t>variable</a:t>
            </a:r>
            <a:r>
              <a:rPr lang="ru-RU" sz="2000" dirty="0"/>
              <a:t>) позволяют сохранить содержимое целой таблицы. Формальный синтаксис определения подобной переменной во многом похож на создание таблицы:</a:t>
            </a:r>
            <a:endParaRPr lang="en-US" sz="2000" dirty="0"/>
          </a:p>
          <a:p>
            <a:pPr lvl="1"/>
            <a:endParaRPr lang="en-US" sz="2000" dirty="0"/>
          </a:p>
          <a:p>
            <a:pPr lvl="1" algn="l" fontAlgn="base">
              <a:lnSpc>
                <a:spcPts val="1575"/>
              </a:lnSpc>
            </a:pPr>
            <a:r>
              <a:rPr lang="de-CH" sz="1600" b="0" i="0" dirty="0">
                <a:solidFill>
                  <a:srgbClr val="006699"/>
                </a:solidFill>
                <a:effectLst/>
                <a:latin typeface="SFMono-Regular"/>
              </a:rPr>
              <a:t>DECLARE</a:t>
            </a:r>
            <a:r>
              <a:rPr lang="de-CH" sz="1600" b="0" i="0" dirty="0">
                <a:solidFill>
                  <a:srgbClr val="000000"/>
                </a:solidFill>
                <a:effectLst/>
                <a:latin typeface="SFMono-Regular"/>
              </a:rPr>
              <a:t> @</a:t>
            </a:r>
            <a:r>
              <a:rPr lang="ru-RU" sz="1600" b="0" i="0" dirty="0" err="1">
                <a:solidFill>
                  <a:srgbClr val="000000"/>
                </a:solidFill>
                <a:effectLst/>
                <a:latin typeface="SFMono-Regular"/>
              </a:rPr>
              <a:t>табличная_переменная</a:t>
            </a:r>
            <a:r>
              <a:rPr lang="ru-RU" sz="1600" b="0" i="0" dirty="0">
                <a:solidFill>
                  <a:srgbClr val="000000"/>
                </a:solidFill>
                <a:effectLst/>
                <a:latin typeface="SFMono-Regular"/>
              </a:rPr>
              <a:t> </a:t>
            </a:r>
            <a:r>
              <a:rPr lang="de-CH" sz="1600" b="0" i="0" dirty="0">
                <a:solidFill>
                  <a:srgbClr val="006699"/>
                </a:solidFill>
                <a:effectLst/>
                <a:latin typeface="SFMono-Regular"/>
              </a:rPr>
              <a:t>TABLE</a:t>
            </a:r>
            <a:endParaRPr lang="de-CH" sz="1600" b="0" i="0" dirty="0">
              <a:solidFill>
                <a:srgbClr val="000000"/>
              </a:solidFill>
              <a:effectLst/>
              <a:latin typeface="SFMono-Regular"/>
            </a:endParaRPr>
          </a:p>
          <a:p>
            <a:pPr lvl="1" algn="l" fontAlgn="base">
              <a:lnSpc>
                <a:spcPts val="1575"/>
              </a:lnSpc>
            </a:pPr>
            <a:r>
              <a:rPr lang="de-CH" sz="1600" b="0" i="0" dirty="0">
                <a:solidFill>
                  <a:srgbClr val="000000"/>
                </a:solidFill>
                <a:effectLst/>
                <a:latin typeface="SFMono-Regular"/>
              </a:rPr>
              <a:t>(</a:t>
            </a:r>
            <a:r>
              <a:rPr lang="ru-RU" sz="1600" b="0" i="0" dirty="0">
                <a:solidFill>
                  <a:srgbClr val="000000"/>
                </a:solidFill>
                <a:effectLst/>
                <a:latin typeface="SFMono-Regular"/>
              </a:rPr>
              <a:t>столбец_1 </a:t>
            </a:r>
            <a:r>
              <a:rPr lang="ru-RU" sz="1600" b="0" i="0" dirty="0" err="1">
                <a:solidFill>
                  <a:srgbClr val="000000"/>
                </a:solidFill>
                <a:effectLst/>
                <a:latin typeface="SFMono-Regular"/>
              </a:rPr>
              <a:t>тип_данных</a:t>
            </a:r>
            <a:r>
              <a:rPr lang="ru-RU" sz="1600" b="0" i="0" dirty="0">
                <a:solidFill>
                  <a:srgbClr val="000000"/>
                </a:solidFill>
                <a:effectLst/>
                <a:latin typeface="SFMono-Regular"/>
              </a:rPr>
              <a:t> [</a:t>
            </a:r>
            <a:r>
              <a:rPr lang="ru-RU" sz="1600" b="0" i="0" dirty="0" err="1">
                <a:solidFill>
                  <a:srgbClr val="000000"/>
                </a:solidFill>
                <a:effectLst/>
                <a:latin typeface="SFMono-Regular"/>
              </a:rPr>
              <a:t>атрибуты_столбца</a:t>
            </a:r>
            <a:r>
              <a:rPr lang="ru-RU" sz="1600" b="0" i="0" dirty="0">
                <a:solidFill>
                  <a:srgbClr val="000000"/>
                </a:solidFill>
                <a:effectLst/>
                <a:latin typeface="SFMono-Regular"/>
              </a:rPr>
              <a:t>], </a:t>
            </a:r>
          </a:p>
          <a:p>
            <a:pPr lvl="1" algn="l" fontAlgn="base">
              <a:lnSpc>
                <a:spcPts val="1575"/>
              </a:lnSpc>
            </a:pPr>
            <a:r>
              <a:rPr lang="ru-RU" sz="1600" b="0" i="0" dirty="0">
                <a:solidFill>
                  <a:srgbClr val="000000"/>
                </a:solidFill>
                <a:effectLst/>
                <a:latin typeface="SFMono-Regular"/>
              </a:rPr>
              <a:t> столбец_2 </a:t>
            </a:r>
            <a:r>
              <a:rPr lang="ru-RU" sz="1600" b="0" i="0" dirty="0" err="1">
                <a:solidFill>
                  <a:srgbClr val="000000"/>
                </a:solidFill>
                <a:effectLst/>
                <a:latin typeface="SFMono-Regular"/>
              </a:rPr>
              <a:t>тип_данных</a:t>
            </a:r>
            <a:r>
              <a:rPr lang="ru-RU" sz="1600" b="0" i="0" dirty="0">
                <a:solidFill>
                  <a:srgbClr val="000000"/>
                </a:solidFill>
                <a:effectLst/>
                <a:latin typeface="SFMono-Regular"/>
              </a:rPr>
              <a:t> [</a:t>
            </a:r>
            <a:r>
              <a:rPr lang="ru-RU" sz="1600" b="0" i="0" dirty="0" err="1">
                <a:solidFill>
                  <a:srgbClr val="000000"/>
                </a:solidFill>
                <a:effectLst/>
                <a:latin typeface="SFMono-Regular"/>
              </a:rPr>
              <a:t>атрибуты_столбца</a:t>
            </a:r>
            <a:r>
              <a:rPr lang="ru-RU" sz="1600" b="0" i="0" dirty="0">
                <a:solidFill>
                  <a:srgbClr val="000000"/>
                </a:solidFill>
                <a:effectLst/>
                <a:latin typeface="SFMono-Regular"/>
              </a:rPr>
              <a:t>] ....)</a:t>
            </a:r>
          </a:p>
          <a:p>
            <a:pPr lvl="1" algn="l" fontAlgn="base">
              <a:lnSpc>
                <a:spcPts val="1575"/>
              </a:lnSpc>
            </a:pPr>
            <a:r>
              <a:rPr lang="ru-RU" sz="1600" b="0" i="0" dirty="0">
                <a:solidFill>
                  <a:srgbClr val="000000"/>
                </a:solidFill>
                <a:effectLst/>
                <a:latin typeface="SFMono-Regular"/>
              </a:rPr>
              <a:t> [</a:t>
            </a:r>
            <a:r>
              <a:rPr lang="ru-RU" sz="1600" b="0" i="0" dirty="0" err="1">
                <a:solidFill>
                  <a:srgbClr val="000000"/>
                </a:solidFill>
                <a:effectLst/>
                <a:latin typeface="SFMono-Regular"/>
              </a:rPr>
              <a:t>атрибуты_таблицы</a:t>
            </a:r>
            <a:r>
              <a:rPr lang="ru-RU" sz="1600" b="0" i="0" dirty="0">
                <a:solidFill>
                  <a:srgbClr val="000000"/>
                </a:solidFill>
                <a:effectLst/>
                <a:latin typeface="SFMono-Regular"/>
              </a:rPr>
              <a:t>]</a:t>
            </a:r>
            <a:endParaRPr lang="en-US" sz="1600" b="0" i="0" dirty="0">
              <a:solidFill>
                <a:srgbClr val="000000"/>
              </a:solidFill>
              <a:effectLst/>
              <a:latin typeface="SFMono-Regular"/>
            </a:endParaRPr>
          </a:p>
          <a:p>
            <a:pPr lvl="1" algn="l" fontAlgn="base">
              <a:lnSpc>
                <a:spcPts val="1575"/>
              </a:lnSpc>
            </a:pPr>
            <a:endParaRPr lang="en-US" sz="1600" dirty="0">
              <a:solidFill>
                <a:srgbClr val="000000"/>
              </a:solidFill>
              <a:latin typeface="SFMono-Regular"/>
            </a:endParaRPr>
          </a:p>
          <a:p>
            <a:pPr lvl="1" algn="l" fontAlgn="base">
              <a:lnSpc>
                <a:spcPts val="1575"/>
              </a:lnSpc>
            </a:pPr>
            <a:endParaRPr lang="en-US" sz="1600" b="0" i="0" dirty="0">
              <a:solidFill>
                <a:srgbClr val="000000"/>
              </a:solidFill>
              <a:effectLst/>
              <a:latin typeface="SFMono-Regular"/>
            </a:endParaRPr>
          </a:p>
          <a:p>
            <a:pPr lvl="1" algn="l" fontAlgn="base">
              <a:lnSpc>
                <a:spcPts val="1575"/>
              </a:lnSpc>
            </a:pPr>
            <a:r>
              <a:rPr lang="en-US" sz="1400" b="0" i="0" dirty="0">
                <a:solidFill>
                  <a:srgbClr val="006699"/>
                </a:solidFill>
                <a:effectLst/>
                <a:latin typeface="SFMono-Regular"/>
              </a:rPr>
              <a:t>DECLARE</a:t>
            </a:r>
            <a:r>
              <a:rPr lang="en-US" sz="1400" b="0" i="0" dirty="0">
                <a:solidFill>
                  <a:srgbClr val="000000"/>
                </a:solidFill>
                <a:effectLst/>
                <a:latin typeface="SFMono-Regular"/>
              </a:rPr>
              <a:t> @ABrends </a:t>
            </a:r>
            <a:r>
              <a:rPr lang="en-US" sz="1400" b="0" i="0" dirty="0">
                <a:solidFill>
                  <a:srgbClr val="006699"/>
                </a:solidFill>
                <a:effectLst/>
                <a:latin typeface="SFMono-Regular"/>
              </a:rPr>
              <a:t>TABLE</a:t>
            </a:r>
            <a:r>
              <a:rPr lang="en-US" sz="1400" b="0" i="0" dirty="0">
                <a:solidFill>
                  <a:srgbClr val="000000"/>
                </a:solidFill>
                <a:effectLst/>
                <a:latin typeface="SFMono-Regular"/>
              </a:rPr>
              <a:t> (</a:t>
            </a:r>
            <a:r>
              <a:rPr lang="en-US" sz="1400" b="0" i="0" dirty="0" err="1">
                <a:solidFill>
                  <a:srgbClr val="000000"/>
                </a:solidFill>
                <a:effectLst/>
                <a:latin typeface="SFMono-Regular"/>
              </a:rPr>
              <a:t>ProductId</a:t>
            </a:r>
            <a:r>
              <a:rPr lang="en-US" sz="1400" b="0" i="0" dirty="0">
                <a:solidFill>
                  <a:srgbClr val="000000"/>
                </a:solidFill>
                <a:effectLst/>
                <a:latin typeface="SFMono-Regular"/>
              </a:rPr>
              <a:t> </a:t>
            </a:r>
            <a:r>
              <a:rPr lang="en-US" sz="1400" b="0" i="0" dirty="0">
                <a:solidFill>
                  <a:srgbClr val="006699"/>
                </a:solidFill>
                <a:effectLst/>
                <a:latin typeface="SFMono-Regular"/>
              </a:rPr>
              <a:t>INT</a:t>
            </a:r>
            <a:r>
              <a:rPr lang="en-US" sz="1400" b="0" i="0" dirty="0">
                <a:solidFill>
                  <a:srgbClr val="000000"/>
                </a:solidFill>
                <a:effectLst/>
                <a:latin typeface="SFMono-Regular"/>
              </a:rPr>
              <a:t>,  ProductName NVARCHAR(20))</a:t>
            </a:r>
          </a:p>
          <a:p>
            <a:pPr lvl="1" algn="l" fontAlgn="base">
              <a:lnSpc>
                <a:spcPts val="1575"/>
              </a:lnSpc>
            </a:pPr>
            <a:endParaRPr lang="en-US" sz="1400" dirty="0">
              <a:solidFill>
                <a:srgbClr val="000000"/>
              </a:solidFill>
              <a:latin typeface="SFMono-Regular"/>
            </a:endParaRPr>
          </a:p>
          <a:p>
            <a:pPr lvl="1"/>
            <a:r>
              <a:rPr lang="ru-RU" sz="2000" dirty="0"/>
              <a:t>В данном случае переменная @ABrends будет содержать два столбца.</a:t>
            </a:r>
          </a:p>
          <a:p>
            <a:pPr lvl="1"/>
            <a:r>
              <a:rPr lang="ru-RU" sz="2000" dirty="0"/>
              <a:t>В дальнейшем мы сможем работать с этой переменной как с обычной таблицей, то есть добавлять в нее данные, изменять, удалять и извлекать их</a:t>
            </a:r>
            <a:r>
              <a:rPr lang="en-US" sz="2000" dirty="0"/>
              <a:t>.</a:t>
            </a:r>
            <a:endParaRPr lang="ru-RU" sz="2000" dirty="0"/>
          </a:p>
          <a:p>
            <a:pPr lvl="1" algn="l" fontAlgn="base">
              <a:lnSpc>
                <a:spcPts val="1575"/>
              </a:lnSpc>
            </a:pPr>
            <a:endParaRPr lang="ru-RU" sz="1400" b="0" i="0" dirty="0">
              <a:solidFill>
                <a:srgbClr val="000000"/>
              </a:solidFill>
              <a:effectLst/>
              <a:latin typeface="SFMono-Regular"/>
            </a:endParaRPr>
          </a:p>
          <a:p>
            <a:pPr lvl="1"/>
            <a:endParaRPr lang="ru-RU" sz="2000" dirty="0"/>
          </a:p>
        </p:txBody>
      </p:sp>
    </p:spTree>
    <p:extLst>
      <p:ext uri="{BB962C8B-B14F-4D97-AF65-F5344CB8AC3E}">
        <p14:creationId xmlns:p14="http://schemas.microsoft.com/office/powerpoint/2010/main" val="1057468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C45E4224-E15E-AD14-D0EE-49F5833F5899}"/>
              </a:ext>
            </a:extLst>
          </p:cNvPr>
          <p:cNvSpPr>
            <a:spLocks noGrp="1"/>
          </p:cNvSpPr>
          <p:nvPr>
            <p:ph idx="1"/>
          </p:nvPr>
        </p:nvSpPr>
        <p:spPr/>
        <p:txBody>
          <a:bodyPr/>
          <a:lstStyle/>
          <a:p>
            <a:r>
              <a:rPr lang="ru-RU" dirty="0"/>
              <a:t>Однако следует учитывать, что такие переменные не полностью эквивалентны таблицам. Они живут в пределах одного пакета, после завершения работы которого они удаляются. То есть они носят временный характер, и физически их данные нигде не хранятся на жестком диске.</a:t>
            </a:r>
            <a:endParaRPr lang="en-US" dirty="0"/>
          </a:p>
          <a:p>
            <a:endParaRPr lang="en-US" dirty="0"/>
          </a:p>
          <a:p>
            <a:pPr lvl="1"/>
            <a:r>
              <a:rPr lang="en-US" sz="2000" dirty="0">
                <a:solidFill>
                  <a:srgbClr val="0000FF"/>
                </a:solidFill>
                <a:latin typeface="Cascadia Mono" panose="020B0609020000020004" pitchFamily="49" charset="0"/>
              </a:rPr>
              <a:t>DECLARE</a:t>
            </a:r>
            <a:r>
              <a:rPr lang="en-US" sz="2000" dirty="0">
                <a:solidFill>
                  <a:srgbClr val="000000"/>
                </a:solidFill>
                <a:latin typeface="Cascadia Mono" panose="020B0609020000020004" pitchFamily="49" charset="0"/>
              </a:rPr>
              <a:t> @Tab1 </a:t>
            </a:r>
            <a:r>
              <a:rPr lang="en-US" sz="2000" dirty="0">
                <a:solidFill>
                  <a:srgbClr val="0000FF"/>
                </a:solidFill>
                <a:latin typeface="Cascadia Mono" panose="020B0609020000020004" pitchFamily="49" charset="0"/>
              </a:rPr>
              <a:t>TABLE </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LastName </a:t>
            </a:r>
            <a:r>
              <a:rPr lang="en-US" sz="2000" dirty="0">
                <a:solidFill>
                  <a:srgbClr val="0000FF"/>
                </a:solidFill>
                <a:latin typeface="Cascadia Mono" panose="020B0609020000020004" pitchFamily="49" charset="0"/>
              </a:rPr>
              <a:t>NVARCHAR</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20</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FirstName </a:t>
            </a:r>
            <a:r>
              <a:rPr lang="en-US" sz="2000" dirty="0">
                <a:solidFill>
                  <a:srgbClr val="0000FF"/>
                </a:solidFill>
                <a:latin typeface="Cascadia Mono" panose="020B0609020000020004" pitchFamily="49" charset="0"/>
              </a:rPr>
              <a:t>NVARCHAR</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10</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Address</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NVARCHAR</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60</a:t>
            </a:r>
            <a:r>
              <a:rPr lang="en-US" sz="2000" dirty="0">
                <a:solidFill>
                  <a:srgbClr val="808080"/>
                </a:solidFill>
                <a:latin typeface="Cascadia Mono" panose="020B0609020000020004" pitchFamily="49" charset="0"/>
              </a:rPr>
              <a:t>))</a:t>
            </a:r>
            <a:endParaRPr lang="en-US" sz="2000" dirty="0">
              <a:solidFill>
                <a:srgbClr val="000000"/>
              </a:solidFill>
              <a:latin typeface="Cascadia Mono" panose="020B0609020000020004" pitchFamily="49" charset="0"/>
            </a:endParaRPr>
          </a:p>
          <a:p>
            <a:pPr lvl="1"/>
            <a:endParaRPr lang="ru-RU" sz="2000" dirty="0">
              <a:solidFill>
                <a:srgbClr val="000000"/>
              </a:solidFill>
              <a:latin typeface="Cascadia Mono" panose="020B0609020000020004" pitchFamily="49" charset="0"/>
            </a:endParaRPr>
          </a:p>
          <a:p>
            <a:pPr lvl="1"/>
            <a:r>
              <a:rPr lang="de-CH" sz="2000" dirty="0">
                <a:solidFill>
                  <a:srgbClr val="0000FF"/>
                </a:solidFill>
                <a:latin typeface="Cascadia Mono" panose="020B0609020000020004" pitchFamily="49" charset="0"/>
              </a:rPr>
              <a:t>INSERT</a:t>
            </a:r>
            <a:r>
              <a:rPr lang="de-CH" sz="2000" dirty="0">
                <a:solidFill>
                  <a:srgbClr val="000000"/>
                </a:solidFill>
                <a:latin typeface="Cascadia Mono" panose="020B0609020000020004" pitchFamily="49" charset="0"/>
              </a:rPr>
              <a:t> </a:t>
            </a:r>
            <a:r>
              <a:rPr lang="de-CH" sz="2000" dirty="0">
                <a:solidFill>
                  <a:srgbClr val="0000FF"/>
                </a:solidFill>
                <a:latin typeface="Cascadia Mono" panose="020B0609020000020004" pitchFamily="49" charset="0"/>
              </a:rPr>
              <a:t>INTO</a:t>
            </a:r>
            <a:r>
              <a:rPr lang="de-CH" sz="2000" dirty="0">
                <a:solidFill>
                  <a:srgbClr val="000000"/>
                </a:solidFill>
                <a:latin typeface="Cascadia Mono" panose="020B0609020000020004" pitchFamily="49" charset="0"/>
              </a:rPr>
              <a:t> @Tab1</a:t>
            </a:r>
          </a:p>
          <a:p>
            <a:pPr lvl="1"/>
            <a:r>
              <a:rPr lang="en-US" sz="2000" dirty="0">
                <a:solidFill>
                  <a:srgbClr val="0000FF"/>
                </a:solidFill>
                <a:latin typeface="Cascadia Mono" panose="020B0609020000020004" pitchFamily="49" charset="0"/>
              </a:rPr>
              <a:t>select</a:t>
            </a:r>
            <a:r>
              <a:rPr lang="en-US" sz="2000" dirty="0">
                <a:solidFill>
                  <a:srgbClr val="000000"/>
                </a:solidFill>
                <a:latin typeface="Cascadia Mono" panose="020B0609020000020004" pitchFamily="49" charset="0"/>
              </a:rPr>
              <a:t> LastName</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FirstName</a:t>
            </a:r>
            <a:r>
              <a:rPr lang="en-US" sz="2000" dirty="0">
                <a:solidFill>
                  <a:srgbClr val="808080"/>
                </a:solidFill>
                <a:latin typeface="Cascadia Mono" panose="020B0609020000020004" pitchFamily="49" charset="0"/>
              </a:rPr>
              <a:t>,</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Address</a:t>
            </a:r>
            <a:r>
              <a:rPr lang="en-US" sz="2000" dirty="0">
                <a:solidFill>
                  <a:srgbClr val="000000"/>
                </a:solidFill>
                <a:latin typeface="Cascadia Mono" panose="020B0609020000020004" pitchFamily="49" charset="0"/>
              </a:rPr>
              <a:t> </a:t>
            </a:r>
            <a:r>
              <a:rPr lang="en-US" sz="2000" dirty="0">
                <a:solidFill>
                  <a:srgbClr val="0000FF"/>
                </a:solidFill>
                <a:latin typeface="Cascadia Mono" panose="020B0609020000020004" pitchFamily="49" charset="0"/>
              </a:rPr>
              <a:t>from</a:t>
            </a:r>
            <a:r>
              <a:rPr lang="en-US" sz="2000" dirty="0">
                <a:solidFill>
                  <a:srgbClr val="000000"/>
                </a:solidFill>
                <a:latin typeface="Cascadia Mono" panose="020B0609020000020004" pitchFamily="49" charset="0"/>
              </a:rPr>
              <a:t> Employees </a:t>
            </a:r>
          </a:p>
          <a:p>
            <a:pPr lvl="1"/>
            <a:endParaRPr lang="ru-RU" sz="2000" dirty="0">
              <a:solidFill>
                <a:srgbClr val="000000"/>
              </a:solidFill>
              <a:latin typeface="Cascadia Mono" panose="020B0609020000020004" pitchFamily="49" charset="0"/>
            </a:endParaRPr>
          </a:p>
          <a:p>
            <a:pPr lvl="1"/>
            <a:r>
              <a:rPr lang="de-CH" sz="2000" dirty="0">
                <a:solidFill>
                  <a:srgbClr val="0000FF"/>
                </a:solidFill>
                <a:latin typeface="Cascadia Mono" panose="020B0609020000020004" pitchFamily="49" charset="0"/>
              </a:rPr>
              <a:t>SELECT</a:t>
            </a:r>
            <a:r>
              <a:rPr lang="de-CH" sz="2000" dirty="0">
                <a:solidFill>
                  <a:srgbClr val="000000"/>
                </a:solidFill>
                <a:latin typeface="Cascadia Mono" panose="020B0609020000020004" pitchFamily="49" charset="0"/>
              </a:rPr>
              <a:t> </a:t>
            </a:r>
            <a:r>
              <a:rPr lang="de-CH" sz="2000" dirty="0">
                <a:solidFill>
                  <a:srgbClr val="808080"/>
                </a:solidFill>
                <a:latin typeface="Cascadia Mono" panose="020B0609020000020004" pitchFamily="49" charset="0"/>
              </a:rPr>
              <a:t>*</a:t>
            </a:r>
            <a:r>
              <a:rPr lang="de-CH" sz="2000" dirty="0">
                <a:solidFill>
                  <a:srgbClr val="000000"/>
                </a:solidFill>
                <a:latin typeface="Cascadia Mono" panose="020B0609020000020004" pitchFamily="49" charset="0"/>
              </a:rPr>
              <a:t> </a:t>
            </a:r>
            <a:r>
              <a:rPr lang="de-CH" sz="2000" dirty="0">
                <a:solidFill>
                  <a:srgbClr val="0000FF"/>
                </a:solidFill>
                <a:latin typeface="Cascadia Mono" panose="020B0609020000020004" pitchFamily="49" charset="0"/>
              </a:rPr>
              <a:t>FROM</a:t>
            </a:r>
            <a:r>
              <a:rPr lang="de-CH" sz="2000" dirty="0">
                <a:solidFill>
                  <a:srgbClr val="000000"/>
                </a:solidFill>
                <a:latin typeface="Cascadia Mono" panose="020B0609020000020004" pitchFamily="49" charset="0"/>
              </a:rPr>
              <a:t> @Tab1</a:t>
            </a:r>
            <a:endParaRPr lang="ru-RU" sz="2000" dirty="0"/>
          </a:p>
        </p:txBody>
      </p:sp>
    </p:spTree>
    <p:extLst>
      <p:ext uri="{BB962C8B-B14F-4D97-AF65-F5344CB8AC3E}">
        <p14:creationId xmlns:p14="http://schemas.microsoft.com/office/powerpoint/2010/main" val="2787354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6E7DFECE-9107-55F4-52CE-8E33372F5233}"/>
              </a:ext>
            </a:extLst>
          </p:cNvPr>
          <p:cNvSpPr>
            <a:spLocks noGrp="1"/>
          </p:cNvSpPr>
          <p:nvPr>
            <p:ph idx="1"/>
          </p:nvPr>
        </p:nvSpPr>
        <p:spPr/>
        <p:txBody>
          <a:bodyPr/>
          <a:lstStyle/>
          <a:p>
            <a:r>
              <a:rPr lang="ru-RU" b="1" dirty="0"/>
              <a:t>Временные локальные и глобальные таблицы</a:t>
            </a:r>
          </a:p>
          <a:p>
            <a:pPr lvl="1"/>
            <a:r>
              <a:rPr lang="ru-RU" sz="2000" dirty="0"/>
              <a:t>В дополнение к табличным переменным можно определять временные таблицы. Такие таблицы могут быть полезны для хранения табличных данных внутри сложного комплексного скрипта.</a:t>
            </a:r>
            <a:endParaRPr lang="en-US" sz="2000" dirty="0"/>
          </a:p>
          <a:p>
            <a:pPr lvl="1"/>
            <a:endParaRPr lang="en-US" sz="2000" dirty="0"/>
          </a:p>
          <a:p>
            <a:pPr lvl="1"/>
            <a:r>
              <a:rPr lang="ru-RU" sz="2000" dirty="0"/>
              <a:t>Временные таблицы существуют на протяжении сессии базы данных. Если такая таблица создается в редакторе запросов (</a:t>
            </a:r>
            <a:r>
              <a:rPr lang="ru-RU" sz="2000" dirty="0" err="1"/>
              <a:t>Query</a:t>
            </a:r>
            <a:r>
              <a:rPr lang="ru-RU" sz="2000" dirty="0"/>
              <a:t> Editor) в SQL Server Management Studio, то таблица будет существовать пока открыт редактор запросов. Таким образом, к временной таблице можно обращаться из разных скриптов внутри редактора запросов.</a:t>
            </a:r>
            <a:endParaRPr lang="en-US" sz="2000" dirty="0"/>
          </a:p>
          <a:p>
            <a:pPr lvl="1"/>
            <a:endParaRPr lang="en-US" sz="2000" dirty="0"/>
          </a:p>
          <a:p>
            <a:pPr lvl="1"/>
            <a:r>
              <a:rPr lang="ru-RU" sz="2000" dirty="0"/>
              <a:t>После создания все временные таблицы сохраняются в таблице </a:t>
            </a:r>
            <a:r>
              <a:rPr lang="ru-RU" sz="2000" b="1" dirty="0" err="1"/>
              <a:t>tempdb</a:t>
            </a:r>
            <a:r>
              <a:rPr lang="ru-RU" sz="2000" dirty="0"/>
              <a:t>, которая имеется по умолчанию в MS SQL Server.</a:t>
            </a:r>
            <a:endParaRPr lang="en-US" sz="2000" dirty="0"/>
          </a:p>
          <a:p>
            <a:pPr lvl="1"/>
            <a:endParaRPr lang="ru-RU" sz="2000" dirty="0"/>
          </a:p>
          <a:p>
            <a:pPr lvl="1"/>
            <a:r>
              <a:rPr lang="ru-RU" sz="2000" dirty="0"/>
              <a:t>Если необходимо удалить таблицу до завершения сессии базы данных, то для этой таблицы следует выполнить команду </a:t>
            </a:r>
            <a:r>
              <a:rPr lang="ru-RU" sz="2000" b="1" dirty="0"/>
              <a:t>DROP TABLE</a:t>
            </a:r>
            <a:r>
              <a:rPr lang="ru-RU" sz="2000" dirty="0"/>
              <a:t>.</a:t>
            </a:r>
          </a:p>
          <a:p>
            <a:pPr lvl="1"/>
            <a:endParaRPr lang="ru-RU" sz="2000" dirty="0"/>
          </a:p>
        </p:txBody>
      </p:sp>
    </p:spTree>
    <p:extLst>
      <p:ext uri="{BB962C8B-B14F-4D97-AF65-F5344CB8AC3E}">
        <p14:creationId xmlns:p14="http://schemas.microsoft.com/office/powerpoint/2010/main" val="82084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0DF6BE4-CED7-50E1-7675-8FC16B2E27FB}"/>
              </a:ext>
            </a:extLst>
          </p:cNvPr>
          <p:cNvSpPr>
            <a:spLocks noGrp="1"/>
          </p:cNvSpPr>
          <p:nvPr>
            <p:ph idx="1"/>
          </p:nvPr>
        </p:nvSpPr>
        <p:spPr/>
        <p:txBody>
          <a:bodyPr>
            <a:normAutofit/>
          </a:bodyPr>
          <a:lstStyle/>
          <a:p>
            <a:pPr lvl="1"/>
            <a:endParaRPr lang="en-US" sz="2000" dirty="0"/>
          </a:p>
          <a:p>
            <a:pPr lvl="1"/>
            <a:r>
              <a:rPr lang="ru-RU" sz="2000" dirty="0"/>
              <a:t>Название временной таблицы начинается со знака решетки #. Если используется один знак #, то создается локальная таблица, которая доступна в течение текущей сессии. Ели используются два знака ##, то создается глобальная временная таблица. В отличие от локальной глобальная временная таблица доступна всем открытым сессиям базы данных.</a:t>
            </a:r>
            <a:endParaRPr lang="en-US" sz="2000" dirty="0"/>
          </a:p>
          <a:p>
            <a:pPr lvl="1"/>
            <a:endParaRPr lang="en-US" sz="2000" dirty="0"/>
          </a:p>
          <a:p>
            <a:pPr lvl="1" fontAlgn="base"/>
            <a:r>
              <a:rPr lang="en-US" dirty="0"/>
              <a:t>SELECT </a:t>
            </a:r>
            <a:r>
              <a:rPr lang="en-US" dirty="0" err="1"/>
              <a:t>ProductId</a:t>
            </a:r>
            <a:r>
              <a:rPr lang="en-US" dirty="0"/>
              <a:t>, </a:t>
            </a:r>
          </a:p>
          <a:p>
            <a:pPr lvl="1" fontAlgn="base"/>
            <a:r>
              <a:rPr lang="en-US" dirty="0"/>
              <a:t>INTO #OrdersSummary</a:t>
            </a:r>
          </a:p>
          <a:p>
            <a:pPr lvl="1" fontAlgn="base"/>
            <a:r>
              <a:rPr lang="en-US" dirty="0"/>
              <a:t>FROM Orders</a:t>
            </a:r>
          </a:p>
          <a:p>
            <a:pPr lvl="1" fontAlgn="base"/>
            <a:r>
              <a:rPr lang="en-US" dirty="0"/>
              <a:t>GROUP BY </a:t>
            </a:r>
            <a:r>
              <a:rPr lang="en-US" dirty="0" err="1"/>
              <a:t>ProductId</a:t>
            </a:r>
            <a:endParaRPr lang="en-US" dirty="0"/>
          </a:p>
          <a:p>
            <a:pPr lvl="1"/>
            <a:endParaRPr lang="ru-RU" sz="2000" dirty="0"/>
          </a:p>
        </p:txBody>
      </p:sp>
    </p:spTree>
    <p:extLst>
      <p:ext uri="{BB962C8B-B14F-4D97-AF65-F5344CB8AC3E}">
        <p14:creationId xmlns:p14="http://schemas.microsoft.com/office/powerpoint/2010/main" val="4277124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DAAD60E9-5B0D-DFCD-BBB8-C8CDCAA419A6}"/>
              </a:ext>
            </a:extLst>
          </p:cNvPr>
          <p:cNvSpPr>
            <a:spLocks noGrp="1"/>
          </p:cNvSpPr>
          <p:nvPr>
            <p:ph idx="1"/>
          </p:nvPr>
        </p:nvSpPr>
        <p:spPr/>
        <p:txBody>
          <a:bodyPr/>
          <a:lstStyle/>
          <a:p>
            <a:r>
              <a:rPr lang="ru-RU" b="1" dirty="0"/>
              <a:t>Обобщенные табличные выражения</a:t>
            </a:r>
            <a:endParaRPr lang="en-US" b="1" dirty="0"/>
          </a:p>
          <a:p>
            <a:endParaRPr lang="ru-RU" b="1" dirty="0"/>
          </a:p>
          <a:p>
            <a:pPr lvl="1"/>
            <a:r>
              <a:rPr lang="ru-RU" sz="2000" dirty="0"/>
              <a:t>Кроме временных таблиц MS SQL Server позволяет создавать обобщенные табличные выражения (</a:t>
            </a:r>
            <a:r>
              <a:rPr lang="ru-RU" sz="2000" dirty="0" err="1"/>
              <a:t>common</a:t>
            </a:r>
            <a:r>
              <a:rPr lang="ru-RU" sz="2000" dirty="0"/>
              <a:t> </a:t>
            </a:r>
            <a:r>
              <a:rPr lang="ru-RU" sz="2000" dirty="0" err="1"/>
              <a:t>table</a:t>
            </a:r>
            <a:r>
              <a:rPr lang="ru-RU" sz="2000" dirty="0"/>
              <a:t> </a:t>
            </a:r>
            <a:r>
              <a:rPr lang="ru-RU" sz="2000" dirty="0" err="1"/>
              <a:t>expression</a:t>
            </a:r>
            <a:r>
              <a:rPr lang="ru-RU" sz="2000" dirty="0"/>
              <a:t> или CTE), которые являются производными от обычного запроса и в плане производительности являются более эффективным решением, чем временные. Обобщенное табличное выражение задается с помощью ключевого слова </a:t>
            </a:r>
            <a:r>
              <a:rPr lang="ru-RU" sz="2000" b="1" dirty="0"/>
              <a:t>WITH</a:t>
            </a:r>
            <a:r>
              <a:rPr lang="ru-RU" sz="2000" dirty="0"/>
              <a:t>:</a:t>
            </a:r>
            <a:endParaRPr lang="en-US" sz="2000" dirty="0"/>
          </a:p>
          <a:p>
            <a:pPr lvl="1"/>
            <a:endParaRPr lang="en-US" sz="2000" dirty="0"/>
          </a:p>
          <a:p>
            <a:pPr lvl="1"/>
            <a:r>
              <a:rPr lang="ru-RU" sz="2000" dirty="0"/>
              <a:t>В отличие от временных таблиц табличные выполнения хранятся в оперативной памяти и существуют только во время первого выполнения запроса, который представляет это табличное выражение.</a:t>
            </a:r>
          </a:p>
        </p:txBody>
      </p:sp>
    </p:spTree>
    <p:extLst>
      <p:ext uri="{BB962C8B-B14F-4D97-AF65-F5344CB8AC3E}">
        <p14:creationId xmlns:p14="http://schemas.microsoft.com/office/powerpoint/2010/main" val="1394215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536EB784-E38F-DF46-ADB3-C6F93E091681}"/>
              </a:ext>
            </a:extLst>
          </p:cNvPr>
          <p:cNvSpPr>
            <a:spLocks noGrp="1"/>
          </p:cNvSpPr>
          <p:nvPr>
            <p:ph idx="1"/>
          </p:nvPr>
        </p:nvSpPr>
        <p:spPr/>
        <p:txBody>
          <a:bodyPr/>
          <a:lstStyle/>
          <a:p>
            <a:pPr lvl="1"/>
            <a:r>
              <a:rPr lang="ru-RU" b="1" dirty="0"/>
              <a:t>Триггеры</a:t>
            </a:r>
          </a:p>
          <a:p>
            <a:pPr lvl="1"/>
            <a:r>
              <a:rPr lang="ru-RU" b="1" dirty="0"/>
              <a:t>Определение триггеров</a:t>
            </a:r>
            <a:endParaRPr lang="en-US" b="1" dirty="0"/>
          </a:p>
          <a:p>
            <a:endParaRPr lang="ru-RU" b="1" dirty="0"/>
          </a:p>
          <a:p>
            <a:pPr lvl="1"/>
            <a:r>
              <a:rPr lang="ru-RU" sz="2000" dirty="0"/>
              <a:t>Триггеры представляют специальный тип хранимой процедуры, которая вызывается автоматически при выполнении определенного действия над таблицей или представлением, в частности, при добавлении, изменении или удалении данных, то есть при выполнении команд INSERT, UPDATE, DELETE.</a:t>
            </a:r>
            <a:endParaRPr lang="en-US" sz="2000" dirty="0"/>
          </a:p>
          <a:p>
            <a:pPr lvl="1"/>
            <a:endParaRPr lang="en-US" sz="2000" dirty="0"/>
          </a:p>
          <a:p>
            <a:pPr lvl="1"/>
            <a:r>
              <a:rPr lang="ru-RU" sz="2000" dirty="0"/>
              <a:t>Формальное определение триггера:</a:t>
            </a:r>
            <a:endParaRPr lang="en-US" sz="2000" dirty="0"/>
          </a:p>
          <a:p>
            <a:pPr lvl="1"/>
            <a:endParaRPr lang="en-US" sz="2000" dirty="0"/>
          </a:p>
          <a:p>
            <a:pPr lvl="1" algn="l" fontAlgn="base">
              <a:lnSpc>
                <a:spcPct val="100000"/>
              </a:lnSpc>
            </a:pPr>
            <a:r>
              <a:rPr lang="de-CH" sz="2000" b="0" i="0" dirty="0">
                <a:solidFill>
                  <a:srgbClr val="006699"/>
                </a:solidFill>
                <a:effectLst/>
                <a:latin typeface="SFMono-Regular"/>
              </a:rPr>
              <a:t>CREATE</a:t>
            </a:r>
            <a:r>
              <a:rPr lang="de-CH" sz="2000" b="0" i="0" dirty="0">
                <a:solidFill>
                  <a:srgbClr val="000000"/>
                </a:solidFill>
                <a:effectLst/>
                <a:latin typeface="SFMono-Regular"/>
              </a:rPr>
              <a:t> </a:t>
            </a:r>
            <a:r>
              <a:rPr lang="de-CH" sz="2000" b="0" i="0" dirty="0">
                <a:solidFill>
                  <a:srgbClr val="006699"/>
                </a:solidFill>
                <a:effectLst/>
                <a:latin typeface="SFMono-Regular"/>
              </a:rPr>
              <a:t>TRIGGER</a:t>
            </a:r>
            <a:r>
              <a:rPr lang="de-CH" sz="2000" b="0" i="0" dirty="0">
                <a:solidFill>
                  <a:srgbClr val="000000"/>
                </a:solidFill>
                <a:effectLst/>
                <a:latin typeface="SFMono-Regular"/>
              </a:rPr>
              <a:t> </a:t>
            </a:r>
            <a:r>
              <a:rPr lang="ru-RU" sz="2000" b="0" i="0" dirty="0" err="1">
                <a:solidFill>
                  <a:srgbClr val="000000"/>
                </a:solidFill>
                <a:effectLst/>
                <a:latin typeface="SFMono-Regular"/>
              </a:rPr>
              <a:t>имя_триггера</a:t>
            </a:r>
            <a:endParaRPr lang="ru-RU" sz="2000" b="0" i="0" dirty="0">
              <a:solidFill>
                <a:srgbClr val="000000"/>
              </a:solidFill>
              <a:effectLst/>
              <a:latin typeface="SFMono-Regular"/>
            </a:endParaRPr>
          </a:p>
          <a:p>
            <a:pPr lvl="1" algn="l" fontAlgn="base">
              <a:lnSpc>
                <a:spcPct val="100000"/>
              </a:lnSpc>
            </a:pPr>
            <a:r>
              <a:rPr lang="de-CH" sz="2000" b="0" i="0" dirty="0">
                <a:solidFill>
                  <a:srgbClr val="006699"/>
                </a:solidFill>
                <a:effectLst/>
                <a:latin typeface="SFMono-Regular"/>
              </a:rPr>
              <a:t>ON</a:t>
            </a:r>
            <a:r>
              <a:rPr lang="de-CH" sz="2000" b="0" i="0" dirty="0">
                <a:solidFill>
                  <a:srgbClr val="000000"/>
                </a:solidFill>
                <a:effectLst/>
                <a:latin typeface="SFMono-Regular"/>
              </a:rPr>
              <a:t> {</a:t>
            </a:r>
            <a:r>
              <a:rPr lang="ru-RU" sz="2000" b="0" i="0" dirty="0" err="1">
                <a:solidFill>
                  <a:srgbClr val="000000"/>
                </a:solidFill>
                <a:effectLst/>
                <a:latin typeface="SFMono-Regular"/>
              </a:rPr>
              <a:t>имя_таблицы</a:t>
            </a:r>
            <a:r>
              <a:rPr lang="ru-RU" sz="2000" b="0" i="0" dirty="0">
                <a:solidFill>
                  <a:srgbClr val="000000"/>
                </a:solidFill>
                <a:effectLst/>
                <a:latin typeface="SFMono-Regular"/>
              </a:rPr>
              <a:t> | </a:t>
            </a:r>
            <a:r>
              <a:rPr lang="ru-RU" sz="2000" b="0" i="0" dirty="0" err="1">
                <a:solidFill>
                  <a:srgbClr val="000000"/>
                </a:solidFill>
                <a:effectLst/>
                <a:latin typeface="SFMono-Regular"/>
              </a:rPr>
              <a:t>имя_представления</a:t>
            </a:r>
            <a:r>
              <a:rPr lang="ru-RU" sz="2000" b="0" i="0" dirty="0">
                <a:solidFill>
                  <a:srgbClr val="000000"/>
                </a:solidFill>
                <a:effectLst/>
                <a:latin typeface="SFMono-Regular"/>
              </a:rPr>
              <a:t>}</a:t>
            </a:r>
          </a:p>
          <a:p>
            <a:pPr lvl="1" algn="l" fontAlgn="base">
              <a:lnSpc>
                <a:spcPct val="100000"/>
              </a:lnSpc>
            </a:pPr>
            <a:r>
              <a:rPr lang="ru-RU" sz="2000" b="0" i="0" dirty="0">
                <a:solidFill>
                  <a:srgbClr val="000000"/>
                </a:solidFill>
                <a:effectLst/>
                <a:latin typeface="SFMono-Regular"/>
              </a:rPr>
              <a:t>{</a:t>
            </a:r>
            <a:r>
              <a:rPr lang="de-CH" sz="2000" b="0" i="0" dirty="0">
                <a:solidFill>
                  <a:srgbClr val="006699"/>
                </a:solidFill>
                <a:effectLst/>
                <a:latin typeface="SFMono-Regular"/>
              </a:rPr>
              <a:t>AFTER</a:t>
            </a:r>
            <a:r>
              <a:rPr lang="de-CH" sz="2000" b="0" i="0" dirty="0">
                <a:solidFill>
                  <a:srgbClr val="000000"/>
                </a:solidFill>
                <a:effectLst/>
                <a:latin typeface="SFMono-Regular"/>
              </a:rPr>
              <a:t> | </a:t>
            </a:r>
            <a:r>
              <a:rPr lang="de-CH" sz="2000" b="0" i="0" dirty="0">
                <a:solidFill>
                  <a:srgbClr val="006699"/>
                </a:solidFill>
                <a:effectLst/>
                <a:latin typeface="SFMono-Regular"/>
              </a:rPr>
              <a:t>INSTEAD</a:t>
            </a:r>
            <a:r>
              <a:rPr lang="de-CH" sz="2000" b="0" i="0" dirty="0">
                <a:solidFill>
                  <a:srgbClr val="000000"/>
                </a:solidFill>
                <a:effectLst/>
                <a:latin typeface="SFMono-Regular"/>
              </a:rPr>
              <a:t> </a:t>
            </a:r>
            <a:r>
              <a:rPr lang="de-CH" sz="2000" b="0" i="0" dirty="0">
                <a:solidFill>
                  <a:srgbClr val="006699"/>
                </a:solidFill>
                <a:effectLst/>
                <a:latin typeface="SFMono-Regular"/>
              </a:rPr>
              <a:t>OF</a:t>
            </a:r>
            <a:r>
              <a:rPr lang="de-CH" sz="2000" b="0" i="0" dirty="0">
                <a:solidFill>
                  <a:srgbClr val="000000"/>
                </a:solidFill>
                <a:effectLst/>
                <a:latin typeface="SFMono-Regular"/>
              </a:rPr>
              <a:t>} [</a:t>
            </a:r>
            <a:r>
              <a:rPr lang="de-CH" sz="2000" b="0" i="0" dirty="0">
                <a:solidFill>
                  <a:srgbClr val="006699"/>
                </a:solidFill>
                <a:effectLst/>
                <a:latin typeface="SFMono-Regular"/>
              </a:rPr>
              <a:t>INSERT</a:t>
            </a:r>
            <a:r>
              <a:rPr lang="de-CH" sz="2000" b="0" i="0" dirty="0">
                <a:solidFill>
                  <a:srgbClr val="000000"/>
                </a:solidFill>
                <a:effectLst/>
                <a:latin typeface="SFMono-Regular"/>
              </a:rPr>
              <a:t> | </a:t>
            </a:r>
            <a:r>
              <a:rPr lang="de-CH" sz="2000" b="0" i="0" dirty="0">
                <a:solidFill>
                  <a:srgbClr val="006699"/>
                </a:solidFill>
                <a:effectLst/>
                <a:latin typeface="SFMono-Regular"/>
              </a:rPr>
              <a:t>UPDATE</a:t>
            </a:r>
            <a:r>
              <a:rPr lang="de-CH" sz="2000" b="0" i="0" dirty="0">
                <a:solidFill>
                  <a:srgbClr val="000000"/>
                </a:solidFill>
                <a:effectLst/>
                <a:latin typeface="SFMono-Regular"/>
              </a:rPr>
              <a:t> | </a:t>
            </a:r>
            <a:r>
              <a:rPr lang="de-CH" sz="2000" b="0" i="0" dirty="0">
                <a:solidFill>
                  <a:srgbClr val="006699"/>
                </a:solidFill>
                <a:effectLst/>
                <a:latin typeface="SFMono-Regular"/>
              </a:rPr>
              <a:t>DELETE</a:t>
            </a:r>
            <a:r>
              <a:rPr lang="de-CH" sz="2000" b="0" i="0" dirty="0">
                <a:solidFill>
                  <a:srgbClr val="000000"/>
                </a:solidFill>
                <a:effectLst/>
                <a:latin typeface="SFMono-Regular"/>
              </a:rPr>
              <a:t>]</a:t>
            </a:r>
          </a:p>
          <a:p>
            <a:pPr lvl="1" algn="l" fontAlgn="base">
              <a:lnSpc>
                <a:spcPct val="100000"/>
              </a:lnSpc>
            </a:pPr>
            <a:r>
              <a:rPr lang="de-CH" sz="2000" b="0" i="0" dirty="0">
                <a:solidFill>
                  <a:srgbClr val="006699"/>
                </a:solidFill>
                <a:effectLst/>
                <a:latin typeface="SFMono-Regular"/>
              </a:rPr>
              <a:t>AS</a:t>
            </a:r>
            <a:r>
              <a:rPr lang="de-CH" sz="2000" b="0" i="0" dirty="0">
                <a:solidFill>
                  <a:srgbClr val="000000"/>
                </a:solidFill>
                <a:effectLst/>
                <a:latin typeface="SFMono-Regular"/>
              </a:rPr>
              <a:t> </a:t>
            </a:r>
            <a:r>
              <a:rPr lang="ru-RU" sz="2000" b="0" i="0" dirty="0">
                <a:solidFill>
                  <a:srgbClr val="000000"/>
                </a:solidFill>
                <a:effectLst/>
                <a:latin typeface="SFMono-Regular"/>
              </a:rPr>
              <a:t>выражения_</a:t>
            </a:r>
            <a:r>
              <a:rPr lang="de-CH" sz="2000" b="0" i="0" dirty="0" err="1">
                <a:solidFill>
                  <a:srgbClr val="000000"/>
                </a:solidFill>
                <a:effectLst/>
                <a:latin typeface="SFMono-Regular"/>
              </a:rPr>
              <a:t>sql</a:t>
            </a:r>
            <a:endParaRPr lang="de-CH" sz="2000" b="0" i="0" dirty="0">
              <a:solidFill>
                <a:srgbClr val="000000"/>
              </a:solidFill>
              <a:effectLst/>
              <a:latin typeface="SFMono-Regular"/>
            </a:endParaRPr>
          </a:p>
          <a:p>
            <a:pPr lvl="1"/>
            <a:endParaRPr lang="ru-RU" sz="2000" dirty="0"/>
          </a:p>
        </p:txBody>
      </p:sp>
    </p:spTree>
    <p:extLst>
      <p:ext uri="{BB962C8B-B14F-4D97-AF65-F5344CB8AC3E}">
        <p14:creationId xmlns:p14="http://schemas.microsoft.com/office/powerpoint/2010/main" val="2699554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D4A10112-A4D6-00BE-09A8-11F71A0B2C18}"/>
              </a:ext>
            </a:extLst>
          </p:cNvPr>
          <p:cNvSpPr>
            <a:spLocks noGrp="1"/>
          </p:cNvSpPr>
          <p:nvPr>
            <p:ph idx="1"/>
          </p:nvPr>
        </p:nvSpPr>
        <p:spPr/>
        <p:txBody>
          <a:bodyPr>
            <a:normAutofit lnSpcReduction="10000"/>
          </a:bodyPr>
          <a:lstStyle/>
          <a:p>
            <a:r>
              <a:rPr lang="ru-RU" dirty="0"/>
              <a:t>Для создания триггера применяется выражение </a:t>
            </a:r>
            <a:r>
              <a:rPr lang="ru-RU" b="1" dirty="0"/>
              <a:t>CREATE TRIGGER</a:t>
            </a:r>
            <a:r>
              <a:rPr lang="ru-RU" dirty="0"/>
              <a:t>, после которого идет имя триггера. Как правило, имя триггера отражает тип операций и имя таблицы, над которой производится операция.</a:t>
            </a:r>
            <a:endParaRPr lang="en-US" dirty="0"/>
          </a:p>
          <a:p>
            <a:endParaRPr lang="en-US" dirty="0"/>
          </a:p>
          <a:p>
            <a:r>
              <a:rPr lang="ru-RU" dirty="0"/>
              <a:t>Каждый триггер ассоциируется с определенной таблицей или представлением, имя которых указывается после слова </a:t>
            </a:r>
            <a:r>
              <a:rPr lang="ru-RU" b="1" dirty="0"/>
              <a:t>ON</a:t>
            </a:r>
            <a:r>
              <a:rPr lang="ru-RU" dirty="0"/>
              <a:t>.</a:t>
            </a:r>
            <a:endParaRPr lang="en-US" dirty="0"/>
          </a:p>
          <a:p>
            <a:endParaRPr lang="en-US" dirty="0"/>
          </a:p>
          <a:p>
            <a:r>
              <a:rPr lang="ru-RU" dirty="0"/>
              <a:t>Затем устанавливается тип триггера. Мы можем использовать один из двух типов:</a:t>
            </a:r>
          </a:p>
          <a:p>
            <a:r>
              <a:rPr lang="ru-RU" b="1" dirty="0"/>
              <a:t>AFTER</a:t>
            </a:r>
            <a:r>
              <a:rPr lang="ru-RU" dirty="0"/>
              <a:t>: выполняется после выполнения действия. Определяется только для таблиц.</a:t>
            </a:r>
          </a:p>
          <a:p>
            <a:r>
              <a:rPr lang="ru-RU" b="1" dirty="0"/>
              <a:t>INSTEAD OF</a:t>
            </a:r>
            <a:r>
              <a:rPr lang="ru-RU" dirty="0"/>
              <a:t>: выполняется вместо действия (то есть по сути действие - добавление, изменение или удаление - вообще не выполняется). Определяется для таблиц и представлений</a:t>
            </a:r>
          </a:p>
          <a:p>
            <a:r>
              <a:rPr lang="ru-RU" dirty="0"/>
              <a:t>После типа триггера идет указание операции, для которой определяется триггер: </a:t>
            </a:r>
            <a:r>
              <a:rPr lang="ru-RU" b="1" dirty="0"/>
              <a:t>INSERT</a:t>
            </a:r>
            <a:r>
              <a:rPr lang="ru-RU" dirty="0"/>
              <a:t>, </a:t>
            </a:r>
            <a:r>
              <a:rPr lang="ru-RU" b="1" dirty="0"/>
              <a:t>UPDATE</a:t>
            </a:r>
            <a:r>
              <a:rPr lang="ru-RU" dirty="0"/>
              <a:t> или </a:t>
            </a:r>
            <a:r>
              <a:rPr lang="ru-RU" b="1" dirty="0"/>
              <a:t>DELETE</a:t>
            </a:r>
            <a:r>
              <a:rPr lang="ru-RU" dirty="0"/>
              <a:t>.</a:t>
            </a:r>
          </a:p>
          <a:p>
            <a:endParaRPr lang="ru-RU" dirty="0"/>
          </a:p>
        </p:txBody>
      </p:sp>
    </p:spTree>
    <p:extLst>
      <p:ext uri="{BB962C8B-B14F-4D97-AF65-F5344CB8AC3E}">
        <p14:creationId xmlns:p14="http://schemas.microsoft.com/office/powerpoint/2010/main" val="3021542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4E53664C-06D9-1EF8-06A2-F486E5A7841E}"/>
              </a:ext>
            </a:extLst>
          </p:cNvPr>
          <p:cNvSpPr>
            <a:spLocks noGrp="1"/>
          </p:cNvSpPr>
          <p:nvPr>
            <p:ph idx="1"/>
          </p:nvPr>
        </p:nvSpPr>
        <p:spPr/>
        <p:txBody>
          <a:bodyPr>
            <a:normAutofit/>
          </a:bodyPr>
          <a:lstStyle/>
          <a:p>
            <a:pPr>
              <a:lnSpc>
                <a:spcPct val="150000"/>
              </a:lnSpc>
            </a:pPr>
            <a:r>
              <a:rPr lang="ru-RU" sz="2000" dirty="0"/>
              <a:t>Для триггера AFTER можно применять сразу для нескольких действий, например, UPDATE и INSERT. В этом случае операции указываются через запятую. Для триггера INSTEAD OF можно определить только одно действие.</a:t>
            </a:r>
          </a:p>
          <a:p>
            <a:pPr>
              <a:lnSpc>
                <a:spcPct val="150000"/>
              </a:lnSpc>
            </a:pPr>
            <a:endParaRPr lang="ru-RU" sz="2000" dirty="0"/>
          </a:p>
          <a:p>
            <a:pPr lvl="2" algn="l" fontAlgn="base">
              <a:lnSpc>
                <a:spcPct val="100000"/>
              </a:lnSpc>
            </a:pPr>
            <a:r>
              <a:rPr lang="en-US" sz="1800" b="0" i="0" dirty="0">
                <a:solidFill>
                  <a:srgbClr val="000000"/>
                </a:solidFill>
                <a:effectLst/>
                <a:latin typeface="SFMono-Regular"/>
              </a:rPr>
              <a:t>USE </a:t>
            </a:r>
            <a:r>
              <a:rPr lang="en-US" sz="1800" b="0" i="0" dirty="0" err="1">
                <a:solidFill>
                  <a:srgbClr val="000000"/>
                </a:solidFill>
                <a:effectLst/>
                <a:latin typeface="SFMono-Regular"/>
              </a:rPr>
              <a:t>productdb</a:t>
            </a:r>
            <a:r>
              <a:rPr lang="en-US" sz="1800" b="0" i="0" dirty="0">
                <a:solidFill>
                  <a:srgbClr val="000000"/>
                </a:solidFill>
                <a:effectLst/>
                <a:latin typeface="SFMono-Regular"/>
              </a:rPr>
              <a:t>;</a:t>
            </a:r>
          </a:p>
          <a:p>
            <a:pPr lvl="2" algn="l" fontAlgn="base">
              <a:lnSpc>
                <a:spcPct val="100000"/>
              </a:lnSpc>
            </a:pPr>
            <a:r>
              <a:rPr lang="en-US" sz="1800" b="0" i="0" dirty="0">
                <a:solidFill>
                  <a:srgbClr val="000000"/>
                </a:solidFill>
                <a:effectLst/>
                <a:latin typeface="SFMono-Regular"/>
              </a:rPr>
              <a:t>GO</a:t>
            </a:r>
          </a:p>
          <a:p>
            <a:pPr lvl="2" algn="l" fontAlgn="base">
              <a:lnSpc>
                <a:spcPct val="100000"/>
              </a:lnSpc>
            </a:pPr>
            <a:r>
              <a:rPr lang="en-US" sz="1800" b="0" i="0" dirty="0">
                <a:solidFill>
                  <a:srgbClr val="006699"/>
                </a:solidFill>
                <a:effectLst/>
                <a:latin typeface="SFMono-Regular"/>
              </a:rPr>
              <a:t>CREATE</a:t>
            </a:r>
            <a:r>
              <a:rPr lang="en-US" sz="1800" b="0" i="0" dirty="0">
                <a:solidFill>
                  <a:srgbClr val="000000"/>
                </a:solidFill>
                <a:effectLst/>
                <a:latin typeface="SFMono-Regular"/>
              </a:rPr>
              <a:t> </a:t>
            </a:r>
            <a:r>
              <a:rPr lang="en-US" sz="1800" b="0" i="0" dirty="0">
                <a:solidFill>
                  <a:srgbClr val="006699"/>
                </a:solidFill>
                <a:effectLst/>
                <a:latin typeface="SFMono-Regular"/>
              </a:rPr>
              <a:t>TRIGGER</a:t>
            </a:r>
            <a:r>
              <a:rPr lang="en-US" sz="1800" b="0" i="0" dirty="0">
                <a:solidFill>
                  <a:srgbClr val="000000"/>
                </a:solidFill>
                <a:effectLst/>
                <a:latin typeface="SFMono-Regular"/>
              </a:rPr>
              <a:t> </a:t>
            </a:r>
            <a:r>
              <a:rPr lang="en-US" sz="1800" b="0" i="0" dirty="0" err="1">
                <a:solidFill>
                  <a:srgbClr val="000000"/>
                </a:solidFill>
                <a:effectLst/>
                <a:latin typeface="SFMono-Regular"/>
              </a:rPr>
              <a:t>Products_INSERT_UPDATE</a:t>
            </a:r>
            <a:endParaRPr lang="en-US" sz="1800" b="0" i="0" dirty="0">
              <a:solidFill>
                <a:srgbClr val="000000"/>
              </a:solidFill>
              <a:effectLst/>
              <a:latin typeface="SFMono-Regular"/>
            </a:endParaRPr>
          </a:p>
          <a:p>
            <a:pPr lvl="2" algn="l" fontAlgn="base">
              <a:lnSpc>
                <a:spcPct val="100000"/>
              </a:lnSpc>
            </a:pPr>
            <a:r>
              <a:rPr lang="en-US" sz="1800" b="0" i="0" dirty="0">
                <a:solidFill>
                  <a:srgbClr val="006699"/>
                </a:solidFill>
                <a:effectLst/>
                <a:latin typeface="SFMono-Regular"/>
              </a:rPr>
              <a:t>ON</a:t>
            </a:r>
            <a:r>
              <a:rPr lang="en-US" sz="1800" b="0" i="0" dirty="0">
                <a:solidFill>
                  <a:srgbClr val="000000"/>
                </a:solidFill>
                <a:effectLst/>
                <a:latin typeface="SFMono-Regular"/>
              </a:rPr>
              <a:t> Products</a:t>
            </a:r>
          </a:p>
          <a:p>
            <a:pPr lvl="2" algn="l" fontAlgn="base">
              <a:lnSpc>
                <a:spcPct val="100000"/>
              </a:lnSpc>
            </a:pPr>
            <a:r>
              <a:rPr lang="en-US" sz="1800" b="0" i="0" dirty="0">
                <a:solidFill>
                  <a:srgbClr val="006699"/>
                </a:solidFill>
                <a:effectLst/>
                <a:latin typeface="SFMono-Regular"/>
              </a:rPr>
              <a:t>AFTER</a:t>
            </a:r>
            <a:r>
              <a:rPr lang="en-US" sz="1800" b="0" i="0" dirty="0">
                <a:solidFill>
                  <a:srgbClr val="000000"/>
                </a:solidFill>
                <a:effectLst/>
                <a:latin typeface="SFMono-Regular"/>
              </a:rPr>
              <a:t> </a:t>
            </a:r>
            <a:r>
              <a:rPr lang="en-US" sz="1800" b="0" i="0" dirty="0">
                <a:solidFill>
                  <a:srgbClr val="006699"/>
                </a:solidFill>
                <a:effectLst/>
                <a:latin typeface="SFMono-Regular"/>
              </a:rPr>
              <a:t>INSERT</a:t>
            </a:r>
            <a:r>
              <a:rPr lang="en-US" sz="1800" b="0" i="0" dirty="0">
                <a:solidFill>
                  <a:srgbClr val="000000"/>
                </a:solidFill>
                <a:effectLst/>
                <a:latin typeface="SFMono-Regular"/>
              </a:rPr>
              <a:t>, </a:t>
            </a:r>
            <a:r>
              <a:rPr lang="en-US" sz="1800" b="0" i="0" dirty="0">
                <a:solidFill>
                  <a:srgbClr val="006699"/>
                </a:solidFill>
                <a:effectLst/>
                <a:latin typeface="SFMono-Regular"/>
              </a:rPr>
              <a:t>UPDATE</a:t>
            </a:r>
            <a:endParaRPr lang="en-US" sz="1800" b="0" i="0" dirty="0">
              <a:solidFill>
                <a:srgbClr val="000000"/>
              </a:solidFill>
              <a:effectLst/>
              <a:latin typeface="SFMono-Regular"/>
            </a:endParaRPr>
          </a:p>
          <a:p>
            <a:pPr lvl="2" algn="l" fontAlgn="base">
              <a:lnSpc>
                <a:spcPct val="100000"/>
              </a:lnSpc>
            </a:pPr>
            <a:r>
              <a:rPr lang="en-US" sz="1800" b="0" i="0" dirty="0">
                <a:solidFill>
                  <a:srgbClr val="006699"/>
                </a:solidFill>
                <a:effectLst/>
                <a:latin typeface="SFMono-Regular"/>
              </a:rPr>
              <a:t>AS</a:t>
            </a:r>
            <a:endParaRPr lang="en-US" sz="1800" b="0" i="0" dirty="0">
              <a:solidFill>
                <a:srgbClr val="000000"/>
              </a:solidFill>
              <a:effectLst/>
              <a:latin typeface="SFMono-Regular"/>
            </a:endParaRPr>
          </a:p>
          <a:p>
            <a:pPr lvl="2" algn="l" fontAlgn="base">
              <a:lnSpc>
                <a:spcPct val="100000"/>
              </a:lnSpc>
            </a:pPr>
            <a:r>
              <a:rPr lang="en-US" sz="1800" b="0" i="0" dirty="0">
                <a:solidFill>
                  <a:srgbClr val="006699"/>
                </a:solidFill>
                <a:effectLst/>
                <a:latin typeface="SFMono-Regular"/>
              </a:rPr>
              <a:t>UPDATE</a:t>
            </a:r>
            <a:r>
              <a:rPr lang="en-US" sz="1800" b="0" i="0" dirty="0">
                <a:solidFill>
                  <a:srgbClr val="000000"/>
                </a:solidFill>
                <a:effectLst/>
                <a:latin typeface="SFMono-Regular"/>
              </a:rPr>
              <a:t> Products</a:t>
            </a:r>
          </a:p>
          <a:p>
            <a:pPr lvl="2" algn="l" fontAlgn="base">
              <a:lnSpc>
                <a:spcPct val="100000"/>
              </a:lnSpc>
            </a:pPr>
            <a:r>
              <a:rPr lang="en-US" sz="1800" b="0" i="0" dirty="0">
                <a:solidFill>
                  <a:srgbClr val="006699"/>
                </a:solidFill>
                <a:effectLst/>
                <a:latin typeface="SFMono-Regular"/>
              </a:rPr>
              <a:t>SET</a:t>
            </a:r>
            <a:r>
              <a:rPr lang="en-US" sz="1800" b="0" i="0" dirty="0">
                <a:solidFill>
                  <a:srgbClr val="000000"/>
                </a:solidFill>
                <a:effectLst/>
                <a:latin typeface="SFMono-Regular"/>
              </a:rPr>
              <a:t> Price = Price + Price * 0.38</a:t>
            </a:r>
          </a:p>
          <a:p>
            <a:pPr lvl="2" algn="l" fontAlgn="base">
              <a:lnSpc>
                <a:spcPct val="100000"/>
              </a:lnSpc>
            </a:pPr>
            <a:r>
              <a:rPr lang="en-US" sz="1800" b="0" i="0" dirty="0">
                <a:solidFill>
                  <a:srgbClr val="006699"/>
                </a:solidFill>
                <a:effectLst/>
                <a:latin typeface="SFMono-Regular"/>
              </a:rPr>
              <a:t>WHERE</a:t>
            </a:r>
            <a:r>
              <a:rPr lang="en-US" sz="1800" b="0" i="0" dirty="0">
                <a:solidFill>
                  <a:srgbClr val="000000"/>
                </a:solidFill>
                <a:effectLst/>
                <a:latin typeface="SFMono-Regular"/>
              </a:rPr>
              <a:t> Id = (</a:t>
            </a:r>
            <a:r>
              <a:rPr lang="en-US" sz="1800" b="0" i="0" dirty="0">
                <a:solidFill>
                  <a:srgbClr val="006699"/>
                </a:solidFill>
                <a:effectLst/>
                <a:latin typeface="SFMono-Regular"/>
              </a:rPr>
              <a:t>SELECT</a:t>
            </a:r>
            <a:r>
              <a:rPr lang="en-US" sz="1800" b="0" i="0" dirty="0">
                <a:solidFill>
                  <a:srgbClr val="000000"/>
                </a:solidFill>
                <a:effectLst/>
                <a:latin typeface="SFMono-Regular"/>
              </a:rPr>
              <a:t> Id </a:t>
            </a:r>
            <a:r>
              <a:rPr lang="en-US" sz="1800" b="0" i="0" dirty="0">
                <a:solidFill>
                  <a:srgbClr val="006699"/>
                </a:solidFill>
                <a:effectLst/>
                <a:latin typeface="SFMono-Regular"/>
              </a:rPr>
              <a:t>FROM</a:t>
            </a:r>
            <a:r>
              <a:rPr lang="en-US" sz="1800" b="0" i="0" dirty="0">
                <a:solidFill>
                  <a:srgbClr val="000000"/>
                </a:solidFill>
                <a:effectLst/>
                <a:latin typeface="SFMono-Regular"/>
              </a:rPr>
              <a:t> inserted)</a:t>
            </a:r>
          </a:p>
          <a:p>
            <a:pPr>
              <a:lnSpc>
                <a:spcPct val="150000"/>
              </a:lnSpc>
            </a:pPr>
            <a:endParaRPr lang="ru-RU" sz="2000" dirty="0"/>
          </a:p>
        </p:txBody>
      </p:sp>
    </p:spTree>
    <p:extLst>
      <p:ext uri="{BB962C8B-B14F-4D97-AF65-F5344CB8AC3E}">
        <p14:creationId xmlns:p14="http://schemas.microsoft.com/office/powerpoint/2010/main" val="3787514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4797F978-5EFE-B8CE-7766-21C86092CAAE}"/>
              </a:ext>
            </a:extLst>
          </p:cNvPr>
          <p:cNvSpPr>
            <a:spLocks noGrp="1"/>
          </p:cNvSpPr>
          <p:nvPr>
            <p:ph idx="1"/>
          </p:nvPr>
        </p:nvSpPr>
        <p:spPr/>
        <p:txBody>
          <a:bodyPr/>
          <a:lstStyle/>
          <a:p>
            <a:r>
              <a:rPr lang="ru-RU" b="1" dirty="0"/>
              <a:t>Удаление триггера</a:t>
            </a:r>
          </a:p>
          <a:p>
            <a:endParaRPr lang="ru-RU" dirty="0"/>
          </a:p>
          <a:p>
            <a:r>
              <a:rPr lang="ru-RU" sz="2000" dirty="0"/>
              <a:t>	Для удаления триггера необходимо применить команду </a:t>
            </a:r>
            <a:r>
              <a:rPr lang="ru-RU" sz="2000" b="1" dirty="0"/>
              <a:t>DROP TRIGGER</a:t>
            </a:r>
            <a:r>
              <a:rPr lang="ru-RU" sz="2000" dirty="0"/>
              <a:t>:</a:t>
            </a:r>
          </a:p>
          <a:p>
            <a:endParaRPr lang="ru-RU" sz="2000" dirty="0"/>
          </a:p>
          <a:p>
            <a:r>
              <a:rPr lang="ru-RU" sz="1600" b="0" i="0" dirty="0">
                <a:solidFill>
                  <a:srgbClr val="006699"/>
                </a:solidFill>
                <a:effectLst/>
                <a:latin typeface="SFMono-Regular"/>
              </a:rPr>
              <a:t>	</a:t>
            </a:r>
            <a:r>
              <a:rPr lang="en-US" sz="2000" b="0" i="0" dirty="0">
                <a:solidFill>
                  <a:srgbClr val="006699"/>
                </a:solidFill>
                <a:effectLst/>
                <a:latin typeface="SFMono-Regular"/>
              </a:rPr>
              <a:t>DROP</a:t>
            </a:r>
            <a:r>
              <a:rPr lang="en-US" sz="2000" b="0" i="0" dirty="0">
                <a:solidFill>
                  <a:srgbClr val="000000"/>
                </a:solidFill>
                <a:effectLst/>
                <a:latin typeface="SFMono-Regular"/>
              </a:rPr>
              <a:t> </a:t>
            </a:r>
            <a:r>
              <a:rPr lang="en-US" sz="2000" b="0" i="0" dirty="0">
                <a:solidFill>
                  <a:srgbClr val="006699"/>
                </a:solidFill>
                <a:effectLst/>
                <a:latin typeface="SFMono-Regular"/>
              </a:rPr>
              <a:t>TRIGGER</a:t>
            </a:r>
            <a:r>
              <a:rPr lang="en-US" sz="2000" b="0" i="0" dirty="0">
                <a:solidFill>
                  <a:srgbClr val="000000"/>
                </a:solidFill>
                <a:effectLst/>
                <a:latin typeface="SFMono-Regular"/>
              </a:rPr>
              <a:t> </a:t>
            </a:r>
            <a:r>
              <a:rPr lang="en-US" sz="2000" b="0" i="0" dirty="0" err="1">
                <a:solidFill>
                  <a:srgbClr val="000000"/>
                </a:solidFill>
                <a:effectLst/>
                <a:latin typeface="SFMono-Regular"/>
              </a:rPr>
              <a:t>Products_INSERT_UPDATE</a:t>
            </a:r>
            <a:endParaRPr lang="ru-RU" sz="2000" b="0" i="0" dirty="0">
              <a:solidFill>
                <a:srgbClr val="000000"/>
              </a:solidFill>
              <a:effectLst/>
              <a:latin typeface="SFMono-Regular"/>
            </a:endParaRPr>
          </a:p>
          <a:p>
            <a:endParaRPr lang="ru-RU" sz="2000" dirty="0">
              <a:solidFill>
                <a:srgbClr val="000000"/>
              </a:solidFill>
              <a:latin typeface="SFMono-Regular"/>
            </a:endParaRPr>
          </a:p>
          <a:p>
            <a:r>
              <a:rPr lang="ru-RU" b="1" dirty="0"/>
              <a:t>Отключение триггера</a:t>
            </a:r>
          </a:p>
          <a:p>
            <a:pPr lvl="2"/>
            <a:r>
              <a:rPr lang="ru-RU" dirty="0"/>
              <a:t>Бывает, что мы хотим приостановить действие триггера, но удалять его полностью не хотим. В этом случае его можно временно отключить с помощью команды </a:t>
            </a:r>
            <a:r>
              <a:rPr lang="ru-RU" b="1" dirty="0"/>
              <a:t>DISABLE TRIGGER</a:t>
            </a:r>
            <a:r>
              <a:rPr lang="ru-RU" dirty="0"/>
              <a:t>:</a:t>
            </a:r>
          </a:p>
          <a:p>
            <a:pPr lvl="2"/>
            <a:endParaRPr lang="ru-RU" sz="1600" dirty="0"/>
          </a:p>
          <a:p>
            <a:pPr lvl="2"/>
            <a:r>
              <a:rPr lang="en-US" b="0" i="0" dirty="0">
                <a:solidFill>
                  <a:srgbClr val="000000"/>
                </a:solidFill>
                <a:effectLst/>
                <a:latin typeface="SFMono-Regular"/>
              </a:rPr>
              <a:t>DISABLE </a:t>
            </a:r>
            <a:r>
              <a:rPr lang="en-US" b="0" i="0" dirty="0">
                <a:solidFill>
                  <a:srgbClr val="006699"/>
                </a:solidFill>
                <a:effectLst/>
                <a:latin typeface="SFMono-Regular"/>
              </a:rPr>
              <a:t>TRIGGER</a:t>
            </a:r>
            <a:r>
              <a:rPr lang="en-US" b="0" i="0" dirty="0">
                <a:solidFill>
                  <a:srgbClr val="000000"/>
                </a:solidFill>
                <a:effectLst/>
                <a:latin typeface="SFMono-Regular"/>
              </a:rPr>
              <a:t> </a:t>
            </a:r>
            <a:r>
              <a:rPr lang="en-US" b="0" i="0" dirty="0" err="1">
                <a:solidFill>
                  <a:srgbClr val="000000"/>
                </a:solidFill>
                <a:effectLst/>
                <a:latin typeface="SFMono-Regular"/>
              </a:rPr>
              <a:t>Products_INSERT_UPDATE</a:t>
            </a:r>
            <a:r>
              <a:rPr lang="en-US" b="0" i="0" dirty="0">
                <a:solidFill>
                  <a:srgbClr val="000000"/>
                </a:solidFill>
                <a:effectLst/>
                <a:latin typeface="SFMono-Regular"/>
              </a:rPr>
              <a:t> </a:t>
            </a:r>
            <a:r>
              <a:rPr lang="en-US" b="0" i="0" dirty="0">
                <a:solidFill>
                  <a:srgbClr val="006699"/>
                </a:solidFill>
                <a:effectLst/>
                <a:latin typeface="SFMono-Regular"/>
              </a:rPr>
              <a:t>ON</a:t>
            </a:r>
            <a:r>
              <a:rPr lang="en-US" b="0" i="0" dirty="0">
                <a:solidFill>
                  <a:srgbClr val="000000"/>
                </a:solidFill>
                <a:effectLst/>
                <a:latin typeface="SFMono-Regular"/>
              </a:rPr>
              <a:t> Products</a:t>
            </a:r>
            <a:endParaRPr lang="ru-RU" b="0" i="0" dirty="0">
              <a:solidFill>
                <a:srgbClr val="000000"/>
              </a:solidFill>
              <a:effectLst/>
              <a:latin typeface="SFMono-Regular"/>
            </a:endParaRPr>
          </a:p>
          <a:p>
            <a:pPr lvl="2"/>
            <a:endParaRPr lang="ru-RU" dirty="0">
              <a:solidFill>
                <a:srgbClr val="000000"/>
              </a:solidFill>
              <a:latin typeface="SFMono-Regular"/>
            </a:endParaRPr>
          </a:p>
          <a:p>
            <a:pPr lvl="2"/>
            <a:r>
              <a:rPr lang="ru-RU" dirty="0"/>
              <a:t>А когда триггер понадобится, его можно включить с помощью команды </a:t>
            </a:r>
            <a:r>
              <a:rPr lang="ru-RU" b="1" dirty="0"/>
              <a:t>ENABLE TRIGGER</a:t>
            </a:r>
            <a:r>
              <a:rPr lang="ru-RU" dirty="0"/>
              <a:t>:</a:t>
            </a:r>
          </a:p>
          <a:p>
            <a:pPr lvl="2"/>
            <a:endParaRPr lang="ru-RU" dirty="0"/>
          </a:p>
          <a:p>
            <a:pPr lvl="2"/>
            <a:r>
              <a:rPr lang="en-US" b="0" i="0" dirty="0">
                <a:solidFill>
                  <a:srgbClr val="000000"/>
                </a:solidFill>
                <a:effectLst/>
                <a:latin typeface="SFMono-Regular"/>
              </a:rPr>
              <a:t>ENABLE </a:t>
            </a:r>
            <a:r>
              <a:rPr lang="en-US" b="0" i="0" dirty="0">
                <a:solidFill>
                  <a:srgbClr val="006699"/>
                </a:solidFill>
                <a:effectLst/>
                <a:latin typeface="SFMono-Regular"/>
              </a:rPr>
              <a:t>TRIGGER</a:t>
            </a:r>
            <a:r>
              <a:rPr lang="en-US" b="0" i="0" dirty="0">
                <a:solidFill>
                  <a:srgbClr val="000000"/>
                </a:solidFill>
                <a:effectLst/>
                <a:latin typeface="SFMono-Regular"/>
              </a:rPr>
              <a:t> </a:t>
            </a:r>
            <a:r>
              <a:rPr lang="en-US" b="0" i="0" dirty="0" err="1">
                <a:solidFill>
                  <a:srgbClr val="000000"/>
                </a:solidFill>
                <a:effectLst/>
                <a:latin typeface="SFMono-Regular"/>
              </a:rPr>
              <a:t>Products_INSERT_UPDATE</a:t>
            </a:r>
            <a:r>
              <a:rPr lang="en-US" b="0" i="0" dirty="0">
                <a:solidFill>
                  <a:srgbClr val="000000"/>
                </a:solidFill>
                <a:effectLst/>
                <a:latin typeface="SFMono-Regular"/>
              </a:rPr>
              <a:t> </a:t>
            </a:r>
            <a:r>
              <a:rPr lang="en-US" b="0" i="0" dirty="0">
                <a:solidFill>
                  <a:srgbClr val="006699"/>
                </a:solidFill>
                <a:effectLst/>
                <a:latin typeface="SFMono-Regular"/>
              </a:rPr>
              <a:t>ON</a:t>
            </a:r>
            <a:r>
              <a:rPr lang="en-US" b="0" i="0" dirty="0">
                <a:solidFill>
                  <a:srgbClr val="000000"/>
                </a:solidFill>
                <a:effectLst/>
                <a:latin typeface="SFMono-Regular"/>
              </a:rPr>
              <a:t> Products</a:t>
            </a:r>
            <a:endParaRPr lang="ru-RU" dirty="0"/>
          </a:p>
        </p:txBody>
      </p:sp>
    </p:spTree>
    <p:extLst>
      <p:ext uri="{BB962C8B-B14F-4D97-AF65-F5344CB8AC3E}">
        <p14:creationId xmlns:p14="http://schemas.microsoft.com/office/powerpoint/2010/main" val="2949046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E1B73396-5F6B-E0D4-9611-3719B146BB57}"/>
              </a:ext>
            </a:extLst>
          </p:cNvPr>
          <p:cNvSpPr>
            <a:spLocks noGrp="1"/>
          </p:cNvSpPr>
          <p:nvPr>
            <p:ph idx="1"/>
          </p:nvPr>
        </p:nvSpPr>
        <p:spPr/>
        <p:txBody>
          <a:bodyPr/>
          <a:lstStyle/>
          <a:p>
            <a:endParaRPr lang="ru-RU" dirty="0"/>
          </a:p>
        </p:txBody>
      </p:sp>
    </p:spTree>
    <p:extLst>
      <p:ext uri="{BB962C8B-B14F-4D97-AF65-F5344CB8AC3E}">
        <p14:creationId xmlns:p14="http://schemas.microsoft.com/office/powerpoint/2010/main" val="2965982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13323</TotalTime>
  <Words>16745</Words>
  <Application>Microsoft Office PowerPoint</Application>
  <PresentationFormat>Широкоэкранный</PresentationFormat>
  <Paragraphs>1901</Paragraphs>
  <Slides>297</Slides>
  <Notes>0</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297</vt:i4>
      </vt:variant>
    </vt:vector>
  </HeadingPairs>
  <TitlesOfParts>
    <vt:vector size="307" baseType="lpstr">
      <vt:lpstr>Arial</vt:lpstr>
      <vt:lpstr>Calibri</vt:lpstr>
      <vt:lpstr>Calibri Light</vt:lpstr>
      <vt:lpstr>Cascadia Mono</vt:lpstr>
      <vt:lpstr>SFMono-Regular</vt:lpstr>
      <vt:lpstr>SymbolMT</vt:lpstr>
      <vt:lpstr>TimesNewRomanPS-BoldMT</vt:lpstr>
      <vt:lpstr>TimesNewRomanPSMT</vt:lpstr>
      <vt:lpstr>Wingdings</vt:lpstr>
      <vt:lpstr>Тема Office</vt:lpstr>
      <vt:lpstr>Презентация PowerPoint</vt:lpstr>
      <vt:lpstr>Основные понятия и определения</vt:lpstr>
      <vt:lpstr>Информация</vt:lpstr>
      <vt:lpstr>Данные</vt:lpstr>
      <vt:lpstr>База данных (БД)</vt:lpstr>
      <vt:lpstr>Система управления базами данных (СУБД) </vt:lpstr>
      <vt:lpstr>Автоматизированная информационная система (АИС)</vt:lpstr>
      <vt:lpstr>Типы баз данных</vt:lpstr>
      <vt:lpstr>Графовая база данных </vt:lpstr>
      <vt:lpstr>Иерархическая база даных</vt:lpstr>
      <vt:lpstr>Мультимодельные базы данных</vt:lpstr>
      <vt:lpstr>Банк данных (БнД)</vt:lpstr>
      <vt:lpstr>Объектно-ориентированная база данных</vt:lpstr>
      <vt:lpstr>Реляцио́нная ба́за да́нных</vt:lpstr>
      <vt:lpstr>Объектно-реляционная СУБД (ОРСУБД) </vt:lpstr>
      <vt:lpstr>Сетевая модель данных</vt:lpstr>
      <vt:lpstr>Банк данных (БнД)</vt:lpstr>
      <vt:lpstr>Словарь</vt:lpstr>
      <vt:lpstr>Администратор БД (АБД)</vt:lpstr>
      <vt:lpstr>Вычислительная система (ВС)</vt:lpstr>
      <vt:lpstr>Обслуживающий персонал</vt:lpstr>
      <vt:lpstr>Базы данных</vt:lpstr>
      <vt:lpstr>Информация в БД</vt:lpstr>
      <vt:lpstr>Негативные последствия избыточности</vt:lpstr>
      <vt:lpstr>Метаданные</vt:lpstr>
      <vt:lpstr>Сущности</vt:lpstr>
      <vt:lpstr>Связи</vt:lpstr>
      <vt:lpstr>Презентация PowerPoint</vt:lpstr>
      <vt:lpstr>Сущности для модели «Факультет»</vt:lpstr>
      <vt:lpstr>Связи для модели «Факультет»</vt:lpstr>
      <vt:lpstr>Архитектура СУБД</vt:lpstr>
      <vt:lpstr>Презентация PowerPoint</vt:lpstr>
      <vt:lpstr>Обеспечение независимости от данных</vt:lpstr>
      <vt:lpstr>Логическая независимость</vt:lpstr>
      <vt:lpstr>Физическая независимость</vt:lpstr>
      <vt:lpstr>Внешний уровень</vt:lpstr>
      <vt:lpstr>Концептуальный уровень</vt:lpstr>
      <vt:lpstr>Концептуальный уровень</vt:lpstr>
      <vt:lpstr>Внутренний уровень</vt:lpstr>
      <vt:lpstr>Внутренняя схема</vt:lpstr>
      <vt:lpstr>Модели двухуровневой технологии "клиент — сервер"</vt:lpstr>
      <vt:lpstr>Файловый сервер</vt:lpstr>
      <vt:lpstr>Модель удаленного доступа к данным</vt:lpstr>
      <vt:lpstr>Модель сервера баз данных</vt:lpstr>
      <vt:lpstr>Хранимые процедуры и триггеры</vt:lpstr>
      <vt:lpstr>Сервер приложений.  Трехуровневая модель</vt:lpstr>
      <vt:lpstr>Концепции проектирования БД</vt:lpstr>
      <vt:lpstr>Жизненный цикл БД</vt:lpstr>
      <vt:lpstr>Планирование разработки базы данных</vt:lpstr>
      <vt:lpstr>Определение требований к системе</vt:lpstr>
      <vt:lpstr>Сбор и анализ требований пользователей</vt:lpstr>
      <vt:lpstr>Проектирование базы данных</vt:lpstr>
      <vt:lpstr>Построение общей концептуальной модели данных</vt:lpstr>
      <vt:lpstr>Логическое проектирование базы данных</vt:lpstr>
      <vt:lpstr>Физическое проектирование базы данных</vt:lpstr>
      <vt:lpstr>Разработка приложений</vt:lpstr>
      <vt:lpstr>Концептуальное проектирование</vt:lpstr>
      <vt:lpstr>Сущности</vt:lpstr>
      <vt:lpstr>Атрибуты</vt:lpstr>
      <vt:lpstr>Связи между сущностями</vt:lpstr>
      <vt:lpstr>Мощность связи</vt:lpstr>
      <vt:lpstr>Классификация моделей данных</vt:lpstr>
      <vt:lpstr>Реляционная модель данных</vt:lpstr>
      <vt:lpstr>Реляционная модель данных</vt:lpstr>
      <vt:lpstr>Реляционная модель данных</vt:lpstr>
      <vt:lpstr>Реляционная модель данных</vt:lpstr>
      <vt:lpstr>Реляционная модель данных</vt:lpstr>
      <vt:lpstr>Реляционная модель данных</vt:lpstr>
      <vt:lpstr>Реляционная модель данных</vt:lpstr>
      <vt:lpstr>Реляционная модель данных</vt:lpstr>
      <vt:lpstr>Реляционная модель данных</vt:lpstr>
      <vt:lpstr>Структурная часть реляционной модели</vt:lpstr>
      <vt:lpstr>Структурная часть реляционной модели</vt:lpstr>
      <vt:lpstr>Структурная часть реляционной модели</vt:lpstr>
      <vt:lpstr>Свойства и виды отношений</vt:lpstr>
      <vt:lpstr>Свойства и виды отношений</vt:lpstr>
      <vt:lpstr>Свойства и виды отношений</vt:lpstr>
      <vt:lpstr>Реляционные ключи</vt:lpstr>
      <vt:lpstr>Презентация PowerPoint</vt:lpstr>
      <vt:lpstr>Реляционные ключи</vt:lpstr>
      <vt:lpstr>Реляционные ключи</vt:lpstr>
      <vt:lpstr>Реляционные ключи</vt:lpstr>
      <vt:lpstr>Обновление отношений</vt:lpstr>
      <vt:lpstr>Ограничение операции добавления</vt:lpstr>
      <vt:lpstr>Целостность базы данных</vt:lpstr>
      <vt:lpstr>Категорная целостность</vt:lpstr>
      <vt:lpstr>Целостность на уровне ссылок</vt:lpstr>
      <vt:lpstr>Презентация PowerPoint</vt:lpstr>
      <vt:lpstr>Презентация PowerPoint</vt:lpstr>
      <vt:lpstr>Презентация PowerPoint</vt:lpstr>
      <vt:lpstr>Презентация PowerPoint</vt:lpstr>
      <vt:lpstr>Презентация PowerPoint</vt:lpstr>
      <vt:lpstr>Избыточность данных и аномалии обновления в БД</vt:lpstr>
      <vt:lpstr>Презентация PowerPoint</vt:lpstr>
      <vt:lpstr>Презентация PowerPoint</vt:lpstr>
      <vt:lpstr>Аномалии включения</vt:lpstr>
      <vt:lpstr>Презентация PowerPoint</vt:lpstr>
      <vt:lpstr>Аномалии удаления</vt:lpstr>
      <vt:lpstr>Аномалии модификации</vt:lpstr>
      <vt:lpstr>Проблема обратимости</vt:lpstr>
      <vt:lpstr> </vt:lpstr>
      <vt:lpstr>Первая нормальная форма</vt:lpstr>
      <vt:lpstr>Презентация PowerPoint</vt:lpstr>
      <vt:lpstr>Вторая нормальная форма</vt:lpstr>
      <vt:lpstr>Презентация PowerPoint</vt:lpstr>
      <vt:lpstr>Третья нормальная форма</vt:lpstr>
      <vt:lpstr>Презентация PowerPoint</vt:lpstr>
      <vt:lpstr>Нормальная форма Бойса — Кодда</vt:lpstr>
      <vt:lpstr>Презентация PowerPoint</vt:lpstr>
      <vt:lpstr>Презентация PowerPoint</vt:lpstr>
      <vt:lpstr>Презентация PowerPoint</vt:lpstr>
      <vt:lpstr>Четвёртая нормальная форма</vt:lpstr>
      <vt:lpstr>Презентация PowerPoint</vt:lpstr>
      <vt:lpstr>Презентация PowerPoint</vt:lpstr>
      <vt:lpstr>Пятая нормальная форма</vt:lpstr>
      <vt:lpstr>Презентация PowerPoint</vt:lpstr>
      <vt:lpstr>Презентация PowerPoint</vt:lpstr>
      <vt:lpstr>Презентация PowerPoint</vt:lpstr>
      <vt:lpstr>Шестая нормальная форма</vt:lpstr>
      <vt:lpstr>Презентация PowerPoint</vt:lpstr>
      <vt:lpstr>Презентация PowerPoint</vt:lpstr>
      <vt:lpstr>Презентация PowerPoint</vt:lpstr>
      <vt:lpstr>Реляционная алгебра</vt:lpstr>
      <vt:lpstr>Объединение (Union)</vt:lpstr>
      <vt:lpstr>Презентация PowerPoint</vt:lpstr>
      <vt:lpstr>Презентация PowerPoint</vt:lpstr>
      <vt:lpstr>Разность</vt:lpstr>
      <vt:lpstr>Презентация PowerPoint</vt:lpstr>
      <vt:lpstr>Декартово произведение</vt:lpstr>
      <vt:lpstr>Презентация PowerPoint</vt:lpstr>
      <vt:lpstr>Пересечение</vt:lpstr>
      <vt:lpstr>Презентация PowerPoint</vt:lpstr>
      <vt:lpstr>Проекция (Project)</vt:lpstr>
      <vt:lpstr>Презентация PowerPoint</vt:lpstr>
      <vt:lpstr>Выбор (Select)</vt:lpstr>
      <vt:lpstr>Презентация PowerPoint</vt:lpstr>
      <vt:lpstr>Соединение (Join)</vt:lpstr>
      <vt:lpstr>Презентация PowerPoint</vt:lpstr>
      <vt:lpstr>Деление</vt:lpstr>
      <vt:lpstr>Презентация PowerPoint</vt:lpstr>
      <vt:lpstr>Презентация PowerPoint</vt:lpstr>
      <vt:lpstr>Презентация PowerPoint</vt:lpstr>
      <vt:lpstr>QL Server и T-SQL</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Минимализм серый, шаблон презентации с сайта presentation-creation.ru</dc:title>
  <dc:creator>User Obstinate</dc:creator>
  <cp:lastModifiedBy>Еввгений</cp:lastModifiedBy>
  <cp:revision>36</cp:revision>
  <dcterms:created xsi:type="dcterms:W3CDTF">2024-11-04T08:17:15Z</dcterms:created>
  <dcterms:modified xsi:type="dcterms:W3CDTF">2025-11-25T21:04:40Z</dcterms:modified>
</cp:coreProperties>
</file>